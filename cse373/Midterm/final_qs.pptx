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315" r:id="rId3"/>
    <p:sldId id="268" r:id="rId4"/>
    <p:sldId id="314" r:id="rId5"/>
    <p:sldId id="273" r:id="rId6"/>
    <p:sldId id="306" r:id="rId7"/>
    <p:sldId id="270" r:id="rId8"/>
    <p:sldId id="257" r:id="rId9"/>
    <p:sldId id="316" r:id="rId10"/>
    <p:sldId id="317" r:id="rId11"/>
    <p:sldId id="258" r:id="rId12"/>
    <p:sldId id="318" r:id="rId13"/>
    <p:sldId id="259" r:id="rId14"/>
    <p:sldId id="260" r:id="rId15"/>
    <p:sldId id="319" r:id="rId16"/>
    <p:sldId id="261" r:id="rId17"/>
    <p:sldId id="262" r:id="rId18"/>
    <p:sldId id="263" r:id="rId19"/>
    <p:sldId id="267" r:id="rId20"/>
    <p:sldId id="320" r:id="rId21"/>
    <p:sldId id="264" r:id="rId22"/>
    <p:sldId id="265" r:id="rId23"/>
    <p:sldId id="266" r:id="rId24"/>
    <p:sldId id="321" r:id="rId25"/>
    <p:sldId id="292" r:id="rId26"/>
    <p:sldId id="308" r:id="rId27"/>
    <p:sldId id="311" r:id="rId28"/>
    <p:sldId id="277" r:id="rId29"/>
    <p:sldId id="278" r:id="rId30"/>
    <p:sldId id="295" r:id="rId31"/>
    <p:sldId id="296" r:id="rId32"/>
    <p:sldId id="297" r:id="rId33"/>
    <p:sldId id="280" r:id="rId34"/>
    <p:sldId id="281" r:id="rId35"/>
    <p:sldId id="298" r:id="rId36"/>
    <p:sldId id="282" r:id="rId37"/>
    <p:sldId id="283" r:id="rId38"/>
    <p:sldId id="284" r:id="rId39"/>
    <p:sldId id="285" r:id="rId40"/>
    <p:sldId id="299" r:id="rId41"/>
    <p:sldId id="286" r:id="rId42"/>
    <p:sldId id="287" r:id="rId43"/>
    <p:sldId id="288" r:id="rId44"/>
    <p:sldId id="302" r:id="rId45"/>
    <p:sldId id="300" r:id="rId46"/>
    <p:sldId id="294" r:id="rId47"/>
    <p:sldId id="293" r:id="rId48"/>
    <p:sldId id="322" r:id="rId49"/>
    <p:sldId id="323" r:id="rId50"/>
    <p:sldId id="324" r:id="rId51"/>
    <p:sldId id="32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16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2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5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0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8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1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3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1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9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67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287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18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50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26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47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7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5AE58-05EB-47A9-A6B5-59D8E04C0F8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78632-6076-4EEF-9B4C-BC0BD5DA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54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062509" cy="2387600"/>
          </a:xfrm>
        </p:spPr>
        <p:txBody>
          <a:bodyPr/>
          <a:lstStyle/>
          <a:p>
            <a:r>
              <a:rPr lang="en-US" dirty="0"/>
              <a:t>Quicksort </a:t>
            </a:r>
          </a:p>
        </p:txBody>
      </p:sp>
    </p:spTree>
    <p:extLst>
      <p:ext uri="{BB962C8B-B14F-4D97-AF65-F5344CB8AC3E}">
        <p14:creationId xmlns:p14="http://schemas.microsoft.com/office/powerpoint/2010/main" val="237202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41413" y="349956"/>
            <a:ext cx="9905998" cy="677333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play a game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 noCro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57689" y="895879"/>
            <a:ext cx="4391378" cy="255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sz="half" idx="2"/>
          </p:nvPr>
        </p:nvSpPr>
        <p:spPr>
          <a:xfrm>
            <a:off x="1273705" y="3253138"/>
            <a:ext cx="9797519" cy="35417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Problem: Arrange these sticks in order of increasing length in shortest time</a:t>
            </a:r>
          </a:p>
          <a:p>
            <a:pPr marL="0" indent="0">
              <a:buNone/>
            </a:pPr>
            <a:r>
              <a:rPr lang="en-US" dirty="0"/>
              <a:t>Possible solution:</a:t>
            </a:r>
          </a:p>
          <a:p>
            <a:r>
              <a:rPr lang="en-US" dirty="0"/>
              <a:t>If there is only one stick then we don’t need to do anything</a:t>
            </a:r>
          </a:p>
          <a:p>
            <a:r>
              <a:rPr lang="en-US" dirty="0"/>
              <a:t>otherwise</a:t>
            </a:r>
          </a:p>
          <a:p>
            <a:pPr lvl="1"/>
            <a:r>
              <a:rPr lang="en-US" dirty="0"/>
              <a:t>Pick a stick say P</a:t>
            </a:r>
          </a:p>
          <a:p>
            <a:pPr lvl="1"/>
            <a:r>
              <a:rPr lang="en-US" dirty="0"/>
              <a:t>Compare each stick with P and place sticks shorter than P to the left and those longer than P to the right</a:t>
            </a:r>
          </a:p>
          <a:p>
            <a:pPr lvl="1"/>
            <a:r>
              <a:rPr lang="en-US" dirty="0"/>
              <a:t>So now we know for sure the position of P in the final arrangement (right after the shorter sticks)</a:t>
            </a:r>
          </a:p>
          <a:p>
            <a:pPr lvl="1"/>
            <a:r>
              <a:rPr lang="en-US" dirty="0"/>
              <a:t>Repeat the process for then sticks to the left of P and then for those to the right of P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7545388" y="2249488"/>
            <a:ext cx="4646612" cy="8239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817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2257" y="970844"/>
            <a:ext cx="7163695" cy="547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25244" y="406400"/>
            <a:ext cx="653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play a game</a:t>
            </a:r>
          </a:p>
        </p:txBody>
      </p:sp>
    </p:spTree>
    <p:extLst>
      <p:ext uri="{BB962C8B-B14F-4D97-AF65-F5344CB8AC3E}">
        <p14:creationId xmlns:p14="http://schemas.microsoft.com/office/powerpoint/2010/main" val="947893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2257" y="970844"/>
            <a:ext cx="7163695" cy="547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25244" y="406400"/>
            <a:ext cx="653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play a game</a:t>
            </a:r>
          </a:p>
        </p:txBody>
      </p:sp>
      <p:sp>
        <p:nvSpPr>
          <p:cNvPr id="3" name="Horizontal Scroll 2"/>
          <p:cNvSpPr/>
          <p:nvPr/>
        </p:nvSpPr>
        <p:spPr>
          <a:xfrm>
            <a:off x="3759200" y="2167467"/>
            <a:ext cx="4933244" cy="2652889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VOILÁ !! THIS IS THE FASTEST SOLUTION INDEED !!! THIS IS </a:t>
            </a:r>
            <a:r>
              <a:rPr lang="en-US" b="1" dirty="0">
                <a:solidFill>
                  <a:srgbClr val="FFFF00"/>
                </a:solidFill>
              </a:rPr>
              <a:t>QUICKSORT</a:t>
            </a:r>
            <a:r>
              <a:rPr lang="en-US" dirty="0"/>
              <a:t> !!</a:t>
            </a:r>
          </a:p>
        </p:txBody>
      </p:sp>
    </p:spTree>
    <p:extLst>
      <p:ext uri="{BB962C8B-B14F-4D97-AF65-F5344CB8AC3E}">
        <p14:creationId xmlns:p14="http://schemas.microsoft.com/office/powerpoint/2010/main" val="353609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7"/>
            <a:ext cx="2877336" cy="5507328"/>
          </a:xfrm>
        </p:spPr>
        <p:txBody>
          <a:bodyPr>
            <a:normAutofit/>
          </a:bodyPr>
          <a:lstStyle/>
          <a:p>
            <a:r>
              <a:rPr lang="en-US" dirty="0"/>
              <a:t>Quicksort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2955" y="638649"/>
            <a:ext cx="8285584" cy="3812053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en-US" sz="1800" dirty="0" err="1"/>
              <a:t>QuickSort</a:t>
            </a:r>
            <a:r>
              <a:rPr lang="en-US" altLang="en-US" sz="1800" dirty="0"/>
              <a:t>: Given an array of </a:t>
            </a:r>
            <a:r>
              <a:rPr lang="en-US" altLang="en-US" sz="1800" i="1" dirty="0"/>
              <a:t>n</a:t>
            </a:r>
            <a:r>
              <a:rPr lang="en-US" altLang="en-US" sz="1800" dirty="0"/>
              <a:t> elements (e.g., integers):</a:t>
            </a:r>
          </a:p>
          <a:p>
            <a:pPr lvl="1">
              <a:lnSpc>
                <a:spcPct val="110000"/>
              </a:lnSpc>
            </a:pPr>
            <a:r>
              <a:rPr lang="en-US" altLang="en-US" sz="1800" dirty="0"/>
              <a:t>if array only contains one element, return</a:t>
            </a:r>
          </a:p>
          <a:p>
            <a:pPr lvl="1">
              <a:lnSpc>
                <a:spcPct val="110000"/>
              </a:lnSpc>
            </a:pPr>
            <a:r>
              <a:rPr lang="en-US" altLang="en-US" sz="1800" dirty="0"/>
              <a:t>else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Partition procedure returns position of the pivot (rightmost) element in the sorted array</a:t>
            </a:r>
            <a:endParaRPr lang="en-US" altLang="en-US" i="1" dirty="0"/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en-US" dirty="0"/>
              <a:t>   Hence elements are partitioned into two sub-arrays:</a:t>
            </a:r>
          </a:p>
          <a:p>
            <a:pPr lvl="3">
              <a:lnSpc>
                <a:spcPct val="110000"/>
              </a:lnSpc>
            </a:pPr>
            <a:r>
              <a:rPr lang="en-US" altLang="en-US" sz="1800" dirty="0"/>
              <a:t>Left subarray contains elements less than or equal (&lt;=) to pivot </a:t>
            </a:r>
          </a:p>
          <a:p>
            <a:pPr lvl="3">
              <a:lnSpc>
                <a:spcPct val="110000"/>
              </a:lnSpc>
            </a:pPr>
            <a:r>
              <a:rPr lang="en-US" altLang="en-US" sz="1800" dirty="0"/>
              <a:t>Right subarray contains elements greater (&gt;) than pivot</a:t>
            </a:r>
          </a:p>
          <a:p>
            <a:pPr lvl="2">
              <a:lnSpc>
                <a:spcPct val="110000"/>
              </a:lnSpc>
            </a:pPr>
            <a:r>
              <a:rPr lang="en-US" altLang="en-US" dirty="0" err="1"/>
              <a:t>QuickSort</a:t>
            </a:r>
            <a:r>
              <a:rPr lang="en-US" altLang="en-US" dirty="0"/>
              <a:t> left subarray</a:t>
            </a:r>
          </a:p>
          <a:p>
            <a:pPr lvl="2">
              <a:lnSpc>
                <a:spcPct val="110000"/>
              </a:lnSpc>
            </a:pPr>
            <a:r>
              <a:rPr lang="en-US" altLang="en-US" dirty="0" err="1"/>
              <a:t>QuickSort</a:t>
            </a:r>
            <a:r>
              <a:rPr lang="en-US" altLang="en-US" dirty="0"/>
              <a:t> right subarray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return results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</p:txBody>
      </p:sp>
      <p:pic>
        <p:nvPicPr>
          <p:cNvPr id="5" name="Picture 4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467904EA-078F-2546-923A-824D95575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252" y="4661245"/>
            <a:ext cx="6786975" cy="14082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4212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1527" y="55098"/>
            <a:ext cx="9905998" cy="1478570"/>
          </a:xfrm>
        </p:spPr>
        <p:txBody>
          <a:bodyPr/>
          <a:lstStyle/>
          <a:p>
            <a:r>
              <a:rPr lang="en-US" dirty="0"/>
              <a:t>Let’s sort these numbers with quicksort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1403" y="1371600"/>
            <a:ext cx="898074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95647" y="1371600"/>
            <a:ext cx="847108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2481" y="1371600"/>
            <a:ext cx="785824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131" y="1371600"/>
            <a:ext cx="837942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951" y="1371600"/>
            <a:ext cx="866422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3731" y="1371600"/>
            <a:ext cx="859052" cy="56933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64425" y="1371600"/>
            <a:ext cx="746634" cy="55880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09049" y="1371600"/>
            <a:ext cx="753920" cy="55880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58490" y="1371600"/>
            <a:ext cx="675558" cy="55880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38442" y="1371600"/>
            <a:ext cx="633338" cy="55880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5" name="Content Placeholder 2"/>
          <p:cNvSpPr txBox="1">
            <a:spLocks/>
          </p:cNvSpPr>
          <p:nvPr/>
        </p:nvSpPr>
        <p:spPr>
          <a:xfrm>
            <a:off x="489119" y="2194844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                      2,1,4,1,5,9,2,6,5,</a:t>
            </a:r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2596258" y="2742276"/>
            <a:ext cx="970844" cy="56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4427881" y="2720622"/>
            <a:ext cx="1016000" cy="56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3897304" y="2742276"/>
            <a:ext cx="0" cy="56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127611" y="3409774"/>
            <a:ext cx="120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2,1,1,</a:t>
            </a: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39080" y="3386870"/>
            <a:ext cx="1535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9,4,6,5,</a:t>
            </a:r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78775" y="3392157"/>
            <a:ext cx="49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 flipH="1">
            <a:off x="1966904" y="3756202"/>
            <a:ext cx="541866" cy="59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2723259" y="3756202"/>
            <a:ext cx="0" cy="669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468960" y="4425244"/>
            <a:ext cx="85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2,1,</a:t>
            </a:r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08770" y="4444620"/>
            <a:ext cx="43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2</a:t>
            </a:r>
          </a:p>
        </p:txBody>
      </p:sp>
      <p:cxnSp>
        <p:nvCxnSpPr>
          <p:cNvPr id="86" name="Straight Arrow Connector 85"/>
          <p:cNvCxnSpPr/>
          <p:nvPr/>
        </p:nvCxnSpPr>
        <p:spPr>
          <a:xfrm flipH="1">
            <a:off x="1233126" y="4813952"/>
            <a:ext cx="316089" cy="548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075081" y="5395247"/>
            <a:ext cx="63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1811840" y="4841611"/>
            <a:ext cx="358" cy="492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1924570" y="4813952"/>
            <a:ext cx="457200" cy="488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688035" y="5393848"/>
            <a:ext cx="22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74095" y="53952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92" name="Straight Arrow Connector 91"/>
          <p:cNvCxnSpPr/>
          <p:nvPr/>
        </p:nvCxnSpPr>
        <p:spPr>
          <a:xfrm flipH="1">
            <a:off x="4935881" y="3849511"/>
            <a:ext cx="406400" cy="417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5658370" y="3849511"/>
            <a:ext cx="0" cy="479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6064770" y="3849511"/>
            <a:ext cx="349956" cy="417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522904" y="4297022"/>
            <a:ext cx="38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23838" y="4234933"/>
            <a:ext cx="592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4,</a:t>
            </a:r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31889" y="424057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6,</a:t>
            </a:r>
            <a:r>
              <a:rPr lang="en-US" dirty="0">
                <a:solidFill>
                  <a:srgbClr val="FF0000"/>
                </a:solidFill>
              </a:rPr>
              <a:t>9</a:t>
            </a:r>
          </a:p>
        </p:txBody>
      </p:sp>
      <p:cxnSp>
        <p:nvCxnSpPr>
          <p:cNvPr id="98" name="Straight Arrow Connector 97"/>
          <p:cNvCxnSpPr/>
          <p:nvPr/>
        </p:nvCxnSpPr>
        <p:spPr>
          <a:xfrm flipH="1">
            <a:off x="4298058" y="4481688"/>
            <a:ext cx="333023" cy="462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4820172" y="4520399"/>
            <a:ext cx="296333" cy="385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H="1">
            <a:off x="6173843" y="4581688"/>
            <a:ext cx="257816" cy="362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6696951" y="4520399"/>
            <a:ext cx="282220" cy="385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125902" y="4873598"/>
            <a:ext cx="344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96373" y="4857464"/>
            <a:ext cx="40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64770" y="4944533"/>
            <a:ext cx="36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96951" y="4933244"/>
            <a:ext cx="514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73843" y="1911511"/>
            <a:ext cx="618954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en-US" sz="1600" dirty="0" err="1"/>
              <a:t>QuickSort</a:t>
            </a:r>
            <a:r>
              <a:rPr lang="en-US" altLang="en-US" sz="1600" dirty="0"/>
              <a:t>: Given an array of </a:t>
            </a:r>
            <a:r>
              <a:rPr lang="en-US" altLang="en-US" sz="1600" i="1" dirty="0"/>
              <a:t>n</a:t>
            </a:r>
            <a:r>
              <a:rPr lang="en-US" altLang="en-US" sz="1600" dirty="0"/>
              <a:t> elements (e.g., integers):</a:t>
            </a:r>
          </a:p>
          <a:p>
            <a:pPr lvl="1"/>
            <a:r>
              <a:rPr lang="en-US" altLang="en-US" sz="1600" dirty="0"/>
              <a:t>if array only contains one element, return</a:t>
            </a:r>
          </a:p>
          <a:p>
            <a:pPr lvl="1"/>
            <a:r>
              <a:rPr lang="en-US" altLang="en-US" sz="1600" dirty="0"/>
              <a:t>else</a:t>
            </a:r>
          </a:p>
          <a:p>
            <a:pPr lvl="2"/>
            <a:r>
              <a:rPr lang="en-US" altLang="en-US" sz="1600" dirty="0"/>
              <a:t>Partition procedure returns position of the pivot (rightmost) element in the sorted array</a:t>
            </a:r>
            <a:endParaRPr lang="en-US" altLang="en-US" sz="1600" i="1" dirty="0"/>
          </a:p>
          <a:p>
            <a:pPr lvl="2"/>
            <a:r>
              <a:rPr lang="en-US" altLang="en-US" sz="1600" dirty="0"/>
              <a:t>Hence elements are partitioned into two sub-arrays:</a:t>
            </a:r>
          </a:p>
          <a:p>
            <a:pPr lvl="3"/>
            <a:r>
              <a:rPr lang="en-US" altLang="en-US" sz="1600" dirty="0"/>
              <a:t>Left subarray contains elements less than or equal (&lt;=) to pivot </a:t>
            </a:r>
          </a:p>
          <a:p>
            <a:pPr lvl="3"/>
            <a:r>
              <a:rPr lang="en-US" altLang="en-US" sz="1600" dirty="0"/>
              <a:t>Right subarray contains elements greater (&gt;) than pivot</a:t>
            </a:r>
          </a:p>
          <a:p>
            <a:pPr lvl="2"/>
            <a:r>
              <a:rPr lang="en-US" altLang="en-US" sz="1600" dirty="0" err="1"/>
              <a:t>QuickSort</a:t>
            </a:r>
            <a:r>
              <a:rPr lang="en-US" altLang="en-US" sz="1600" dirty="0"/>
              <a:t> left subarray</a:t>
            </a:r>
          </a:p>
          <a:p>
            <a:pPr lvl="2"/>
            <a:r>
              <a:rPr lang="en-US" altLang="en-US" sz="1600" dirty="0" err="1"/>
              <a:t>QuickSort</a:t>
            </a:r>
            <a:r>
              <a:rPr lang="en-US" altLang="en-US" sz="1600" dirty="0"/>
              <a:t> right subarray</a:t>
            </a:r>
          </a:p>
          <a:p>
            <a:pPr lvl="2"/>
            <a:r>
              <a:rPr lang="en-US" altLang="en-US" sz="1600" dirty="0"/>
              <a:t>return results</a:t>
            </a:r>
          </a:p>
          <a:p>
            <a:endParaRPr lang="en-US" sz="1600" dirty="0"/>
          </a:p>
        </p:txBody>
      </p:sp>
      <p:sp>
        <p:nvSpPr>
          <p:cNvPr id="107" name="Oval 106"/>
          <p:cNvSpPr/>
          <p:nvPr/>
        </p:nvSpPr>
        <p:spPr>
          <a:xfrm>
            <a:off x="7119652" y="2656749"/>
            <a:ext cx="773005" cy="3281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431" y="2130773"/>
            <a:ext cx="2542289" cy="2351896"/>
          </a:xfrm>
          <a:prstGeom prst="rect">
            <a:avLst/>
          </a:prstGeom>
        </p:spPr>
      </p:pic>
      <p:cxnSp>
        <p:nvCxnSpPr>
          <p:cNvPr id="15" name="Curved Connector 14"/>
          <p:cNvCxnSpPr>
            <a:stCxn id="107" idx="7"/>
          </p:cNvCxnSpPr>
          <p:nvPr/>
        </p:nvCxnSpPr>
        <p:spPr>
          <a:xfrm rot="5400000" flipH="1" flipV="1">
            <a:off x="7847880" y="2473631"/>
            <a:ext cx="162742" cy="299596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233126" y="5763180"/>
            <a:ext cx="0" cy="251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840054" y="6056642"/>
            <a:ext cx="694793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600440" y="6077972"/>
            <a:ext cx="586060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265879" y="6067121"/>
            <a:ext cx="554082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886786" y="6067121"/>
            <a:ext cx="567269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548732" y="6067121"/>
            <a:ext cx="643352" cy="56896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258810" y="6056642"/>
            <a:ext cx="637564" cy="56933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967734" y="6056642"/>
            <a:ext cx="534605" cy="55880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587784" y="6056642"/>
            <a:ext cx="564803" cy="55880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38032" y="6066802"/>
            <a:ext cx="583093" cy="55880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923480" y="6056642"/>
            <a:ext cx="540945" cy="558800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811840" y="5700232"/>
            <a:ext cx="0" cy="314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432383" y="5763180"/>
            <a:ext cx="0" cy="249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85" idx="2"/>
          </p:cNvCxnSpPr>
          <p:nvPr/>
        </p:nvCxnSpPr>
        <p:spPr>
          <a:xfrm>
            <a:off x="2726081" y="4813952"/>
            <a:ext cx="321919" cy="1253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23" idx="0"/>
          </p:cNvCxnSpPr>
          <p:nvPr/>
        </p:nvCxnSpPr>
        <p:spPr>
          <a:xfrm flipH="1">
            <a:off x="3870408" y="3759200"/>
            <a:ext cx="24259" cy="2307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2" idx="2"/>
          </p:cNvCxnSpPr>
          <p:nvPr/>
        </p:nvCxnSpPr>
        <p:spPr>
          <a:xfrm>
            <a:off x="4298058" y="5242930"/>
            <a:ext cx="39073" cy="823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03" idx="2"/>
          </p:cNvCxnSpPr>
          <p:nvPr/>
        </p:nvCxnSpPr>
        <p:spPr>
          <a:xfrm flipH="1">
            <a:off x="5100984" y="5226796"/>
            <a:ext cx="1" cy="85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5" idx="2"/>
          </p:cNvCxnSpPr>
          <p:nvPr/>
        </p:nvCxnSpPr>
        <p:spPr>
          <a:xfrm>
            <a:off x="5714814" y="4666354"/>
            <a:ext cx="0" cy="1411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4" idx="2"/>
          </p:cNvCxnSpPr>
          <p:nvPr/>
        </p:nvCxnSpPr>
        <p:spPr>
          <a:xfrm>
            <a:off x="6248215" y="5313865"/>
            <a:ext cx="83674" cy="764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5" idx="2"/>
          </p:cNvCxnSpPr>
          <p:nvPr/>
        </p:nvCxnSpPr>
        <p:spPr>
          <a:xfrm>
            <a:off x="6954204" y="5302576"/>
            <a:ext cx="93038" cy="775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596258" y="2857500"/>
            <a:ext cx="45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226138" y="3448425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&lt;=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38585" y="3443805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92621" y="4481688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&lt;=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78440" y="5451591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&lt;=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3731" y="4977866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&lt;=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480504" y="4917131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&lt;=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62823" y="4321509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90109" y="4319994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&lt;=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98379" y="5440714"/>
            <a:ext cx="433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80030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059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959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1478844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646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1478844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220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2604861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1389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2604861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2153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3622185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5233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4584532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268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4584532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0811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4584532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ircular Arrow 20"/>
          <p:cNvSpPr/>
          <p:nvPr/>
        </p:nvSpPr>
        <p:spPr>
          <a:xfrm>
            <a:off x="3760957" y="2421158"/>
            <a:ext cx="948266" cy="1105694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3760958" y="2974005"/>
            <a:ext cx="239586" cy="11288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6608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5632694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6112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6697790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2331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7702460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888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7702460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9092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5754" y="1715295"/>
            <a:ext cx="3771239" cy="11655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7706170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331488" y="2788356"/>
            <a:ext cx="950895" cy="281604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2953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8650541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2179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9560801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798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10329333" y="4018227"/>
            <a:ext cx="270934" cy="6215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3026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4856" y="1608668"/>
            <a:ext cx="5742555" cy="1165577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5119822" y="2755107"/>
            <a:ext cx="1254069" cy="281604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Up Arrow 19"/>
          <p:cNvSpPr/>
          <p:nvPr/>
        </p:nvSpPr>
        <p:spPr>
          <a:xfrm>
            <a:off x="10419643" y="4035160"/>
            <a:ext cx="284215" cy="563734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873956" y="4656191"/>
            <a:ext cx="8002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array elements one by one</a:t>
            </a:r>
          </a:p>
          <a:p>
            <a:r>
              <a:rPr lang="en-US" dirty="0"/>
              <a:t>	if current element &lt;= pivot</a:t>
            </a:r>
          </a:p>
          <a:p>
            <a:r>
              <a:rPr lang="en-US" dirty="0"/>
              <a:t>		swap it with the element in currently available  leftmost position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4426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5732364" y="2206977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63822" y="1820712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5624417" y="4018227"/>
            <a:ext cx="270934" cy="62150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47911" y="4639733"/>
            <a:ext cx="369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position of the pivot element</a:t>
            </a:r>
          </a:p>
        </p:txBody>
      </p:sp>
      <p:sp>
        <p:nvSpPr>
          <p:cNvPr id="4" name="Left Brace 3"/>
          <p:cNvSpPr/>
          <p:nvPr/>
        </p:nvSpPr>
        <p:spPr>
          <a:xfrm rot="5400000">
            <a:off x="2779814" y="588674"/>
            <a:ext cx="702519" cy="393912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20208" y="1820712"/>
            <a:ext cx="386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Subarray of elements &lt;= Pivot (3)</a:t>
            </a:r>
          </a:p>
        </p:txBody>
      </p:sp>
      <p:sp>
        <p:nvSpPr>
          <p:cNvPr id="17" name="Right Brace 16"/>
          <p:cNvSpPr/>
          <p:nvPr/>
        </p:nvSpPr>
        <p:spPr>
          <a:xfrm rot="5400000">
            <a:off x="8333236" y="2194465"/>
            <a:ext cx="681898" cy="443918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643813" y="5009065"/>
            <a:ext cx="36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Subarray of elements &gt; Pivot (3)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139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141410" y="2249485"/>
            <a:ext cx="4878391" cy="35417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Partition (A, p, r):</a:t>
            </a:r>
          </a:p>
          <a:p>
            <a:pPr marL="457200" lvl="1" indent="0">
              <a:buNone/>
            </a:pPr>
            <a:r>
              <a:rPr lang="en-US" dirty="0"/>
              <a:t>x = A[r]</a:t>
            </a:r>
          </a:p>
          <a:p>
            <a:pPr marL="457200" lvl="1" indent="0">
              <a:buNone/>
            </a:pPr>
            <a:r>
              <a:rPr lang="en-US" dirty="0" err="1"/>
              <a:t>i</a:t>
            </a:r>
            <a:r>
              <a:rPr lang="en-US" dirty="0"/>
              <a:t> = p-1 (left marker)</a:t>
            </a:r>
          </a:p>
          <a:p>
            <a:pPr marL="457200" lvl="1" indent="0">
              <a:buNone/>
            </a:pPr>
            <a:r>
              <a:rPr lang="en-US" dirty="0"/>
              <a:t>for j = p to r-1:</a:t>
            </a:r>
          </a:p>
          <a:p>
            <a:pPr marL="914400" lvl="2" indent="0">
              <a:buNone/>
            </a:pPr>
            <a:r>
              <a:rPr lang="en-US" dirty="0"/>
              <a:t>if (A[j]&lt;=x):</a:t>
            </a:r>
          </a:p>
          <a:p>
            <a:pPr marL="1371600" lvl="3" indent="0">
              <a:buNone/>
            </a:pPr>
            <a:r>
              <a:rPr lang="en-US" dirty="0"/>
              <a:t>i = i+1</a:t>
            </a:r>
          </a:p>
          <a:p>
            <a:pPr marL="1371600" lvl="3" indent="0">
              <a:buNone/>
            </a:pPr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marL="457200" lvl="1" indent="0">
              <a:buNone/>
            </a:pPr>
            <a:r>
              <a:rPr lang="en-US" dirty="0"/>
              <a:t>exchange A[i+1] with A[r]</a:t>
            </a:r>
          </a:p>
          <a:p>
            <a:pPr marL="457200" lvl="1" indent="0">
              <a:buNone/>
            </a:pPr>
            <a:r>
              <a:rPr lang="en-US" dirty="0"/>
              <a:t>return i+1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2021" y="2013746"/>
            <a:ext cx="4875210" cy="35417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= input array</a:t>
            </a:r>
          </a:p>
          <a:p>
            <a:pPr marL="0" indent="0">
              <a:buNone/>
            </a:pPr>
            <a:r>
              <a:rPr lang="en-US" dirty="0"/>
              <a:t>p = leftmost index</a:t>
            </a:r>
          </a:p>
          <a:p>
            <a:pPr marL="0" indent="0">
              <a:buNone/>
            </a:pPr>
            <a:r>
              <a:rPr lang="en-US" dirty="0"/>
              <a:t>r = rightmost index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888AA-A4FF-ED52-952B-1013DE870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269" y="2484983"/>
            <a:ext cx="4404742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16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0" y="2249488"/>
            <a:ext cx="4649788" cy="8239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7545388" y="2249488"/>
            <a:ext cx="4646612" cy="8239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120208" y="1994231"/>
            <a:ext cx="5051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call Partition (A, 1, 10), p=1, r=10</a:t>
            </a:r>
          </a:p>
          <a:p>
            <a:r>
              <a:rPr lang="en-US" dirty="0"/>
              <a:t>x =  A[10] = 3 = Pivot</a:t>
            </a:r>
          </a:p>
          <a:p>
            <a:r>
              <a:rPr lang="en-US" dirty="0" err="1"/>
              <a:t>i</a:t>
            </a:r>
            <a:r>
              <a:rPr lang="en-US" dirty="0"/>
              <a:t>=0 (Left Marker)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5646" y="4448600"/>
            <a:ext cx="555764" cy="2014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1120208" y="4777711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120208" y="5084846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10170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16006"/>
            <a:ext cx="9905998" cy="1296706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1478844" y="4018227"/>
            <a:ext cx="270934" cy="36124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Right Arrow 20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1409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0 (Left Marker)</a:t>
            </a:r>
          </a:p>
          <a:p>
            <a:r>
              <a:rPr lang="en-US" dirty="0"/>
              <a:t>j = 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1409" y="5579842"/>
            <a:ext cx="480231" cy="141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16006"/>
            <a:ext cx="9905998" cy="1296706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1478844" y="4018227"/>
            <a:ext cx="270934" cy="36124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1409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1 (Left Marker)</a:t>
            </a:r>
          </a:p>
          <a:p>
            <a:r>
              <a:rPr lang="en-US" dirty="0"/>
              <a:t>j = 1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840555" y="5898445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>
            <a:off x="1840555" y="6183784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9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16006"/>
            <a:ext cx="9905998" cy="1296706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2583734" y="4018227"/>
            <a:ext cx="270934" cy="36124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Right Arrow 20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1409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1 (Left Marker)</a:t>
            </a:r>
          </a:p>
          <a:p>
            <a:r>
              <a:rPr lang="en-US" dirty="0"/>
              <a:t>j = 2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1409" y="5579842"/>
            <a:ext cx="480231" cy="141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0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16006"/>
            <a:ext cx="9905998" cy="1296706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2719201" y="4018225"/>
            <a:ext cx="270934" cy="36124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1409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2 (Left Marker)</a:t>
            </a:r>
          </a:p>
          <a:p>
            <a:r>
              <a:rPr lang="en-US" dirty="0"/>
              <a:t>j = 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840555" y="5898445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>
            <a:off x="1840555" y="6183784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3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3622185" y="4018227"/>
            <a:ext cx="270934" cy="305417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2 (Left Marker)</a:t>
            </a:r>
          </a:p>
          <a:p>
            <a:r>
              <a:rPr lang="en-US" dirty="0"/>
              <a:t>j = 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360323" y="5576711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4584532" y="4018227"/>
            <a:ext cx="270934" cy="271551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2 (Left Marker)</a:t>
            </a:r>
          </a:p>
          <a:p>
            <a:r>
              <a:rPr lang="en-US" dirty="0"/>
              <a:t>j = 4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360323" y="5582047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8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4584532" y="4018227"/>
            <a:ext cx="270934" cy="271551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3 (Left Marker)</a:t>
            </a:r>
          </a:p>
          <a:p>
            <a:r>
              <a:rPr lang="en-US" dirty="0"/>
              <a:t>j = 4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840555" y="5881512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8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4584532" y="4018227"/>
            <a:ext cx="270934" cy="236450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ircular Arrow 20"/>
          <p:cNvSpPr/>
          <p:nvPr/>
        </p:nvSpPr>
        <p:spPr>
          <a:xfrm>
            <a:off x="3760957" y="2421158"/>
            <a:ext cx="948266" cy="1105694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3760958" y="2974005"/>
            <a:ext cx="239586" cy="11288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3 (Left Marker)</a:t>
            </a:r>
          </a:p>
          <a:p>
            <a:r>
              <a:rPr lang="en-US" dirty="0"/>
              <a:t>j = 4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922183" y="6167245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8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5632694" y="4018227"/>
            <a:ext cx="270934" cy="260262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3 (Left Marker)</a:t>
            </a:r>
          </a:p>
          <a:p>
            <a:r>
              <a:rPr lang="en-US" dirty="0"/>
              <a:t>j = 5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360323" y="5576711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0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6697790" y="4018226"/>
            <a:ext cx="270934" cy="305417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3 (Left Marker)</a:t>
            </a:r>
          </a:p>
          <a:p>
            <a:r>
              <a:rPr lang="en-US" dirty="0"/>
              <a:t>j = 6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360323" y="5576711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7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7702460" y="4018227"/>
            <a:ext cx="270934" cy="32799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3 (Left Marker)</a:t>
            </a:r>
          </a:p>
          <a:p>
            <a:r>
              <a:rPr lang="en-US" dirty="0"/>
              <a:t>j = 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360323" y="5576711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6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7702460" y="4018227"/>
            <a:ext cx="270934" cy="32799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4 (Left Marker)</a:t>
            </a:r>
          </a:p>
          <a:p>
            <a:r>
              <a:rPr lang="en-US" dirty="0"/>
              <a:t>j = 7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840555" y="589341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9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5754" y="1715295"/>
            <a:ext cx="3771239" cy="11655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7706170" y="4018227"/>
            <a:ext cx="270934" cy="3167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331488" y="2788356"/>
            <a:ext cx="950895" cy="2816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4 (Left Marker)</a:t>
            </a:r>
          </a:p>
          <a:p>
            <a:r>
              <a:rPr lang="en-US" dirty="0"/>
              <a:t>j = 7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026107" y="6183784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18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8650541" y="4018227"/>
            <a:ext cx="270934" cy="316706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4 (Left Marker)</a:t>
            </a:r>
          </a:p>
          <a:p>
            <a:r>
              <a:rPr lang="en-US" dirty="0"/>
              <a:t>j = 8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360323" y="5576711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4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9560801" y="4018227"/>
            <a:ext cx="270934" cy="32799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4 (Left Marker)</a:t>
            </a:r>
          </a:p>
          <a:p>
            <a:r>
              <a:rPr lang="en-US" dirty="0"/>
              <a:t>j = 9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360323" y="5576711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4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10389221" y="4018227"/>
            <a:ext cx="270934" cy="32799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4 (Left Marker)</a:t>
            </a:r>
          </a:p>
          <a:p>
            <a:r>
              <a:rPr lang="en-US" dirty="0"/>
              <a:t>j = 10, so loop breaks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20208" y="5327738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1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5715" y="1631743"/>
            <a:ext cx="5742555" cy="1165577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>
            <a:off x="10453511" y="2190044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444" y="1845200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5119822" y="2755107"/>
            <a:ext cx="1254069" cy="2816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120208" y="1559383"/>
            <a:ext cx="363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4 (Left Marker)</a:t>
            </a:r>
          </a:p>
          <a:p>
            <a:r>
              <a:rPr lang="en-US" dirty="0"/>
              <a:t>j = 10, so loop breaks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32685" y="6398273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6" name="Up Arrow 45"/>
          <p:cNvSpPr/>
          <p:nvPr/>
        </p:nvSpPr>
        <p:spPr>
          <a:xfrm>
            <a:off x="10419644" y="4018227"/>
            <a:ext cx="270934" cy="327995"/>
          </a:xfrm>
          <a:prstGeom prst="up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5732364" y="2206977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41409" y="4380089"/>
            <a:ext cx="9752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(A, p, r):</a:t>
            </a:r>
          </a:p>
          <a:p>
            <a:pPr lvl="1"/>
            <a:r>
              <a:rPr lang="en-US" dirty="0"/>
              <a:t>x = A[r]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= p-1</a:t>
            </a:r>
          </a:p>
          <a:p>
            <a:pPr lvl="1"/>
            <a:r>
              <a:rPr lang="en-US" dirty="0"/>
              <a:t>for j = p to r-1:</a:t>
            </a:r>
          </a:p>
          <a:p>
            <a:pPr lvl="2"/>
            <a:r>
              <a:rPr lang="en-US" dirty="0"/>
              <a:t>if (A[j]&lt;=x):</a:t>
            </a:r>
          </a:p>
          <a:p>
            <a:pPr lvl="3"/>
            <a:r>
              <a:rPr lang="en-US" dirty="0" err="1"/>
              <a:t>i</a:t>
            </a:r>
            <a:r>
              <a:rPr lang="en-US" dirty="0"/>
              <a:t> = i+1</a:t>
            </a:r>
          </a:p>
          <a:p>
            <a:pPr lvl="3"/>
            <a:r>
              <a:rPr lang="en-US" dirty="0"/>
              <a:t>exchange A[</a:t>
            </a:r>
            <a:r>
              <a:rPr lang="en-US" dirty="0" err="1"/>
              <a:t>i</a:t>
            </a:r>
            <a:r>
              <a:rPr lang="en-US" dirty="0"/>
              <a:t>] with A[j]</a:t>
            </a:r>
          </a:p>
          <a:p>
            <a:pPr lvl="1"/>
            <a:r>
              <a:rPr lang="en-US" dirty="0"/>
              <a:t>exchange A[i+1] with A[r]</a:t>
            </a:r>
          </a:p>
          <a:p>
            <a:pPr lvl="1"/>
            <a:r>
              <a:rPr lang="en-US" dirty="0"/>
              <a:t>return i+1</a:t>
            </a:r>
          </a:p>
          <a:p>
            <a:endParaRPr lang="en-US" dirty="0"/>
          </a:p>
        </p:txBody>
      </p:sp>
      <p:sp>
        <p:nvSpPr>
          <p:cNvPr id="24" name="Right Arrow 23"/>
          <p:cNvSpPr/>
          <p:nvPr/>
        </p:nvSpPr>
        <p:spPr>
          <a:xfrm>
            <a:off x="987776" y="6704983"/>
            <a:ext cx="480231" cy="1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120208" y="1592633"/>
            <a:ext cx="39372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  <a:p>
            <a:r>
              <a:rPr lang="en-US" dirty="0"/>
              <a:t>r = 10</a:t>
            </a:r>
          </a:p>
          <a:p>
            <a:r>
              <a:rPr lang="en-US" dirty="0"/>
              <a:t>x = 3</a:t>
            </a:r>
          </a:p>
          <a:p>
            <a:r>
              <a:rPr lang="en-US" dirty="0" err="1"/>
              <a:t>i</a:t>
            </a:r>
            <a:r>
              <a:rPr lang="en-US" dirty="0"/>
              <a:t> = 4</a:t>
            </a:r>
          </a:p>
          <a:p>
            <a:r>
              <a:rPr lang="en-US" dirty="0">
                <a:solidFill>
                  <a:srgbClr val="FF0000"/>
                </a:solidFill>
              </a:rPr>
              <a:t>Partition (A, 1, 10) returns 5</a:t>
            </a:r>
          </a:p>
        </p:txBody>
      </p:sp>
    </p:spTree>
    <p:extLst>
      <p:ext uri="{BB962C8B-B14F-4D97-AF65-F5344CB8AC3E}">
        <p14:creationId xmlns:p14="http://schemas.microsoft.com/office/powerpoint/2010/main" val="351189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4193"/>
          </a:xfrm>
        </p:spPr>
        <p:txBody>
          <a:bodyPr/>
          <a:lstStyle/>
          <a:p>
            <a:r>
              <a:rPr lang="en-US" dirty="0"/>
              <a:t>PARTITION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1412" y="1693333"/>
            <a:ext cx="9905999" cy="4097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208" y="3069961"/>
            <a:ext cx="96046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6223" y="3069961"/>
            <a:ext cx="905956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5185" y="3069961"/>
            <a:ext cx="840415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8025" y="3069961"/>
            <a:ext cx="896153" cy="948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4856" y="3069961"/>
            <a:ext cx="926611" cy="94826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892" y="3069961"/>
            <a:ext cx="918730" cy="9488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8490" y="3086894"/>
            <a:ext cx="798503" cy="9313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861" y="3086895"/>
            <a:ext cx="806295" cy="93133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5024" y="3086894"/>
            <a:ext cx="722489" cy="9313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6444" y="3086894"/>
            <a:ext cx="677334" cy="9313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5732364" y="2206977"/>
            <a:ext cx="11289" cy="879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63822" y="1820712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0" name="Up Arrow 19"/>
          <p:cNvSpPr/>
          <p:nvPr/>
        </p:nvSpPr>
        <p:spPr>
          <a:xfrm>
            <a:off x="5624417" y="4018227"/>
            <a:ext cx="270934" cy="62150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47911" y="4639733"/>
            <a:ext cx="369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position of the pivot element</a:t>
            </a:r>
          </a:p>
        </p:txBody>
      </p:sp>
      <p:sp>
        <p:nvSpPr>
          <p:cNvPr id="4" name="Left Brace 3"/>
          <p:cNvSpPr/>
          <p:nvPr/>
        </p:nvSpPr>
        <p:spPr>
          <a:xfrm rot="5400000">
            <a:off x="2779814" y="588674"/>
            <a:ext cx="702519" cy="393912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20208" y="1820712"/>
            <a:ext cx="386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Subarray of elements &lt;= Pivot (3)</a:t>
            </a:r>
          </a:p>
        </p:txBody>
      </p:sp>
      <p:sp>
        <p:nvSpPr>
          <p:cNvPr id="17" name="Right Brace 16"/>
          <p:cNvSpPr/>
          <p:nvPr/>
        </p:nvSpPr>
        <p:spPr>
          <a:xfrm rot="5400000">
            <a:off x="8333236" y="2194465"/>
            <a:ext cx="681898" cy="443918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643813" y="5009065"/>
            <a:ext cx="361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Subarray of elements &gt; Pivot (3)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1457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0208" y="329661"/>
            <a:ext cx="9905998" cy="850278"/>
          </a:xfrm>
        </p:spPr>
        <p:txBody>
          <a:bodyPr/>
          <a:lstStyle/>
          <a:p>
            <a:r>
              <a:rPr lang="en-US" dirty="0"/>
              <a:t>What’s NEXT AFTER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208" y="1828800"/>
            <a:ext cx="960463" cy="66378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66223" y="1828800"/>
            <a:ext cx="905956" cy="66378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5184" y="1828800"/>
            <a:ext cx="840416" cy="66378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025" y="1828800"/>
            <a:ext cx="896153" cy="66378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4856" y="1828800"/>
            <a:ext cx="926612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892" y="1828800"/>
            <a:ext cx="918730" cy="66421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8490" y="1828800"/>
            <a:ext cx="798503" cy="6519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860" y="1828800"/>
            <a:ext cx="806296" cy="65193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5024" y="1828800"/>
            <a:ext cx="722489" cy="6519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16444" y="1828800"/>
            <a:ext cx="677334" cy="6519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729974" y="1365956"/>
            <a:ext cx="12483" cy="493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/>
          <p:cNvSpPr/>
          <p:nvPr/>
        </p:nvSpPr>
        <p:spPr>
          <a:xfrm rot="5400000">
            <a:off x="2900638" y="-487229"/>
            <a:ext cx="421511" cy="398237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 rot="5400000">
            <a:off x="8480932" y="515463"/>
            <a:ext cx="409139" cy="441655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278468" y="2870693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dirty="0" err="1"/>
              <a:t>QuickSort</a:t>
            </a:r>
            <a:r>
              <a:rPr lang="en-US" altLang="en-US" sz="2800" dirty="0"/>
              <a:t>: </a:t>
            </a:r>
            <a:r>
              <a:rPr lang="en-US" altLang="en-US" dirty="0"/>
              <a:t>Given an array of </a:t>
            </a:r>
            <a:r>
              <a:rPr lang="en-US" altLang="en-US" i="1" dirty="0"/>
              <a:t>n</a:t>
            </a:r>
            <a:r>
              <a:rPr lang="en-US" altLang="en-US" dirty="0"/>
              <a:t> elements (e.g., integers):</a:t>
            </a:r>
          </a:p>
          <a:p>
            <a:pPr lvl="1"/>
            <a:r>
              <a:rPr lang="en-US" altLang="en-US" dirty="0"/>
              <a:t>if array only contains one element, return</a:t>
            </a:r>
          </a:p>
          <a:p>
            <a:pPr lvl="1"/>
            <a:r>
              <a:rPr lang="en-US" altLang="en-US" dirty="0"/>
              <a:t>else</a:t>
            </a:r>
          </a:p>
          <a:p>
            <a:pPr lvl="2"/>
            <a:r>
              <a:rPr lang="en-US" altLang="en-US" sz="2200" dirty="0"/>
              <a:t>Partition procedure returns position of the pivot (rightmost) element in the sorted array</a:t>
            </a:r>
            <a:endParaRPr lang="en-US" altLang="en-US" sz="2200" i="1" dirty="0"/>
          </a:p>
          <a:p>
            <a:pPr marL="914400" lvl="2" indent="0">
              <a:buNone/>
            </a:pPr>
            <a:r>
              <a:rPr lang="en-US" altLang="en-US" sz="2200" dirty="0"/>
              <a:t>   Hence elements are partitioned into two sub-arrays:</a:t>
            </a:r>
          </a:p>
          <a:p>
            <a:pPr lvl="3"/>
            <a:r>
              <a:rPr lang="en-US" altLang="en-US" dirty="0"/>
              <a:t>Left subarray contains elements less than or equal (&lt;=) to pivot </a:t>
            </a:r>
          </a:p>
          <a:p>
            <a:pPr lvl="3"/>
            <a:r>
              <a:rPr lang="en-US" altLang="en-US" dirty="0"/>
              <a:t>Right subarray contains elements greater (&gt;) than pivot</a:t>
            </a:r>
          </a:p>
          <a:p>
            <a:pPr lvl="2"/>
            <a:r>
              <a:rPr lang="en-US" altLang="en-US" sz="2200" dirty="0" err="1"/>
              <a:t>QuickSort</a:t>
            </a:r>
            <a:r>
              <a:rPr lang="en-US" altLang="en-US" sz="2200" dirty="0"/>
              <a:t> left subarray</a:t>
            </a:r>
          </a:p>
          <a:p>
            <a:pPr lvl="2"/>
            <a:r>
              <a:rPr lang="en-US" altLang="en-US" sz="2200" dirty="0" err="1"/>
              <a:t>QuickSort</a:t>
            </a:r>
            <a:r>
              <a:rPr lang="en-US" altLang="en-US" sz="2200" dirty="0"/>
              <a:t> right subarray</a:t>
            </a:r>
          </a:p>
          <a:p>
            <a:pPr lvl="2"/>
            <a:r>
              <a:rPr lang="en-US" altLang="en-US" sz="2200" dirty="0"/>
              <a:t>return results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0" name="Right Arrow 19"/>
          <p:cNvSpPr/>
          <p:nvPr/>
        </p:nvSpPr>
        <p:spPr>
          <a:xfrm>
            <a:off x="1600439" y="4004160"/>
            <a:ext cx="665784" cy="212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54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0208" y="329661"/>
            <a:ext cx="9905998" cy="850278"/>
          </a:xfrm>
        </p:spPr>
        <p:txBody>
          <a:bodyPr/>
          <a:lstStyle/>
          <a:p>
            <a:r>
              <a:rPr lang="en-US" dirty="0"/>
              <a:t>What’s NEXT AFTER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208" y="1828800"/>
            <a:ext cx="960463" cy="66378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66223" y="1828800"/>
            <a:ext cx="905956" cy="66378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5184" y="1828800"/>
            <a:ext cx="840416" cy="66378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025" y="1828800"/>
            <a:ext cx="896153" cy="66378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4856" y="1828800"/>
            <a:ext cx="926612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892" y="1828800"/>
            <a:ext cx="918730" cy="66421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8490" y="1828800"/>
            <a:ext cx="798503" cy="6519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860" y="1828800"/>
            <a:ext cx="806296" cy="65193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5024" y="1828800"/>
            <a:ext cx="722489" cy="6519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16444" y="1828800"/>
            <a:ext cx="677334" cy="6519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729974" y="1365956"/>
            <a:ext cx="12483" cy="493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/>
          <p:cNvSpPr/>
          <p:nvPr/>
        </p:nvSpPr>
        <p:spPr>
          <a:xfrm rot="5400000">
            <a:off x="2900638" y="-487229"/>
            <a:ext cx="421511" cy="398237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 rot="5400000">
            <a:off x="8480932" y="515463"/>
            <a:ext cx="409139" cy="441655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278468" y="2870693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dirty="0" err="1"/>
              <a:t>QuickSort</a:t>
            </a:r>
            <a:r>
              <a:rPr lang="en-US" altLang="en-US" sz="2800" dirty="0"/>
              <a:t>: </a:t>
            </a:r>
            <a:r>
              <a:rPr lang="en-US" altLang="en-US" dirty="0"/>
              <a:t>Given an array of </a:t>
            </a:r>
            <a:r>
              <a:rPr lang="en-US" altLang="en-US" i="1" dirty="0"/>
              <a:t>n</a:t>
            </a:r>
            <a:r>
              <a:rPr lang="en-US" altLang="en-US" dirty="0"/>
              <a:t> elements (e.g., integers):</a:t>
            </a:r>
          </a:p>
          <a:p>
            <a:pPr lvl="1"/>
            <a:r>
              <a:rPr lang="en-US" altLang="en-US" dirty="0"/>
              <a:t>if array only contains one element, return</a:t>
            </a:r>
          </a:p>
          <a:p>
            <a:pPr lvl="1"/>
            <a:r>
              <a:rPr lang="en-US" altLang="en-US" dirty="0"/>
              <a:t>else</a:t>
            </a:r>
          </a:p>
          <a:p>
            <a:pPr lvl="2"/>
            <a:r>
              <a:rPr lang="en-US" altLang="en-US" sz="2200" dirty="0"/>
              <a:t>Partition procedure returns position of the pivot (rightmost) element in the sorted array</a:t>
            </a:r>
            <a:endParaRPr lang="en-US" altLang="en-US" sz="2200" i="1" dirty="0"/>
          </a:p>
          <a:p>
            <a:pPr marL="914400" lvl="2" indent="0">
              <a:buNone/>
            </a:pPr>
            <a:r>
              <a:rPr lang="en-US" altLang="en-US" sz="2200" dirty="0"/>
              <a:t>   Hence elements are partitioned into two sub-arrays:</a:t>
            </a:r>
          </a:p>
          <a:p>
            <a:pPr lvl="3"/>
            <a:r>
              <a:rPr lang="en-US" altLang="en-US" dirty="0"/>
              <a:t>Left subarray contains elements less than or equal (&lt;=) to pivot </a:t>
            </a:r>
          </a:p>
          <a:p>
            <a:pPr lvl="3"/>
            <a:r>
              <a:rPr lang="en-US" altLang="en-US" dirty="0"/>
              <a:t>Right subarray contains elements greater (&gt;) than pivot</a:t>
            </a:r>
          </a:p>
          <a:p>
            <a:pPr lvl="2"/>
            <a:r>
              <a:rPr lang="en-US" altLang="en-US" sz="2200" dirty="0" err="1"/>
              <a:t>QuickSort</a:t>
            </a:r>
            <a:r>
              <a:rPr lang="en-US" altLang="en-US" sz="2200" dirty="0"/>
              <a:t> left subarray</a:t>
            </a:r>
          </a:p>
          <a:p>
            <a:pPr lvl="2"/>
            <a:r>
              <a:rPr lang="en-US" altLang="en-US" sz="2200" dirty="0" err="1"/>
              <a:t>QuickSort</a:t>
            </a:r>
            <a:r>
              <a:rPr lang="en-US" altLang="en-US" sz="2200" dirty="0"/>
              <a:t> right subarray</a:t>
            </a:r>
          </a:p>
          <a:p>
            <a:pPr lvl="2"/>
            <a:r>
              <a:rPr lang="en-US" altLang="en-US" sz="2200" dirty="0"/>
              <a:t>return results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1" name="Right Arrow 20"/>
          <p:cNvSpPr/>
          <p:nvPr/>
        </p:nvSpPr>
        <p:spPr>
          <a:xfrm>
            <a:off x="1521417" y="5257227"/>
            <a:ext cx="665784" cy="212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714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0208" y="329661"/>
            <a:ext cx="9905998" cy="850278"/>
          </a:xfrm>
        </p:spPr>
        <p:txBody>
          <a:bodyPr/>
          <a:lstStyle/>
          <a:p>
            <a:r>
              <a:rPr lang="en-US" dirty="0"/>
              <a:t>What’s NEXT AFTER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208" y="1828800"/>
            <a:ext cx="960463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66223" y="1828800"/>
            <a:ext cx="905956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5184" y="1828800"/>
            <a:ext cx="840416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025" y="1828800"/>
            <a:ext cx="896153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4856" y="1828800"/>
            <a:ext cx="926612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892" y="1828800"/>
            <a:ext cx="918730" cy="66421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8490" y="1828800"/>
            <a:ext cx="798503" cy="6519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860" y="1828800"/>
            <a:ext cx="806296" cy="6519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5024" y="1828800"/>
            <a:ext cx="722489" cy="6519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16444" y="1828800"/>
            <a:ext cx="677334" cy="6519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729974" y="1365956"/>
            <a:ext cx="12483" cy="493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/>
          <p:cNvSpPr/>
          <p:nvPr/>
        </p:nvSpPr>
        <p:spPr>
          <a:xfrm rot="5400000">
            <a:off x="2900638" y="-487229"/>
            <a:ext cx="421511" cy="398237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 rot="5400000">
            <a:off x="8480932" y="515463"/>
            <a:ext cx="409139" cy="441655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278468" y="2870693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dirty="0" err="1"/>
              <a:t>QuickSort</a:t>
            </a:r>
            <a:r>
              <a:rPr lang="en-US" altLang="en-US" sz="2800" dirty="0"/>
              <a:t>: </a:t>
            </a:r>
            <a:r>
              <a:rPr lang="en-US" altLang="en-US" dirty="0"/>
              <a:t>Given an array of </a:t>
            </a:r>
            <a:r>
              <a:rPr lang="en-US" altLang="en-US" i="1" dirty="0"/>
              <a:t>n</a:t>
            </a:r>
            <a:r>
              <a:rPr lang="en-US" altLang="en-US" dirty="0"/>
              <a:t> elements (e.g., integers):</a:t>
            </a:r>
          </a:p>
          <a:p>
            <a:pPr lvl="1"/>
            <a:r>
              <a:rPr lang="en-US" altLang="en-US" dirty="0"/>
              <a:t>if array only contains one element, return</a:t>
            </a:r>
          </a:p>
          <a:p>
            <a:pPr lvl="1"/>
            <a:r>
              <a:rPr lang="en-US" altLang="en-US" dirty="0"/>
              <a:t>else</a:t>
            </a:r>
          </a:p>
          <a:p>
            <a:pPr lvl="2"/>
            <a:r>
              <a:rPr lang="en-US" altLang="en-US" sz="2200" dirty="0"/>
              <a:t>Partition procedure returns position of the pivot (rightmost) element in the sorted array</a:t>
            </a:r>
            <a:endParaRPr lang="en-US" altLang="en-US" sz="2200" i="1" dirty="0"/>
          </a:p>
          <a:p>
            <a:pPr marL="914400" lvl="2" indent="0">
              <a:buNone/>
            </a:pPr>
            <a:r>
              <a:rPr lang="en-US" altLang="en-US" sz="2200" dirty="0"/>
              <a:t>   Hence elements are partitioned into two sub-arrays:</a:t>
            </a:r>
          </a:p>
          <a:p>
            <a:pPr lvl="3"/>
            <a:r>
              <a:rPr lang="en-US" altLang="en-US" dirty="0"/>
              <a:t>Left subarray contains elements less than or equal (&lt;=) to pivot </a:t>
            </a:r>
          </a:p>
          <a:p>
            <a:pPr lvl="3"/>
            <a:r>
              <a:rPr lang="en-US" altLang="en-US" dirty="0"/>
              <a:t>Right subarray contains elements greater (&gt;) than pivot</a:t>
            </a:r>
          </a:p>
          <a:p>
            <a:pPr lvl="2"/>
            <a:r>
              <a:rPr lang="en-US" altLang="en-US" sz="2200" dirty="0" err="1"/>
              <a:t>QuickSort</a:t>
            </a:r>
            <a:r>
              <a:rPr lang="en-US" altLang="en-US" sz="2200" dirty="0"/>
              <a:t> left subarray</a:t>
            </a:r>
          </a:p>
          <a:p>
            <a:pPr lvl="2"/>
            <a:r>
              <a:rPr lang="en-US" altLang="en-US" sz="2200" dirty="0" err="1"/>
              <a:t>QuickSort</a:t>
            </a:r>
            <a:r>
              <a:rPr lang="en-US" altLang="en-US" sz="2200" dirty="0"/>
              <a:t> right subarray</a:t>
            </a:r>
          </a:p>
          <a:p>
            <a:pPr lvl="2"/>
            <a:r>
              <a:rPr lang="en-US" altLang="en-US" sz="2200" dirty="0"/>
              <a:t>return results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1" name="Right Arrow 20"/>
          <p:cNvSpPr/>
          <p:nvPr/>
        </p:nvSpPr>
        <p:spPr>
          <a:xfrm>
            <a:off x="1510128" y="5578212"/>
            <a:ext cx="665784" cy="212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26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0208" y="329661"/>
            <a:ext cx="9905998" cy="850278"/>
          </a:xfrm>
        </p:spPr>
        <p:txBody>
          <a:bodyPr/>
          <a:lstStyle/>
          <a:p>
            <a:r>
              <a:rPr lang="en-US" dirty="0"/>
              <a:t>What’s NEXT AFTER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208" y="1828800"/>
            <a:ext cx="960463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66223" y="1828800"/>
            <a:ext cx="905956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5184" y="1828800"/>
            <a:ext cx="840416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025" y="1828800"/>
            <a:ext cx="896153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4856" y="1828800"/>
            <a:ext cx="926612" cy="66378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892" y="1828800"/>
            <a:ext cx="918730" cy="66421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8490" y="1828800"/>
            <a:ext cx="798503" cy="651933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860" y="1828800"/>
            <a:ext cx="806296" cy="65193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5024" y="1828800"/>
            <a:ext cx="722489" cy="651933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16444" y="1828800"/>
            <a:ext cx="677334" cy="651933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278468" y="2870693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dirty="0" err="1"/>
              <a:t>QuickSort</a:t>
            </a:r>
            <a:r>
              <a:rPr lang="en-US" altLang="en-US" sz="2800" dirty="0"/>
              <a:t>: </a:t>
            </a:r>
            <a:r>
              <a:rPr lang="en-US" altLang="en-US" dirty="0"/>
              <a:t>Given an array of </a:t>
            </a:r>
            <a:r>
              <a:rPr lang="en-US" altLang="en-US" i="1" dirty="0"/>
              <a:t>n</a:t>
            </a:r>
            <a:r>
              <a:rPr lang="en-US" altLang="en-US" dirty="0"/>
              <a:t> elements (e.g., integers):</a:t>
            </a:r>
          </a:p>
          <a:p>
            <a:pPr lvl="1"/>
            <a:r>
              <a:rPr lang="en-US" altLang="en-US" dirty="0"/>
              <a:t>if array only contains one element, return</a:t>
            </a:r>
          </a:p>
          <a:p>
            <a:pPr lvl="1"/>
            <a:r>
              <a:rPr lang="en-US" altLang="en-US" dirty="0"/>
              <a:t>else</a:t>
            </a:r>
          </a:p>
          <a:p>
            <a:pPr lvl="2"/>
            <a:r>
              <a:rPr lang="en-US" altLang="en-US" sz="2200" dirty="0"/>
              <a:t>Partition procedure returns position of the pivot (rightmost) element in the sorted array</a:t>
            </a:r>
            <a:endParaRPr lang="en-US" altLang="en-US" sz="2200" i="1" dirty="0"/>
          </a:p>
          <a:p>
            <a:pPr marL="914400" lvl="2" indent="0">
              <a:buNone/>
            </a:pPr>
            <a:r>
              <a:rPr lang="en-US" altLang="en-US" sz="2200" dirty="0"/>
              <a:t>   Hence elements are partitioned into two sub-arrays:</a:t>
            </a:r>
          </a:p>
          <a:p>
            <a:pPr lvl="3"/>
            <a:r>
              <a:rPr lang="en-US" altLang="en-US" dirty="0"/>
              <a:t>Left subarray contains elements less than or equal (&lt;=) to pivot </a:t>
            </a:r>
          </a:p>
          <a:p>
            <a:pPr lvl="3"/>
            <a:r>
              <a:rPr lang="en-US" altLang="en-US" dirty="0"/>
              <a:t>Right subarray contains elements greater (&gt;) than pivot</a:t>
            </a:r>
          </a:p>
          <a:p>
            <a:pPr lvl="2"/>
            <a:r>
              <a:rPr lang="en-US" altLang="en-US" sz="2200" dirty="0" err="1"/>
              <a:t>QuickSort</a:t>
            </a:r>
            <a:r>
              <a:rPr lang="en-US" altLang="en-US" sz="2200" dirty="0"/>
              <a:t> left subarray</a:t>
            </a:r>
          </a:p>
          <a:p>
            <a:pPr lvl="2"/>
            <a:r>
              <a:rPr lang="en-US" altLang="en-US" sz="2200" dirty="0" err="1"/>
              <a:t>QuickSort</a:t>
            </a:r>
            <a:r>
              <a:rPr lang="en-US" altLang="en-US" sz="2200" dirty="0"/>
              <a:t> right subarray</a:t>
            </a:r>
          </a:p>
          <a:p>
            <a:pPr lvl="2"/>
            <a:r>
              <a:rPr lang="en-US" altLang="en-US" sz="2200" dirty="0"/>
              <a:t>return results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1" name="Right Arrow 20"/>
          <p:cNvSpPr/>
          <p:nvPr/>
        </p:nvSpPr>
        <p:spPr>
          <a:xfrm>
            <a:off x="1521416" y="5955887"/>
            <a:ext cx="665784" cy="212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541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Informal Roman" panose="030604020304060B0204" pitchFamily="66" charset="0"/>
              </a:rPr>
              <a:t>Thank you for listening to my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Jokerman" panose="04090605060D06020702" pitchFamily="82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7077488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1446</TotalTime>
  <Words>3465</Words>
  <Application>Microsoft Office PowerPoint</Application>
  <PresentationFormat>Widescreen</PresentationFormat>
  <Paragraphs>1070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Informal Roman</vt:lpstr>
      <vt:lpstr>Jokerman</vt:lpstr>
      <vt:lpstr>Tw Cen MT</vt:lpstr>
      <vt:lpstr>Circuit</vt:lpstr>
      <vt:lpstr>Quicksort </vt:lpstr>
      <vt:lpstr>Let’s play a game </vt:lpstr>
      <vt:lpstr>PowerPoint Presentation</vt:lpstr>
      <vt:lpstr>PowerPoint Presentation</vt:lpstr>
      <vt:lpstr>Quicksort algorithm</vt:lpstr>
      <vt:lpstr>Let’s sort these numbers with quicksort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PROCEDURE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PARTITION pseudocode</vt:lpstr>
      <vt:lpstr>What’s NEXT AFTER PARTITION</vt:lpstr>
      <vt:lpstr>What’s NEXT AFTER PARTITION</vt:lpstr>
      <vt:lpstr>What’s NEXT AFTER PARTITION</vt:lpstr>
      <vt:lpstr>What’s NEXT AFTER PARTITION</vt:lpstr>
      <vt:lpstr>Thank you for listening to my presentation</vt:lpstr>
    </vt:vector>
  </TitlesOfParts>
  <Company>BUET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Adnan Arefeen</cp:lastModifiedBy>
  <cp:revision>137</cp:revision>
  <dcterms:created xsi:type="dcterms:W3CDTF">2017-03-24T06:57:27Z</dcterms:created>
  <dcterms:modified xsi:type="dcterms:W3CDTF">2025-10-20T06:44:44Z</dcterms:modified>
</cp:coreProperties>
</file>