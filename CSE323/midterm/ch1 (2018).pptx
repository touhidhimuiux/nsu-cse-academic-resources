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y="6858000" cx="9144000"/>
  <p:notesSz cx="6881800" cy="9296400"/>
  <p:embeddedFontLst>
    <p:embeddedFont>
      <p:font typeface="Helvetica Neue"/>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000000"/>
          </p15:clr>
        </p15:guide>
        <p15:guide id="2" pos="440">
          <p15:clr>
            <a:srgbClr val="000000"/>
          </p15:clr>
        </p15:guide>
      </p15:sldGuideLst>
    </p:ext>
    <p:ext uri="GoogleSlidesCustomDataVersion2">
      <go:slidesCustomData xmlns:go="http://customooxmlschemas.google.com/" r:id="rId71" roundtripDataSignature="AMtx7mjQqJLnAHSmJqnEpfr+8BVVDSNi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HelveticaNeue-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HelveticaNeue-bold.fntdata"/><Relationship Id="rId23" Type="http://schemas.openxmlformats.org/officeDocument/2006/relationships/slide" Target="slides/slide17.xml"/><Relationship Id="rId67" Type="http://schemas.openxmlformats.org/officeDocument/2006/relationships/font" Target="fonts/HelveticaNeue-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1325" cy="463550"/>
          </a:xfrm>
          <a:prstGeom prst="rect">
            <a:avLst/>
          </a:prstGeom>
          <a:noFill/>
          <a:ln>
            <a:noFill/>
          </a:ln>
        </p:spPr>
        <p:txBody>
          <a:bodyPr anchorCtr="0" anchor="ctr" bIns="46200" lIns="92425" spcFirstLastPara="1" rIns="92425" wrap="square" tIns="462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4" name="Google Shape;4;n"/>
          <p:cNvSpPr txBox="1"/>
          <p:nvPr>
            <p:ph idx="10" type="dt"/>
          </p:nvPr>
        </p:nvSpPr>
        <p:spPr>
          <a:xfrm>
            <a:off x="3900487" y="0"/>
            <a:ext cx="2981325" cy="463550"/>
          </a:xfrm>
          <a:prstGeom prst="rect">
            <a:avLst/>
          </a:prstGeom>
          <a:noFill/>
          <a:ln>
            <a:noFill/>
          </a:ln>
        </p:spPr>
        <p:txBody>
          <a:bodyPr anchorCtr="0" anchor="ctr" bIns="46200" lIns="92425" spcFirstLastPara="1" rIns="92425" wrap="square" tIns="462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5" name="Google Shape;5;n"/>
          <p:cNvSpPr/>
          <p:nvPr>
            <p:ph idx="3"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7575" y="4416425"/>
            <a:ext cx="5046662" cy="4181475"/>
          </a:xfrm>
          <a:prstGeom prst="rect">
            <a:avLst/>
          </a:prstGeom>
          <a:noFill/>
          <a:ln>
            <a:noFill/>
          </a:ln>
        </p:spPr>
        <p:txBody>
          <a:bodyPr anchorCtr="0" anchor="ctr" bIns="46200" lIns="92425" spcFirstLastPara="1" rIns="92425" wrap="square" tIns="462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32850"/>
            <a:ext cx="2981325" cy="463550"/>
          </a:xfrm>
          <a:prstGeom prst="rect">
            <a:avLst/>
          </a:prstGeom>
          <a:noFill/>
          <a:ln>
            <a:noFill/>
          </a:ln>
        </p:spPr>
        <p:txBody>
          <a:bodyPr anchorCtr="0" anchor="b" bIns="46200" lIns="92425" spcFirstLastPara="1" rIns="92425" wrap="square" tIns="462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1pPr>
            <a:lvl2pPr lvl="1"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2pPr>
            <a:lvl3pPr lvl="2"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3pPr>
            <a:lvl4pPr lvl="3"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4pPr>
            <a:lvl5pPr lvl="4"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5pPr>
            <a:lvl6pPr lvl="5"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6pPr>
            <a:lvl7pPr lvl="6"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7pPr>
            <a:lvl8pPr lvl="7"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8pPr>
            <a:lvl9pPr lvl="8" marR="0" rtl="0" algn="l">
              <a:lnSpc>
                <a:spcPct val="100000"/>
              </a:lnSpc>
              <a:spcBef>
                <a:spcPts val="0"/>
              </a:spcBef>
              <a:spcAft>
                <a:spcPts val="0"/>
              </a:spcAft>
              <a:buSzPts val="1400"/>
              <a:buNone/>
              <a:defRPr b="0" i="0" sz="1800" u="none" cap="none" strike="noStrike">
                <a:solidFill>
                  <a:srgbClr val="000000"/>
                </a:solidFill>
                <a:latin typeface="Verdana"/>
                <a:ea typeface="Verdana"/>
                <a:cs typeface="Verdana"/>
                <a:sym typeface="Verdana"/>
              </a:defRPr>
            </a:lvl9pPr>
          </a:lstStyle>
          <a:p/>
        </p:txBody>
      </p:sp>
      <p:sp>
        <p:nvSpPr>
          <p:cNvPr id="8" name="Google Shape;8;n"/>
          <p:cNvSpPr txBox="1"/>
          <p:nvPr>
            <p:ph idx="12" type="sldNum"/>
          </p:nvPr>
        </p:nvSpPr>
        <p:spPr>
          <a:xfrm>
            <a:off x="3900487" y="8832850"/>
            <a:ext cx="2981325" cy="463550"/>
          </a:xfrm>
          <a:prstGeom prst="rect">
            <a:avLst/>
          </a:prstGeom>
          <a:noFill/>
          <a:ln>
            <a:noFill/>
          </a:ln>
        </p:spPr>
        <p:txBody>
          <a:bodyPr anchorCtr="0" anchor="b" bIns="46200" lIns="92425" spcFirstLastPara="1" rIns="92425" wrap="square" tIns="462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txBox="1"/>
          <p:nvPr/>
        </p:nvSpPr>
        <p:spPr>
          <a:xfrm>
            <a:off x="3900487" y="8832850"/>
            <a:ext cx="2981325" cy="463550"/>
          </a:xfrm>
          <a:prstGeom prst="rect">
            <a:avLst/>
          </a:prstGeom>
          <a:noFill/>
          <a:ln>
            <a:noFill/>
          </a:ln>
        </p:spPr>
        <p:txBody>
          <a:bodyPr anchorCtr="0" anchor="b" bIns="46200" lIns="92425" spcFirstLastPara="1" rIns="92425" wrap="square" tIns="462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69" name="Google Shape;69;p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1:notes"/>
          <p:cNvSpPr txBox="1"/>
          <p:nvPr>
            <p:ph idx="1" type="body"/>
          </p:nvPr>
        </p:nvSpPr>
        <p:spPr>
          <a:xfrm>
            <a:off x="917575" y="4416425"/>
            <a:ext cx="5046662" cy="4181475"/>
          </a:xfrm>
          <a:prstGeom prst="rect">
            <a:avLst/>
          </a:prstGeom>
          <a:noFill/>
          <a:ln>
            <a:noFill/>
          </a:ln>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2: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3: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99" name="Google Shape;99;p6: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8: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9: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11: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2: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1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6: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6: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8: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166" name="Google Shape;166;p18: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9: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0: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20: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21: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2: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22: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23: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2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2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6: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217" name="Google Shape;217;p26: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2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8: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229" name="Google Shape;229;p28: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9: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235" name="Google Shape;235;p29: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0: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30: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1: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31: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2: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32: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3: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33: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3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3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6: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36: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3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8: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38: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9: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39: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0: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40: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41: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41: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2: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42: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3: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43: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4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4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6: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46: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4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8: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53" name="Google Shape;353;p48: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9: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59" name="Google Shape;359;p49: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0: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68" name="Google Shape;368;p50: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1: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75" name="Google Shape;375;p5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52: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82" name="Google Shape;382;p52: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3: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388" name="Google Shape;388;p53: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4: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54: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5: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55: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6: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56: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7: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57: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8:notes"/>
          <p:cNvSpPr txBox="1"/>
          <p:nvPr>
            <p:ph idx="1" type="body"/>
          </p:nvPr>
        </p:nvSpPr>
        <p:spPr>
          <a:xfrm>
            <a:off x="917575" y="4416425"/>
            <a:ext cx="5046662" cy="4181475"/>
          </a:xfrm>
          <a:prstGeom prst="rect">
            <a:avLst/>
          </a:prstGeom>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
        <p:nvSpPr>
          <p:cNvPr id="421" name="Google Shape;421;p58: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9: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59: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60:notes"/>
          <p:cNvSpPr/>
          <p:nvPr>
            <p:ph idx="2" type="sldImg"/>
          </p:nvPr>
        </p:nvSpPr>
        <p:spPr>
          <a:xfrm>
            <a:off x="1117600" y="696912"/>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60:notes"/>
          <p:cNvSpPr txBox="1"/>
          <p:nvPr>
            <p:ph idx="1" type="body"/>
          </p:nvPr>
        </p:nvSpPr>
        <p:spPr>
          <a:xfrm>
            <a:off x="688975" y="4416425"/>
            <a:ext cx="5505450" cy="4183062"/>
          </a:xfrm>
          <a:prstGeom prst="rect">
            <a:avLst/>
          </a:prstGeom>
          <a:noFill/>
          <a:ln>
            <a:noFill/>
          </a:ln>
        </p:spPr>
        <p:txBody>
          <a:bodyPr anchorCtr="0" anchor="t"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61:notes"/>
          <p:cNvSpPr txBox="1"/>
          <p:nvPr/>
        </p:nvSpPr>
        <p:spPr>
          <a:xfrm>
            <a:off x="3900487" y="8832850"/>
            <a:ext cx="2981325" cy="463550"/>
          </a:xfrm>
          <a:prstGeom prst="rect">
            <a:avLst/>
          </a:prstGeom>
          <a:noFill/>
          <a:ln>
            <a:noFill/>
          </a:ln>
        </p:spPr>
        <p:txBody>
          <a:bodyPr anchorCtr="0" anchor="b" bIns="46200" lIns="92425" spcFirstLastPara="1" rIns="92425" wrap="square" tIns="462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9" name="Google Shape;439;p61:notes"/>
          <p:cNvSpPr/>
          <p:nvPr>
            <p:ph idx="2" type="sldImg"/>
          </p:nvPr>
        </p:nvSpPr>
        <p:spPr>
          <a:xfrm>
            <a:off x="11176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61:notes"/>
          <p:cNvSpPr txBox="1"/>
          <p:nvPr>
            <p:ph idx="1" type="body"/>
          </p:nvPr>
        </p:nvSpPr>
        <p:spPr>
          <a:xfrm>
            <a:off x="917575" y="4416425"/>
            <a:ext cx="5046662" cy="4181475"/>
          </a:xfrm>
          <a:prstGeom prst="rect">
            <a:avLst/>
          </a:prstGeom>
          <a:noFill/>
          <a:ln>
            <a:noFill/>
          </a:ln>
        </p:spPr>
        <p:txBody>
          <a:bodyPr anchorCtr="0" anchor="ctr" bIns="46200" lIns="92425" spcFirstLastPara="1" rIns="92425" wrap="square" tIns="462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63"/>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66"/>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6"/>
          <p:cNvSpPr txBox="1"/>
          <p:nvPr>
            <p:ph idx="1"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7"/>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67"/>
          <p:cNvSpPr txBox="1"/>
          <p:nvPr>
            <p:ph idx="1" type="body"/>
          </p:nvPr>
        </p:nvSpPr>
        <p:spPr>
          <a:xfrm>
            <a:off x="806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1" name="Google Shape;41;p67"/>
          <p:cNvSpPr txBox="1"/>
          <p:nvPr>
            <p:ph idx="2" type="body"/>
          </p:nvPr>
        </p:nvSpPr>
        <p:spPr>
          <a:xfrm>
            <a:off x="4997450" y="1233488"/>
            <a:ext cx="4038600" cy="4530725"/>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50519" lvl="1" marL="914400" algn="l">
              <a:spcBef>
                <a:spcPts val="840"/>
              </a:spcBef>
              <a:spcAft>
                <a:spcPts val="0"/>
              </a:spcAft>
              <a:buSzPts val="192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2" name="Shape 42"/>
        <p:cNvGrpSpPr/>
        <p:nvPr/>
      </p:nvGrpSpPr>
      <p:grpSpPr>
        <a:xfrm>
          <a:off x="0" y="0"/>
          <a:ext cx="0" cy="0"/>
          <a:chOff x="0" y="0"/>
          <a:chExt cx="0" cy="0"/>
        </a:xfrm>
      </p:grpSpPr>
      <p:sp>
        <p:nvSpPr>
          <p:cNvPr id="43" name="Google Shape;43;p68"/>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68"/>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5" name="Shape 45"/>
        <p:cNvGrpSpPr/>
        <p:nvPr/>
      </p:nvGrpSpPr>
      <p:grpSpPr>
        <a:xfrm>
          <a:off x="0" y="0"/>
          <a:ext cx="0" cy="0"/>
          <a:chOff x="0" y="0"/>
          <a:chExt cx="0" cy="0"/>
        </a:xfrm>
      </p:grpSpPr>
      <p:sp>
        <p:nvSpPr>
          <p:cNvPr id="46" name="Google Shape;46;p69"/>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69"/>
          <p:cNvSpPr txBox="1"/>
          <p:nvPr>
            <p:ph idx="1" type="body"/>
          </p:nvPr>
        </p:nvSpPr>
        <p:spPr>
          <a:xfrm rot="5400000">
            <a:off x="2655888" y="-615950"/>
            <a:ext cx="4530725" cy="82296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20040" lvl="1" marL="914400" algn="l">
              <a:spcBef>
                <a:spcPts val="630"/>
              </a:spcBef>
              <a:spcAft>
                <a:spcPts val="0"/>
              </a:spcAft>
              <a:buSzPts val="144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8" name="Shape 48"/>
        <p:cNvGrpSpPr/>
        <p:nvPr/>
      </p:nvGrpSpPr>
      <p:grpSpPr>
        <a:xfrm>
          <a:off x="0" y="0"/>
          <a:ext cx="0" cy="0"/>
          <a:chOff x="0" y="0"/>
          <a:chExt cx="0" cy="0"/>
        </a:xfrm>
      </p:grpSpPr>
      <p:sp>
        <p:nvSpPr>
          <p:cNvPr id="49" name="Google Shape;49;p7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70"/>
          <p:cNvSpPr/>
          <p:nvPr>
            <p:ph idx="2" type="pic"/>
          </p:nvPr>
        </p:nvSpPr>
        <p:spPr>
          <a:xfrm>
            <a:off x="1792288" y="612775"/>
            <a:ext cx="5486400" cy="4114800"/>
          </a:xfrm>
          <a:prstGeom prst="rect">
            <a:avLst/>
          </a:prstGeom>
          <a:noFill/>
          <a:ln>
            <a:noFill/>
          </a:ln>
        </p:spPr>
      </p:sp>
      <p:sp>
        <p:nvSpPr>
          <p:cNvPr id="51" name="Google Shape;51;p7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7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7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spcBef>
                <a:spcPts val="1120"/>
              </a:spcBef>
              <a:spcAft>
                <a:spcPts val="0"/>
              </a:spcAft>
              <a:buSzPts val="2880"/>
              <a:buChar char="●"/>
              <a:defRPr sz="3200"/>
            </a:lvl1pPr>
            <a:lvl2pPr indent="-370840" lvl="1" marL="914400" algn="l">
              <a:spcBef>
                <a:spcPts val="980"/>
              </a:spcBef>
              <a:spcAft>
                <a:spcPts val="0"/>
              </a:spcAft>
              <a:buSzPts val="224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5" name="Google Shape;55;p7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96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72"/>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73"/>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61" name="Google Shape;61;p7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62" name="Google Shape;62;p7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16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63" name="Google Shape;63;p7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30200" lvl="1" marL="914400" algn="l">
              <a:spcBef>
                <a:spcPts val="700"/>
              </a:spcBef>
              <a:spcAft>
                <a:spcPts val="0"/>
              </a:spcAft>
              <a:buSzPts val="16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1800"/>
              <a:buNone/>
              <a:defRPr sz="2000"/>
            </a:lvl1pPr>
            <a:lvl2pPr indent="-228600" lvl="1" marL="914400" algn="l">
              <a:spcBef>
                <a:spcPts val="630"/>
              </a:spcBef>
              <a:spcAft>
                <a:spcPts val="0"/>
              </a:spcAft>
              <a:buSzPts val="144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3.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6.jpg"/><Relationship Id="rId2" Type="http://schemas.openxmlformats.org/officeDocument/2006/relationships/image" Target="../media/image24.jp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62"/>
          <p:cNvGrpSpPr/>
          <p:nvPr/>
        </p:nvGrpSpPr>
        <p:grpSpPr>
          <a:xfrm>
            <a:off x="198437" y="2960687"/>
            <a:ext cx="8610600" cy="201612"/>
            <a:chOff x="125" y="1865"/>
            <a:chExt cx="5424" cy="127"/>
          </a:xfrm>
        </p:grpSpPr>
        <p:sp>
          <p:nvSpPr>
            <p:cNvPr id="11" name="Google Shape;11;p62"/>
            <p:cNvSpPr txBox="1"/>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12" name="Google Shape;12;p62"/>
            <p:cNvSpPr txBox="1"/>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13" name="Google Shape;13;p62"/>
            <p:cNvSpPr txBox="1"/>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grpSp>
      <p:sp>
        <p:nvSpPr>
          <p:cNvPr id="14" name="Google Shape;14;p62"/>
          <p:cNvSpPr txBox="1"/>
          <p:nvPr/>
        </p:nvSpPr>
        <p:spPr>
          <a:xfrm>
            <a:off x="6489700" y="6588125"/>
            <a:ext cx="2713037"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36699"/>
              </a:buClr>
              <a:buSzPts val="1000"/>
              <a:buFont typeface="Helvetica Neue"/>
              <a:buNone/>
            </a:pPr>
            <a:r>
              <a:rPr b="1" i="0" lang="en-US" sz="1000" u="none">
                <a:solidFill>
                  <a:srgbClr val="336699"/>
                </a:solidFill>
                <a:latin typeface="Helvetica Neue"/>
                <a:ea typeface="Helvetica Neue"/>
                <a:cs typeface="Helvetica Neue"/>
                <a:sym typeface="Helvetica Neue"/>
              </a:rPr>
              <a:t>Silberschatz, Galvin and Gagne ©2018</a:t>
            </a:r>
            <a:endParaRPr/>
          </a:p>
        </p:txBody>
      </p:sp>
      <p:sp>
        <p:nvSpPr>
          <p:cNvPr id="15" name="Google Shape;15;p62"/>
          <p:cNvSpPr txBox="1"/>
          <p:nvPr/>
        </p:nvSpPr>
        <p:spPr>
          <a:xfrm>
            <a:off x="26987" y="6613525"/>
            <a:ext cx="2701925"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36699"/>
              </a:buClr>
              <a:buSzPts val="1000"/>
              <a:buFont typeface="Helvetica Neue"/>
              <a:buNone/>
            </a:pPr>
            <a:r>
              <a:rPr b="1" i="0" lang="en-US" sz="1000" u="none">
                <a:solidFill>
                  <a:srgbClr val="336699"/>
                </a:solidFill>
                <a:latin typeface="Helvetica Neue"/>
                <a:ea typeface="Helvetica Neue"/>
                <a:cs typeface="Helvetica Neue"/>
                <a:sym typeface="Helvetica Neue"/>
              </a:rPr>
              <a:t>Operating System Concepts – 10</a:t>
            </a:r>
            <a:r>
              <a:rPr b="1" baseline="30000" i="0" lang="en-US" sz="1000" u="none">
                <a:solidFill>
                  <a:srgbClr val="336699"/>
                </a:solidFill>
                <a:latin typeface="Helvetica Neue"/>
                <a:ea typeface="Helvetica Neue"/>
                <a:cs typeface="Helvetica Neue"/>
                <a:sym typeface="Helvetica Neue"/>
              </a:rPr>
              <a:t>h</a:t>
            </a:r>
            <a:r>
              <a:rPr b="1" i="0" lang="en-US" sz="1000" u="none">
                <a:solidFill>
                  <a:srgbClr val="336699"/>
                </a:solidFill>
                <a:latin typeface="Helvetica Neue"/>
                <a:ea typeface="Helvetica Neue"/>
                <a:cs typeface="Helvetica Neue"/>
                <a:sym typeface="Helvetica Neue"/>
              </a:rPr>
              <a:t> Edition</a:t>
            </a:r>
            <a:endParaRPr/>
          </a:p>
        </p:txBody>
      </p:sp>
      <p:pic>
        <p:nvPicPr>
          <p:cNvPr descr="dino_4" id="16" name="Google Shape;16;p62"/>
          <p:cNvPicPr preferRelativeResize="0"/>
          <p:nvPr/>
        </p:nvPicPr>
        <p:blipFill rotWithShape="1">
          <a:blip r:embed="rId1">
            <a:alphaModFix/>
          </a:blip>
          <a:srcRect b="0" l="0" r="0" t="0"/>
          <a:stretch/>
        </p:blipFill>
        <p:spPr>
          <a:xfrm>
            <a:off x="3360737" y="4157662"/>
            <a:ext cx="2062162" cy="1593850"/>
          </a:xfrm>
          <a:prstGeom prst="rect">
            <a:avLst/>
          </a:prstGeom>
          <a:noFill/>
          <a:ln cap="flat" cmpd="sng" w="76200">
            <a:solidFill>
              <a:srgbClr val="336699"/>
            </a:solidFill>
            <a:prstDash val="solid"/>
            <a:miter lim="800000"/>
            <a:headEnd len="sm" w="sm" type="none"/>
            <a:tailEnd len="sm" w="sm" type="none"/>
          </a:ln>
        </p:spPr>
      </p:pic>
      <p:sp>
        <p:nvSpPr>
          <p:cNvPr id="17" name="Google Shape;17;p62"/>
          <p:cNvSpPr txBox="1"/>
          <p:nvPr/>
        </p:nvSpPr>
        <p:spPr>
          <a:xfrm>
            <a:off x="3224212" y="4006850"/>
            <a:ext cx="2336800" cy="1887537"/>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18" name="Google Shape;18;p62"/>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9" name="Google Shape;19;p62"/>
          <p:cNvSpPr txBox="1"/>
          <p:nvPr>
            <p:ph idx="1"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lvl1pPr indent="-331470" lvl="0" marL="457200" marR="0" rtl="0" algn="l">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 name="Shape 22"/>
        <p:cNvGrpSpPr/>
        <p:nvPr/>
      </p:nvGrpSpPr>
      <p:grpSpPr>
        <a:xfrm>
          <a:off x="0" y="0"/>
          <a:ext cx="0" cy="0"/>
          <a:chOff x="0" y="0"/>
          <a:chExt cx="0" cy="0"/>
        </a:xfrm>
      </p:grpSpPr>
      <p:pic>
        <p:nvPicPr>
          <p:cNvPr descr="dino_3" id="23" name="Google Shape;23;p64"/>
          <p:cNvPicPr preferRelativeResize="0"/>
          <p:nvPr/>
        </p:nvPicPr>
        <p:blipFill rotWithShape="1">
          <a:blip r:embed="rId1">
            <a:alphaModFix/>
          </a:blip>
          <a:srcRect b="0" l="0" r="0" t="0"/>
          <a:stretch/>
        </p:blipFill>
        <p:spPr>
          <a:xfrm>
            <a:off x="285750" y="0"/>
            <a:ext cx="1195387" cy="908050"/>
          </a:xfrm>
          <a:prstGeom prst="rect">
            <a:avLst/>
          </a:prstGeom>
          <a:noFill/>
          <a:ln>
            <a:noFill/>
          </a:ln>
        </p:spPr>
      </p:pic>
      <p:sp>
        <p:nvSpPr>
          <p:cNvPr id="24" name="Google Shape;24;p64"/>
          <p:cNvSpPr txBox="1"/>
          <p:nvPr>
            <p:ph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25" name="Google Shape;25;p64"/>
          <p:cNvSpPr txBox="1"/>
          <p:nvPr>
            <p:ph idx="1"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lvl1pPr indent="-331470" lvl="0" marL="457200" marR="0" rtl="0" algn="l">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26" name="Google Shape;26;p64"/>
          <p:cNvSpPr txBox="1"/>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cxnSp>
        <p:nvCxnSpPr>
          <p:cNvPr id="27" name="Google Shape;27;p64"/>
          <p:cNvCxnSpPr/>
          <p:nvPr/>
        </p:nvCxnSpPr>
        <p:spPr>
          <a:xfrm>
            <a:off x="457200" y="860425"/>
            <a:ext cx="8077200" cy="0"/>
          </a:xfrm>
          <a:prstGeom prst="straightConnector1">
            <a:avLst/>
          </a:prstGeom>
          <a:noFill/>
          <a:ln cap="flat" cmpd="sng" w="19050">
            <a:solidFill>
              <a:srgbClr val="336699"/>
            </a:solidFill>
            <a:prstDash val="solid"/>
            <a:miter lim="800000"/>
            <a:headEnd len="med" w="med" type="none"/>
            <a:tailEnd len="med" w="med" type="none"/>
          </a:ln>
        </p:spPr>
      </p:cxnSp>
      <p:sp>
        <p:nvSpPr>
          <p:cNvPr id="28" name="Google Shape;28;p64"/>
          <p:cNvSpPr txBox="1"/>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29" name="Google Shape;29;p64"/>
          <p:cNvSpPr txBox="1"/>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Verdana"/>
              <a:ea typeface="Verdana"/>
              <a:cs typeface="Verdana"/>
              <a:sym typeface="Verdana"/>
            </a:endParaRPr>
          </a:p>
        </p:txBody>
      </p:sp>
      <p:sp>
        <p:nvSpPr>
          <p:cNvPr id="30" name="Google Shape;30;p64"/>
          <p:cNvSpPr txBox="1"/>
          <p:nvPr/>
        </p:nvSpPr>
        <p:spPr>
          <a:xfrm>
            <a:off x="4257675" y="6613525"/>
            <a:ext cx="44450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99"/>
              </a:buClr>
              <a:buSzPts val="1000"/>
              <a:buFont typeface="Helvetica Neue"/>
              <a:buNone/>
            </a:pPr>
            <a:r>
              <a:rPr b="1" i="0" lang="en-US" sz="1000" u="none">
                <a:solidFill>
                  <a:srgbClr val="006699"/>
                </a:solidFill>
                <a:latin typeface="Helvetica Neue"/>
                <a:ea typeface="Helvetica Neue"/>
                <a:cs typeface="Helvetica Neue"/>
                <a:sym typeface="Helvetica Neue"/>
              </a:rPr>
              <a:t>1.</a:t>
            </a:r>
            <a:fld id="{00000000-1234-1234-1234-123412341234}" type="slidenum">
              <a:rPr b="1" i="0" lang="en-US" sz="1000" u="none">
                <a:solidFill>
                  <a:srgbClr val="006699"/>
                </a:solidFill>
                <a:latin typeface="Helvetica Neue"/>
                <a:ea typeface="Helvetica Neue"/>
                <a:cs typeface="Helvetica Neue"/>
                <a:sym typeface="Helvetica Neue"/>
              </a:rPr>
              <a:t>‹#›</a:t>
            </a:fld>
            <a:endParaRPr/>
          </a:p>
        </p:txBody>
      </p:sp>
      <p:sp>
        <p:nvSpPr>
          <p:cNvPr id="31" name="Google Shape;31;p64"/>
          <p:cNvSpPr txBox="1"/>
          <p:nvPr/>
        </p:nvSpPr>
        <p:spPr>
          <a:xfrm>
            <a:off x="6489700" y="6588125"/>
            <a:ext cx="2713037"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6699"/>
              </a:buClr>
              <a:buSzPts val="1000"/>
              <a:buFont typeface="Helvetica Neue"/>
              <a:buNone/>
            </a:pPr>
            <a:r>
              <a:rPr b="1" i="0" lang="en-US" sz="1000" u="none">
                <a:solidFill>
                  <a:srgbClr val="006699"/>
                </a:solidFill>
                <a:latin typeface="Helvetica Neue"/>
                <a:ea typeface="Helvetica Neue"/>
                <a:cs typeface="Helvetica Neue"/>
                <a:sym typeface="Helvetica Neue"/>
              </a:rPr>
              <a:t>Silberschatz, Galvin and Gagne ©2018</a:t>
            </a:r>
            <a:endParaRPr/>
          </a:p>
        </p:txBody>
      </p:sp>
      <p:sp>
        <p:nvSpPr>
          <p:cNvPr id="32" name="Google Shape;32;p64"/>
          <p:cNvSpPr txBox="1"/>
          <p:nvPr/>
        </p:nvSpPr>
        <p:spPr>
          <a:xfrm>
            <a:off x="185737" y="6621462"/>
            <a:ext cx="27305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6699"/>
              </a:buClr>
              <a:buSzPts val="1000"/>
              <a:buFont typeface="Helvetica Neue"/>
              <a:buNone/>
            </a:pPr>
            <a:r>
              <a:rPr b="1" i="0" lang="en-US" sz="1000" u="none">
                <a:solidFill>
                  <a:srgbClr val="006699"/>
                </a:solidFill>
                <a:latin typeface="Helvetica Neue"/>
                <a:ea typeface="Helvetica Neue"/>
                <a:cs typeface="Helvetica Neue"/>
                <a:sym typeface="Helvetica Neue"/>
              </a:rPr>
              <a:t>Operating System Concepts – 10</a:t>
            </a:r>
            <a:r>
              <a:rPr b="1" baseline="30000" i="0" lang="en-US" sz="1000" u="none">
                <a:solidFill>
                  <a:srgbClr val="006699"/>
                </a:solidFill>
                <a:latin typeface="Helvetica Neue"/>
                <a:ea typeface="Helvetica Neue"/>
                <a:cs typeface="Helvetica Neue"/>
                <a:sym typeface="Helvetica Neue"/>
              </a:rPr>
              <a:t>th</a:t>
            </a:r>
            <a:r>
              <a:rPr b="1" i="0" lang="en-US" sz="1000" u="none">
                <a:solidFill>
                  <a:srgbClr val="006699"/>
                </a:solidFill>
                <a:latin typeface="Helvetica Neue"/>
                <a:ea typeface="Helvetica Neue"/>
                <a:cs typeface="Helvetica Neue"/>
                <a:sym typeface="Helvetica Neue"/>
              </a:rPr>
              <a:t> Edition</a:t>
            </a:r>
            <a:endParaRPr/>
          </a:p>
        </p:txBody>
      </p:sp>
      <p:pic>
        <p:nvPicPr>
          <p:cNvPr descr="dino_6" id="33" name="Google Shape;33;p64"/>
          <p:cNvPicPr preferRelativeResize="0"/>
          <p:nvPr/>
        </p:nvPicPr>
        <p:blipFill rotWithShape="1">
          <a:blip r:embed="rId2">
            <a:alphaModFix/>
          </a:blip>
          <a:srcRect b="0" l="0" r="0" t="0"/>
          <a:stretch/>
        </p:blipFill>
        <p:spPr>
          <a:xfrm>
            <a:off x="7773987" y="5849937"/>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2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gnu.org/philosophy/open-source-misses-the-point.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ph type="ctrTitle"/>
          </p:nvPr>
        </p:nvSpPr>
        <p:spPr>
          <a:xfrm>
            <a:off x="371475" y="1900237"/>
            <a:ext cx="84582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4300"/>
              <a:buFont typeface="Arial"/>
              <a:buNone/>
            </a:pPr>
            <a:r>
              <a:rPr b="1" i="0" lang="en-US" sz="4300" u="none">
                <a:solidFill>
                  <a:srgbClr val="006699"/>
                </a:solidFill>
                <a:latin typeface="Arial"/>
                <a:ea typeface="Arial"/>
                <a:cs typeface="Arial"/>
                <a:sym typeface="Arial"/>
              </a:rPr>
              <a:t>Chapter 1: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txBox="1"/>
          <p:nvPr>
            <p:ph idx="4294967295"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Chapter 1: Introduction</a:t>
            </a:r>
            <a:endParaRPr/>
          </a:p>
        </p:txBody>
      </p:sp>
      <p:sp>
        <p:nvSpPr>
          <p:cNvPr id="78" name="Google Shape;78;p2"/>
          <p:cNvSpPr txBox="1"/>
          <p:nvPr>
            <p:ph idx="4294967295"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What Operating Systems Do</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Computer-System Organization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Computer-System Architecture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Operating-System Operations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Resource Management</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Security and Protection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Virtualization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Distributed Systems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Kernel Data Structures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Computing Environments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cap="none" strike="noStrike">
                <a:solidFill>
                  <a:schemeClr val="dk1"/>
                </a:solidFill>
                <a:latin typeface="Helvetica Neue"/>
                <a:ea typeface="Helvetica Neue"/>
                <a:cs typeface="Helvetica Neue"/>
                <a:sym typeface="Helvetica Neue"/>
              </a:rPr>
              <a:t>Free/Libre and Open-Source Operating Systems</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a:p>
            <a:pPr indent="-240030" lvl="0" marL="342900" marR="0" rtl="0" algn="l">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3"/>
          <p:cNvSpPr txBox="1"/>
          <p:nvPr>
            <p:ph idx="4294967295" type="title"/>
          </p:nvPr>
        </p:nvSpPr>
        <p:spPr>
          <a:xfrm>
            <a:off x="457200" y="16668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Objectives</a:t>
            </a:r>
            <a:endParaRPr/>
          </a:p>
        </p:txBody>
      </p:sp>
      <p:sp>
        <p:nvSpPr>
          <p:cNvPr id="84" name="Google Shape;84;p3"/>
          <p:cNvSpPr txBox="1"/>
          <p:nvPr>
            <p:ph idx="4294967295" type="body"/>
          </p:nvPr>
        </p:nvSpPr>
        <p:spPr>
          <a:xfrm>
            <a:off x="806450" y="1233487"/>
            <a:ext cx="64928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Describe the general organization of a computer system and the role of interrupts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Describe the components in a modern, multiprocessor computer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Illustrate the transition from user mode to kernel mode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Discuss how operating systems are used in various computing environments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Provide examples of free and open-source operating systems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txBox="1"/>
          <p:nvPr>
            <p:ph idx="4294967295" type="title"/>
          </p:nvPr>
        </p:nvSpPr>
        <p:spPr>
          <a:xfrm>
            <a:off x="1041400" y="182562"/>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Computer System Structure</a:t>
            </a:r>
            <a:endParaRPr/>
          </a:p>
        </p:txBody>
      </p:sp>
      <p:sp>
        <p:nvSpPr>
          <p:cNvPr id="90" name="Google Shape;90;p4"/>
          <p:cNvSpPr txBox="1"/>
          <p:nvPr>
            <p:ph idx="4294967295" type="body"/>
          </p:nvPr>
        </p:nvSpPr>
        <p:spPr>
          <a:xfrm>
            <a:off x="890587" y="1204912"/>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Computer system can be divided into four components: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Hardware – provides basic computing resources</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CPU, memory, I/O devices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Operating system</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Controls and coordinates use of hardware among various applications and users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Application programs – define the ways in which the system resources are used to solve the computing problems of the users</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Word processors, compilers, web browsers, database systems, video games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Users</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People, machines, other computers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5"/>
          <p:cNvSpPr txBox="1"/>
          <p:nvPr>
            <p:ph idx="4294967295" type="title"/>
          </p:nvPr>
        </p:nvSpPr>
        <p:spPr>
          <a:xfrm>
            <a:off x="1041400" y="182562"/>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Abstract View of Components of Computer</a:t>
            </a:r>
            <a:endParaRPr/>
          </a:p>
        </p:txBody>
      </p:sp>
      <p:pic>
        <p:nvPicPr>
          <p:cNvPr id="96" name="Google Shape;96;p5"/>
          <p:cNvPicPr preferRelativeResize="0"/>
          <p:nvPr/>
        </p:nvPicPr>
        <p:blipFill rotWithShape="1">
          <a:blip r:embed="rId3">
            <a:alphaModFix/>
          </a:blip>
          <a:srcRect b="0" l="0" r="0" t="0"/>
          <a:stretch/>
        </p:blipFill>
        <p:spPr>
          <a:xfrm>
            <a:off x="2427287" y="1871662"/>
            <a:ext cx="4621212" cy="3276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6"/>
          <p:cNvSpPr txBox="1"/>
          <p:nvPr>
            <p:ph idx="4294967295" type="title"/>
          </p:nvPr>
        </p:nvSpPr>
        <p:spPr>
          <a:xfrm>
            <a:off x="457200" y="18256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What Operating Systems Do</a:t>
            </a:r>
            <a:endParaRPr/>
          </a:p>
        </p:txBody>
      </p:sp>
      <p:sp>
        <p:nvSpPr>
          <p:cNvPr id="102" name="Google Shape;102;p6"/>
          <p:cNvSpPr txBox="1"/>
          <p:nvPr>
            <p:ph idx="4294967295" type="body"/>
          </p:nvPr>
        </p:nvSpPr>
        <p:spPr>
          <a:xfrm>
            <a:off x="746125" y="1120775"/>
            <a:ext cx="79406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Depends on the point of view</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Users want convenience, </a:t>
            </a:r>
            <a:r>
              <a:rPr b="1" i="0" lang="en-US" sz="1800" u="none">
                <a:solidFill>
                  <a:srgbClr val="3366FF"/>
                </a:solidFill>
                <a:latin typeface="Helvetica Neue"/>
                <a:ea typeface="Helvetica Neue"/>
                <a:cs typeface="Helvetica Neue"/>
                <a:sym typeface="Helvetica Neue"/>
              </a:rPr>
              <a:t>ease</a:t>
            </a:r>
            <a:r>
              <a:rPr b="0" i="0" lang="en-US" sz="1800" u="none">
                <a:solidFill>
                  <a:srgbClr val="3366FF"/>
                </a:solidFill>
                <a:latin typeface="Helvetica Neue"/>
                <a:ea typeface="Helvetica Neue"/>
                <a:cs typeface="Helvetica Neue"/>
                <a:sym typeface="Helvetica Neue"/>
              </a:rPr>
              <a:t> </a:t>
            </a:r>
            <a:r>
              <a:rPr b="1" i="0" lang="en-US" sz="1800" u="none">
                <a:solidFill>
                  <a:srgbClr val="3366FF"/>
                </a:solidFill>
                <a:latin typeface="Helvetica Neue"/>
                <a:ea typeface="Helvetica Neue"/>
                <a:cs typeface="Helvetica Neue"/>
                <a:sym typeface="Helvetica Neue"/>
              </a:rPr>
              <a:t>of</a:t>
            </a:r>
            <a:r>
              <a:rPr b="0" i="0" lang="en-US" sz="1800" u="none">
                <a:solidFill>
                  <a:srgbClr val="3366FF"/>
                </a:solidFill>
                <a:latin typeface="Helvetica Neue"/>
                <a:ea typeface="Helvetica Neue"/>
                <a:cs typeface="Helvetica Neue"/>
                <a:sym typeface="Helvetica Neue"/>
              </a:rPr>
              <a:t> </a:t>
            </a:r>
            <a:r>
              <a:rPr b="1" i="0" lang="en-US" sz="1800" u="none">
                <a:solidFill>
                  <a:srgbClr val="3366FF"/>
                </a:solidFill>
                <a:latin typeface="Helvetica Neue"/>
                <a:ea typeface="Helvetica Neue"/>
                <a:cs typeface="Helvetica Neue"/>
                <a:sym typeface="Helvetica Neue"/>
              </a:rPr>
              <a:t>use </a:t>
            </a:r>
            <a:r>
              <a:rPr b="0" i="0" lang="en-US" sz="1800" u="none">
                <a:solidFill>
                  <a:schemeClr val="dk1"/>
                </a:solidFill>
                <a:latin typeface="Helvetica Neue"/>
                <a:ea typeface="Helvetica Neue"/>
                <a:cs typeface="Helvetica Neue"/>
                <a:sym typeface="Helvetica Neue"/>
              </a:rPr>
              <a:t>and</a:t>
            </a:r>
            <a:r>
              <a:rPr b="1" i="0" lang="en-US" sz="1800" u="none">
                <a:solidFill>
                  <a:srgbClr val="3366FF"/>
                </a:solidFill>
                <a:latin typeface="Helvetica Neue"/>
                <a:ea typeface="Helvetica Neue"/>
                <a:cs typeface="Helvetica Neue"/>
                <a:sym typeface="Helvetica Neue"/>
              </a:rPr>
              <a:t> good performance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Don’t care about </a:t>
            </a:r>
            <a:r>
              <a:rPr b="1" i="0" lang="en-US" sz="1800" u="none" cap="none" strike="noStrike">
                <a:solidFill>
                  <a:srgbClr val="3366FF"/>
                </a:solidFill>
                <a:latin typeface="Helvetica Neue"/>
                <a:ea typeface="Helvetica Neue"/>
                <a:cs typeface="Helvetica Neue"/>
                <a:sym typeface="Helvetica Neue"/>
              </a:rPr>
              <a:t>resource</a:t>
            </a:r>
            <a:r>
              <a:rPr b="0" i="0" lang="en-US" sz="1800" u="none" cap="none" strike="noStrike">
                <a:solidFill>
                  <a:srgbClr val="3366FF"/>
                </a:solidFill>
                <a:latin typeface="Helvetica Neue"/>
                <a:ea typeface="Helvetica Neue"/>
                <a:cs typeface="Helvetica Neue"/>
                <a:sym typeface="Helvetica Neue"/>
              </a:rPr>
              <a:t> </a:t>
            </a:r>
            <a:r>
              <a:rPr b="1" i="0" lang="en-US" sz="1800" u="none" cap="none" strike="noStrike">
                <a:solidFill>
                  <a:srgbClr val="3366FF"/>
                </a:solidFill>
                <a:latin typeface="Helvetica Neue"/>
                <a:ea typeface="Helvetica Neue"/>
                <a:cs typeface="Helvetica Neue"/>
                <a:sym typeface="Helvetica Neue"/>
              </a:rPr>
              <a:t>utilization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But shared computer such as </a:t>
            </a:r>
            <a:r>
              <a:rPr b="1" i="0" lang="en-US" sz="1800" u="none">
                <a:solidFill>
                  <a:srgbClr val="3366FF"/>
                </a:solidFill>
                <a:latin typeface="Helvetica Neue"/>
                <a:ea typeface="Helvetica Neue"/>
                <a:cs typeface="Helvetica Neue"/>
                <a:sym typeface="Helvetica Neue"/>
              </a:rPr>
              <a:t>mainframe</a:t>
            </a:r>
            <a:r>
              <a:rPr b="0" i="0" lang="en-US" sz="1800" u="none">
                <a:solidFill>
                  <a:schemeClr val="dk1"/>
                </a:solidFill>
                <a:latin typeface="Helvetica Neue"/>
                <a:ea typeface="Helvetica Neue"/>
                <a:cs typeface="Helvetica Neue"/>
                <a:sym typeface="Helvetica Neue"/>
              </a:rPr>
              <a:t> or </a:t>
            </a:r>
            <a:r>
              <a:rPr b="1" i="0" lang="en-US" sz="1800" u="none">
                <a:solidFill>
                  <a:srgbClr val="3366FF"/>
                </a:solidFill>
                <a:latin typeface="Helvetica Neue"/>
                <a:ea typeface="Helvetica Neue"/>
                <a:cs typeface="Helvetica Neue"/>
                <a:sym typeface="Helvetica Neue"/>
              </a:rPr>
              <a:t>minicomputer</a:t>
            </a:r>
            <a:r>
              <a:rPr b="0" i="0" lang="en-US" sz="1800" u="none">
                <a:solidFill>
                  <a:schemeClr val="dk1"/>
                </a:solidFill>
                <a:latin typeface="Helvetica Neue"/>
                <a:ea typeface="Helvetica Neue"/>
                <a:cs typeface="Helvetica Neue"/>
                <a:sym typeface="Helvetica Neue"/>
              </a:rPr>
              <a:t> must keep all users happy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Operating system is a </a:t>
            </a:r>
            <a:r>
              <a:rPr b="1" i="0" lang="en-US" sz="1800" u="none" cap="none" strike="noStrike">
                <a:solidFill>
                  <a:srgbClr val="3366FF"/>
                </a:solidFill>
                <a:latin typeface="Helvetica Neue"/>
                <a:ea typeface="Helvetica Neue"/>
                <a:cs typeface="Helvetica Neue"/>
                <a:sym typeface="Helvetica Neue"/>
              </a:rPr>
              <a:t>resource allocator</a:t>
            </a:r>
            <a:r>
              <a:rPr b="0" i="0" lang="en-US" sz="1800" u="none" cap="none" strike="noStrike">
                <a:solidFill>
                  <a:schemeClr val="dk1"/>
                </a:solidFill>
                <a:latin typeface="Helvetica Neue"/>
                <a:ea typeface="Helvetica Neue"/>
                <a:cs typeface="Helvetica Neue"/>
                <a:sym typeface="Helvetica Neue"/>
              </a:rPr>
              <a:t> and </a:t>
            </a:r>
            <a:r>
              <a:rPr b="1" i="0" lang="en-US" sz="1800" u="none" cap="none" strike="noStrike">
                <a:solidFill>
                  <a:srgbClr val="3366FF"/>
                </a:solidFill>
                <a:latin typeface="Helvetica Neue"/>
                <a:ea typeface="Helvetica Neue"/>
                <a:cs typeface="Helvetica Neue"/>
                <a:sym typeface="Helvetica Neue"/>
              </a:rPr>
              <a:t>control program </a:t>
            </a:r>
            <a:r>
              <a:rPr b="0" i="0" lang="en-US" sz="1800" u="none" cap="none" strike="noStrike">
                <a:solidFill>
                  <a:schemeClr val="dk1"/>
                </a:solidFill>
                <a:latin typeface="Helvetica Neue"/>
                <a:ea typeface="Helvetica Neue"/>
                <a:cs typeface="Helvetica Neue"/>
                <a:sym typeface="Helvetica Neue"/>
              </a:rPr>
              <a:t>making efficient use of HW and managing execution of user programs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Users of dedicate systems such as </a:t>
            </a:r>
            <a:r>
              <a:rPr b="1" i="0" lang="en-US" sz="1800" u="none">
                <a:solidFill>
                  <a:srgbClr val="3366FF"/>
                </a:solidFill>
                <a:latin typeface="Helvetica Neue"/>
                <a:ea typeface="Helvetica Neue"/>
                <a:cs typeface="Helvetica Neue"/>
                <a:sym typeface="Helvetica Neue"/>
              </a:rPr>
              <a:t>workstations</a:t>
            </a:r>
            <a:r>
              <a:rPr b="0" i="0" lang="en-US" sz="1800" u="none">
                <a:solidFill>
                  <a:schemeClr val="dk1"/>
                </a:solidFill>
                <a:latin typeface="Helvetica Neue"/>
                <a:ea typeface="Helvetica Neue"/>
                <a:cs typeface="Helvetica Neue"/>
                <a:sym typeface="Helvetica Neue"/>
              </a:rPr>
              <a:t> have dedicated resources but frequently use shared resources from </a:t>
            </a:r>
            <a:r>
              <a:rPr b="1" i="0" lang="en-US" sz="1800" u="none">
                <a:solidFill>
                  <a:srgbClr val="3366FF"/>
                </a:solidFill>
                <a:latin typeface="Helvetica Neue"/>
                <a:ea typeface="Helvetica Neue"/>
                <a:cs typeface="Helvetica Neue"/>
                <a:sym typeface="Helvetica Neue"/>
              </a:rPr>
              <a:t>servers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rgbClr val="000000"/>
                </a:solidFill>
                <a:latin typeface="Helvetica Neue"/>
                <a:ea typeface="Helvetica Neue"/>
                <a:cs typeface="Helvetica Neue"/>
                <a:sym typeface="Helvetica Neue"/>
              </a:rPr>
              <a:t>Mobile devices like smartphones and tables are resource poor,  optimized for usability and battery life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rgbClr val="000000"/>
                </a:solidFill>
                <a:latin typeface="Helvetica Neue"/>
                <a:ea typeface="Helvetica Neue"/>
                <a:cs typeface="Helvetica Neue"/>
                <a:sym typeface="Helvetica Neue"/>
              </a:rPr>
              <a:t>Mobile user interfaces such as touch screens, voice recognition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rgbClr val="000000"/>
                </a:solidFill>
                <a:latin typeface="Helvetica Neue"/>
                <a:ea typeface="Helvetica Neue"/>
                <a:cs typeface="Helvetica Neue"/>
                <a:sym typeface="Helvetica Neue"/>
              </a:rPr>
              <a:t>Some computers have little or no user interface, such as embedded computers in devices and automobiles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rgbClr val="000000"/>
                </a:solidFill>
                <a:latin typeface="Helvetica Neue"/>
                <a:ea typeface="Helvetica Neue"/>
                <a:cs typeface="Helvetica Neue"/>
                <a:sym typeface="Helvetica Neue"/>
              </a:rPr>
              <a:t>Run primarily without user intervention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7"/>
          <p:cNvSpPr txBox="1"/>
          <p:nvPr>
            <p:ph idx="4294967295" type="title"/>
          </p:nvPr>
        </p:nvSpPr>
        <p:spPr>
          <a:xfrm>
            <a:off x="1176337" y="166687"/>
            <a:ext cx="751046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Defining Operating Systems</a:t>
            </a:r>
            <a:endParaRPr/>
          </a:p>
        </p:txBody>
      </p:sp>
      <p:sp>
        <p:nvSpPr>
          <p:cNvPr id="108" name="Google Shape;108;p7"/>
          <p:cNvSpPr txBox="1"/>
          <p:nvPr>
            <p:ph idx="4294967295" type="body"/>
          </p:nvPr>
        </p:nvSpPr>
        <p:spPr>
          <a:xfrm>
            <a:off x="827087" y="1028700"/>
            <a:ext cx="6638925" cy="4265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Term OS covers many roles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Because of myriad designs and uses of OSes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Present in toasters through ships, spacecraft, game machines, TVs and industrial control systems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Born when fixed use computers for military became more general purpose and needed resource management and program control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8"/>
          <p:cNvSpPr txBox="1"/>
          <p:nvPr>
            <p:ph idx="4294967295" type="title"/>
          </p:nvPr>
        </p:nvSpPr>
        <p:spPr>
          <a:xfrm>
            <a:off x="1033462" y="198437"/>
            <a:ext cx="802481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Operating System Definition (Cont.)</a:t>
            </a:r>
            <a:endParaRPr/>
          </a:p>
        </p:txBody>
      </p:sp>
      <p:sp>
        <p:nvSpPr>
          <p:cNvPr id="114" name="Google Shape;114;p8"/>
          <p:cNvSpPr txBox="1"/>
          <p:nvPr>
            <p:ph idx="4294967295" type="body"/>
          </p:nvPr>
        </p:nvSpPr>
        <p:spPr>
          <a:xfrm>
            <a:off x="893762" y="1247775"/>
            <a:ext cx="6808787" cy="45450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No universally accepted definition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“Everything a vendor ships when you order an operating system” is a good approximation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But varies wildly</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one program running at all times on the computer” is the </a:t>
            </a:r>
            <a:r>
              <a:rPr b="1" i="0" lang="en-US" sz="1800" u="none">
                <a:solidFill>
                  <a:srgbClr val="3366FF"/>
                </a:solidFill>
                <a:latin typeface="Helvetica Neue"/>
                <a:ea typeface="Helvetica Neue"/>
                <a:cs typeface="Helvetica Neue"/>
                <a:sym typeface="Helvetica Neue"/>
              </a:rPr>
              <a:t>kernel, </a:t>
            </a:r>
            <a:r>
              <a:rPr b="0" i="0" lang="en-US" sz="1800" u="none">
                <a:solidFill>
                  <a:schemeClr val="dk1"/>
                </a:solidFill>
                <a:latin typeface="Helvetica Neue"/>
                <a:ea typeface="Helvetica Neue"/>
                <a:cs typeface="Helvetica Neue"/>
                <a:sym typeface="Helvetica Neue"/>
              </a:rPr>
              <a:t>part of the operating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Everything else is either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 </a:t>
            </a:r>
            <a:r>
              <a:rPr b="1" i="0" lang="en-US" sz="1800" u="none" cap="none" strike="noStrike">
                <a:solidFill>
                  <a:srgbClr val="3366FF"/>
                </a:solidFill>
                <a:latin typeface="Helvetica Neue"/>
                <a:ea typeface="Helvetica Neue"/>
                <a:cs typeface="Helvetica Neue"/>
                <a:sym typeface="Helvetica Neue"/>
              </a:rPr>
              <a:t>system program </a:t>
            </a:r>
            <a:r>
              <a:rPr b="0" i="0" lang="en-US" sz="1800" u="none" cap="none" strike="noStrike">
                <a:solidFill>
                  <a:schemeClr val="dk1"/>
                </a:solidFill>
                <a:latin typeface="Helvetica Neue"/>
                <a:ea typeface="Helvetica Neue"/>
                <a:cs typeface="Helvetica Neue"/>
                <a:sym typeface="Helvetica Neue"/>
              </a:rPr>
              <a:t>(ships with the operating system, but not part of the kernel) , or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an </a:t>
            </a:r>
            <a:r>
              <a:rPr b="1" i="0" lang="en-US" sz="1800" u="none" cap="none" strike="noStrike">
                <a:solidFill>
                  <a:srgbClr val="3366FF"/>
                </a:solidFill>
                <a:latin typeface="Helvetica Neue"/>
                <a:ea typeface="Helvetica Neue"/>
                <a:cs typeface="Helvetica Neue"/>
                <a:sym typeface="Helvetica Neue"/>
              </a:rPr>
              <a:t>application program</a:t>
            </a:r>
            <a:r>
              <a:rPr b="0" i="0" lang="en-US" sz="1800" u="none" cap="none" strike="noStrike">
                <a:solidFill>
                  <a:schemeClr val="dk1"/>
                </a:solidFill>
                <a:latin typeface="Helvetica Neue"/>
                <a:ea typeface="Helvetica Neue"/>
                <a:cs typeface="Helvetica Neue"/>
                <a:sym typeface="Helvetica Neue"/>
              </a:rPr>
              <a:t>, all programs not associated with the operating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Today’s OSes for general purpose and mobile computing also include </a:t>
            </a:r>
            <a:r>
              <a:rPr b="1" i="0" lang="en-US" sz="1800" u="none">
                <a:solidFill>
                  <a:srgbClr val="3366FF"/>
                </a:solidFill>
                <a:latin typeface="Helvetica Neue"/>
                <a:ea typeface="Helvetica Neue"/>
                <a:cs typeface="Helvetica Neue"/>
                <a:sym typeface="Helvetica Neue"/>
              </a:rPr>
              <a:t>middleware</a:t>
            </a:r>
            <a:r>
              <a:rPr b="0" i="0" lang="en-US" sz="1800" u="none">
                <a:solidFill>
                  <a:schemeClr val="dk1"/>
                </a:solidFill>
                <a:latin typeface="Helvetica Neue"/>
                <a:ea typeface="Helvetica Neue"/>
                <a:cs typeface="Helvetica Neue"/>
                <a:sym typeface="Helvetica Neue"/>
              </a:rPr>
              <a:t> – a set of software frameworks that provide addition services to application developers such as databases, multimedia, graphics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idx="4294967295" type="title"/>
          </p:nvPr>
        </p:nvSpPr>
        <p:spPr>
          <a:xfrm>
            <a:off x="457200" y="2143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Computer System Organization</a:t>
            </a:r>
            <a:endParaRPr/>
          </a:p>
        </p:txBody>
      </p:sp>
      <p:sp>
        <p:nvSpPr>
          <p:cNvPr id="120" name="Google Shape;120;p9"/>
          <p:cNvSpPr txBox="1"/>
          <p:nvPr>
            <p:ph idx="4294967295" type="body"/>
          </p:nvPr>
        </p:nvSpPr>
        <p:spPr>
          <a:xfrm>
            <a:off x="815975" y="1233487"/>
            <a:ext cx="75977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Computer-system operation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One or more CPUs, device controllers connect through common </a:t>
            </a:r>
            <a:r>
              <a:rPr b="1" i="0" lang="en-US" sz="1800" u="none" cap="none" strike="noStrike">
                <a:solidFill>
                  <a:srgbClr val="3366FF"/>
                </a:solidFill>
                <a:latin typeface="Helvetica Neue"/>
                <a:ea typeface="Helvetica Neue"/>
                <a:cs typeface="Helvetica Neue"/>
                <a:sym typeface="Helvetica Neue"/>
              </a:rPr>
              <a:t>bus</a:t>
            </a:r>
            <a:r>
              <a:rPr b="0" i="0" lang="en-US" sz="1800" u="none" cap="none" strike="noStrike">
                <a:solidFill>
                  <a:schemeClr val="dk1"/>
                </a:solidFill>
                <a:latin typeface="Helvetica Neue"/>
                <a:ea typeface="Helvetica Neue"/>
                <a:cs typeface="Helvetica Neue"/>
                <a:sym typeface="Helvetica Neue"/>
              </a:rPr>
              <a:t> providing access to shared memory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Concurrent execution of CPUs and devices competing for memory cycles</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pic>
        <p:nvPicPr>
          <p:cNvPr id="121" name="Google Shape;121;p9"/>
          <p:cNvPicPr preferRelativeResize="0"/>
          <p:nvPr/>
        </p:nvPicPr>
        <p:blipFill rotWithShape="1">
          <a:blip r:embed="rId3">
            <a:alphaModFix/>
          </a:blip>
          <a:srcRect b="0" l="0" r="0" t="0"/>
          <a:stretch/>
        </p:blipFill>
        <p:spPr>
          <a:xfrm>
            <a:off x="1716087" y="3098800"/>
            <a:ext cx="6216650" cy="3032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idx="4294967295" type="title"/>
          </p:nvPr>
        </p:nvSpPr>
        <p:spPr>
          <a:xfrm>
            <a:off x="457200" y="18256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Computer-System Operation</a:t>
            </a:r>
            <a:endParaRPr/>
          </a:p>
        </p:txBody>
      </p:sp>
      <p:sp>
        <p:nvSpPr>
          <p:cNvPr id="127" name="Google Shape;127;p10"/>
          <p:cNvSpPr txBox="1"/>
          <p:nvPr>
            <p:ph idx="4294967295" type="body"/>
          </p:nvPr>
        </p:nvSpPr>
        <p:spPr>
          <a:xfrm>
            <a:off x="806450" y="1233487"/>
            <a:ext cx="6745287"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I/O devices and the CPU can execute concurrently</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device controller is in charge of a particular device type</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device controller has a local buffer</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Each device controller type has an operating system </a:t>
            </a:r>
            <a:r>
              <a:rPr b="1" i="0" lang="en-US" sz="1800" u="none">
                <a:solidFill>
                  <a:srgbClr val="3366FF"/>
                </a:solidFill>
                <a:latin typeface="Helvetica Neue"/>
                <a:ea typeface="Helvetica Neue"/>
                <a:cs typeface="Helvetica Neue"/>
                <a:sym typeface="Helvetica Neue"/>
              </a:rPr>
              <a:t>device driver</a:t>
            </a:r>
            <a:r>
              <a:rPr b="0" i="0" lang="en-US" sz="1800" u="none">
                <a:solidFill>
                  <a:schemeClr val="dk1"/>
                </a:solidFill>
                <a:latin typeface="Helvetica Neue"/>
                <a:ea typeface="Helvetica Neue"/>
                <a:cs typeface="Helvetica Neue"/>
                <a:sym typeface="Helvetica Neue"/>
              </a:rPr>
              <a:t> to manage it</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CPU moves data from/to main memory to/from local buffers</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I/O is from the device to local buffer of controller</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Device controller informs CPU that it has finished its operation by causing an </a:t>
            </a:r>
            <a:r>
              <a:rPr b="1" i="0" lang="en-US" sz="1800" u="none">
                <a:solidFill>
                  <a:srgbClr val="3366FF"/>
                </a:solidFill>
                <a:latin typeface="Helvetica Neue"/>
                <a:ea typeface="Helvetica Neue"/>
                <a:cs typeface="Helvetica Neue"/>
                <a:sym typeface="Helvetica Neue"/>
              </a:rPr>
              <a:t>interrupt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idx="4294967295" type="title"/>
          </p:nvPr>
        </p:nvSpPr>
        <p:spPr>
          <a:xfrm>
            <a:off x="946150" y="16668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Common Functions of Interrupts</a:t>
            </a:r>
            <a:endParaRPr/>
          </a:p>
        </p:txBody>
      </p:sp>
      <p:sp>
        <p:nvSpPr>
          <p:cNvPr id="133" name="Google Shape;133;p11"/>
          <p:cNvSpPr txBox="1"/>
          <p:nvPr>
            <p:ph idx="4294967295" type="body"/>
          </p:nvPr>
        </p:nvSpPr>
        <p:spPr>
          <a:xfrm>
            <a:off x="806450" y="1233487"/>
            <a:ext cx="657225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Interrupt transfers control to the interrupt service routine generally, through the </a:t>
            </a:r>
            <a:r>
              <a:rPr b="1" i="0" lang="en-US" sz="1800" u="none">
                <a:solidFill>
                  <a:srgbClr val="3366FF"/>
                </a:solidFill>
                <a:latin typeface="Helvetica Neue"/>
                <a:ea typeface="Helvetica Neue"/>
                <a:cs typeface="Helvetica Neue"/>
                <a:sym typeface="Helvetica Neue"/>
              </a:rPr>
              <a:t>interrupt</a:t>
            </a:r>
            <a:r>
              <a:rPr b="0" i="1" lang="en-US" sz="1800" u="none">
                <a:solidFill>
                  <a:schemeClr val="dk1"/>
                </a:solidFill>
                <a:latin typeface="Helvetica Neue"/>
                <a:ea typeface="Helvetica Neue"/>
                <a:cs typeface="Helvetica Neue"/>
                <a:sym typeface="Helvetica Neue"/>
              </a:rPr>
              <a:t> </a:t>
            </a:r>
            <a:r>
              <a:rPr b="1" i="0" lang="en-US" sz="1800" u="none">
                <a:solidFill>
                  <a:srgbClr val="3366FF"/>
                </a:solidFill>
                <a:latin typeface="Helvetica Neue"/>
                <a:ea typeface="Helvetica Neue"/>
                <a:cs typeface="Helvetica Neue"/>
                <a:sym typeface="Helvetica Neue"/>
              </a:rPr>
              <a:t>vector</a:t>
            </a:r>
            <a:r>
              <a:rPr b="0" i="0" lang="en-US" sz="1800" u="none">
                <a:solidFill>
                  <a:schemeClr val="dk1"/>
                </a:solidFill>
                <a:latin typeface="Helvetica Neue"/>
                <a:ea typeface="Helvetica Neue"/>
                <a:cs typeface="Helvetica Neue"/>
                <a:sym typeface="Helvetica Neue"/>
              </a:rPr>
              <a:t>, which contains the addresses of all the service routines</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Interrupt architecture must save the address of the interrupted instruction</a:t>
            </a:r>
            <a:endParaRPr b="0" i="1"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 </a:t>
            </a:r>
            <a:r>
              <a:rPr b="1" i="0" lang="en-US" sz="1800" u="none">
                <a:solidFill>
                  <a:srgbClr val="3366FF"/>
                </a:solidFill>
                <a:latin typeface="Helvetica Neue"/>
                <a:ea typeface="Helvetica Neue"/>
                <a:cs typeface="Helvetica Neue"/>
                <a:sym typeface="Helvetica Neue"/>
              </a:rPr>
              <a:t>trap</a:t>
            </a:r>
            <a:r>
              <a:rPr b="0" i="0" lang="en-US" sz="1800" u="none">
                <a:solidFill>
                  <a:schemeClr val="dk1"/>
                </a:solidFill>
                <a:latin typeface="Helvetica Neue"/>
                <a:ea typeface="Helvetica Neue"/>
                <a:cs typeface="Helvetica Neue"/>
                <a:sym typeface="Helvetica Neue"/>
              </a:rPr>
              <a:t> or </a:t>
            </a:r>
            <a:r>
              <a:rPr b="1" i="0" lang="en-US" sz="1800" u="none">
                <a:solidFill>
                  <a:srgbClr val="3366FF"/>
                </a:solidFill>
                <a:latin typeface="Helvetica Neue"/>
                <a:ea typeface="Helvetica Neue"/>
                <a:cs typeface="Helvetica Neue"/>
                <a:sym typeface="Helvetica Neue"/>
              </a:rPr>
              <a:t>exception</a:t>
            </a:r>
            <a:r>
              <a:rPr b="0" i="0" lang="en-US" sz="1800" u="none">
                <a:solidFill>
                  <a:schemeClr val="dk1"/>
                </a:solidFill>
                <a:latin typeface="Helvetica Neue"/>
                <a:ea typeface="Helvetica Neue"/>
                <a:cs typeface="Helvetica Neue"/>
                <a:sym typeface="Helvetica Neue"/>
              </a:rPr>
              <a:t> is a software-generated interrupt caused either by an error or a user request</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An operating system is </a:t>
            </a:r>
            <a:r>
              <a:rPr b="1" i="0" lang="en-US" sz="1800" u="none">
                <a:solidFill>
                  <a:srgbClr val="3366FF"/>
                </a:solidFill>
                <a:latin typeface="Helvetica Neue"/>
                <a:ea typeface="Helvetica Neue"/>
                <a:cs typeface="Helvetica Neue"/>
                <a:sym typeface="Helvetica Neue"/>
              </a:rPr>
              <a:t>interrupt driven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2"/>
          <p:cNvSpPr txBox="1"/>
          <p:nvPr>
            <p:ph idx="4294967295" type="title"/>
          </p:nvPr>
        </p:nvSpPr>
        <p:spPr>
          <a:xfrm>
            <a:off x="457200" y="2143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Interrupt Timeline</a:t>
            </a:r>
            <a:endParaRPr/>
          </a:p>
        </p:txBody>
      </p:sp>
      <p:pic>
        <p:nvPicPr>
          <p:cNvPr id="139" name="Google Shape;139;p12"/>
          <p:cNvPicPr preferRelativeResize="0"/>
          <p:nvPr/>
        </p:nvPicPr>
        <p:blipFill rotWithShape="1">
          <a:blip r:embed="rId3">
            <a:alphaModFix/>
          </a:blip>
          <a:srcRect b="0" l="0" r="0" t="0"/>
          <a:stretch/>
        </p:blipFill>
        <p:spPr>
          <a:xfrm>
            <a:off x="563562" y="1908175"/>
            <a:ext cx="8355012" cy="3648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4"/>
          <p:cNvSpPr txBox="1"/>
          <p:nvPr>
            <p:ph idx="4294967295" type="title"/>
          </p:nvPr>
        </p:nvSpPr>
        <p:spPr>
          <a:xfrm>
            <a:off x="1063625" y="-95250"/>
            <a:ext cx="7772400" cy="84455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Interrupt Handling</a:t>
            </a:r>
            <a:endParaRPr/>
          </a:p>
        </p:txBody>
      </p:sp>
      <p:sp>
        <p:nvSpPr>
          <p:cNvPr id="145" name="Google Shape;145;p14"/>
          <p:cNvSpPr txBox="1"/>
          <p:nvPr>
            <p:ph idx="4294967295" type="body"/>
          </p:nvPr>
        </p:nvSpPr>
        <p:spPr>
          <a:xfrm>
            <a:off x="806450" y="1233487"/>
            <a:ext cx="66198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operating system preserves the state of the CPU by storing registers and the program counter</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Determines which type of interrupt has occurred:</a:t>
            </a:r>
            <a:endParaRPr/>
          </a:p>
          <a:p>
            <a:pPr indent="-285750" lvl="1" marL="742950" marR="0" rtl="0" algn="l">
              <a:lnSpc>
                <a:spcPct val="10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polling</a:t>
            </a:r>
            <a:endParaRPr/>
          </a:p>
          <a:p>
            <a:pPr indent="-285750" lvl="1" marL="742950" marR="0" rtl="0" algn="l">
              <a:lnSpc>
                <a:spcPct val="10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vectored</a:t>
            </a:r>
            <a:r>
              <a:rPr b="0" i="0" lang="en-US" sz="1800" u="none" cap="none" strike="noStrike">
                <a:solidFill>
                  <a:schemeClr val="dk1"/>
                </a:solidFill>
                <a:latin typeface="Helvetica Neue"/>
                <a:ea typeface="Helvetica Neue"/>
                <a:cs typeface="Helvetica Neue"/>
                <a:sym typeface="Helvetica Neue"/>
              </a:rPr>
              <a:t> interrupt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Separate segments of code determine what action should be taken for each type of interrupt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idx="4294967295" type="title"/>
          </p:nvPr>
        </p:nvSpPr>
        <p:spPr>
          <a:xfrm>
            <a:off x="457200" y="2143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Interrupt-drive I/O Cycle</a:t>
            </a:r>
            <a:endParaRPr/>
          </a:p>
        </p:txBody>
      </p:sp>
      <p:pic>
        <p:nvPicPr>
          <p:cNvPr id="151" name="Google Shape;151;p15"/>
          <p:cNvPicPr preferRelativeResize="0"/>
          <p:nvPr/>
        </p:nvPicPr>
        <p:blipFill rotWithShape="1">
          <a:blip r:embed="rId3">
            <a:alphaModFix/>
          </a:blip>
          <a:srcRect b="0" l="0" r="0" t="0"/>
          <a:stretch/>
        </p:blipFill>
        <p:spPr>
          <a:xfrm>
            <a:off x="2090737" y="1179512"/>
            <a:ext cx="5084762" cy="50117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idx="4294967295" type="title"/>
          </p:nvPr>
        </p:nvSpPr>
        <p:spPr>
          <a:xfrm>
            <a:off x="457200" y="2778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I/O Structure</a:t>
            </a:r>
            <a:endParaRPr/>
          </a:p>
        </p:txBody>
      </p:sp>
      <p:sp>
        <p:nvSpPr>
          <p:cNvPr id="157" name="Google Shape;157;p16"/>
          <p:cNvSpPr txBox="1"/>
          <p:nvPr>
            <p:ph idx="4294967295" type="body"/>
          </p:nvPr>
        </p:nvSpPr>
        <p:spPr>
          <a:xfrm>
            <a:off x="895350" y="1244600"/>
            <a:ext cx="6845300" cy="45831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After I/O starts, control returns to user program only upon I/O completion</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Wait instruction idles the CPU until the next interrupt</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Wait loop (contention for memory access)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At most one I/O request is outstanding at a time, no simultaneous I/O processing</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After I/O starts, control returns to user program without waiting for I/O completion</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System call </a:t>
            </a:r>
            <a:r>
              <a:rPr b="0" i="0" lang="en-US" sz="1800" u="none" cap="none" strike="noStrike">
                <a:solidFill>
                  <a:schemeClr val="dk1"/>
                </a:solidFill>
                <a:latin typeface="Helvetica Neue"/>
                <a:ea typeface="Helvetica Neue"/>
                <a:cs typeface="Helvetica Neue"/>
                <a:sym typeface="Helvetica Neue"/>
              </a:rPr>
              <a:t>– request to the OS to allow user to wait for I/O completion</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Device-status table </a:t>
            </a:r>
            <a:r>
              <a:rPr b="0" i="0" lang="en-US" sz="1800" u="none" cap="none" strike="noStrike">
                <a:solidFill>
                  <a:schemeClr val="dk1"/>
                </a:solidFill>
                <a:latin typeface="Helvetica Neue"/>
                <a:ea typeface="Helvetica Neue"/>
                <a:cs typeface="Helvetica Neue"/>
                <a:sym typeface="Helvetica Neue"/>
              </a:rPr>
              <a:t>contains entry for each I/O device indicating its type, address, and state</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OS indexes into I/O device table to determine device status and to modify table entry to include interrupt</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idx="4294967295"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Storage Structure</a:t>
            </a:r>
            <a:endParaRPr/>
          </a:p>
        </p:txBody>
      </p:sp>
      <p:sp>
        <p:nvSpPr>
          <p:cNvPr id="163" name="Google Shape;163;p17"/>
          <p:cNvSpPr txBox="1"/>
          <p:nvPr>
            <p:ph idx="4294967295" type="body"/>
          </p:nvPr>
        </p:nvSpPr>
        <p:spPr>
          <a:xfrm>
            <a:off x="584200" y="1138237"/>
            <a:ext cx="8102600" cy="48053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Main memory – only large storage media that the CPU can access directly</a:t>
            </a:r>
            <a:endParaRPr/>
          </a:p>
          <a:p>
            <a:pPr indent="-285750" lvl="1" marL="742950" marR="0" rtl="0" algn="l">
              <a:lnSpc>
                <a:spcPct val="100000"/>
              </a:lnSpc>
              <a:spcBef>
                <a:spcPts val="560"/>
              </a:spcBef>
              <a:spcAft>
                <a:spcPts val="0"/>
              </a:spcAft>
              <a:buClr>
                <a:srgbClr val="CC6600"/>
              </a:buClr>
              <a:buSzPts val="1280"/>
              <a:buFont typeface="Arial"/>
              <a:buChar char="●"/>
            </a:pPr>
            <a:r>
              <a:rPr b="1" i="0" lang="en-US" sz="1600" u="none" cap="none" strike="noStrike">
                <a:solidFill>
                  <a:srgbClr val="3366FF"/>
                </a:solidFill>
                <a:latin typeface="Helvetica Neue"/>
                <a:ea typeface="Helvetica Neue"/>
                <a:cs typeface="Helvetica Neue"/>
                <a:sym typeface="Helvetica Neue"/>
              </a:rPr>
              <a:t>Random</a:t>
            </a:r>
            <a:r>
              <a:rPr b="0" i="0" lang="en-US" sz="1600" u="none" cap="none" strike="noStrike">
                <a:solidFill>
                  <a:srgbClr val="0000FF"/>
                </a:solidFill>
                <a:latin typeface="Helvetica Neue"/>
                <a:ea typeface="Helvetica Neue"/>
                <a:cs typeface="Helvetica Neue"/>
                <a:sym typeface="Helvetica Neue"/>
              </a:rPr>
              <a:t> </a:t>
            </a:r>
            <a:r>
              <a:rPr b="1" i="0" lang="en-US" sz="1600" u="none" cap="none" strike="noStrike">
                <a:solidFill>
                  <a:srgbClr val="3366FF"/>
                </a:solidFill>
                <a:latin typeface="Helvetica Neue"/>
                <a:ea typeface="Helvetica Neue"/>
                <a:cs typeface="Helvetica Neue"/>
                <a:sym typeface="Helvetica Neue"/>
              </a:rPr>
              <a:t>access</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Typically </a:t>
            </a:r>
            <a:r>
              <a:rPr b="1" i="0" lang="en-US" sz="1600" u="none" cap="none" strike="noStrike">
                <a:solidFill>
                  <a:srgbClr val="3366FF"/>
                </a:solidFill>
                <a:latin typeface="Helvetica Neue"/>
                <a:ea typeface="Helvetica Neue"/>
                <a:cs typeface="Helvetica Neue"/>
                <a:sym typeface="Helvetica Neue"/>
              </a:rPr>
              <a:t>volatile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Typically</a:t>
            </a:r>
            <a:r>
              <a:rPr b="1" i="0" lang="en-US" sz="1600" u="none" cap="none" strike="noStrike">
                <a:solidFill>
                  <a:srgbClr val="3366FF"/>
                </a:solidFill>
                <a:latin typeface="Helvetica Neue"/>
                <a:ea typeface="Helvetica Neue"/>
                <a:cs typeface="Helvetica Neue"/>
                <a:sym typeface="Helvetica Neue"/>
              </a:rPr>
              <a:t> random-access memory </a:t>
            </a:r>
            <a:r>
              <a:rPr b="0" i="0" lang="en-US" sz="1800" u="none" cap="none" strike="noStrike">
                <a:solidFill>
                  <a:schemeClr val="dk1"/>
                </a:solidFill>
                <a:latin typeface="Helvetica Neue"/>
                <a:ea typeface="Helvetica Neue"/>
                <a:cs typeface="Helvetica Neue"/>
                <a:sym typeface="Helvetica Neue"/>
              </a:rPr>
              <a:t>in the form of </a:t>
            </a:r>
            <a:r>
              <a:rPr b="1" i="0" lang="en-US" sz="1600" u="none" cap="none" strike="noStrike">
                <a:solidFill>
                  <a:srgbClr val="3366FF"/>
                </a:solidFill>
                <a:latin typeface="Helvetica Neue"/>
                <a:ea typeface="Helvetica Neue"/>
                <a:cs typeface="Helvetica Neue"/>
                <a:sym typeface="Helvetica Neue"/>
              </a:rPr>
              <a:t>Dynamic Random-access Memory (DRAM)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Secondary storage – extension of main memory that provides large </a:t>
            </a:r>
            <a:r>
              <a:rPr b="1" i="0" lang="en-US" sz="1800" u="none">
                <a:solidFill>
                  <a:srgbClr val="3366FF"/>
                </a:solidFill>
                <a:latin typeface="Helvetica Neue"/>
                <a:ea typeface="Helvetica Neue"/>
                <a:cs typeface="Helvetica Neue"/>
                <a:sym typeface="Helvetica Neue"/>
              </a:rPr>
              <a:t>nonvolatile</a:t>
            </a:r>
            <a:r>
              <a:rPr b="0" i="0" lang="en-US" sz="1800" u="none">
                <a:solidFill>
                  <a:srgbClr val="0000FF"/>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storage capacity</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Hard Disk Drives </a:t>
            </a:r>
            <a:r>
              <a:rPr b="0" i="0" lang="en-US" sz="1800" u="none">
                <a:solidFill>
                  <a:schemeClr val="dk1"/>
                </a:solidFill>
                <a:latin typeface="Helvetica Neue"/>
                <a:ea typeface="Helvetica Neue"/>
                <a:cs typeface="Helvetica Neue"/>
                <a:sym typeface="Helvetica Neue"/>
              </a:rPr>
              <a:t>(</a:t>
            </a:r>
            <a:r>
              <a:rPr b="1" i="0" lang="en-US" sz="1800" u="none">
                <a:solidFill>
                  <a:srgbClr val="3366FF"/>
                </a:solidFill>
                <a:latin typeface="Helvetica Neue"/>
                <a:ea typeface="Helvetica Neue"/>
                <a:cs typeface="Helvetica Neue"/>
                <a:sym typeface="Helvetica Neue"/>
              </a:rPr>
              <a:t>HDD</a:t>
            </a:r>
            <a:r>
              <a:rPr b="0" i="0" lang="en-US" sz="1800" u="none">
                <a:solidFill>
                  <a:schemeClr val="dk1"/>
                </a:solidFill>
                <a:latin typeface="Helvetica Neue"/>
                <a:ea typeface="Helvetica Neue"/>
                <a:cs typeface="Helvetica Neue"/>
                <a:sym typeface="Helvetica Neue"/>
              </a:rPr>
              <a:t>) – rigid metal or glass platters covered with magnetic recording material </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Disk surface is logically divided into </a:t>
            </a:r>
            <a:r>
              <a:rPr b="1" i="0" lang="en-US" sz="1600" u="none" cap="none" strike="noStrike">
                <a:solidFill>
                  <a:srgbClr val="3366FF"/>
                </a:solidFill>
                <a:latin typeface="Helvetica Neue"/>
                <a:ea typeface="Helvetica Neue"/>
                <a:cs typeface="Helvetica Neue"/>
                <a:sym typeface="Helvetica Neue"/>
              </a:rPr>
              <a:t>tracks</a:t>
            </a:r>
            <a:r>
              <a:rPr b="0" i="0" lang="en-US" sz="1600" u="none" cap="none" strike="noStrike">
                <a:solidFill>
                  <a:schemeClr val="dk1"/>
                </a:solidFill>
                <a:latin typeface="Helvetica Neue"/>
                <a:ea typeface="Helvetica Neue"/>
                <a:cs typeface="Helvetica Neue"/>
                <a:sym typeface="Helvetica Neue"/>
              </a:rPr>
              <a:t>, which are subdivided into </a:t>
            </a:r>
            <a:r>
              <a:rPr b="1" i="0" lang="en-US" sz="1600" u="none" cap="none" strike="noStrike">
                <a:solidFill>
                  <a:srgbClr val="3366FF"/>
                </a:solidFill>
                <a:latin typeface="Helvetica Neue"/>
                <a:ea typeface="Helvetica Neue"/>
                <a:cs typeface="Helvetica Neue"/>
                <a:sym typeface="Helvetica Neue"/>
              </a:rPr>
              <a:t>sectors</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The </a:t>
            </a:r>
            <a:r>
              <a:rPr b="1" i="0" lang="en-US" sz="1600" u="none" cap="none" strike="noStrike">
                <a:solidFill>
                  <a:srgbClr val="3366FF"/>
                </a:solidFill>
                <a:latin typeface="Helvetica Neue"/>
                <a:ea typeface="Helvetica Neue"/>
                <a:cs typeface="Helvetica Neue"/>
                <a:sym typeface="Helvetica Neue"/>
              </a:rPr>
              <a:t>disk controller </a:t>
            </a:r>
            <a:r>
              <a:rPr b="0" i="0" lang="en-US" sz="1600" u="none" cap="none" strike="noStrike">
                <a:solidFill>
                  <a:schemeClr val="dk1"/>
                </a:solidFill>
                <a:latin typeface="Helvetica Neue"/>
                <a:ea typeface="Helvetica Neue"/>
                <a:cs typeface="Helvetica Neue"/>
                <a:sym typeface="Helvetica Neue"/>
              </a:rPr>
              <a:t>determines the logical interaction between the device and the computer </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Non-volatile memory (NVM) </a:t>
            </a:r>
            <a:r>
              <a:rPr b="0" i="0" lang="en-US" sz="1800" u="none">
                <a:solidFill>
                  <a:schemeClr val="dk1"/>
                </a:solidFill>
                <a:latin typeface="Helvetica Neue"/>
                <a:ea typeface="Helvetica Neue"/>
                <a:cs typeface="Helvetica Neue"/>
                <a:sym typeface="Helvetica Neue"/>
              </a:rPr>
              <a:t>devices– faster than hard disks, nonvolatile</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Various technologies</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Becoming more popular as capacity and performance increases, price drops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1287462" y="277812"/>
            <a:ext cx="7399337"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2800"/>
              <a:buFont typeface="Arial"/>
              <a:buNone/>
            </a:pPr>
            <a:r>
              <a:rPr b="1" i="0" lang="en-US" sz="2800" u="none">
                <a:solidFill>
                  <a:srgbClr val="006699"/>
                </a:solidFill>
                <a:latin typeface="Arial"/>
                <a:ea typeface="Arial"/>
                <a:cs typeface="Arial"/>
                <a:sym typeface="Arial"/>
              </a:rPr>
              <a:t>Storage Definitions and Notation Review</a:t>
            </a:r>
            <a:endParaRPr/>
          </a:p>
        </p:txBody>
      </p:sp>
      <p:pic>
        <p:nvPicPr>
          <p:cNvPr id="169" name="Google Shape;169;p18"/>
          <p:cNvPicPr preferRelativeResize="0"/>
          <p:nvPr/>
        </p:nvPicPr>
        <p:blipFill rotWithShape="1">
          <a:blip r:embed="rId3">
            <a:alphaModFix/>
          </a:blip>
          <a:srcRect b="0" l="0" r="0" t="0"/>
          <a:stretch/>
        </p:blipFill>
        <p:spPr>
          <a:xfrm>
            <a:off x="947737" y="1079500"/>
            <a:ext cx="7353300" cy="4953000"/>
          </a:xfrm>
          <a:prstGeom prst="rect">
            <a:avLst/>
          </a:prstGeom>
          <a:noFill/>
          <a:ln>
            <a:noFill/>
          </a:ln>
        </p:spPr>
      </p:pic>
      <p:sp>
        <p:nvSpPr>
          <p:cNvPr id="170" name="Google Shape;170;p18"/>
          <p:cNvSpPr txBox="1"/>
          <p:nvPr/>
        </p:nvSpPr>
        <p:spPr>
          <a:xfrm>
            <a:off x="760412" y="1079500"/>
            <a:ext cx="8039100" cy="4953000"/>
          </a:xfrm>
          <a:prstGeom prst="rect">
            <a:avLst/>
          </a:prstGeom>
          <a:solidFill>
            <a:srgbClr val="CEEBF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 The basic unit of computer storage is the </a:t>
            </a:r>
            <a:r>
              <a:rPr b="1" i="0" lang="en-US" sz="1600" u="none">
                <a:solidFill>
                  <a:srgbClr val="3366FF"/>
                </a:solidFill>
                <a:latin typeface="Helvetica Neue"/>
                <a:ea typeface="Helvetica Neue"/>
                <a:cs typeface="Helvetica Neue"/>
                <a:sym typeface="Helvetica Neue"/>
              </a:rPr>
              <a:t>bit</a:t>
            </a:r>
            <a:r>
              <a:rPr b="0" i="0" lang="en-US" sz="1400" u="none">
                <a:solidFill>
                  <a:schemeClr val="dk1"/>
                </a:solidFill>
                <a:latin typeface="Verdana"/>
                <a:ea typeface="Verdana"/>
                <a:cs typeface="Verdana"/>
                <a:sym typeface="Verdana"/>
              </a:rPr>
              <a:t> . A bit can contain one of two</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values, 0 and 1. All other storage in a computer is based on collections of bits.</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Given enough bits, it is amazing how many things a computer can represent:</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numbers, letters, images, movies, sounds, documents, and programs, to name</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a few. A </a:t>
            </a:r>
            <a:r>
              <a:rPr b="1" i="0" lang="en-US" sz="1600" u="none">
                <a:solidFill>
                  <a:srgbClr val="3366FF"/>
                </a:solidFill>
                <a:latin typeface="Helvetica Neue"/>
                <a:ea typeface="Helvetica Neue"/>
                <a:cs typeface="Helvetica Neue"/>
                <a:sym typeface="Helvetica Neue"/>
              </a:rPr>
              <a:t>byte</a:t>
            </a:r>
            <a:r>
              <a:rPr b="0" i="0" lang="en-US" sz="1400" u="none">
                <a:solidFill>
                  <a:schemeClr val="dk1"/>
                </a:solidFill>
                <a:latin typeface="Verdana"/>
                <a:ea typeface="Verdana"/>
                <a:cs typeface="Verdana"/>
                <a:sym typeface="Verdana"/>
              </a:rPr>
              <a:t> is 8 bits, and on most computers it is the smallest convenient</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chunk of storage. For example, most computers don’t have an instruction to</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move a bit but do have one to move a byte. A less common term is </a:t>
            </a:r>
            <a:r>
              <a:rPr b="1" i="0" lang="en-US" sz="1600" u="none">
                <a:solidFill>
                  <a:srgbClr val="3366FF"/>
                </a:solidFill>
                <a:latin typeface="Helvetica Neue"/>
                <a:ea typeface="Helvetica Neue"/>
                <a:cs typeface="Helvetica Neue"/>
                <a:sym typeface="Helvetica Neue"/>
              </a:rPr>
              <a:t>word</a:t>
            </a:r>
            <a:r>
              <a:rPr b="0" i="0" lang="en-US" sz="1400" u="none">
                <a:solidFill>
                  <a:schemeClr val="dk1"/>
                </a:solidFill>
                <a:latin typeface="Verdana"/>
                <a:ea typeface="Verdana"/>
                <a:cs typeface="Verdana"/>
                <a:sym typeface="Verdana"/>
              </a:rPr>
              <a:t>,</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which is a given computer architecture’s native unit of data. A word is made</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up of one or more bytes. For example, a computer that has 64-bit registers and</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64-bit memory addressing typically has 64-bit (8-byte) words. A computer</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executes many operations in its native word size rather than a byte at a time.</a:t>
            </a:r>
            <a:endParaRPr/>
          </a:p>
          <a:p>
            <a:pPr indent="0" lvl="0" marL="0" marR="0" rtl="0" algn="l">
              <a:lnSpc>
                <a:spcPct val="100000"/>
              </a:lnSpc>
              <a:spcBef>
                <a:spcPts val="0"/>
              </a:spcBef>
              <a:spcAft>
                <a:spcPts val="0"/>
              </a:spcAft>
              <a:buClr>
                <a:schemeClr val="dk1"/>
              </a:buClr>
              <a:buSzPts val="1400"/>
              <a:buFont typeface="Verdana"/>
              <a:buNone/>
            </a:pPr>
            <a:r>
              <a:t/>
            </a:r>
            <a:endParaRPr b="0" i="0" sz="14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Computer storage, along with most computer throughput, is generally</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measured and manipulated in bytes and collections of bytes. A </a:t>
            </a:r>
            <a:r>
              <a:rPr b="1" i="0" lang="en-US" sz="1600" u="none">
                <a:solidFill>
                  <a:srgbClr val="3366FF"/>
                </a:solidFill>
                <a:latin typeface="Helvetica Neue"/>
                <a:ea typeface="Helvetica Neue"/>
                <a:cs typeface="Helvetica Neue"/>
                <a:sym typeface="Helvetica Neue"/>
              </a:rPr>
              <a:t>kilobyte</a:t>
            </a:r>
            <a:r>
              <a:rPr b="0" i="0" lang="en-US" sz="1400" u="none">
                <a:solidFill>
                  <a:schemeClr val="dk1"/>
                </a:solidFill>
                <a:latin typeface="Verdana"/>
                <a:ea typeface="Verdana"/>
                <a:cs typeface="Verdana"/>
                <a:sym typeface="Verdana"/>
              </a:rPr>
              <a:t> , or</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KB , is 1,024 bytes; a </a:t>
            </a:r>
            <a:r>
              <a:rPr b="1" i="0" lang="en-US" sz="1600" u="none">
                <a:solidFill>
                  <a:srgbClr val="3366FF"/>
                </a:solidFill>
                <a:latin typeface="Helvetica Neue"/>
                <a:ea typeface="Helvetica Neue"/>
                <a:cs typeface="Helvetica Neue"/>
                <a:sym typeface="Helvetica Neue"/>
              </a:rPr>
              <a:t>megabyte</a:t>
            </a:r>
            <a:r>
              <a:rPr b="0" i="0" lang="en-US" sz="1400" u="none">
                <a:solidFill>
                  <a:schemeClr val="dk1"/>
                </a:solidFill>
                <a:latin typeface="Verdana"/>
                <a:ea typeface="Verdana"/>
                <a:cs typeface="Verdana"/>
                <a:sym typeface="Verdana"/>
              </a:rPr>
              <a:t> , or </a:t>
            </a:r>
            <a:r>
              <a:rPr b="1" i="0" lang="en-US" sz="1600" u="none">
                <a:solidFill>
                  <a:srgbClr val="3366FF"/>
                </a:solidFill>
                <a:latin typeface="Helvetica Neue"/>
                <a:ea typeface="Helvetica Neue"/>
                <a:cs typeface="Helvetica Neue"/>
                <a:sym typeface="Helvetica Neue"/>
              </a:rPr>
              <a:t>MB</a:t>
            </a:r>
            <a:r>
              <a:rPr b="0" i="0" lang="en-US" sz="1400" u="none">
                <a:solidFill>
                  <a:schemeClr val="dk1"/>
                </a:solidFill>
                <a:latin typeface="Verdana"/>
                <a:ea typeface="Verdana"/>
                <a:cs typeface="Verdana"/>
                <a:sym typeface="Verdana"/>
              </a:rPr>
              <a:t> , is 1,024</a:t>
            </a:r>
            <a:r>
              <a:rPr b="0" baseline="30000" i="0" lang="en-US" sz="1400" u="none">
                <a:solidFill>
                  <a:schemeClr val="dk1"/>
                </a:solidFill>
                <a:latin typeface="Verdana"/>
                <a:ea typeface="Verdana"/>
                <a:cs typeface="Verdana"/>
                <a:sym typeface="Verdana"/>
              </a:rPr>
              <a:t>2</a:t>
            </a:r>
            <a:r>
              <a:rPr b="0" i="0" lang="en-US" sz="1400" u="none">
                <a:solidFill>
                  <a:schemeClr val="dk1"/>
                </a:solidFill>
                <a:latin typeface="Verdana"/>
                <a:ea typeface="Verdana"/>
                <a:cs typeface="Verdana"/>
                <a:sym typeface="Verdana"/>
              </a:rPr>
              <a:t>  bytes; a </a:t>
            </a:r>
            <a:r>
              <a:rPr b="1" i="0" lang="en-US" sz="1600" u="none">
                <a:solidFill>
                  <a:srgbClr val="3366FF"/>
                </a:solidFill>
                <a:latin typeface="Helvetica Neue"/>
                <a:ea typeface="Helvetica Neue"/>
                <a:cs typeface="Helvetica Neue"/>
                <a:sym typeface="Helvetica Neue"/>
              </a:rPr>
              <a:t>gigabyte</a:t>
            </a:r>
            <a:r>
              <a:rPr b="0" i="0" lang="en-US" sz="1400" u="none">
                <a:solidFill>
                  <a:schemeClr val="dk1"/>
                </a:solidFill>
                <a:latin typeface="Verdana"/>
                <a:ea typeface="Verdana"/>
                <a:cs typeface="Verdana"/>
                <a:sym typeface="Verdana"/>
              </a:rPr>
              <a:t> , or GB , is</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1,024</a:t>
            </a:r>
            <a:r>
              <a:rPr b="0" baseline="30000" i="0" lang="en-US" sz="1400" u="none">
                <a:solidFill>
                  <a:schemeClr val="dk1"/>
                </a:solidFill>
                <a:latin typeface="Verdana"/>
                <a:ea typeface="Verdana"/>
                <a:cs typeface="Verdana"/>
                <a:sym typeface="Verdana"/>
              </a:rPr>
              <a:t>3</a:t>
            </a:r>
            <a:r>
              <a:rPr b="0" i="0" lang="en-US" sz="1400" u="none">
                <a:solidFill>
                  <a:schemeClr val="dk1"/>
                </a:solidFill>
                <a:latin typeface="Verdana"/>
                <a:ea typeface="Verdana"/>
                <a:cs typeface="Verdana"/>
                <a:sym typeface="Verdana"/>
              </a:rPr>
              <a:t>  bytes; a </a:t>
            </a:r>
            <a:r>
              <a:rPr b="1" i="0" lang="en-US" sz="1600" u="none">
                <a:solidFill>
                  <a:srgbClr val="3366FF"/>
                </a:solidFill>
                <a:latin typeface="Helvetica Neue"/>
                <a:ea typeface="Helvetica Neue"/>
                <a:cs typeface="Helvetica Neue"/>
                <a:sym typeface="Helvetica Neue"/>
              </a:rPr>
              <a:t>terabyte</a:t>
            </a:r>
            <a:r>
              <a:rPr b="0" i="0" lang="en-US" sz="1400" u="none">
                <a:solidFill>
                  <a:schemeClr val="dk1"/>
                </a:solidFill>
                <a:latin typeface="Verdana"/>
                <a:ea typeface="Verdana"/>
                <a:cs typeface="Verdana"/>
                <a:sym typeface="Verdana"/>
              </a:rPr>
              <a:t> , or </a:t>
            </a:r>
            <a:r>
              <a:rPr b="1" i="0" lang="en-US" sz="1600" u="none">
                <a:solidFill>
                  <a:srgbClr val="3366FF"/>
                </a:solidFill>
                <a:latin typeface="Helvetica Neue"/>
                <a:ea typeface="Helvetica Neue"/>
                <a:cs typeface="Helvetica Neue"/>
                <a:sym typeface="Helvetica Neue"/>
              </a:rPr>
              <a:t>TB</a:t>
            </a:r>
            <a:r>
              <a:rPr b="0" i="0" lang="en-US" sz="1400" u="none">
                <a:solidFill>
                  <a:schemeClr val="dk1"/>
                </a:solidFill>
                <a:latin typeface="Verdana"/>
                <a:ea typeface="Verdana"/>
                <a:cs typeface="Verdana"/>
                <a:sym typeface="Verdana"/>
              </a:rPr>
              <a:t> , is 1,024</a:t>
            </a:r>
            <a:r>
              <a:rPr b="0" baseline="30000" i="0" lang="en-US" sz="1400" u="none">
                <a:solidFill>
                  <a:schemeClr val="dk1"/>
                </a:solidFill>
                <a:latin typeface="Verdana"/>
                <a:ea typeface="Verdana"/>
                <a:cs typeface="Verdana"/>
                <a:sym typeface="Verdana"/>
              </a:rPr>
              <a:t>4</a:t>
            </a:r>
            <a:r>
              <a:rPr b="0" i="0" lang="en-US" sz="1400" u="none">
                <a:solidFill>
                  <a:schemeClr val="dk1"/>
                </a:solidFill>
                <a:latin typeface="Verdana"/>
                <a:ea typeface="Verdana"/>
                <a:cs typeface="Verdana"/>
                <a:sym typeface="Verdana"/>
              </a:rPr>
              <a:t>  bytes; and a </a:t>
            </a:r>
            <a:r>
              <a:rPr b="1" i="0" lang="en-US" sz="1600" u="none">
                <a:solidFill>
                  <a:srgbClr val="3366FF"/>
                </a:solidFill>
                <a:latin typeface="Helvetica Neue"/>
                <a:ea typeface="Helvetica Neue"/>
                <a:cs typeface="Helvetica Neue"/>
                <a:sym typeface="Helvetica Neue"/>
              </a:rPr>
              <a:t>petabyte</a:t>
            </a:r>
            <a:r>
              <a:rPr b="0" i="0" lang="en-US" sz="1400" u="none">
                <a:solidFill>
                  <a:schemeClr val="dk1"/>
                </a:solidFill>
                <a:latin typeface="Verdana"/>
                <a:ea typeface="Verdana"/>
                <a:cs typeface="Verdana"/>
                <a:sym typeface="Verdana"/>
              </a:rPr>
              <a:t> , or </a:t>
            </a:r>
            <a:r>
              <a:rPr b="1" i="0" lang="en-US" sz="1600" u="none">
                <a:solidFill>
                  <a:srgbClr val="3366FF"/>
                </a:solidFill>
                <a:latin typeface="Helvetica Neue"/>
                <a:ea typeface="Helvetica Neue"/>
                <a:cs typeface="Helvetica Neue"/>
                <a:sym typeface="Helvetica Neue"/>
              </a:rPr>
              <a:t>PB</a:t>
            </a:r>
            <a:r>
              <a:rPr b="0" i="0" lang="en-US" sz="1400" u="none">
                <a:solidFill>
                  <a:schemeClr val="dk1"/>
                </a:solidFill>
                <a:latin typeface="Verdana"/>
                <a:ea typeface="Verdana"/>
                <a:cs typeface="Verdana"/>
                <a:sym typeface="Verdana"/>
              </a:rPr>
              <a:t> , is 1,024</a:t>
            </a:r>
            <a:r>
              <a:rPr b="0" baseline="30000" i="0" lang="en-US" sz="1400" u="none">
                <a:solidFill>
                  <a:schemeClr val="dk1"/>
                </a:solidFill>
                <a:latin typeface="Verdana"/>
                <a:ea typeface="Verdana"/>
                <a:cs typeface="Verdana"/>
                <a:sym typeface="Verdana"/>
              </a:rPr>
              <a:t>5</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bytes. Computer manufacturers often round off these numbers and say that</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a megabyte is 1 million bytes and a gigabyte is 1 billion bytes. Networking</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measurements are an exception to this general rule; they are given in bits</a:t>
            </a:r>
            <a:endParaRPr/>
          </a:p>
          <a:p>
            <a:pPr indent="0" lvl="0" marL="0" marR="0" rtl="0" algn="l">
              <a:lnSpc>
                <a:spcPct val="100000"/>
              </a:lnSpc>
              <a:spcBef>
                <a:spcPts val="0"/>
              </a:spcBef>
              <a:spcAft>
                <a:spcPts val="0"/>
              </a:spcAft>
              <a:buClr>
                <a:schemeClr val="dk1"/>
              </a:buClr>
              <a:buSzPts val="1400"/>
              <a:buFont typeface="Verdana"/>
              <a:buNone/>
            </a:pPr>
            <a:r>
              <a:rPr b="0" i="0" lang="en-US" sz="1400" u="none">
                <a:solidFill>
                  <a:schemeClr val="dk1"/>
                </a:solidFill>
                <a:latin typeface="Verdana"/>
                <a:ea typeface="Verdana"/>
                <a:cs typeface="Verdana"/>
                <a:sym typeface="Verdana"/>
              </a:rPr>
              <a:t>(because networks move data a bit at a time).</a:t>
            </a:r>
            <a:endParaRPr/>
          </a:p>
          <a:p>
            <a:pPr indent="0" lvl="0" marL="0" marR="0" rtl="0" algn="l">
              <a:lnSpc>
                <a:spcPct val="100000"/>
              </a:lnSpc>
              <a:spcBef>
                <a:spcPts val="0"/>
              </a:spcBef>
              <a:spcAft>
                <a:spcPts val="0"/>
              </a:spcAft>
              <a:buNone/>
            </a:pPr>
            <a:r>
              <a:t/>
            </a:r>
            <a:endParaRPr b="0" i="0" sz="1400" u="none">
              <a:solidFill>
                <a:schemeClr val="dk1"/>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idx="4294967295" type="title"/>
          </p:nvPr>
        </p:nvSpPr>
        <p:spPr>
          <a:xfrm>
            <a:off x="876300" y="182562"/>
            <a:ext cx="78105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Storage Hierarchy</a:t>
            </a:r>
            <a:endParaRPr/>
          </a:p>
        </p:txBody>
      </p:sp>
      <p:sp>
        <p:nvSpPr>
          <p:cNvPr id="176" name="Google Shape;176;p19"/>
          <p:cNvSpPr txBox="1"/>
          <p:nvPr>
            <p:ph idx="4294967295" type="body"/>
          </p:nvPr>
        </p:nvSpPr>
        <p:spPr>
          <a:xfrm>
            <a:off x="806450" y="1233487"/>
            <a:ext cx="64928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Storage systems organized in hierarchy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Speed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Volatility</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Caching</a:t>
            </a:r>
            <a:r>
              <a:rPr b="0" i="0" lang="en-US" sz="1800" u="none">
                <a:solidFill>
                  <a:schemeClr val="dk1"/>
                </a:solidFill>
                <a:latin typeface="Helvetica Neue"/>
                <a:ea typeface="Helvetica Neue"/>
                <a:cs typeface="Helvetica Neue"/>
                <a:sym typeface="Helvetica Neue"/>
              </a:rPr>
              <a:t> – copying information into faster storage system; main memory can be viewed as a cache for secondary storage</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Device Driver </a:t>
            </a:r>
            <a:r>
              <a:rPr b="0" i="0" lang="en-US" sz="1800" u="none">
                <a:solidFill>
                  <a:schemeClr val="dk1"/>
                </a:solidFill>
                <a:latin typeface="Helvetica Neue"/>
                <a:ea typeface="Helvetica Neue"/>
                <a:cs typeface="Helvetica Neue"/>
                <a:sym typeface="Helvetica Neue"/>
              </a:rPr>
              <a:t>for each device controller to manage I/O</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Provides uniform interface between controller and kernel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idx="4294967295"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Storage-Device Hierarchy</a:t>
            </a:r>
            <a:endParaRPr/>
          </a:p>
        </p:txBody>
      </p:sp>
      <p:pic>
        <p:nvPicPr>
          <p:cNvPr id="182" name="Google Shape;182;p20"/>
          <p:cNvPicPr preferRelativeResize="0"/>
          <p:nvPr/>
        </p:nvPicPr>
        <p:blipFill rotWithShape="1">
          <a:blip r:embed="rId3">
            <a:alphaModFix/>
          </a:blip>
          <a:srcRect b="0" l="0" r="0" t="0"/>
          <a:stretch/>
        </p:blipFill>
        <p:spPr>
          <a:xfrm>
            <a:off x="963612" y="1455737"/>
            <a:ext cx="7483475" cy="43449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ph idx="4294967295" type="title"/>
          </p:nvPr>
        </p:nvSpPr>
        <p:spPr>
          <a:xfrm>
            <a:off x="835025" y="16668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How a Modern Computer Works</a:t>
            </a:r>
            <a:endParaRPr/>
          </a:p>
        </p:txBody>
      </p:sp>
      <p:sp>
        <p:nvSpPr>
          <p:cNvPr id="188" name="Google Shape;188;p21"/>
          <p:cNvSpPr txBox="1"/>
          <p:nvPr/>
        </p:nvSpPr>
        <p:spPr>
          <a:xfrm>
            <a:off x="4787900" y="5637212"/>
            <a:ext cx="287496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Verdana"/>
              <a:buNone/>
            </a:pPr>
            <a:r>
              <a:rPr b="0" i="1" lang="en-US" sz="1400" u="none">
                <a:solidFill>
                  <a:schemeClr val="dk1"/>
                </a:solidFill>
                <a:latin typeface="Verdana"/>
                <a:ea typeface="Verdana"/>
                <a:cs typeface="Verdana"/>
                <a:sym typeface="Verdana"/>
              </a:rPr>
              <a:t>A von Neumann architecture</a:t>
            </a:r>
            <a:endParaRPr/>
          </a:p>
        </p:txBody>
      </p:sp>
      <p:pic>
        <p:nvPicPr>
          <p:cNvPr id="189" name="Google Shape;189;p21"/>
          <p:cNvPicPr preferRelativeResize="0"/>
          <p:nvPr/>
        </p:nvPicPr>
        <p:blipFill rotWithShape="1">
          <a:blip r:embed="rId3">
            <a:alphaModFix/>
          </a:blip>
          <a:srcRect b="0" l="0" r="0" t="0"/>
          <a:stretch/>
        </p:blipFill>
        <p:spPr>
          <a:xfrm>
            <a:off x="1978025" y="1352550"/>
            <a:ext cx="5122862" cy="4086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idx="4294967295" type="title"/>
          </p:nvPr>
        </p:nvSpPr>
        <p:spPr>
          <a:xfrm>
            <a:off x="1020762" y="166687"/>
            <a:ext cx="766603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Direct Memory Access Structure</a:t>
            </a:r>
            <a:endParaRPr/>
          </a:p>
        </p:txBody>
      </p:sp>
      <p:sp>
        <p:nvSpPr>
          <p:cNvPr id="195" name="Google Shape;195;p22"/>
          <p:cNvSpPr txBox="1"/>
          <p:nvPr>
            <p:ph idx="4294967295" type="body"/>
          </p:nvPr>
        </p:nvSpPr>
        <p:spPr>
          <a:xfrm>
            <a:off x="806450" y="1233487"/>
            <a:ext cx="6208712"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Used for high-speed I/O devices able to transmit information at close to memory speeds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Device controller transfers blocks of data from buffer storage directly to main memory without CPU intervention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Only one interrupt is generated per block, rather than the one interrupt per byte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idx="4294967295" type="title"/>
          </p:nvPr>
        </p:nvSpPr>
        <p:spPr>
          <a:xfrm>
            <a:off x="1100137" y="198437"/>
            <a:ext cx="758666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Computer-System Architecture</a:t>
            </a:r>
            <a:endParaRPr/>
          </a:p>
        </p:txBody>
      </p:sp>
      <p:sp>
        <p:nvSpPr>
          <p:cNvPr id="201" name="Google Shape;201;p23"/>
          <p:cNvSpPr txBox="1"/>
          <p:nvPr>
            <p:ph idx="4294967295" type="body"/>
          </p:nvPr>
        </p:nvSpPr>
        <p:spPr>
          <a:xfrm>
            <a:off x="806450" y="1233487"/>
            <a:ext cx="8337550" cy="4867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Most systems use a single general-purpose processor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Most systems have special-purpose processors as well</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Multiprocessors</a:t>
            </a:r>
            <a:r>
              <a:rPr b="0" i="0" lang="en-US" sz="1800" u="none">
                <a:solidFill>
                  <a:srgbClr val="3366FF"/>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systems growing in use and importance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Also known as </a:t>
            </a:r>
            <a:r>
              <a:rPr b="1" i="0" lang="en-US" sz="1800" u="none" cap="none" strike="noStrike">
                <a:solidFill>
                  <a:srgbClr val="3366FF"/>
                </a:solidFill>
                <a:latin typeface="Helvetica Neue"/>
                <a:ea typeface="Helvetica Neue"/>
                <a:cs typeface="Helvetica Neue"/>
                <a:sym typeface="Helvetica Neue"/>
              </a:rPr>
              <a:t>parallel systems</a:t>
            </a:r>
            <a:r>
              <a:rPr b="0" i="0"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rgbClr val="3366FF"/>
                </a:solidFill>
                <a:latin typeface="Helvetica Neue"/>
                <a:ea typeface="Helvetica Neue"/>
                <a:cs typeface="Helvetica Neue"/>
                <a:sym typeface="Helvetica Neue"/>
              </a:rPr>
              <a:t>tightly-coupled systems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Advantages include:</a:t>
            </a:r>
            <a:endParaRPr/>
          </a:p>
          <a:p>
            <a:pPr indent="-342900" lvl="2" marL="1200150" marR="0" rtl="0" algn="l">
              <a:lnSpc>
                <a:spcPct val="100000"/>
              </a:lnSpc>
              <a:spcBef>
                <a:spcPts val="630"/>
              </a:spcBef>
              <a:spcAft>
                <a:spcPts val="0"/>
              </a:spcAft>
              <a:buClr>
                <a:srgbClr val="009900"/>
              </a:buClr>
              <a:buSzPts val="1350"/>
              <a:buFont typeface="Arial"/>
              <a:buAutoNum type="arabicPeriod"/>
            </a:pPr>
            <a:r>
              <a:rPr b="1" i="0" lang="en-US" sz="1800" u="none" cap="none" strike="noStrike">
                <a:solidFill>
                  <a:srgbClr val="3366FF"/>
                </a:solidFill>
                <a:latin typeface="Helvetica Neue"/>
                <a:ea typeface="Helvetica Neue"/>
                <a:cs typeface="Helvetica Neue"/>
                <a:sym typeface="Helvetica Neue"/>
              </a:rPr>
              <a:t>Increased throughput</a:t>
            </a:r>
            <a:endParaRPr/>
          </a:p>
          <a:p>
            <a:pPr indent="-342900" lvl="2" marL="1200150" marR="0" rtl="0" algn="l">
              <a:lnSpc>
                <a:spcPct val="100000"/>
              </a:lnSpc>
              <a:spcBef>
                <a:spcPts val="630"/>
              </a:spcBef>
              <a:spcAft>
                <a:spcPts val="0"/>
              </a:spcAft>
              <a:buClr>
                <a:srgbClr val="009900"/>
              </a:buClr>
              <a:buSzPts val="1350"/>
              <a:buFont typeface="Arial"/>
              <a:buAutoNum type="arabicPeriod"/>
            </a:pPr>
            <a:r>
              <a:rPr b="1" i="0" lang="en-US" sz="1800" u="none" cap="none" strike="noStrike">
                <a:solidFill>
                  <a:srgbClr val="3366FF"/>
                </a:solidFill>
                <a:latin typeface="Helvetica Neue"/>
                <a:ea typeface="Helvetica Neue"/>
                <a:cs typeface="Helvetica Neue"/>
                <a:sym typeface="Helvetica Neue"/>
              </a:rPr>
              <a:t>Economy of scale</a:t>
            </a:r>
            <a:endParaRPr/>
          </a:p>
          <a:p>
            <a:pPr indent="-342900" lvl="2" marL="1200150" marR="0" rtl="0" algn="l">
              <a:lnSpc>
                <a:spcPct val="100000"/>
              </a:lnSpc>
              <a:spcBef>
                <a:spcPts val="630"/>
              </a:spcBef>
              <a:spcAft>
                <a:spcPts val="0"/>
              </a:spcAft>
              <a:buClr>
                <a:srgbClr val="009900"/>
              </a:buClr>
              <a:buSzPts val="1350"/>
              <a:buFont typeface="Arial"/>
              <a:buAutoNum type="arabicPeriod"/>
            </a:pPr>
            <a:r>
              <a:rPr b="1" i="0" lang="en-US" sz="1800" u="none" cap="none" strike="noStrike">
                <a:solidFill>
                  <a:srgbClr val="3366FF"/>
                </a:solidFill>
                <a:latin typeface="Helvetica Neue"/>
                <a:ea typeface="Helvetica Neue"/>
                <a:cs typeface="Helvetica Neue"/>
                <a:sym typeface="Helvetica Neue"/>
              </a:rPr>
              <a:t>Increased reliability </a:t>
            </a:r>
            <a:r>
              <a:rPr b="0" i="0" lang="en-US" sz="1800" u="none" cap="none" strike="noStrike">
                <a:solidFill>
                  <a:schemeClr val="dk1"/>
                </a:solidFill>
                <a:latin typeface="Helvetica Neue"/>
                <a:ea typeface="Helvetica Neue"/>
                <a:cs typeface="Helvetica Neue"/>
                <a:sym typeface="Helvetica Neue"/>
              </a:rPr>
              <a:t>– graceful degradation or fault tolerance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Two types:</a:t>
            </a:r>
            <a:endParaRPr/>
          </a:p>
          <a:p>
            <a:pPr indent="-342900" lvl="2" marL="1200150" marR="0" rtl="0" algn="l">
              <a:lnSpc>
                <a:spcPct val="100000"/>
              </a:lnSpc>
              <a:spcBef>
                <a:spcPts val="630"/>
              </a:spcBef>
              <a:spcAft>
                <a:spcPts val="0"/>
              </a:spcAft>
              <a:buClr>
                <a:srgbClr val="009900"/>
              </a:buClr>
              <a:buSzPts val="1350"/>
              <a:buFont typeface="Arial"/>
              <a:buAutoNum type="arabicPeriod"/>
            </a:pPr>
            <a:r>
              <a:rPr b="1" i="0" lang="en-US" sz="1800" u="none" cap="none" strike="noStrike">
                <a:solidFill>
                  <a:srgbClr val="3366FF"/>
                </a:solidFill>
                <a:latin typeface="Helvetica Neue"/>
                <a:ea typeface="Helvetica Neue"/>
                <a:cs typeface="Helvetica Neue"/>
                <a:sym typeface="Helvetica Neue"/>
              </a:rPr>
              <a:t>Asymmetric Multiprocessing </a:t>
            </a:r>
            <a:r>
              <a:rPr b="0" i="0" lang="en-US" sz="1800" u="none" cap="none" strike="noStrike">
                <a:solidFill>
                  <a:schemeClr val="dk1"/>
                </a:solidFill>
                <a:latin typeface="Helvetica Neue"/>
                <a:ea typeface="Helvetica Neue"/>
                <a:cs typeface="Helvetica Neue"/>
                <a:sym typeface="Helvetica Neue"/>
              </a:rPr>
              <a:t>– each processor is assigned a specie task.</a:t>
            </a:r>
            <a:endParaRPr/>
          </a:p>
          <a:p>
            <a:pPr indent="-342900" lvl="2" marL="1200150" marR="0" rtl="0" algn="l">
              <a:lnSpc>
                <a:spcPct val="100000"/>
              </a:lnSpc>
              <a:spcBef>
                <a:spcPts val="630"/>
              </a:spcBef>
              <a:spcAft>
                <a:spcPts val="0"/>
              </a:spcAft>
              <a:buClr>
                <a:srgbClr val="009900"/>
              </a:buClr>
              <a:buSzPts val="1350"/>
              <a:buFont typeface="Arial"/>
              <a:buAutoNum type="arabicPeriod"/>
            </a:pPr>
            <a:r>
              <a:rPr b="1" i="0" lang="en-US" sz="1800" u="none" cap="none" strike="noStrike">
                <a:solidFill>
                  <a:srgbClr val="3366FF"/>
                </a:solidFill>
                <a:latin typeface="Helvetica Neue"/>
                <a:ea typeface="Helvetica Neue"/>
                <a:cs typeface="Helvetica Neue"/>
                <a:sym typeface="Helvetica Neue"/>
              </a:rPr>
              <a:t>Symmetric Multiprocessing </a:t>
            </a:r>
            <a:r>
              <a:rPr b="0" i="0" lang="en-US" sz="1800" u="none" cap="none" strike="noStrike">
                <a:solidFill>
                  <a:schemeClr val="dk1"/>
                </a:solidFill>
                <a:latin typeface="Helvetica Neue"/>
                <a:ea typeface="Helvetica Neue"/>
                <a:cs typeface="Helvetica Neue"/>
                <a:sym typeface="Helvetica Neue"/>
              </a:rPr>
              <a:t>– each processor performs all tasks</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4294967295" type="title"/>
          </p:nvPr>
        </p:nvSpPr>
        <p:spPr>
          <a:xfrm>
            <a:off x="939800" y="152400"/>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Symmetric Multiprocessing Architecture</a:t>
            </a:r>
            <a:endParaRPr/>
          </a:p>
        </p:txBody>
      </p:sp>
      <p:pic>
        <p:nvPicPr>
          <p:cNvPr id="207" name="Google Shape;207;p24"/>
          <p:cNvPicPr preferRelativeResize="0"/>
          <p:nvPr/>
        </p:nvPicPr>
        <p:blipFill rotWithShape="1">
          <a:blip r:embed="rId3">
            <a:alphaModFix/>
          </a:blip>
          <a:srcRect b="0" l="0" r="0" t="0"/>
          <a:stretch/>
        </p:blipFill>
        <p:spPr>
          <a:xfrm>
            <a:off x="2166937" y="1822450"/>
            <a:ext cx="5051425" cy="382428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457200" y="214312"/>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A Dual-Core Design</a:t>
            </a:r>
            <a:endParaRPr/>
          </a:p>
        </p:txBody>
      </p:sp>
      <p:sp>
        <p:nvSpPr>
          <p:cNvPr id="213" name="Google Shape;213;p25"/>
          <p:cNvSpPr txBox="1"/>
          <p:nvPr>
            <p:ph idx="1" type="body"/>
          </p:nvPr>
        </p:nvSpPr>
        <p:spPr>
          <a:xfrm>
            <a:off x="854075" y="1108075"/>
            <a:ext cx="7108825" cy="26828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Multi-chip and </a:t>
            </a:r>
            <a:r>
              <a:rPr b="1" i="0" lang="en-US" sz="1800" u="none">
                <a:solidFill>
                  <a:srgbClr val="3366FF"/>
                </a:solidFill>
                <a:latin typeface="Helvetica Neue"/>
                <a:ea typeface="Helvetica Neue"/>
                <a:cs typeface="Helvetica Neue"/>
                <a:sym typeface="Helvetica Neue"/>
              </a:rPr>
              <a:t>multicore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Systems containing all  chips</a:t>
            </a:r>
            <a:endParaRPr b="1" i="0" sz="1800" u="none">
              <a:solidFill>
                <a:srgbClr val="3366FF"/>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Chassis containing multiple separate systems</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pic>
        <p:nvPicPr>
          <p:cNvPr id="214" name="Google Shape;214;p25"/>
          <p:cNvPicPr preferRelativeResize="0"/>
          <p:nvPr/>
        </p:nvPicPr>
        <p:blipFill rotWithShape="1">
          <a:blip r:embed="rId3">
            <a:alphaModFix/>
          </a:blip>
          <a:srcRect b="0" l="0" r="0" t="0"/>
          <a:stretch/>
        </p:blipFill>
        <p:spPr>
          <a:xfrm>
            <a:off x="2257425" y="2432050"/>
            <a:ext cx="4405312" cy="3927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730250" y="277812"/>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Non-Uniform Memory Access System</a:t>
            </a:r>
            <a:endParaRPr/>
          </a:p>
        </p:txBody>
      </p:sp>
      <p:pic>
        <p:nvPicPr>
          <p:cNvPr id="220" name="Google Shape;220;p26"/>
          <p:cNvPicPr preferRelativeResize="0"/>
          <p:nvPr/>
        </p:nvPicPr>
        <p:blipFill rotWithShape="1">
          <a:blip r:embed="rId3">
            <a:alphaModFix/>
          </a:blip>
          <a:srcRect b="0" l="0" r="0" t="0"/>
          <a:stretch/>
        </p:blipFill>
        <p:spPr>
          <a:xfrm>
            <a:off x="2476500" y="1482725"/>
            <a:ext cx="4440237" cy="4200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idx="4294967295" type="title"/>
          </p:nvPr>
        </p:nvSpPr>
        <p:spPr>
          <a:xfrm>
            <a:off x="457200" y="18256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Clustered Systems</a:t>
            </a:r>
            <a:endParaRPr/>
          </a:p>
        </p:txBody>
      </p:sp>
      <p:sp>
        <p:nvSpPr>
          <p:cNvPr id="226" name="Google Shape;226;p27"/>
          <p:cNvSpPr txBox="1"/>
          <p:nvPr>
            <p:ph idx="4294967295"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Like multiprocessor systems, but multiple systems working together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Usually sharing storage via a </a:t>
            </a:r>
            <a:r>
              <a:rPr b="1" i="0" lang="en-US" sz="1800" u="none" cap="none" strike="noStrike">
                <a:solidFill>
                  <a:srgbClr val="3366FF"/>
                </a:solidFill>
                <a:latin typeface="Helvetica Neue"/>
                <a:ea typeface="Helvetica Neue"/>
                <a:cs typeface="Helvetica Neue"/>
                <a:sym typeface="Helvetica Neue"/>
              </a:rPr>
              <a:t>storage-area network (SAN)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Provides a </a:t>
            </a:r>
            <a:r>
              <a:rPr b="1" i="0" lang="en-US" sz="1800" u="none" cap="none" strike="noStrike">
                <a:solidFill>
                  <a:srgbClr val="3366FF"/>
                </a:solidFill>
                <a:latin typeface="Helvetica Neue"/>
                <a:ea typeface="Helvetica Neue"/>
                <a:cs typeface="Helvetica Neue"/>
                <a:sym typeface="Helvetica Neue"/>
              </a:rPr>
              <a:t>high-availability</a:t>
            </a:r>
            <a:r>
              <a:rPr b="1" i="0"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service which survives failures</a:t>
            </a:r>
            <a:endParaRPr/>
          </a:p>
          <a:p>
            <a:pPr indent="-228600" lvl="2" marL="1085850" marR="0" rtl="0" algn="l">
              <a:lnSpc>
                <a:spcPct val="100000"/>
              </a:lnSpc>
              <a:spcBef>
                <a:spcPts val="630"/>
              </a:spcBef>
              <a:spcAft>
                <a:spcPts val="0"/>
              </a:spcAft>
              <a:buClr>
                <a:srgbClr val="009900"/>
              </a:buClr>
              <a:buSzPts val="1350"/>
              <a:buFont typeface="Arimo"/>
              <a:buChar char="4"/>
            </a:pPr>
            <a:r>
              <a:rPr b="1" i="0" lang="en-US" sz="1800" u="none" cap="none" strike="noStrike">
                <a:solidFill>
                  <a:srgbClr val="3366FF"/>
                </a:solidFill>
                <a:latin typeface="Helvetica Neue"/>
                <a:ea typeface="Helvetica Neue"/>
                <a:cs typeface="Helvetica Neue"/>
                <a:sym typeface="Helvetica Neue"/>
              </a:rPr>
              <a:t>Asymmetric clustering</a:t>
            </a:r>
            <a:r>
              <a:rPr b="0" i="0" lang="en-US" sz="1800" u="none" cap="none" strike="noStrike">
                <a:solidFill>
                  <a:srgbClr val="3366FF"/>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has one machine in hot-standby mode</a:t>
            </a:r>
            <a:endParaRPr/>
          </a:p>
          <a:p>
            <a:pPr indent="-228600" lvl="2" marL="1085850" marR="0" rtl="0" algn="l">
              <a:lnSpc>
                <a:spcPct val="100000"/>
              </a:lnSpc>
              <a:spcBef>
                <a:spcPts val="630"/>
              </a:spcBef>
              <a:spcAft>
                <a:spcPts val="0"/>
              </a:spcAft>
              <a:buClr>
                <a:srgbClr val="009900"/>
              </a:buClr>
              <a:buSzPts val="1350"/>
              <a:buFont typeface="Arimo"/>
              <a:buChar char="4"/>
            </a:pPr>
            <a:r>
              <a:rPr b="1" i="0" lang="en-US" sz="1800" u="none" cap="none" strike="noStrike">
                <a:solidFill>
                  <a:srgbClr val="3366FF"/>
                </a:solidFill>
                <a:latin typeface="Helvetica Neue"/>
                <a:ea typeface="Helvetica Neue"/>
                <a:cs typeface="Helvetica Neue"/>
                <a:sym typeface="Helvetica Neue"/>
              </a:rPr>
              <a:t>Symmetric clustering</a:t>
            </a:r>
            <a:r>
              <a:rPr b="0" i="0" lang="en-US" sz="1800" u="none" cap="none" strike="noStrike">
                <a:solidFill>
                  <a:srgbClr val="3366FF"/>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has multiple nodes running applications, monitoring each other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Some clusters are for </a:t>
            </a:r>
            <a:r>
              <a:rPr b="1" i="0" lang="en-US" sz="1800" u="none" cap="none" strike="noStrike">
                <a:solidFill>
                  <a:srgbClr val="3366FF"/>
                </a:solidFill>
                <a:latin typeface="Helvetica Neue"/>
                <a:ea typeface="Helvetica Neue"/>
                <a:cs typeface="Helvetica Neue"/>
                <a:sym typeface="Helvetica Neue"/>
              </a:rPr>
              <a:t>high-performance computing (HPC)</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Applications must be written to use </a:t>
            </a:r>
            <a:r>
              <a:rPr b="1" i="0" lang="en-US" sz="1800" u="none" cap="none" strike="noStrike">
                <a:solidFill>
                  <a:srgbClr val="3366FF"/>
                </a:solidFill>
                <a:latin typeface="Helvetica Neue"/>
                <a:ea typeface="Helvetica Neue"/>
                <a:cs typeface="Helvetica Neue"/>
                <a:sym typeface="Helvetica Neue"/>
              </a:rPr>
              <a:t>parallelization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Some have</a:t>
            </a:r>
            <a:r>
              <a:rPr b="1" i="0" lang="en-US" sz="1800" u="none" cap="none" strike="noStrike">
                <a:solidFill>
                  <a:srgbClr val="3366FF"/>
                </a:solidFill>
                <a:latin typeface="Helvetica Neue"/>
                <a:ea typeface="Helvetica Neue"/>
                <a:cs typeface="Helvetica Neue"/>
                <a:sym typeface="Helvetica Neue"/>
              </a:rPr>
              <a:t> distributed lock manager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DLM</a:t>
            </a:r>
            <a:r>
              <a:rPr b="0" i="0" lang="en-US" sz="1800" u="none" cap="none" strike="noStrike">
                <a:solidFill>
                  <a:schemeClr val="dk1"/>
                </a:solidFill>
                <a:latin typeface="Helvetica Neue"/>
                <a:ea typeface="Helvetica Neue"/>
                <a:cs typeface="Helvetica Neue"/>
                <a:sym typeface="Helvetica Neue"/>
              </a:rPr>
              <a:t>) to avoid conflicting operations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ph idx="4294967295"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Clustered Systems</a:t>
            </a:r>
            <a:endParaRPr/>
          </a:p>
        </p:txBody>
      </p:sp>
      <p:pic>
        <p:nvPicPr>
          <p:cNvPr id="232" name="Google Shape;232;p28"/>
          <p:cNvPicPr preferRelativeResize="0"/>
          <p:nvPr/>
        </p:nvPicPr>
        <p:blipFill rotWithShape="1">
          <a:blip r:embed="rId3">
            <a:alphaModFix/>
          </a:blip>
          <a:srcRect b="0" l="0" r="0" t="0"/>
          <a:stretch/>
        </p:blipFill>
        <p:spPr>
          <a:xfrm>
            <a:off x="2327275" y="2058987"/>
            <a:ext cx="5148262" cy="2641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EEBFA"/>
        </a:solidFill>
      </p:bgPr>
    </p:bg>
    <p:spTree>
      <p:nvGrpSpPr>
        <p:cNvPr id="236" name="Shape 236"/>
        <p:cNvGrpSpPr/>
        <p:nvPr/>
      </p:nvGrpSpPr>
      <p:grpSpPr>
        <a:xfrm>
          <a:off x="0" y="0"/>
          <a:ext cx="0" cy="0"/>
          <a:chOff x="0" y="0"/>
          <a:chExt cx="0" cy="0"/>
        </a:xfrm>
      </p:grpSpPr>
      <p:sp>
        <p:nvSpPr>
          <p:cNvPr id="237" name="Google Shape;237;p29"/>
          <p:cNvSpPr txBox="1"/>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PC Motherboard</a:t>
            </a:r>
            <a:endParaRPr/>
          </a:p>
        </p:txBody>
      </p:sp>
      <p:pic>
        <p:nvPicPr>
          <p:cNvPr id="238" name="Google Shape;238;p29"/>
          <p:cNvPicPr preferRelativeResize="0"/>
          <p:nvPr/>
        </p:nvPicPr>
        <p:blipFill rotWithShape="1">
          <a:blip r:embed="rId3">
            <a:alphaModFix/>
          </a:blip>
          <a:srcRect b="0" l="0" r="0" t="0"/>
          <a:stretch/>
        </p:blipFill>
        <p:spPr>
          <a:xfrm>
            <a:off x="1377950" y="962025"/>
            <a:ext cx="6203950" cy="55213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0"/>
          <p:cNvSpPr txBox="1"/>
          <p:nvPr>
            <p:ph idx="4294967295" type="title"/>
          </p:nvPr>
        </p:nvSpPr>
        <p:spPr>
          <a:xfrm>
            <a:off x="895350" y="166687"/>
            <a:ext cx="779145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Operating-System Operations</a:t>
            </a:r>
            <a:endParaRPr/>
          </a:p>
        </p:txBody>
      </p:sp>
      <p:sp>
        <p:nvSpPr>
          <p:cNvPr id="244" name="Google Shape;244;p30"/>
          <p:cNvSpPr txBox="1"/>
          <p:nvPr>
            <p:ph idx="4294967295" type="body"/>
          </p:nvPr>
        </p:nvSpPr>
        <p:spPr>
          <a:xfrm>
            <a:off x="838200" y="1154112"/>
            <a:ext cx="6886575" cy="49387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Bootstrap program – simple code to initialize the system, load the kernel</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Kernel loads</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Starts </a:t>
            </a:r>
            <a:r>
              <a:rPr b="1" i="0" lang="en-US" sz="1800" u="none">
                <a:solidFill>
                  <a:srgbClr val="3366FF"/>
                </a:solidFill>
                <a:latin typeface="Helvetica Neue"/>
                <a:ea typeface="Helvetica Neue"/>
                <a:cs typeface="Helvetica Neue"/>
                <a:sym typeface="Helvetica Neue"/>
              </a:rPr>
              <a:t>system daemons </a:t>
            </a:r>
            <a:r>
              <a:rPr b="0" i="0" lang="en-US" sz="1800" u="none">
                <a:solidFill>
                  <a:schemeClr val="dk1"/>
                </a:solidFill>
                <a:latin typeface="Helvetica Neue"/>
                <a:ea typeface="Helvetica Neue"/>
                <a:cs typeface="Helvetica Neue"/>
                <a:sym typeface="Helvetica Neue"/>
              </a:rPr>
              <a:t>(services provided outside of the kernel)</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Kernel</a:t>
            </a:r>
            <a:r>
              <a:rPr b="1" i="0" lang="en-US" sz="1800" u="none">
                <a:solidFill>
                  <a:srgbClr val="3366FF"/>
                </a:solidFill>
                <a:latin typeface="Helvetica Neue"/>
                <a:ea typeface="Helvetica Neue"/>
                <a:cs typeface="Helvetica Neue"/>
                <a:sym typeface="Helvetica Neue"/>
              </a:rPr>
              <a:t> interrupt driven </a:t>
            </a:r>
            <a:r>
              <a:rPr b="0" i="0" lang="en-US" sz="1800" u="none">
                <a:solidFill>
                  <a:schemeClr val="dk1"/>
                </a:solidFill>
                <a:latin typeface="Helvetica Neue"/>
                <a:ea typeface="Helvetica Neue"/>
                <a:cs typeface="Helvetica Neue"/>
                <a:sym typeface="Helvetica Neue"/>
              </a:rPr>
              <a:t>(hardware and software)</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Hardware interrupt by one of the devices </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Software interrupt (</a:t>
            </a:r>
            <a:r>
              <a:rPr b="1" i="0" lang="en-US" sz="1800" u="none" cap="none" strike="noStrike">
                <a:solidFill>
                  <a:srgbClr val="3366FF"/>
                </a:solidFill>
                <a:latin typeface="Helvetica Neue"/>
                <a:ea typeface="Helvetica Neue"/>
                <a:cs typeface="Helvetica Neue"/>
                <a:sym typeface="Helvetica Neue"/>
              </a:rPr>
              <a:t>exception </a:t>
            </a:r>
            <a:r>
              <a:rPr b="0" i="0" lang="en-US" sz="1800" u="none" cap="none" strike="noStrike">
                <a:solidFill>
                  <a:schemeClr val="dk1"/>
                </a:solidFill>
                <a:latin typeface="Helvetica Neue"/>
                <a:ea typeface="Helvetica Neue"/>
                <a:cs typeface="Helvetica Neue"/>
                <a:sym typeface="Helvetica Neue"/>
              </a:rPr>
              <a:t>or </a:t>
            </a:r>
            <a:r>
              <a:rPr b="1" i="0" lang="en-US" sz="1800" u="none" cap="none" strike="noStrike">
                <a:solidFill>
                  <a:srgbClr val="3366FF"/>
                </a:solidFill>
                <a:latin typeface="Helvetica Neue"/>
                <a:ea typeface="Helvetica Neue"/>
                <a:cs typeface="Helvetica Neue"/>
                <a:sym typeface="Helvetica Neue"/>
              </a:rPr>
              <a:t>trap):</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Software error (e.g., division by zero)</a:t>
            </a:r>
            <a:endParaRPr b="1" i="0" sz="1800" u="none" cap="none" strike="noStrike">
              <a:solidFill>
                <a:srgbClr val="3366FF"/>
              </a:solidFill>
              <a:latin typeface="Helvetica Neue"/>
              <a:ea typeface="Helvetica Neue"/>
              <a:cs typeface="Helvetica Neue"/>
              <a:sym typeface="Helvetica Neue"/>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Request for operating system service – </a:t>
            </a:r>
            <a:r>
              <a:rPr b="1" i="0" lang="en-US" sz="1800" u="none" cap="none" strike="noStrike">
                <a:solidFill>
                  <a:srgbClr val="3366FF"/>
                </a:solidFill>
                <a:latin typeface="Helvetica Neue"/>
                <a:ea typeface="Helvetica Neue"/>
                <a:cs typeface="Helvetica Neue"/>
                <a:sym typeface="Helvetica Neue"/>
              </a:rPr>
              <a:t>system call</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Other process problems include infinite loop, processes modifying each other or the operating system</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1"/>
          <p:cNvSpPr txBox="1"/>
          <p:nvPr>
            <p:ph idx="4294967295" type="title"/>
          </p:nvPr>
        </p:nvSpPr>
        <p:spPr>
          <a:xfrm>
            <a:off x="1069975" y="166687"/>
            <a:ext cx="7616825"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Multiprogramming and Multitasking</a:t>
            </a:r>
            <a:endParaRPr/>
          </a:p>
        </p:txBody>
      </p:sp>
      <p:sp>
        <p:nvSpPr>
          <p:cNvPr id="250" name="Google Shape;250;p31"/>
          <p:cNvSpPr txBox="1"/>
          <p:nvPr>
            <p:ph idx="4294967295" type="body"/>
          </p:nvPr>
        </p:nvSpPr>
        <p:spPr>
          <a:xfrm>
            <a:off x="827087" y="835025"/>
            <a:ext cx="7832725" cy="54625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440"/>
              <a:buFont typeface="Arial"/>
              <a:buNone/>
            </a:pPr>
            <a:r>
              <a:t/>
            </a:r>
            <a:endParaRPr b="0" i="0" sz="1600" u="non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Multiprogramming</a:t>
            </a:r>
            <a:r>
              <a:rPr b="0" i="0" lang="en-US" sz="1600" u="none">
                <a:solidFill>
                  <a:schemeClr val="dk1"/>
                </a:solidFill>
                <a:latin typeface="Helvetica Neue"/>
                <a:ea typeface="Helvetica Neue"/>
                <a:cs typeface="Helvetica Neue"/>
                <a:sym typeface="Helvetica Neue"/>
              </a:rPr>
              <a:t> (</a:t>
            </a:r>
            <a:r>
              <a:rPr b="1" i="0" lang="en-US" sz="1800" u="none">
                <a:solidFill>
                  <a:srgbClr val="3366FF"/>
                </a:solidFill>
                <a:latin typeface="Helvetica Neue"/>
                <a:ea typeface="Helvetica Neue"/>
                <a:cs typeface="Helvetica Neue"/>
                <a:sym typeface="Helvetica Neue"/>
              </a:rPr>
              <a:t>Batch system</a:t>
            </a:r>
            <a:r>
              <a:rPr b="0" i="0" lang="en-US" sz="1600" u="none">
                <a:solidFill>
                  <a:schemeClr val="dk1"/>
                </a:solidFill>
                <a:latin typeface="Helvetica Neue"/>
                <a:ea typeface="Helvetica Neue"/>
                <a:cs typeface="Helvetica Neue"/>
                <a:sym typeface="Helvetica Neue"/>
              </a:rPr>
              <a:t>) needed for efficiency</a:t>
            </a:r>
            <a:endParaRPr/>
          </a:p>
          <a:p>
            <a:pPr indent="-285750" lvl="1" marL="742950" marR="0" rtl="0" algn="l">
              <a:lnSpc>
                <a:spcPct val="9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Single user cannot keep CPU and I/O devices busy at all times</a:t>
            </a:r>
            <a:endParaRPr/>
          </a:p>
          <a:p>
            <a:pPr indent="-285750" lvl="1" marL="742950" marR="0" rtl="0" algn="l">
              <a:lnSpc>
                <a:spcPct val="9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Multiprogramming organizes jobs (code and data) so CPU always has one to execute</a:t>
            </a:r>
            <a:endParaRPr/>
          </a:p>
          <a:p>
            <a:pPr indent="-285750" lvl="1" marL="742950" marR="0" rtl="0" algn="l">
              <a:lnSpc>
                <a:spcPct val="9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A subset of total jobs in system is kept in memory</a:t>
            </a:r>
            <a:endParaRPr/>
          </a:p>
          <a:p>
            <a:pPr indent="-285750" lvl="1" marL="742950" marR="0" rtl="0" algn="l">
              <a:lnSpc>
                <a:spcPct val="90000"/>
              </a:lnSpc>
              <a:spcBef>
                <a:spcPts val="63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One job selected and run via </a:t>
            </a:r>
            <a:r>
              <a:rPr b="1" i="0" lang="en-US" sz="1800" u="none" cap="none" strike="noStrike">
                <a:solidFill>
                  <a:srgbClr val="3366FF"/>
                </a:solidFill>
                <a:latin typeface="Helvetica Neue"/>
                <a:ea typeface="Helvetica Neue"/>
                <a:cs typeface="Helvetica Neue"/>
                <a:sym typeface="Helvetica Neue"/>
              </a:rPr>
              <a:t>job scheduling</a:t>
            </a:r>
            <a:endParaRPr/>
          </a:p>
          <a:p>
            <a:pPr indent="-285750" lvl="1" marL="742950" marR="0" rtl="0" algn="l">
              <a:lnSpc>
                <a:spcPct val="9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When it has to wait (for I/O for example), OS switches to another job</a:t>
            </a:r>
            <a:endParaRPr/>
          </a:p>
          <a:p>
            <a:pPr indent="-245109" lvl="1" marL="742950" marR="0" rtl="0" algn="l">
              <a:lnSpc>
                <a:spcPct val="90000"/>
              </a:lnSpc>
              <a:spcBef>
                <a:spcPts val="280"/>
              </a:spcBef>
              <a:spcAft>
                <a:spcPts val="0"/>
              </a:spcAft>
              <a:buClr>
                <a:srgbClr val="CC6600"/>
              </a:buClr>
              <a:buSzPts val="640"/>
              <a:buFont typeface="Arial"/>
              <a:buNone/>
            </a:pPr>
            <a:r>
              <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Timesharing </a:t>
            </a:r>
            <a:r>
              <a:rPr b="0" i="0" lang="en-US" sz="1600" u="none">
                <a:solidFill>
                  <a:schemeClr val="dk1"/>
                </a:solidFill>
                <a:latin typeface="Helvetica Neue"/>
                <a:ea typeface="Helvetica Neue"/>
                <a:cs typeface="Helvetica Neue"/>
                <a:sym typeface="Helvetica Neue"/>
              </a:rPr>
              <a:t>(</a:t>
            </a:r>
            <a:r>
              <a:rPr b="1" i="0" lang="en-US" sz="1800" u="none">
                <a:solidFill>
                  <a:srgbClr val="3366FF"/>
                </a:solidFill>
                <a:latin typeface="Helvetica Neue"/>
                <a:ea typeface="Helvetica Neue"/>
                <a:cs typeface="Helvetica Neue"/>
                <a:sym typeface="Helvetica Neue"/>
              </a:rPr>
              <a:t>multitasking</a:t>
            </a:r>
            <a:r>
              <a:rPr b="0" i="0" lang="en-US" sz="1600" u="none">
                <a:solidFill>
                  <a:schemeClr val="dk1"/>
                </a:solidFill>
                <a:latin typeface="Helvetica Neue"/>
                <a:ea typeface="Helvetica Neue"/>
                <a:cs typeface="Helvetica Neue"/>
                <a:sym typeface="Helvetica Neue"/>
              </a:rPr>
              <a:t>)</a:t>
            </a:r>
            <a:r>
              <a:rPr b="1" i="0" lang="en-US" sz="1800" u="none">
                <a:solidFill>
                  <a:srgbClr val="3366FF"/>
                </a:solidFill>
                <a:latin typeface="Helvetica Neue"/>
                <a:ea typeface="Helvetica Neue"/>
                <a:cs typeface="Helvetica Neue"/>
                <a:sym typeface="Helvetica Neue"/>
              </a:rPr>
              <a:t> </a:t>
            </a:r>
            <a:r>
              <a:rPr b="0" i="0" lang="en-US" sz="1600" u="none">
                <a:solidFill>
                  <a:schemeClr val="dk1"/>
                </a:solidFill>
                <a:latin typeface="Helvetica Neue"/>
                <a:ea typeface="Helvetica Neue"/>
                <a:cs typeface="Helvetica Neue"/>
                <a:sym typeface="Helvetica Neue"/>
              </a:rPr>
              <a:t>is logical extension in which CPU switches jobs so frequently that users can interact with each job while it is running, creating </a:t>
            </a:r>
            <a:r>
              <a:rPr b="1" i="0" lang="en-US" sz="1800" u="none">
                <a:solidFill>
                  <a:srgbClr val="3366FF"/>
                </a:solidFill>
                <a:latin typeface="Helvetica Neue"/>
                <a:ea typeface="Helvetica Neue"/>
                <a:cs typeface="Helvetica Neue"/>
                <a:sym typeface="Helvetica Neue"/>
              </a:rPr>
              <a:t>interactive</a:t>
            </a:r>
            <a:r>
              <a:rPr b="0" i="0" lang="en-US" sz="1600" u="none">
                <a:solidFill>
                  <a:schemeClr val="dk1"/>
                </a:solidFill>
                <a:latin typeface="Helvetica Neue"/>
                <a:ea typeface="Helvetica Neue"/>
                <a:cs typeface="Helvetica Neue"/>
                <a:sym typeface="Helvetica Neue"/>
              </a:rPr>
              <a:t> computing</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Response time </a:t>
            </a:r>
            <a:r>
              <a:rPr b="0" i="0" lang="en-US" sz="1600" u="none" cap="none" strike="noStrike">
                <a:solidFill>
                  <a:schemeClr val="dk1"/>
                </a:solidFill>
                <a:latin typeface="Helvetica Neue"/>
                <a:ea typeface="Helvetica Neue"/>
                <a:cs typeface="Helvetica Neue"/>
                <a:sym typeface="Helvetica Neue"/>
              </a:rPr>
              <a:t>should be &lt; 1 second</a:t>
            </a:r>
            <a:endParaRPr/>
          </a:p>
          <a:p>
            <a:pPr indent="-285750" lvl="1" marL="742950" marR="0" rtl="0" algn="l">
              <a:lnSpc>
                <a:spcPct val="90000"/>
              </a:lnSpc>
              <a:spcBef>
                <a:spcPts val="63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Each user has at least one program executing in memory 🢡</a:t>
            </a:r>
            <a:r>
              <a:rPr b="1" i="0" lang="en-US" sz="1800" u="none" cap="none" strike="noStrike">
                <a:solidFill>
                  <a:srgbClr val="3366FF"/>
                </a:solidFill>
                <a:latin typeface="Helvetica Neue"/>
                <a:ea typeface="Helvetica Neue"/>
                <a:cs typeface="Helvetica Neue"/>
                <a:sym typeface="Helvetica Neue"/>
              </a:rPr>
              <a:t>process</a:t>
            </a:r>
            <a:endParaRPr/>
          </a:p>
          <a:p>
            <a:pPr indent="-285750" lvl="1" marL="742950" marR="0" rtl="0" algn="l">
              <a:lnSpc>
                <a:spcPct val="90000"/>
              </a:lnSpc>
              <a:spcBef>
                <a:spcPts val="63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If several jobs ready to run at the same time 🢡 </a:t>
            </a:r>
            <a:r>
              <a:rPr b="1" i="0" lang="en-US" sz="1800" u="none" cap="none" strike="noStrike">
                <a:solidFill>
                  <a:srgbClr val="3366FF"/>
                </a:solidFill>
                <a:latin typeface="Helvetica Neue"/>
                <a:ea typeface="Helvetica Neue"/>
                <a:cs typeface="Helvetica Neue"/>
                <a:sym typeface="Helvetica Neue"/>
              </a:rPr>
              <a:t>CPU scheduling</a:t>
            </a:r>
            <a:endParaRPr/>
          </a:p>
          <a:p>
            <a:pPr indent="-285750" lvl="1" marL="742950" marR="0" rtl="0" algn="l">
              <a:lnSpc>
                <a:spcPct val="90000"/>
              </a:lnSpc>
              <a:spcBef>
                <a:spcPts val="63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If processes don’t fit in memory, </a:t>
            </a:r>
            <a:r>
              <a:rPr b="1" i="0" lang="en-US" sz="1800" u="none" cap="none" strike="noStrike">
                <a:solidFill>
                  <a:srgbClr val="3366FF"/>
                </a:solidFill>
                <a:latin typeface="Helvetica Neue"/>
                <a:ea typeface="Helvetica Neue"/>
                <a:cs typeface="Helvetica Neue"/>
                <a:sym typeface="Helvetica Neue"/>
              </a:rPr>
              <a:t>swapping</a:t>
            </a:r>
            <a:r>
              <a:rPr b="0" i="0" lang="en-US" sz="1600" u="none" cap="none" strike="noStrike">
                <a:solidFill>
                  <a:schemeClr val="dk1"/>
                </a:solidFill>
                <a:latin typeface="Helvetica Neue"/>
                <a:ea typeface="Helvetica Neue"/>
                <a:cs typeface="Helvetica Neue"/>
                <a:sym typeface="Helvetica Neue"/>
              </a:rPr>
              <a:t> moves them in and out to run</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Virtual memory </a:t>
            </a:r>
            <a:r>
              <a:rPr b="0" i="0" lang="en-US" sz="1600" u="none" cap="none" strike="noStrike">
                <a:solidFill>
                  <a:schemeClr val="dk1"/>
                </a:solidFill>
                <a:latin typeface="Helvetica Neue"/>
                <a:ea typeface="Helvetica Neue"/>
                <a:cs typeface="Helvetica Neue"/>
                <a:sym typeface="Helvetica Neue"/>
              </a:rPr>
              <a:t>allows execution of processes not completely in memory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idx="4294967295" type="title"/>
          </p:nvPr>
        </p:nvSpPr>
        <p:spPr>
          <a:xfrm>
            <a:off x="1033462"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Memory Layout for Multiprogrammed System</a:t>
            </a:r>
            <a:endParaRPr/>
          </a:p>
        </p:txBody>
      </p:sp>
      <p:pic>
        <p:nvPicPr>
          <p:cNvPr id="256" name="Google Shape;256;p32"/>
          <p:cNvPicPr preferRelativeResize="0"/>
          <p:nvPr/>
        </p:nvPicPr>
        <p:blipFill rotWithShape="1">
          <a:blip r:embed="rId3">
            <a:alphaModFix/>
          </a:blip>
          <a:srcRect b="0" l="0" r="0" t="0"/>
          <a:stretch/>
        </p:blipFill>
        <p:spPr>
          <a:xfrm>
            <a:off x="3265487" y="1958975"/>
            <a:ext cx="2270125" cy="35893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4294967295" type="title"/>
          </p:nvPr>
        </p:nvSpPr>
        <p:spPr>
          <a:xfrm>
            <a:off x="1179512" y="198437"/>
            <a:ext cx="779145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Dual-mode and Multimode Operation</a:t>
            </a:r>
            <a:endParaRPr/>
          </a:p>
        </p:txBody>
      </p:sp>
      <p:sp>
        <p:nvSpPr>
          <p:cNvPr id="262" name="Google Shape;262;p33"/>
          <p:cNvSpPr txBox="1"/>
          <p:nvPr>
            <p:ph idx="4294967295" type="body"/>
          </p:nvPr>
        </p:nvSpPr>
        <p:spPr>
          <a:xfrm>
            <a:off x="806450" y="1233487"/>
            <a:ext cx="7297737" cy="49387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Dual-mode </a:t>
            </a:r>
            <a:r>
              <a:rPr b="0" i="0" lang="en-US" sz="1800" u="none">
                <a:solidFill>
                  <a:schemeClr val="dk1"/>
                </a:solidFill>
                <a:latin typeface="Helvetica Neue"/>
                <a:ea typeface="Helvetica Neue"/>
                <a:cs typeface="Helvetica Neue"/>
                <a:sym typeface="Helvetica Neue"/>
              </a:rPr>
              <a:t>operation allows OS to protect itself and other system components</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User mode </a:t>
            </a:r>
            <a:r>
              <a:rPr b="0" i="0" lang="en-US" sz="1800" u="none" cap="none" strike="noStrike">
                <a:solidFill>
                  <a:schemeClr val="dk1"/>
                </a:solidFill>
                <a:latin typeface="Helvetica Neue"/>
                <a:ea typeface="Helvetica Neue"/>
                <a:cs typeface="Helvetica Neue"/>
                <a:sym typeface="Helvetica Neue"/>
              </a:rPr>
              <a:t>and </a:t>
            </a:r>
            <a:r>
              <a:rPr b="1" i="0" lang="en-US" sz="1800" u="none" cap="none" strike="noStrike">
                <a:solidFill>
                  <a:srgbClr val="3366FF"/>
                </a:solidFill>
                <a:latin typeface="Helvetica Neue"/>
                <a:ea typeface="Helvetica Neue"/>
                <a:cs typeface="Helvetica Neue"/>
                <a:sym typeface="Helvetica Neue"/>
              </a:rPr>
              <a:t>kernel mode </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Mode bit </a:t>
            </a:r>
            <a:r>
              <a:rPr b="0" i="0" lang="en-US" sz="1800" u="none" cap="none" strike="noStrike">
                <a:solidFill>
                  <a:schemeClr val="dk1"/>
                </a:solidFill>
                <a:latin typeface="Helvetica Neue"/>
                <a:ea typeface="Helvetica Neue"/>
                <a:cs typeface="Helvetica Neue"/>
                <a:sym typeface="Helvetica Neue"/>
              </a:rPr>
              <a:t>provided by hardware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Provides ability to distinguish when system is running user code or kernel code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Some instructions designated as </a:t>
            </a:r>
            <a:r>
              <a:rPr b="1" i="0" lang="en-US" sz="1800" u="none" cap="none" strike="noStrike">
                <a:solidFill>
                  <a:srgbClr val="3366FF"/>
                </a:solidFill>
                <a:latin typeface="Helvetica Neue"/>
                <a:ea typeface="Helvetica Neue"/>
                <a:cs typeface="Helvetica Neue"/>
                <a:sym typeface="Helvetica Neue"/>
              </a:rPr>
              <a:t>privileged</a:t>
            </a:r>
            <a:r>
              <a:rPr b="0" i="0" lang="en-US" sz="1800" u="none" cap="none" strike="noStrike">
                <a:solidFill>
                  <a:schemeClr val="dk1"/>
                </a:solidFill>
                <a:latin typeface="Helvetica Neue"/>
                <a:ea typeface="Helvetica Neue"/>
                <a:cs typeface="Helvetica Neue"/>
                <a:sym typeface="Helvetica Neue"/>
              </a:rPr>
              <a:t>, only executable in kernel mode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System call changes mode to kernel, return from call resets it to user</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Increasingly CPUs support multi-mode operations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i.e. </a:t>
            </a:r>
            <a:r>
              <a:rPr b="1" i="0" lang="en-US" sz="1800" u="none" cap="none" strike="noStrike">
                <a:solidFill>
                  <a:srgbClr val="3366FF"/>
                </a:solidFill>
                <a:latin typeface="Helvetica Neue"/>
                <a:ea typeface="Helvetica Neue"/>
                <a:cs typeface="Helvetica Neue"/>
                <a:sym typeface="Helvetica Neue"/>
              </a:rPr>
              <a:t>virtual machine manager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VMM</a:t>
            </a:r>
            <a:r>
              <a:rPr b="0" i="0" lang="en-US" sz="1800" u="none" cap="none" strike="noStrike">
                <a:solidFill>
                  <a:schemeClr val="dk1"/>
                </a:solidFill>
                <a:latin typeface="Helvetica Neue"/>
                <a:ea typeface="Helvetica Neue"/>
                <a:cs typeface="Helvetica Neue"/>
                <a:sym typeface="Helvetica Neue"/>
              </a:rPr>
              <a:t>) mode for guest </a:t>
            </a:r>
            <a:r>
              <a:rPr b="1" i="0" lang="en-US" sz="1800" u="none" cap="none" strike="noStrike">
                <a:solidFill>
                  <a:srgbClr val="3366FF"/>
                </a:solidFill>
                <a:latin typeface="Helvetica Neue"/>
                <a:ea typeface="Helvetica Neue"/>
                <a:cs typeface="Helvetica Neue"/>
                <a:sym typeface="Helvetica Neue"/>
              </a:rPr>
              <a:t>VMs</a:t>
            </a:r>
            <a:endParaRPr/>
          </a:p>
          <a:p>
            <a:pPr indent="-240030" lvl="0" marL="342900" marR="0" rtl="0" algn="l">
              <a:spcBef>
                <a:spcPts val="630"/>
              </a:spcBef>
              <a:spcAft>
                <a:spcPts val="0"/>
              </a:spcAft>
              <a:buClr>
                <a:srgbClr val="993300"/>
              </a:buClr>
              <a:buSzPts val="1620"/>
              <a:buFont typeface="Arial"/>
              <a:buNone/>
            </a:pPr>
            <a:r>
              <a:t/>
            </a:r>
            <a:endParaRPr b="1" i="0" sz="1800" u="none" cap="none" strike="noStrike">
              <a:solidFill>
                <a:srgbClr val="3366FF"/>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idx="4294967295" type="title"/>
          </p:nvPr>
        </p:nvSpPr>
        <p:spPr>
          <a:xfrm>
            <a:off x="882650" y="136525"/>
            <a:ext cx="841533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Transition from User to Kernel Mode</a:t>
            </a:r>
            <a:endParaRPr/>
          </a:p>
        </p:txBody>
      </p:sp>
      <p:sp>
        <p:nvSpPr>
          <p:cNvPr id="268" name="Google Shape;268;p34"/>
          <p:cNvSpPr txBox="1"/>
          <p:nvPr>
            <p:ph idx="4294967295" type="body"/>
          </p:nvPr>
        </p:nvSpPr>
        <p:spPr>
          <a:xfrm>
            <a:off x="822325" y="1060450"/>
            <a:ext cx="7753350" cy="28178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Timer to prevent infinite loop / process hogging resources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Timer is set to interrupt the computer after some time period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Keep a counter that is decremented by the physical clock</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Operating system set the counter (privileged instruction)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counter zero generate an interrupt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Set up before scheduling process to regain control or terminate program that exceeds allotted time</a:t>
            </a:r>
            <a:endParaRPr/>
          </a:p>
        </p:txBody>
      </p:sp>
      <p:pic>
        <p:nvPicPr>
          <p:cNvPr id="269" name="Google Shape;269;p34"/>
          <p:cNvPicPr preferRelativeResize="0"/>
          <p:nvPr/>
        </p:nvPicPr>
        <p:blipFill rotWithShape="1">
          <a:blip r:embed="rId3">
            <a:alphaModFix/>
          </a:blip>
          <a:srcRect b="0" l="0" r="0" t="0"/>
          <a:stretch/>
        </p:blipFill>
        <p:spPr>
          <a:xfrm>
            <a:off x="1027112" y="3878262"/>
            <a:ext cx="7053262" cy="20939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5"/>
          <p:cNvSpPr txBox="1"/>
          <p:nvPr>
            <p:ph idx="4294967295" type="title"/>
          </p:nvPr>
        </p:nvSpPr>
        <p:spPr>
          <a:xfrm>
            <a:off x="1089025" y="198437"/>
            <a:ext cx="7597775"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Process Management</a:t>
            </a:r>
            <a:endParaRPr/>
          </a:p>
        </p:txBody>
      </p:sp>
      <p:sp>
        <p:nvSpPr>
          <p:cNvPr id="275" name="Google Shape;275;p35"/>
          <p:cNvSpPr txBox="1"/>
          <p:nvPr>
            <p:ph idx="4294967295" type="body"/>
          </p:nvPr>
        </p:nvSpPr>
        <p:spPr>
          <a:xfrm>
            <a:off x="890587" y="809625"/>
            <a:ext cx="7197725" cy="5105400"/>
          </a:xfrm>
          <a:prstGeom prst="rect">
            <a:avLst/>
          </a:prstGeom>
          <a:noFill/>
          <a:ln>
            <a:noFill/>
          </a:ln>
        </p:spPr>
        <p:txBody>
          <a:bodyPr anchorCtr="0" anchor="t" bIns="45700" lIns="91425" spcFirstLastPara="1" rIns="91425" wrap="square" tIns="45700">
            <a:noAutofit/>
          </a:bodyPr>
          <a:lstStyle/>
          <a:p>
            <a:pPr indent="-240030" lvl="0" marL="342900" marR="0" rtl="0" algn="l">
              <a:lnSpc>
                <a:spcPct val="90000"/>
              </a:lnSpc>
              <a:spcBef>
                <a:spcPts val="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 process is a program in execution. It is a unit of work within the system. Program is a </a:t>
            </a:r>
            <a:r>
              <a:rPr b="1" i="1" lang="en-US" sz="1800" u="none">
                <a:solidFill>
                  <a:schemeClr val="dk1"/>
                </a:solidFill>
                <a:latin typeface="Helvetica Neue"/>
                <a:ea typeface="Helvetica Neue"/>
                <a:cs typeface="Helvetica Neue"/>
                <a:sym typeface="Helvetica Neue"/>
              </a:rPr>
              <a:t>passive entity</a:t>
            </a:r>
            <a:r>
              <a:rPr b="0" i="0" lang="en-US" sz="1800" u="none">
                <a:solidFill>
                  <a:schemeClr val="dk1"/>
                </a:solidFill>
                <a:latin typeface="Helvetica Neue"/>
                <a:ea typeface="Helvetica Neue"/>
                <a:cs typeface="Helvetica Neue"/>
                <a:sym typeface="Helvetica Neue"/>
              </a:rPr>
              <a:t>, process is </a:t>
            </a:r>
            <a:r>
              <a:rPr b="0" i="0" lang="en-US" sz="1800" u="none">
                <a:solidFill>
                  <a:srgbClr val="000000"/>
                </a:solidFill>
                <a:latin typeface="Helvetica Neue"/>
                <a:ea typeface="Helvetica Neue"/>
                <a:cs typeface="Helvetica Neue"/>
                <a:sym typeface="Helvetica Neue"/>
              </a:rPr>
              <a:t>an </a:t>
            </a:r>
            <a:r>
              <a:rPr b="1" i="1" lang="en-US" sz="1800" u="none">
                <a:solidFill>
                  <a:srgbClr val="000000"/>
                </a:solidFill>
                <a:latin typeface="Helvetica Neue"/>
                <a:ea typeface="Helvetica Neue"/>
                <a:cs typeface="Helvetica Neue"/>
                <a:sym typeface="Helvetica Neue"/>
              </a:rPr>
              <a:t>active entity</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Process needs resources to accomplish its task</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CPU, memory, I/O, files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Initialization data</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Process termination requires reclaim of any reusable resources</a:t>
            </a:r>
            <a:endParaRPr/>
          </a:p>
          <a:p>
            <a:pPr indent="-342900" lvl="0" marL="342900" marR="0" rtl="0" algn="l">
              <a:lnSpc>
                <a:spcPct val="90000"/>
              </a:lnSpc>
              <a:spcBef>
                <a:spcPts val="70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Single-threaded process has one </a:t>
            </a:r>
            <a:r>
              <a:rPr b="1" i="0" lang="en-US" sz="1800" u="none">
                <a:solidFill>
                  <a:srgbClr val="3366FF"/>
                </a:solidFill>
                <a:latin typeface="Helvetica Neue"/>
                <a:ea typeface="Helvetica Neue"/>
                <a:cs typeface="Helvetica Neue"/>
                <a:sym typeface="Helvetica Neue"/>
              </a:rPr>
              <a:t>program counter</a:t>
            </a:r>
            <a:r>
              <a:rPr b="1" i="0" lang="en-US" sz="2000" u="none">
                <a:solidFill>
                  <a:srgbClr val="3366FF"/>
                </a:solidFill>
                <a:latin typeface="Helvetica Neue"/>
                <a:ea typeface="Helvetica Neue"/>
                <a:cs typeface="Helvetica Neue"/>
                <a:sym typeface="Helvetica Neue"/>
              </a:rPr>
              <a:t> </a:t>
            </a:r>
            <a:r>
              <a:rPr b="0" i="0" lang="en-US" sz="1800" u="none">
                <a:solidFill>
                  <a:schemeClr val="dk1"/>
                </a:solidFill>
                <a:latin typeface="Helvetica Neue"/>
                <a:ea typeface="Helvetica Neue"/>
                <a:cs typeface="Helvetica Neue"/>
                <a:sym typeface="Helvetica Neue"/>
              </a:rPr>
              <a:t>specifying location of next instruction to execute</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Process executes instructions sequentially, one at a time, until completion</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Multi-threaded process has one program counter per thread</a:t>
            </a:r>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Typically system has many processes, some user, some operating system running concurrently on one or more CPUs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Concurrency by multiplexing the CPUs among the processes / threads</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idx="4294967295" type="title"/>
          </p:nvPr>
        </p:nvSpPr>
        <p:spPr>
          <a:xfrm>
            <a:off x="1128712" y="152400"/>
            <a:ext cx="755808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Process Management Activities</a:t>
            </a:r>
            <a:endParaRPr/>
          </a:p>
        </p:txBody>
      </p:sp>
      <p:sp>
        <p:nvSpPr>
          <p:cNvPr id="281" name="Google Shape;281;p36"/>
          <p:cNvSpPr txBox="1"/>
          <p:nvPr>
            <p:ph idx="4294967295" type="body"/>
          </p:nvPr>
        </p:nvSpPr>
        <p:spPr>
          <a:xfrm>
            <a:off x="1125537" y="1587500"/>
            <a:ext cx="7958137" cy="40354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Creating and deleting both user and system processes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Suspending and resuming processes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Providing mechanisms for process synchronization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Providing mechanisms for process communication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Providing mechanisms for deadlock handling</a:t>
            </a:r>
            <a:endParaRPr/>
          </a:p>
        </p:txBody>
      </p:sp>
      <p:sp>
        <p:nvSpPr>
          <p:cNvPr id="282" name="Google Shape;282;p36"/>
          <p:cNvSpPr txBox="1"/>
          <p:nvPr/>
        </p:nvSpPr>
        <p:spPr>
          <a:xfrm>
            <a:off x="885825" y="1238250"/>
            <a:ext cx="7586662"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Helvetica Neue"/>
              <a:buNone/>
            </a:pPr>
            <a:r>
              <a:rPr b="0" i="0" lang="en-US" sz="1800" u="none">
                <a:solidFill>
                  <a:schemeClr val="dk1"/>
                </a:solidFill>
                <a:latin typeface="Helvetica Neue"/>
                <a:ea typeface="Helvetica Neue"/>
                <a:cs typeface="Helvetica Neue"/>
                <a:sym typeface="Helvetica Neue"/>
              </a:rPr>
              <a:t>The operating system is responsible for the following activities in connection with process management: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7"/>
          <p:cNvSpPr txBox="1"/>
          <p:nvPr>
            <p:ph idx="4294967295" type="title"/>
          </p:nvPr>
        </p:nvSpPr>
        <p:spPr>
          <a:xfrm>
            <a:off x="1090612" y="166687"/>
            <a:ext cx="759618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Memory Management</a:t>
            </a:r>
            <a:endParaRPr/>
          </a:p>
        </p:txBody>
      </p:sp>
      <p:sp>
        <p:nvSpPr>
          <p:cNvPr id="288" name="Google Shape;288;p37"/>
          <p:cNvSpPr txBox="1"/>
          <p:nvPr>
            <p:ph idx="4294967295" type="body"/>
          </p:nvPr>
        </p:nvSpPr>
        <p:spPr>
          <a:xfrm>
            <a:off x="806450" y="1233487"/>
            <a:ext cx="7107237"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To execute a program all (or part) of the instructions must be in memory</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All  (or part) of the data that is needed by the program must be in memory</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Memory management determines what is in memory and when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Optimizing CPU utilization and computer response to users</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Memory management activities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Keeping track of which parts of memory are currently being used and by whom</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Deciding which processes (or parts thereof) and data to move into and out of memory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Allocating and deallocating memory space as needed</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8"/>
          <p:cNvSpPr txBox="1"/>
          <p:nvPr>
            <p:ph idx="4294967295" type="title"/>
          </p:nvPr>
        </p:nvSpPr>
        <p:spPr>
          <a:xfrm>
            <a:off x="1128712" y="182562"/>
            <a:ext cx="755808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File-system Management</a:t>
            </a:r>
            <a:endParaRPr/>
          </a:p>
        </p:txBody>
      </p:sp>
      <p:sp>
        <p:nvSpPr>
          <p:cNvPr id="294" name="Google Shape;294;p38"/>
          <p:cNvSpPr txBox="1"/>
          <p:nvPr>
            <p:ph idx="4294967295" type="body"/>
          </p:nvPr>
        </p:nvSpPr>
        <p:spPr>
          <a:xfrm>
            <a:off x="920750" y="1104900"/>
            <a:ext cx="7434262" cy="4992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OS provides uniform, logical view of information storage</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Abstracts physical properties to logical storage unit  - </a:t>
            </a:r>
            <a:r>
              <a:rPr b="1" i="0" lang="en-US" sz="1800" u="none" cap="none" strike="noStrike">
                <a:solidFill>
                  <a:srgbClr val="3366FF"/>
                </a:solidFill>
                <a:latin typeface="Helvetica Neue"/>
                <a:ea typeface="Helvetica Neue"/>
                <a:cs typeface="Helvetica Neue"/>
                <a:sym typeface="Helvetica Neue"/>
              </a:rPr>
              <a:t>file</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Each medium is controlled by device (i.e., disk drive, tape drive)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Varying properties include access speed, capacity, data-transfer rate, access method (sequential or random)</a:t>
            </a:r>
            <a:endParaRPr/>
          </a:p>
          <a:p>
            <a:pPr indent="-190500" lvl="2" marL="1085850" marR="0" rtl="0" algn="l">
              <a:lnSpc>
                <a:spcPct val="90000"/>
              </a:lnSpc>
              <a:spcBef>
                <a:spcPts val="280"/>
              </a:spcBef>
              <a:spcAft>
                <a:spcPts val="0"/>
              </a:spcAft>
              <a:buClr>
                <a:srgbClr val="009900"/>
              </a:buClr>
              <a:buSzPts val="600"/>
              <a:buFont typeface="Arimo"/>
              <a:buNone/>
            </a:pPr>
            <a:r>
              <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File-System management</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Files usually organized into directories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Access control on most systems to determine who can access what</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OS activities include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Creating and deleting files and directories</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Primitives to manipulate files and directories</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Mapping files onto secondary storage</a:t>
            </a:r>
            <a:endParaRPr/>
          </a:p>
          <a:p>
            <a:pPr indent="-228600" lvl="2" marL="1085850" marR="0" rtl="0" algn="l">
              <a:lnSpc>
                <a:spcPct val="9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Backup files onto stable (non-volatile) storage media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idx="4294967295" type="title"/>
          </p:nvPr>
        </p:nvSpPr>
        <p:spPr>
          <a:xfrm>
            <a:off x="1331912" y="277812"/>
            <a:ext cx="735488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Mass-Storage Management</a:t>
            </a:r>
            <a:endParaRPr/>
          </a:p>
        </p:txBody>
      </p:sp>
      <p:sp>
        <p:nvSpPr>
          <p:cNvPr id="300" name="Google Shape;300;p39"/>
          <p:cNvSpPr txBox="1"/>
          <p:nvPr>
            <p:ph idx="4294967295" type="body"/>
          </p:nvPr>
        </p:nvSpPr>
        <p:spPr>
          <a:xfrm>
            <a:off x="528637" y="854075"/>
            <a:ext cx="7888287" cy="49387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Usually disks used to store data that does not fit in main memory or data that must be kept for a “long” period of time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Proper management is of central importance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Entire speed of computer operation hinges on disk subsystem and its algorithms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OS activities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Mounting and unmounting</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Free-space management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Storage allocation</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Disk scheduling</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Partitioning</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Protection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Some storage need not be fast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Tertiary storage includes optical storage, magnetic tape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Still must be managed – by OS or applications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0"/>
          <p:cNvSpPr txBox="1"/>
          <p:nvPr>
            <p:ph idx="4294967295"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Caching</a:t>
            </a:r>
            <a:endParaRPr/>
          </a:p>
        </p:txBody>
      </p:sp>
      <p:sp>
        <p:nvSpPr>
          <p:cNvPr id="306" name="Google Shape;306;p40"/>
          <p:cNvSpPr txBox="1"/>
          <p:nvPr>
            <p:ph idx="4294967295" type="body"/>
          </p:nvPr>
        </p:nvSpPr>
        <p:spPr>
          <a:xfrm>
            <a:off x="806450" y="1233487"/>
            <a:ext cx="6665912" cy="49101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Important principle, performed at many levels in a computer (in hardware, operating system, software)</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Information in use copied from slower to faster storage temporarily</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Faster storage (cache) checked first to determine if information is there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it is, information used directly from the cache (fast)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If not, data copied to cache and used there</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Cache smaller than storage being cached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Cache management important design problem</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Cache size and replacement policy</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1"/>
          <p:cNvSpPr txBox="1"/>
          <p:nvPr>
            <p:ph idx="4294967295" type="title"/>
          </p:nvPr>
        </p:nvSpPr>
        <p:spPr>
          <a:xfrm>
            <a:off x="833437" y="182562"/>
            <a:ext cx="8531225"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Characteristics of Various Types of Storage</a:t>
            </a:r>
            <a:endParaRPr/>
          </a:p>
        </p:txBody>
      </p:sp>
      <p:sp>
        <p:nvSpPr>
          <p:cNvPr id="312" name="Google Shape;312;p41"/>
          <p:cNvSpPr txBox="1"/>
          <p:nvPr>
            <p:ph idx="4294967295" type="body"/>
          </p:nvPr>
        </p:nvSpPr>
        <p:spPr>
          <a:xfrm>
            <a:off x="806450" y="1233487"/>
            <a:ext cx="7707312" cy="4521200"/>
          </a:xfrm>
          <a:prstGeom prst="rect">
            <a:avLst/>
          </a:prstGeom>
          <a:noFill/>
          <a:ln>
            <a:noFill/>
          </a:ln>
        </p:spPr>
        <p:txBody>
          <a:bodyPr anchorCtr="0" anchor="t" bIns="45700" lIns="91425" spcFirstLastPara="1" rIns="91425" wrap="square" tIns="45700">
            <a:noAutofit/>
          </a:bodyPr>
          <a:lstStyle/>
          <a:p>
            <a:pPr indent="-240030" lvl="0" marL="342900" marR="0" rtl="0" algn="l">
              <a:lnSpc>
                <a:spcPct val="100000"/>
              </a:lnSpc>
              <a:spcBef>
                <a:spcPts val="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Movement between levels of storage hierarchy can be explicit or implicit</a:t>
            </a:r>
            <a:endParaRPr/>
          </a:p>
        </p:txBody>
      </p:sp>
      <p:pic>
        <p:nvPicPr>
          <p:cNvPr id="313" name="Google Shape;313;p41"/>
          <p:cNvPicPr preferRelativeResize="0"/>
          <p:nvPr/>
        </p:nvPicPr>
        <p:blipFill rotWithShape="1">
          <a:blip r:embed="rId3">
            <a:alphaModFix/>
          </a:blip>
          <a:srcRect b="0" l="0" r="0" t="0"/>
          <a:stretch/>
        </p:blipFill>
        <p:spPr>
          <a:xfrm>
            <a:off x="525462" y="1139825"/>
            <a:ext cx="8054975" cy="33813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2"/>
          <p:cNvSpPr txBox="1"/>
          <p:nvPr>
            <p:ph idx="4294967295" type="title"/>
          </p:nvPr>
        </p:nvSpPr>
        <p:spPr>
          <a:xfrm>
            <a:off x="1135062" y="136525"/>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Migration of data “A” from Disk to Register</a:t>
            </a:r>
            <a:endParaRPr/>
          </a:p>
        </p:txBody>
      </p:sp>
      <p:sp>
        <p:nvSpPr>
          <p:cNvPr id="319" name="Google Shape;319;p42"/>
          <p:cNvSpPr txBox="1"/>
          <p:nvPr>
            <p:ph idx="4294967295" type="body"/>
          </p:nvPr>
        </p:nvSpPr>
        <p:spPr>
          <a:xfrm>
            <a:off x="806450" y="1233487"/>
            <a:ext cx="739140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Multitasking environments must be careful to use most recent value, no matter where it is stored in the storage hierarchy</a:t>
            </a: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Multiprocessor environment must provide </a:t>
            </a:r>
            <a:r>
              <a:rPr b="1" i="0" lang="en-US" sz="1800" u="none">
                <a:solidFill>
                  <a:srgbClr val="3366FF"/>
                </a:solidFill>
                <a:latin typeface="Helvetica Neue"/>
                <a:ea typeface="Helvetica Neue"/>
                <a:cs typeface="Helvetica Neue"/>
                <a:sym typeface="Helvetica Neue"/>
              </a:rPr>
              <a:t>cache coherency </a:t>
            </a:r>
            <a:r>
              <a:rPr b="0" i="0" lang="en-US" sz="1800" u="none">
                <a:solidFill>
                  <a:schemeClr val="dk1"/>
                </a:solidFill>
                <a:latin typeface="Helvetica Neue"/>
                <a:ea typeface="Helvetica Neue"/>
                <a:cs typeface="Helvetica Neue"/>
                <a:sym typeface="Helvetica Neue"/>
              </a:rPr>
              <a:t>in hardware such that all CPUs have the most recent value in their cache</a:t>
            </a:r>
            <a:endParaRPr b="0" i="0" sz="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Distributed environment situation even more complex</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Several copies of a datum can exist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Various solutions covered in Chapter 19</a:t>
            </a:r>
            <a:endParaRPr/>
          </a:p>
        </p:txBody>
      </p:sp>
      <p:pic>
        <p:nvPicPr>
          <p:cNvPr id="320" name="Google Shape;320;p42"/>
          <p:cNvPicPr preferRelativeResize="0"/>
          <p:nvPr/>
        </p:nvPicPr>
        <p:blipFill rotWithShape="1">
          <a:blip r:embed="rId3">
            <a:alphaModFix/>
          </a:blip>
          <a:srcRect b="0" l="0" r="0" t="0"/>
          <a:stretch/>
        </p:blipFill>
        <p:spPr>
          <a:xfrm>
            <a:off x="806450" y="2154237"/>
            <a:ext cx="7805737" cy="95726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3"/>
          <p:cNvSpPr txBox="1"/>
          <p:nvPr>
            <p:ph idx="4294967295" type="title"/>
          </p:nvPr>
        </p:nvSpPr>
        <p:spPr>
          <a:xfrm>
            <a:off x="457200" y="214312"/>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I/O Subsystem</a:t>
            </a:r>
            <a:endParaRPr/>
          </a:p>
        </p:txBody>
      </p:sp>
      <p:sp>
        <p:nvSpPr>
          <p:cNvPr id="326" name="Google Shape;326;p43"/>
          <p:cNvSpPr txBox="1"/>
          <p:nvPr>
            <p:ph idx="4294967295" type="body"/>
          </p:nvPr>
        </p:nvSpPr>
        <p:spPr>
          <a:xfrm>
            <a:off x="822325" y="1169987"/>
            <a:ext cx="7265987"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One purpose of OS is to hide peculiarities of hardware devices from the user</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I/O subsystem responsible for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Memory management of I/O including buffering (storing data temporarily while it is being transferred), caching (storing parts of data in faster storage for performance), spooling (the overlapping of output of one job with input of other jobs)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General device-driver interface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Drivers for specific hardware devices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4"/>
          <p:cNvSpPr txBox="1"/>
          <p:nvPr>
            <p:ph idx="4294967295" type="title"/>
          </p:nvPr>
        </p:nvSpPr>
        <p:spPr>
          <a:xfrm>
            <a:off x="1022350" y="182562"/>
            <a:ext cx="766445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Protection and Security</a:t>
            </a:r>
            <a:endParaRPr/>
          </a:p>
        </p:txBody>
      </p:sp>
      <p:sp>
        <p:nvSpPr>
          <p:cNvPr id="332" name="Google Shape;332;p44"/>
          <p:cNvSpPr txBox="1"/>
          <p:nvPr>
            <p:ph idx="4294967295" type="body"/>
          </p:nvPr>
        </p:nvSpPr>
        <p:spPr>
          <a:xfrm>
            <a:off x="806450" y="1233487"/>
            <a:ext cx="7648575" cy="51831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Protection </a:t>
            </a:r>
            <a:r>
              <a:rPr b="0" i="0" lang="en-US" sz="1800" u="none">
                <a:solidFill>
                  <a:schemeClr val="dk1"/>
                </a:solidFill>
                <a:latin typeface="Helvetica Neue"/>
                <a:ea typeface="Helvetica Neue"/>
                <a:cs typeface="Helvetica Neue"/>
                <a:sym typeface="Helvetica Neue"/>
              </a:rPr>
              <a:t>– any mechanism for controlling access of processes or users to resources defined by the OS</a:t>
            </a:r>
            <a:endParaRPr b="0" i="0" sz="800" u="non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Security </a:t>
            </a:r>
            <a:r>
              <a:rPr b="0" i="0" lang="en-US" sz="1800" u="none">
                <a:solidFill>
                  <a:schemeClr val="dk1"/>
                </a:solidFill>
                <a:latin typeface="Helvetica Neue"/>
                <a:ea typeface="Helvetica Neue"/>
                <a:cs typeface="Helvetica Neue"/>
                <a:sym typeface="Helvetica Neue"/>
              </a:rPr>
              <a:t>– defense of the system against internal and external attacks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Huge range, including denial-of-service, worms, viruses, identity theft, theft of service</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9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Systems generally first distinguish among users, to determine who can do what</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User identities (</a:t>
            </a:r>
            <a:r>
              <a:rPr b="1" i="0" lang="en-US" sz="1800" u="none" cap="none" strike="noStrike">
                <a:solidFill>
                  <a:srgbClr val="3366FF"/>
                </a:solidFill>
                <a:latin typeface="Helvetica Neue"/>
                <a:ea typeface="Helvetica Neue"/>
                <a:cs typeface="Helvetica Neue"/>
                <a:sym typeface="Helvetica Neue"/>
              </a:rPr>
              <a:t>user IDs</a:t>
            </a:r>
            <a:r>
              <a:rPr b="0" i="0" lang="en-US" sz="1800" u="none" cap="none" strike="noStrike">
                <a:solidFill>
                  <a:schemeClr val="dk1"/>
                </a:solidFill>
                <a:latin typeface="Helvetica Neue"/>
                <a:ea typeface="Helvetica Neue"/>
                <a:cs typeface="Helvetica Neue"/>
                <a:sym typeface="Helvetica Neue"/>
              </a:rPr>
              <a:t>, security IDs) include name and associated number, one per user</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User ID then associated with all files, processes of that user to determine access control</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Group identifier (</a:t>
            </a:r>
            <a:r>
              <a:rPr b="1" i="0" lang="en-US" sz="1800" u="none" cap="none" strike="noStrike">
                <a:solidFill>
                  <a:srgbClr val="3366FF"/>
                </a:solidFill>
                <a:latin typeface="Helvetica Neue"/>
                <a:ea typeface="Helvetica Neue"/>
                <a:cs typeface="Helvetica Neue"/>
                <a:sym typeface="Helvetica Neue"/>
              </a:rPr>
              <a:t>group ID</a:t>
            </a:r>
            <a:r>
              <a:rPr b="0" i="0" lang="en-US" sz="1800" u="none" cap="none" strike="noStrike">
                <a:solidFill>
                  <a:schemeClr val="dk1"/>
                </a:solidFill>
                <a:latin typeface="Helvetica Neue"/>
                <a:ea typeface="Helvetica Neue"/>
                <a:cs typeface="Helvetica Neue"/>
                <a:sym typeface="Helvetica Neue"/>
              </a:rPr>
              <a:t>) allows set of users to be defined and controls managed, then also associated with each process, file</a:t>
            </a:r>
            <a:endParaRPr/>
          </a:p>
          <a:p>
            <a:pPr indent="-285750" lvl="1" marL="742950" marR="0" rtl="0" algn="l">
              <a:lnSpc>
                <a:spcPct val="9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Privilege escalation </a:t>
            </a:r>
            <a:r>
              <a:rPr b="0" i="0" lang="en-US" sz="1800" u="none" cap="none" strike="noStrike">
                <a:solidFill>
                  <a:schemeClr val="dk1"/>
                </a:solidFill>
                <a:latin typeface="Helvetica Neue"/>
                <a:ea typeface="Helvetica Neue"/>
                <a:cs typeface="Helvetica Neue"/>
                <a:sym typeface="Helvetica Neue"/>
              </a:rPr>
              <a:t>allows user to change to effective ID with more rights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txBox="1"/>
          <p:nvPr>
            <p:ph idx="4294967295" type="title"/>
          </p:nvPr>
        </p:nvSpPr>
        <p:spPr>
          <a:xfrm>
            <a:off x="1268412" y="166687"/>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Virtualization</a:t>
            </a:r>
            <a:endParaRPr/>
          </a:p>
        </p:txBody>
      </p:sp>
      <p:sp>
        <p:nvSpPr>
          <p:cNvPr id="338" name="Google Shape;338;p45"/>
          <p:cNvSpPr txBox="1"/>
          <p:nvPr>
            <p:ph idx="4294967295" type="body"/>
          </p:nvPr>
        </p:nvSpPr>
        <p:spPr>
          <a:xfrm>
            <a:off x="806450" y="1233487"/>
            <a:ext cx="691832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Allows operating systems to run applications within other OSes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Vast and growing industry</a:t>
            </a:r>
            <a:endParaRPr b="0" i="0" sz="800" u="none" cap="none" strike="noStrik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Emulation</a:t>
            </a:r>
            <a:r>
              <a:rPr b="0" i="0" lang="en-US" sz="1800" u="none">
                <a:solidFill>
                  <a:schemeClr val="dk1"/>
                </a:solidFill>
                <a:latin typeface="Helvetica Neue"/>
                <a:ea typeface="Helvetica Neue"/>
                <a:cs typeface="Helvetica Neue"/>
                <a:sym typeface="Helvetica Neue"/>
              </a:rPr>
              <a:t> used when source CPU type different from target type (i.e. PowerPC to Intel x86)</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Generally slowest method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When computer language not compiled to native code – </a:t>
            </a:r>
            <a:r>
              <a:rPr b="1" i="0" lang="en-US" sz="1800" u="none" cap="none" strike="noStrike">
                <a:solidFill>
                  <a:srgbClr val="3366FF"/>
                </a:solidFill>
                <a:latin typeface="Helvetica Neue"/>
                <a:ea typeface="Helvetica Neue"/>
                <a:cs typeface="Helvetica Neue"/>
                <a:sym typeface="Helvetica Neue"/>
              </a:rPr>
              <a:t>Interpretation</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Virtualization</a:t>
            </a:r>
            <a:r>
              <a:rPr b="0" i="0" lang="en-US" sz="1800" u="none">
                <a:solidFill>
                  <a:schemeClr val="dk1"/>
                </a:solidFill>
                <a:latin typeface="Helvetica Neue"/>
                <a:ea typeface="Helvetica Neue"/>
                <a:cs typeface="Helvetica Neue"/>
                <a:sym typeface="Helvetica Neue"/>
              </a:rPr>
              <a:t> – OS natively compiled for CPU, running </a:t>
            </a:r>
            <a:r>
              <a:rPr b="1" i="0" lang="en-US" sz="1800" u="none">
                <a:solidFill>
                  <a:srgbClr val="3366FF"/>
                </a:solidFill>
                <a:latin typeface="Helvetica Neue"/>
                <a:ea typeface="Helvetica Neue"/>
                <a:cs typeface="Helvetica Neue"/>
                <a:sym typeface="Helvetica Neue"/>
              </a:rPr>
              <a:t>guest</a:t>
            </a:r>
            <a:r>
              <a:rPr b="0" i="0" lang="en-US" sz="1800" u="none">
                <a:solidFill>
                  <a:schemeClr val="dk1"/>
                </a:solidFill>
                <a:latin typeface="Helvetica Neue"/>
                <a:ea typeface="Helvetica Neue"/>
                <a:cs typeface="Helvetica Neue"/>
                <a:sym typeface="Helvetica Neue"/>
              </a:rPr>
              <a:t> OSes  also natively compiled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Consider VMware running WinXP guests, each running applications, all on native WinXP </a:t>
            </a:r>
            <a:r>
              <a:rPr b="1" i="0" lang="en-US" sz="1800" u="none" cap="none" strike="noStrike">
                <a:solidFill>
                  <a:srgbClr val="3366FF"/>
                </a:solidFill>
                <a:latin typeface="Helvetica Neue"/>
                <a:ea typeface="Helvetica Neue"/>
                <a:cs typeface="Helvetica Neue"/>
                <a:sym typeface="Helvetica Neue"/>
              </a:rPr>
              <a:t>host</a:t>
            </a:r>
            <a:r>
              <a:rPr b="0" i="0" lang="en-US" sz="1800" u="none" cap="none" strike="noStrike">
                <a:solidFill>
                  <a:schemeClr val="dk1"/>
                </a:solidFill>
                <a:latin typeface="Helvetica Neue"/>
                <a:ea typeface="Helvetica Neue"/>
                <a:cs typeface="Helvetica Neue"/>
                <a:sym typeface="Helvetica Neue"/>
              </a:rPr>
              <a:t> OS</a:t>
            </a:r>
            <a:endParaRPr/>
          </a:p>
          <a:p>
            <a:pPr indent="-285750" lvl="1" marL="742950" marR="0" rtl="0" algn="l">
              <a:lnSpc>
                <a:spcPct val="10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VMM</a:t>
            </a:r>
            <a:r>
              <a:rPr b="0" i="0" lang="en-US" sz="1800" u="none" cap="none" strike="noStrike">
                <a:solidFill>
                  <a:schemeClr val="dk1"/>
                </a:solidFill>
                <a:latin typeface="Helvetica Neue"/>
                <a:ea typeface="Helvetica Neue"/>
                <a:cs typeface="Helvetica Neue"/>
                <a:sym typeface="Helvetica Neue"/>
              </a:rPr>
              <a:t> (virtual machine Manager) provides virtualization services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idx="4294967295" type="title"/>
          </p:nvPr>
        </p:nvSpPr>
        <p:spPr>
          <a:xfrm>
            <a:off x="1117600" y="150812"/>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Virtualization (cont.)</a:t>
            </a:r>
            <a:endParaRPr/>
          </a:p>
        </p:txBody>
      </p:sp>
      <p:sp>
        <p:nvSpPr>
          <p:cNvPr id="344" name="Google Shape;344;p46"/>
          <p:cNvSpPr txBox="1"/>
          <p:nvPr>
            <p:ph idx="4294967295" type="body"/>
          </p:nvPr>
        </p:nvSpPr>
        <p:spPr>
          <a:xfrm>
            <a:off x="806450" y="1233487"/>
            <a:ext cx="706120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Use cases involve laptops and desktops running multiple OSes for exploration or compatibility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Apple laptop running Mac OS X host, Windows as a guest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Developing apps for multiple OSes without having multiple systems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QA testing applications without having multiple systems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Executing and managing compute environments within data centers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VMM can run natively, in which case they are also the host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There is no general purpose host then (VMware ESX and Citrix XenServer)</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idx="4294967295" type="title"/>
          </p:nvPr>
        </p:nvSpPr>
        <p:spPr>
          <a:xfrm>
            <a:off x="1120775" y="136525"/>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Computing Environments - Virtualization</a:t>
            </a:r>
            <a:endParaRPr/>
          </a:p>
        </p:txBody>
      </p:sp>
      <p:pic>
        <p:nvPicPr>
          <p:cNvPr descr="1_20.pdf" id="350" name="Google Shape;350;p47"/>
          <p:cNvPicPr preferRelativeResize="0"/>
          <p:nvPr/>
        </p:nvPicPr>
        <p:blipFill rotWithShape="1">
          <a:blip r:embed="rId3">
            <a:alphaModFix/>
          </a:blip>
          <a:srcRect b="0" l="0" r="0" t="0"/>
          <a:stretch/>
        </p:blipFill>
        <p:spPr>
          <a:xfrm>
            <a:off x="1408112" y="1554162"/>
            <a:ext cx="6396037" cy="433863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4294967295" type="title"/>
          </p:nvPr>
        </p:nvSpPr>
        <p:spPr>
          <a:xfrm>
            <a:off x="912812" y="152400"/>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Distributed Systems</a:t>
            </a:r>
            <a:endParaRPr/>
          </a:p>
        </p:txBody>
      </p:sp>
      <p:sp>
        <p:nvSpPr>
          <p:cNvPr id="356" name="Google Shape;356;p48"/>
          <p:cNvSpPr txBox="1"/>
          <p:nvPr>
            <p:ph idx="4294967295" type="body"/>
          </p:nvPr>
        </p:nvSpPr>
        <p:spPr>
          <a:xfrm>
            <a:off x="838200" y="1092200"/>
            <a:ext cx="7313612"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Distributed computiing</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Collection of separate, possibly heterogeneous, systems networked together</a:t>
            </a:r>
            <a:endParaRPr/>
          </a:p>
          <a:p>
            <a:pPr indent="-228600" lvl="2" marL="1085850" marR="0" rtl="0" algn="l">
              <a:lnSpc>
                <a:spcPct val="100000"/>
              </a:lnSpc>
              <a:spcBef>
                <a:spcPts val="630"/>
              </a:spcBef>
              <a:spcAft>
                <a:spcPts val="0"/>
              </a:spcAft>
              <a:buClr>
                <a:srgbClr val="009900"/>
              </a:buClr>
              <a:buSzPts val="1350"/>
              <a:buFont typeface="Arimo"/>
              <a:buChar char="4"/>
            </a:pPr>
            <a:r>
              <a:rPr b="1" i="0" lang="en-US" sz="1800" u="none" cap="none" strike="noStrike">
                <a:solidFill>
                  <a:srgbClr val="3366FF"/>
                </a:solidFill>
                <a:latin typeface="Helvetica Neue"/>
                <a:ea typeface="Helvetica Neue"/>
                <a:cs typeface="Helvetica Neue"/>
                <a:sym typeface="Helvetica Neue"/>
              </a:rPr>
              <a:t>Network</a:t>
            </a:r>
            <a:r>
              <a:rPr b="0" i="0" lang="en-US" sz="1800" u="none" cap="none" strike="noStrike">
                <a:solidFill>
                  <a:schemeClr val="dk1"/>
                </a:solidFill>
                <a:latin typeface="Helvetica Neue"/>
                <a:ea typeface="Helvetica Neue"/>
                <a:cs typeface="Helvetica Neue"/>
                <a:sym typeface="Helvetica Neue"/>
              </a:rPr>
              <a:t> is a communications path, </a:t>
            </a:r>
            <a:r>
              <a:rPr b="1" i="0" lang="en-US" sz="1800" u="none" cap="none" strike="noStrike">
                <a:solidFill>
                  <a:srgbClr val="3366FF"/>
                </a:solidFill>
                <a:latin typeface="Helvetica Neue"/>
                <a:ea typeface="Helvetica Neue"/>
                <a:cs typeface="Helvetica Neue"/>
                <a:sym typeface="Helvetica Neue"/>
              </a:rPr>
              <a:t>TCP/IP </a:t>
            </a:r>
            <a:r>
              <a:rPr b="0" i="0" lang="en-US" sz="1800" u="none" cap="none" strike="noStrike">
                <a:solidFill>
                  <a:schemeClr val="dk1"/>
                </a:solidFill>
                <a:latin typeface="Helvetica Neue"/>
                <a:ea typeface="Helvetica Neue"/>
                <a:cs typeface="Helvetica Neue"/>
                <a:sym typeface="Helvetica Neue"/>
              </a:rPr>
              <a:t>most common</a:t>
            </a:r>
            <a:endParaRPr/>
          </a:p>
          <a:p>
            <a:pPr indent="-228600" lvl="3" marL="1428750" marR="0" rtl="0" algn="l">
              <a:lnSpc>
                <a:spcPct val="100000"/>
              </a:lnSpc>
              <a:spcBef>
                <a:spcPts val="630"/>
              </a:spcBef>
              <a:spcAft>
                <a:spcPts val="0"/>
              </a:spcAft>
              <a:buClr>
                <a:schemeClr val="hlink"/>
              </a:buClr>
              <a:buSzPts val="1350"/>
              <a:buFont typeface="Helvetica Neue"/>
              <a:buChar char="–"/>
            </a:pPr>
            <a:r>
              <a:rPr b="1" i="0" lang="en-US" sz="1800" u="none" cap="none" strike="noStrike">
                <a:solidFill>
                  <a:srgbClr val="3366FF"/>
                </a:solidFill>
                <a:latin typeface="Helvetica Neue"/>
                <a:ea typeface="Helvetica Neue"/>
                <a:cs typeface="Helvetica Neue"/>
                <a:sym typeface="Helvetica Neue"/>
              </a:rPr>
              <a:t>Local Area Network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LAN</a:t>
            </a:r>
            <a:r>
              <a:rPr b="0" i="0" lang="en-US" sz="1800" u="none" cap="none" strike="noStrike">
                <a:solidFill>
                  <a:schemeClr val="dk1"/>
                </a:solidFill>
                <a:latin typeface="Helvetica Neue"/>
                <a:ea typeface="Helvetica Neue"/>
                <a:cs typeface="Helvetica Neue"/>
                <a:sym typeface="Helvetica Neue"/>
              </a:rPr>
              <a:t>)</a:t>
            </a:r>
            <a:endParaRPr/>
          </a:p>
          <a:p>
            <a:pPr indent="-228600" lvl="3" marL="1428750" marR="0" rtl="0" algn="l">
              <a:lnSpc>
                <a:spcPct val="100000"/>
              </a:lnSpc>
              <a:spcBef>
                <a:spcPts val="630"/>
              </a:spcBef>
              <a:spcAft>
                <a:spcPts val="0"/>
              </a:spcAft>
              <a:buClr>
                <a:schemeClr val="hlink"/>
              </a:buClr>
              <a:buSzPts val="1350"/>
              <a:buFont typeface="Helvetica Neue"/>
              <a:buChar char="–"/>
            </a:pPr>
            <a:r>
              <a:rPr b="1" i="0" lang="en-US" sz="1800" u="none" cap="none" strike="noStrike">
                <a:solidFill>
                  <a:srgbClr val="3366FF"/>
                </a:solidFill>
                <a:latin typeface="Helvetica Neue"/>
                <a:ea typeface="Helvetica Neue"/>
                <a:cs typeface="Helvetica Neue"/>
                <a:sym typeface="Helvetica Neue"/>
              </a:rPr>
              <a:t>Wide Area Network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WAN</a:t>
            </a:r>
            <a:r>
              <a:rPr b="0" i="0" lang="en-US" sz="1800" u="none" cap="none" strike="noStrike">
                <a:solidFill>
                  <a:schemeClr val="dk1"/>
                </a:solidFill>
                <a:latin typeface="Helvetica Neue"/>
                <a:ea typeface="Helvetica Neue"/>
                <a:cs typeface="Helvetica Neue"/>
                <a:sym typeface="Helvetica Neue"/>
              </a:rPr>
              <a:t>)</a:t>
            </a:r>
            <a:endParaRPr/>
          </a:p>
          <a:p>
            <a:pPr indent="-228600" lvl="3" marL="1428750" marR="0" rtl="0" algn="l">
              <a:lnSpc>
                <a:spcPct val="100000"/>
              </a:lnSpc>
              <a:spcBef>
                <a:spcPts val="630"/>
              </a:spcBef>
              <a:spcAft>
                <a:spcPts val="0"/>
              </a:spcAft>
              <a:buClr>
                <a:schemeClr val="hlink"/>
              </a:buClr>
              <a:buSzPts val="1350"/>
              <a:buFont typeface="Helvetica Neue"/>
              <a:buChar char="–"/>
            </a:pPr>
            <a:r>
              <a:rPr b="1" i="0" lang="en-US" sz="1800" u="none" cap="none" strike="noStrike">
                <a:solidFill>
                  <a:srgbClr val="3366FF"/>
                </a:solidFill>
                <a:latin typeface="Helvetica Neue"/>
                <a:ea typeface="Helvetica Neue"/>
                <a:cs typeface="Helvetica Neue"/>
                <a:sym typeface="Helvetica Neue"/>
              </a:rPr>
              <a:t>Metropolitan Area Network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MAN</a:t>
            </a:r>
            <a:r>
              <a:rPr b="0" i="0" lang="en-US" sz="1800" u="none" cap="none" strike="noStrike">
                <a:solidFill>
                  <a:schemeClr val="dk1"/>
                </a:solidFill>
                <a:latin typeface="Helvetica Neue"/>
                <a:ea typeface="Helvetica Neue"/>
                <a:cs typeface="Helvetica Neue"/>
                <a:sym typeface="Helvetica Neue"/>
              </a:rPr>
              <a:t>)</a:t>
            </a:r>
            <a:endParaRPr/>
          </a:p>
          <a:p>
            <a:pPr indent="-228600" lvl="3" marL="1428750" marR="0" rtl="0" algn="l">
              <a:lnSpc>
                <a:spcPct val="100000"/>
              </a:lnSpc>
              <a:spcBef>
                <a:spcPts val="630"/>
              </a:spcBef>
              <a:spcAft>
                <a:spcPts val="0"/>
              </a:spcAft>
              <a:buClr>
                <a:schemeClr val="hlink"/>
              </a:buClr>
              <a:buSzPts val="1350"/>
              <a:buFont typeface="Helvetica Neue"/>
              <a:buChar char="–"/>
            </a:pPr>
            <a:r>
              <a:rPr b="1" i="0" lang="en-US" sz="1800" u="none" cap="none" strike="noStrike">
                <a:solidFill>
                  <a:srgbClr val="3366FF"/>
                </a:solidFill>
                <a:latin typeface="Helvetica Neue"/>
                <a:ea typeface="Helvetica Neue"/>
                <a:cs typeface="Helvetica Neue"/>
                <a:sym typeface="Helvetica Neue"/>
              </a:rPr>
              <a:t>Personal Area Network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PAN</a:t>
            </a:r>
            <a:r>
              <a:rPr b="0" i="0" lang="en-US" sz="1800" u="none" cap="none" strike="noStrike">
                <a:solidFill>
                  <a:schemeClr val="dk1"/>
                </a:solidFill>
                <a:latin typeface="Helvetica Neue"/>
                <a:ea typeface="Helvetica Neue"/>
                <a:cs typeface="Helvetica Neue"/>
                <a:sym typeface="Helvetica Neue"/>
              </a:rPr>
              <a:t>)</a:t>
            </a:r>
            <a:endParaRPr/>
          </a:p>
          <a:p>
            <a:pPr indent="-285750" lvl="1" marL="742950" marR="0" rtl="0" algn="l">
              <a:lnSpc>
                <a:spcPct val="10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Network Operating System </a:t>
            </a:r>
            <a:r>
              <a:rPr b="0" i="0" lang="en-US" sz="1800" u="none" cap="none" strike="noStrike">
                <a:solidFill>
                  <a:schemeClr val="dk1"/>
                </a:solidFill>
                <a:latin typeface="Helvetica Neue"/>
                <a:ea typeface="Helvetica Neue"/>
                <a:cs typeface="Helvetica Neue"/>
                <a:sym typeface="Helvetica Neue"/>
              </a:rPr>
              <a:t>provides features between systems across network</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Communication scheme allows systems to exchange messages</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Illusion of a single system</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9"/>
          <p:cNvSpPr txBox="1"/>
          <p:nvPr>
            <p:ph type="title"/>
          </p:nvPr>
        </p:nvSpPr>
        <p:spPr>
          <a:xfrm>
            <a:off x="457200" y="182562"/>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Kernel Data Structures</a:t>
            </a:r>
            <a:endParaRPr/>
          </a:p>
        </p:txBody>
      </p:sp>
      <p:sp>
        <p:nvSpPr>
          <p:cNvPr id="362" name="Google Shape;362;p49"/>
          <p:cNvSpPr txBox="1"/>
          <p:nvPr>
            <p:ph idx="1" type="body"/>
          </p:nvPr>
        </p:nvSpPr>
        <p:spPr>
          <a:xfrm>
            <a:off x="806450" y="1233487"/>
            <a:ext cx="822960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Many similar to standard programming data structures</a:t>
            </a:r>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chemeClr val="dk1"/>
                </a:solidFill>
                <a:latin typeface="Helvetica Neue"/>
                <a:ea typeface="Helvetica Neue"/>
                <a:cs typeface="Helvetica Neue"/>
                <a:sym typeface="Helvetica Neue"/>
              </a:rPr>
              <a:t>Singly linked list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chemeClr val="dk1"/>
                </a:solidFill>
                <a:latin typeface="Helvetica Neue"/>
                <a:ea typeface="Helvetica Neue"/>
                <a:cs typeface="Helvetica Neue"/>
                <a:sym typeface="Helvetica Neue"/>
              </a:rPr>
              <a:t>Doubly linked list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1" lang="en-US" sz="1800" u="none">
                <a:solidFill>
                  <a:schemeClr val="dk1"/>
                </a:solidFill>
                <a:latin typeface="Helvetica Neue"/>
                <a:ea typeface="Helvetica Neue"/>
                <a:cs typeface="Helvetica Neue"/>
                <a:sym typeface="Helvetica Neue"/>
              </a:rPr>
              <a:t>Circular linked list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240030" lvl="0" marL="342900" marR="0" rtl="0" algn="l">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p:txBody>
      </p:sp>
      <p:pic>
        <p:nvPicPr>
          <p:cNvPr descr="1_13.pdf" id="363" name="Google Shape;363;p49"/>
          <p:cNvPicPr preferRelativeResize="0"/>
          <p:nvPr/>
        </p:nvPicPr>
        <p:blipFill rotWithShape="1">
          <a:blip r:embed="rId3">
            <a:alphaModFix/>
          </a:blip>
          <a:srcRect b="0" l="0" r="0" t="0"/>
          <a:stretch/>
        </p:blipFill>
        <p:spPr>
          <a:xfrm>
            <a:off x="1327150" y="2068512"/>
            <a:ext cx="6932612" cy="779462"/>
          </a:xfrm>
          <a:prstGeom prst="rect">
            <a:avLst/>
          </a:prstGeom>
          <a:noFill/>
          <a:ln>
            <a:noFill/>
          </a:ln>
        </p:spPr>
      </p:pic>
      <p:pic>
        <p:nvPicPr>
          <p:cNvPr descr="1_14.pdf" id="364" name="Google Shape;364;p49"/>
          <p:cNvPicPr preferRelativeResize="0"/>
          <p:nvPr/>
        </p:nvPicPr>
        <p:blipFill rotWithShape="1">
          <a:blip r:embed="rId4">
            <a:alphaModFix/>
          </a:blip>
          <a:srcRect b="0" l="0" r="0" t="0"/>
          <a:stretch/>
        </p:blipFill>
        <p:spPr>
          <a:xfrm>
            <a:off x="1287462" y="3632200"/>
            <a:ext cx="7026275" cy="949325"/>
          </a:xfrm>
          <a:prstGeom prst="rect">
            <a:avLst/>
          </a:prstGeom>
          <a:noFill/>
          <a:ln>
            <a:noFill/>
          </a:ln>
        </p:spPr>
      </p:pic>
      <p:pic>
        <p:nvPicPr>
          <p:cNvPr descr="1_15.pdf" id="365" name="Google Shape;365;p49"/>
          <p:cNvPicPr preferRelativeResize="0"/>
          <p:nvPr/>
        </p:nvPicPr>
        <p:blipFill rotWithShape="1">
          <a:blip r:embed="rId5">
            <a:alphaModFix/>
          </a:blip>
          <a:srcRect b="0" l="0" r="0" t="0"/>
          <a:stretch/>
        </p:blipFill>
        <p:spPr>
          <a:xfrm>
            <a:off x="1231900" y="5099050"/>
            <a:ext cx="6842125" cy="11239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0"/>
          <p:cNvSpPr txBox="1"/>
          <p:nvPr>
            <p:ph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Kernel Data Structures</a:t>
            </a:r>
            <a:endParaRPr/>
          </a:p>
        </p:txBody>
      </p:sp>
      <p:sp>
        <p:nvSpPr>
          <p:cNvPr id="371" name="Google Shape;371;p50"/>
          <p:cNvSpPr txBox="1"/>
          <p:nvPr>
            <p:ph idx="1" type="body"/>
          </p:nvPr>
        </p:nvSpPr>
        <p:spPr>
          <a:xfrm>
            <a:off x="806450" y="1233487"/>
            <a:ext cx="5468937" cy="1604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Binary search tree</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left &lt;= right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Search performance is </a:t>
            </a:r>
            <a:r>
              <a:rPr b="0" i="1" lang="en-US" sz="1800" u="none" cap="none" strike="noStrike">
                <a:solidFill>
                  <a:schemeClr val="dk1"/>
                </a:solidFill>
                <a:latin typeface="Helvetica Neue"/>
                <a:ea typeface="Helvetica Neue"/>
                <a:cs typeface="Helvetica Neue"/>
                <a:sym typeface="Helvetica Neue"/>
              </a:rPr>
              <a:t>O(n)</a:t>
            </a:r>
            <a:endParaRPr/>
          </a:p>
          <a:p>
            <a:pPr indent="-285750" lvl="1" marL="742950" marR="0" rtl="0" algn="l">
              <a:lnSpc>
                <a:spcPct val="100000"/>
              </a:lnSpc>
              <a:spcBef>
                <a:spcPts val="630"/>
              </a:spcBef>
              <a:spcAft>
                <a:spcPts val="0"/>
              </a:spcAft>
              <a:buClr>
                <a:srgbClr val="CC6600"/>
              </a:buClr>
              <a:buSzPts val="1440"/>
              <a:buFont typeface="Arial"/>
              <a:buChar char="●"/>
            </a:pPr>
            <a:r>
              <a:rPr b="1" i="0" lang="en-US" sz="1800" u="none" cap="none" strike="noStrike">
                <a:solidFill>
                  <a:srgbClr val="3366FF"/>
                </a:solidFill>
                <a:latin typeface="Helvetica Neue"/>
                <a:ea typeface="Helvetica Neue"/>
                <a:cs typeface="Helvetica Neue"/>
                <a:sym typeface="Helvetica Neue"/>
              </a:rPr>
              <a:t>Balanced binary search tree </a:t>
            </a:r>
            <a:r>
              <a:rPr b="0" i="0" lang="en-US" sz="1800" u="none" cap="none" strike="noStrike">
                <a:solidFill>
                  <a:schemeClr val="dk1"/>
                </a:solidFill>
                <a:latin typeface="Helvetica Neue"/>
                <a:ea typeface="Helvetica Neue"/>
                <a:cs typeface="Helvetica Neue"/>
                <a:sym typeface="Helvetica Neue"/>
              </a:rPr>
              <a:t>is </a:t>
            </a:r>
            <a:r>
              <a:rPr b="0" i="1" lang="en-US" sz="1800" u="none" cap="none" strike="noStrike">
                <a:solidFill>
                  <a:schemeClr val="dk1"/>
                </a:solidFill>
                <a:latin typeface="Helvetica Neue"/>
                <a:ea typeface="Helvetica Neue"/>
                <a:cs typeface="Helvetica Neue"/>
                <a:sym typeface="Helvetica Neue"/>
              </a:rPr>
              <a:t>O(lg n)</a:t>
            </a:r>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p:txBody>
      </p:sp>
      <p:pic>
        <p:nvPicPr>
          <p:cNvPr descr="1_16.pdf" id="372" name="Google Shape;372;p50"/>
          <p:cNvPicPr preferRelativeResize="0"/>
          <p:nvPr/>
        </p:nvPicPr>
        <p:blipFill rotWithShape="1">
          <a:blip r:embed="rId3">
            <a:alphaModFix/>
          </a:blip>
          <a:srcRect b="0" l="0" r="0" t="0"/>
          <a:stretch/>
        </p:blipFill>
        <p:spPr>
          <a:xfrm>
            <a:off x="1935162" y="2979737"/>
            <a:ext cx="2755900" cy="215106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457200" y="198437"/>
            <a:ext cx="8229600" cy="5762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3200"/>
              <a:buFont typeface="Arial"/>
              <a:buNone/>
            </a:pPr>
            <a:r>
              <a:rPr b="1" i="0" lang="en-US" sz="3200" u="none">
                <a:solidFill>
                  <a:srgbClr val="006699"/>
                </a:solidFill>
                <a:latin typeface="Arial"/>
                <a:ea typeface="Arial"/>
                <a:cs typeface="Arial"/>
                <a:sym typeface="Arial"/>
              </a:rPr>
              <a:t>Kernel Data Structures</a:t>
            </a:r>
            <a:endParaRPr/>
          </a:p>
        </p:txBody>
      </p:sp>
      <p:sp>
        <p:nvSpPr>
          <p:cNvPr id="378" name="Google Shape;378;p51"/>
          <p:cNvSpPr txBox="1"/>
          <p:nvPr>
            <p:ph idx="1" type="body"/>
          </p:nvPr>
        </p:nvSpPr>
        <p:spPr>
          <a:xfrm>
            <a:off x="806450" y="1233487"/>
            <a:ext cx="7726362" cy="4983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Hash function </a:t>
            </a:r>
            <a:r>
              <a:rPr b="0" i="0" lang="en-US" sz="1800" u="none">
                <a:solidFill>
                  <a:schemeClr val="dk1"/>
                </a:solidFill>
                <a:latin typeface="Helvetica Neue"/>
                <a:ea typeface="Helvetica Neue"/>
                <a:cs typeface="Helvetica Neue"/>
                <a:sym typeface="Helvetica Neue"/>
              </a:rPr>
              <a:t>can create a</a:t>
            </a:r>
            <a:r>
              <a:rPr b="1" i="0" lang="en-US" sz="1800" u="none">
                <a:solidFill>
                  <a:srgbClr val="3366FF"/>
                </a:solidFill>
                <a:latin typeface="Helvetica Neue"/>
                <a:ea typeface="Helvetica Neue"/>
                <a:cs typeface="Helvetica Neue"/>
                <a:sym typeface="Helvetica Neue"/>
              </a:rPr>
              <a:t> hash map</a:t>
            </a:r>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24003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t/>
            </a:r>
            <a:endParaRPr b="1" i="1" sz="1800" u="none">
              <a:solidFill>
                <a:srgbClr val="3366FF"/>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Bitmap</a:t>
            </a:r>
            <a:r>
              <a:rPr b="0" i="0" lang="en-US" sz="1800" u="none">
                <a:solidFill>
                  <a:schemeClr val="dk1"/>
                </a:solidFill>
                <a:latin typeface="Helvetica Neue"/>
                <a:ea typeface="Helvetica Neue"/>
                <a:cs typeface="Helvetica Neue"/>
                <a:sym typeface="Helvetica Neue"/>
              </a:rPr>
              <a:t> – string of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binary digits representing the status of </a:t>
            </a:r>
            <a:r>
              <a:rPr b="0" i="1" lang="en-US" sz="1800" u="none">
                <a:solidFill>
                  <a:schemeClr val="dk1"/>
                </a:solidFill>
                <a:latin typeface="Helvetica Neue"/>
                <a:ea typeface="Helvetica Neue"/>
                <a:cs typeface="Helvetica Neue"/>
                <a:sym typeface="Helvetica Neue"/>
              </a:rPr>
              <a:t>n</a:t>
            </a:r>
            <a:r>
              <a:rPr b="0" i="0" lang="en-US" sz="1800" u="none">
                <a:solidFill>
                  <a:schemeClr val="dk1"/>
                </a:solidFill>
                <a:latin typeface="Helvetica Neue"/>
                <a:ea typeface="Helvetica Neue"/>
                <a:cs typeface="Helvetica Neue"/>
                <a:sym typeface="Helvetica Neue"/>
              </a:rPr>
              <a:t> items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Linux data structures defined in </a:t>
            </a:r>
            <a:r>
              <a:rPr b="1" i="1" lang="en-US" sz="1800" u="none">
                <a:solidFill>
                  <a:schemeClr val="dk1"/>
                </a:solidFill>
                <a:latin typeface="Helvetica Neue"/>
                <a:ea typeface="Helvetica Neue"/>
                <a:cs typeface="Helvetica Neue"/>
                <a:sym typeface="Helvetica Neue"/>
              </a:rPr>
              <a:t>include</a:t>
            </a:r>
            <a:r>
              <a:rPr b="0" i="0" lang="en-US" sz="1800" u="none">
                <a:solidFill>
                  <a:schemeClr val="dk1"/>
                </a:solidFill>
                <a:latin typeface="Helvetica Neue"/>
                <a:ea typeface="Helvetica Neue"/>
                <a:cs typeface="Helvetica Neue"/>
                <a:sym typeface="Helvetica Neue"/>
              </a:rPr>
              <a:t> files </a:t>
            </a:r>
            <a:r>
              <a:rPr b="0" i="0" lang="en-US" sz="1800" u="none">
                <a:solidFill>
                  <a:schemeClr val="dk1"/>
                </a:solidFill>
                <a:latin typeface="Courier New"/>
                <a:ea typeface="Courier New"/>
                <a:cs typeface="Courier New"/>
                <a:sym typeface="Courier New"/>
              </a:rPr>
              <a:t>&lt;linux/list.h&gt;, &lt;linux/kfifo.h&gt;, &lt;linux/rbtree.h&gt;</a:t>
            </a:r>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a:p>
            <a:pPr indent="-182880" lvl="0" marL="342900" marR="0" rtl="0" algn="l">
              <a:spcBef>
                <a:spcPts val="980"/>
              </a:spcBef>
              <a:spcAft>
                <a:spcPts val="0"/>
              </a:spcAft>
              <a:buClr>
                <a:srgbClr val="993300"/>
              </a:buClr>
              <a:buSzPts val="2520"/>
              <a:buFont typeface="Arial"/>
              <a:buNone/>
            </a:pPr>
            <a:r>
              <a:t/>
            </a:r>
            <a:endParaRPr b="0" i="0" sz="2800" u="none">
              <a:solidFill>
                <a:schemeClr val="dk1"/>
              </a:solidFill>
              <a:latin typeface="Helvetica Neue"/>
              <a:ea typeface="Helvetica Neue"/>
              <a:cs typeface="Helvetica Neue"/>
              <a:sym typeface="Helvetica Neue"/>
            </a:endParaRPr>
          </a:p>
        </p:txBody>
      </p:sp>
      <p:pic>
        <p:nvPicPr>
          <p:cNvPr descr="1_17.pdf" id="379" name="Google Shape;379;p51"/>
          <p:cNvPicPr preferRelativeResize="0"/>
          <p:nvPr/>
        </p:nvPicPr>
        <p:blipFill rotWithShape="1">
          <a:blip r:embed="rId3">
            <a:alphaModFix/>
          </a:blip>
          <a:srcRect b="0" l="0" r="0" t="0"/>
          <a:stretch/>
        </p:blipFill>
        <p:spPr>
          <a:xfrm>
            <a:off x="2092325" y="1863725"/>
            <a:ext cx="4873625" cy="19621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2"/>
          <p:cNvSpPr txBox="1"/>
          <p:nvPr>
            <p:ph idx="4294967295" type="title"/>
          </p:nvPr>
        </p:nvSpPr>
        <p:spPr>
          <a:xfrm>
            <a:off x="819150" y="152400"/>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Computing Environments - Traditional</a:t>
            </a:r>
            <a:endParaRPr/>
          </a:p>
        </p:txBody>
      </p:sp>
      <p:sp>
        <p:nvSpPr>
          <p:cNvPr id="385" name="Google Shape;385;p52"/>
          <p:cNvSpPr txBox="1"/>
          <p:nvPr>
            <p:ph idx="4294967295" type="body"/>
          </p:nvPr>
        </p:nvSpPr>
        <p:spPr>
          <a:xfrm>
            <a:off x="854075" y="1138237"/>
            <a:ext cx="657225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Stand-alone general purpose machines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But blurred as most systems interconnect with others (i.e., the Internet)</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Portals</a:t>
            </a:r>
            <a:r>
              <a:rPr b="0" i="0" lang="en-US" sz="1800" u="none">
                <a:solidFill>
                  <a:schemeClr val="dk1"/>
                </a:solidFill>
                <a:latin typeface="Helvetica Neue"/>
                <a:ea typeface="Helvetica Neue"/>
                <a:cs typeface="Helvetica Neue"/>
                <a:sym typeface="Helvetica Neue"/>
              </a:rPr>
              <a:t> provide web access to internal systems</a:t>
            </a:r>
            <a:endParaRPr/>
          </a:p>
          <a:p>
            <a:pPr indent="-342900" lvl="0" marL="342900" marR="0" rtl="0" algn="l">
              <a:lnSpc>
                <a:spcPct val="100000"/>
              </a:lnSpc>
              <a:spcBef>
                <a:spcPts val="630"/>
              </a:spcBef>
              <a:spcAft>
                <a:spcPts val="0"/>
              </a:spcAft>
              <a:buClr>
                <a:srgbClr val="993300"/>
              </a:buClr>
              <a:buSzPts val="1620"/>
              <a:buFont typeface="Arial"/>
              <a:buChar char="●"/>
            </a:pPr>
            <a:r>
              <a:rPr b="1" i="0" lang="en-US" sz="1800" u="none">
                <a:solidFill>
                  <a:srgbClr val="3366FF"/>
                </a:solidFill>
                <a:latin typeface="Helvetica Neue"/>
                <a:ea typeface="Helvetica Neue"/>
                <a:cs typeface="Helvetica Neue"/>
                <a:sym typeface="Helvetica Neue"/>
              </a:rPr>
              <a:t>Network computers </a:t>
            </a:r>
            <a:r>
              <a:rPr b="0" i="0" lang="en-US" sz="1800" u="none">
                <a:solidFill>
                  <a:schemeClr val="dk1"/>
                </a:solidFill>
                <a:latin typeface="Helvetica Neue"/>
                <a:ea typeface="Helvetica Neue"/>
                <a:cs typeface="Helvetica Neue"/>
                <a:sym typeface="Helvetica Neue"/>
              </a:rPr>
              <a:t>(</a:t>
            </a:r>
            <a:r>
              <a:rPr b="1" i="0" lang="en-US" sz="1800" u="none">
                <a:solidFill>
                  <a:srgbClr val="3366FF"/>
                </a:solidFill>
                <a:latin typeface="Helvetica Neue"/>
                <a:ea typeface="Helvetica Neue"/>
                <a:cs typeface="Helvetica Neue"/>
                <a:sym typeface="Helvetica Neue"/>
              </a:rPr>
              <a:t>thin clients</a:t>
            </a:r>
            <a:r>
              <a:rPr b="0" i="0" lang="en-US" sz="1800" u="none">
                <a:solidFill>
                  <a:schemeClr val="dk1"/>
                </a:solidFill>
                <a:latin typeface="Helvetica Neue"/>
                <a:ea typeface="Helvetica Neue"/>
                <a:cs typeface="Helvetica Neue"/>
                <a:sym typeface="Helvetica Neue"/>
              </a:rPr>
              <a:t>) are like Web terminals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Mobile computers interconnect via </a:t>
            </a:r>
            <a:r>
              <a:rPr b="1" i="0" lang="en-US" sz="1800" u="none">
                <a:solidFill>
                  <a:srgbClr val="3366FF"/>
                </a:solidFill>
                <a:latin typeface="Helvetica Neue"/>
                <a:ea typeface="Helvetica Neue"/>
                <a:cs typeface="Helvetica Neue"/>
                <a:sym typeface="Helvetica Neue"/>
              </a:rPr>
              <a:t>wireless networks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Networking becoming ubiquitous – even home systems use </a:t>
            </a:r>
            <a:r>
              <a:rPr b="1" i="0" lang="en-US" sz="1800" u="none">
                <a:solidFill>
                  <a:srgbClr val="3366FF"/>
                </a:solidFill>
                <a:latin typeface="Helvetica Neue"/>
                <a:ea typeface="Helvetica Neue"/>
                <a:cs typeface="Helvetica Neue"/>
                <a:sym typeface="Helvetica Neue"/>
              </a:rPr>
              <a:t>firewalls</a:t>
            </a:r>
            <a:r>
              <a:rPr b="0" i="0" lang="en-US" sz="1800" u="none">
                <a:solidFill>
                  <a:schemeClr val="dk1"/>
                </a:solidFill>
                <a:latin typeface="Helvetica Neue"/>
                <a:ea typeface="Helvetica Neue"/>
                <a:cs typeface="Helvetica Neue"/>
                <a:sym typeface="Helvetica Neue"/>
              </a:rPr>
              <a:t> to protect home computers from Internet attacks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3"/>
          <p:cNvSpPr txBox="1"/>
          <p:nvPr>
            <p:ph idx="4294967295" type="title"/>
          </p:nvPr>
        </p:nvSpPr>
        <p:spPr>
          <a:xfrm>
            <a:off x="457200" y="152400"/>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Computing Environments - Mobile</a:t>
            </a:r>
            <a:endParaRPr/>
          </a:p>
        </p:txBody>
      </p:sp>
      <p:sp>
        <p:nvSpPr>
          <p:cNvPr id="391" name="Google Shape;391;p53"/>
          <p:cNvSpPr txBox="1"/>
          <p:nvPr>
            <p:ph idx="4294967295" type="body"/>
          </p:nvPr>
        </p:nvSpPr>
        <p:spPr>
          <a:xfrm>
            <a:off x="854075" y="1122362"/>
            <a:ext cx="6792912"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Handheld smartphones, tablets, etc</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What is the functional difference between them and a “traditional” laptop?</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Extra feature – more OS features (GPS, gyroscope)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Allows new types of apps like </a:t>
            </a:r>
            <a:r>
              <a:rPr b="1" i="1" lang="en-US" sz="1800" u="none">
                <a:solidFill>
                  <a:schemeClr val="dk1"/>
                </a:solidFill>
                <a:latin typeface="Helvetica Neue"/>
                <a:ea typeface="Helvetica Neue"/>
                <a:cs typeface="Helvetica Neue"/>
                <a:sym typeface="Helvetica Neue"/>
              </a:rPr>
              <a:t>augmented reality</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Use IEEE 802.11 wireless, or cellular data networks for connectivity</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Leaders are </a:t>
            </a:r>
            <a:r>
              <a:rPr b="1" i="0" lang="en-US" sz="1800" u="none">
                <a:solidFill>
                  <a:srgbClr val="3366FF"/>
                </a:solidFill>
                <a:latin typeface="Helvetica Neue"/>
                <a:ea typeface="Helvetica Neue"/>
                <a:cs typeface="Helvetica Neue"/>
                <a:sym typeface="Helvetica Neue"/>
              </a:rPr>
              <a:t>Apple iOS </a:t>
            </a:r>
            <a:r>
              <a:rPr b="0" i="0" lang="en-US" sz="1800" u="none">
                <a:solidFill>
                  <a:schemeClr val="dk1"/>
                </a:solidFill>
                <a:latin typeface="Helvetica Neue"/>
                <a:ea typeface="Helvetica Neue"/>
                <a:cs typeface="Helvetica Neue"/>
                <a:sym typeface="Helvetica Neue"/>
              </a:rPr>
              <a:t>and </a:t>
            </a:r>
            <a:r>
              <a:rPr b="1" i="0" lang="en-US" sz="1800" u="none">
                <a:solidFill>
                  <a:srgbClr val="3366FF"/>
                </a:solidFill>
                <a:latin typeface="Helvetica Neue"/>
                <a:ea typeface="Helvetica Neue"/>
                <a:cs typeface="Helvetica Neue"/>
                <a:sym typeface="Helvetica Neue"/>
              </a:rPr>
              <a:t>Google Android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4"/>
          <p:cNvSpPr txBox="1"/>
          <p:nvPr>
            <p:ph idx="4294967295" type="title"/>
          </p:nvPr>
        </p:nvSpPr>
        <p:spPr>
          <a:xfrm>
            <a:off x="1296987" y="152400"/>
            <a:ext cx="761523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Computing Environments – Client-Server</a:t>
            </a:r>
            <a:endParaRPr/>
          </a:p>
        </p:txBody>
      </p:sp>
      <p:sp>
        <p:nvSpPr>
          <p:cNvPr id="397" name="Google Shape;397;p54"/>
          <p:cNvSpPr txBox="1"/>
          <p:nvPr/>
        </p:nvSpPr>
        <p:spPr>
          <a:xfrm>
            <a:off x="874712" y="1166812"/>
            <a:ext cx="7351712" cy="467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Client-Server Computing</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Dumb terminals supplanted by smart PCs</a:t>
            </a:r>
            <a:endParaRPr/>
          </a:p>
          <a:p>
            <a:pPr indent="-285750" lvl="1" marL="742950" marR="0" rtl="0" algn="l">
              <a:lnSpc>
                <a:spcPct val="9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Many systems now </a:t>
            </a:r>
            <a:r>
              <a:rPr b="1" i="0" lang="en-US" sz="1800" u="none" cap="none" strike="noStrike">
                <a:solidFill>
                  <a:srgbClr val="3366FF"/>
                </a:solidFill>
                <a:latin typeface="Helvetica Neue"/>
                <a:ea typeface="Helvetica Neue"/>
                <a:cs typeface="Helvetica Neue"/>
                <a:sym typeface="Helvetica Neue"/>
              </a:rPr>
              <a:t>servers</a:t>
            </a:r>
            <a:r>
              <a:rPr b="0" i="0" lang="en-US" sz="1800" u="none" cap="none" strike="noStrike">
                <a:solidFill>
                  <a:schemeClr val="dk1"/>
                </a:solidFill>
                <a:latin typeface="Helvetica Neue"/>
                <a:ea typeface="Helvetica Neue"/>
                <a:cs typeface="Helvetica Neue"/>
                <a:sym typeface="Helvetica Neue"/>
              </a:rPr>
              <a:t>, responding to requests generated by </a:t>
            </a:r>
            <a:r>
              <a:rPr b="1" i="0" lang="en-US" sz="1800" u="none" cap="none" strike="noStrike">
                <a:solidFill>
                  <a:srgbClr val="3366FF"/>
                </a:solidFill>
                <a:latin typeface="Helvetica Neue"/>
                <a:ea typeface="Helvetica Neue"/>
                <a:cs typeface="Helvetica Neue"/>
                <a:sym typeface="Helvetica Neue"/>
              </a:rPr>
              <a:t>clients</a:t>
            </a:r>
            <a:endParaRPr/>
          </a:p>
          <a:p>
            <a:pPr indent="-228600" lvl="2" marL="1085850" marR="0" rtl="0" algn="l">
              <a:lnSpc>
                <a:spcPct val="90000"/>
              </a:lnSpc>
              <a:spcBef>
                <a:spcPts val="630"/>
              </a:spcBef>
              <a:spcAft>
                <a:spcPts val="0"/>
              </a:spcAft>
              <a:buClr>
                <a:srgbClr val="009900"/>
              </a:buClr>
              <a:buSzPts val="1350"/>
              <a:buFont typeface="Arimo"/>
              <a:buChar char="4"/>
            </a:pPr>
            <a:r>
              <a:rPr b="1" i="0" lang="en-US" sz="1800" u="none" cap="none" strike="noStrike">
                <a:solidFill>
                  <a:srgbClr val="3366FF"/>
                </a:solidFill>
                <a:latin typeface="Helvetica Neue"/>
                <a:ea typeface="Helvetica Neue"/>
                <a:cs typeface="Helvetica Neue"/>
                <a:sym typeface="Helvetica Neue"/>
              </a:rPr>
              <a:t>Compute-server system </a:t>
            </a:r>
            <a:r>
              <a:rPr b="0" i="0" lang="en-US" sz="1800" u="none" cap="none" strike="noStrike">
                <a:solidFill>
                  <a:schemeClr val="dk1"/>
                </a:solidFill>
                <a:latin typeface="Helvetica Neue"/>
                <a:ea typeface="Helvetica Neue"/>
                <a:cs typeface="Helvetica Neue"/>
                <a:sym typeface="Helvetica Neue"/>
              </a:rPr>
              <a:t>provides an interface to client to request services (i.e., database)</a:t>
            </a:r>
            <a:endParaRPr/>
          </a:p>
          <a:p>
            <a:pPr indent="-228600" lvl="2" marL="1085850" marR="0" rtl="0" algn="l">
              <a:lnSpc>
                <a:spcPct val="90000"/>
              </a:lnSpc>
              <a:spcBef>
                <a:spcPts val="630"/>
              </a:spcBef>
              <a:spcAft>
                <a:spcPts val="0"/>
              </a:spcAft>
              <a:buClr>
                <a:srgbClr val="009900"/>
              </a:buClr>
              <a:buSzPts val="1350"/>
              <a:buFont typeface="Arimo"/>
              <a:buChar char="4"/>
            </a:pPr>
            <a:r>
              <a:rPr b="1" i="0" lang="en-US" sz="1800" u="none" cap="none" strike="noStrike">
                <a:solidFill>
                  <a:srgbClr val="3366FF"/>
                </a:solidFill>
                <a:latin typeface="Helvetica Neue"/>
                <a:ea typeface="Helvetica Neue"/>
                <a:cs typeface="Helvetica Neue"/>
                <a:sym typeface="Helvetica Neue"/>
              </a:rPr>
              <a:t>File-server system </a:t>
            </a:r>
            <a:r>
              <a:rPr b="0" i="0" lang="en-US" sz="1800" u="none" cap="none" strike="noStrike">
                <a:solidFill>
                  <a:schemeClr val="dk1"/>
                </a:solidFill>
                <a:latin typeface="Helvetica Neue"/>
                <a:ea typeface="Helvetica Neue"/>
                <a:cs typeface="Helvetica Neue"/>
                <a:sym typeface="Helvetica Neue"/>
              </a:rPr>
              <a:t>provides interface for clients to store and retrieve files</a:t>
            </a:r>
            <a:endParaRPr/>
          </a:p>
        </p:txBody>
      </p:sp>
      <p:pic>
        <p:nvPicPr>
          <p:cNvPr descr="1_18.pdf" id="398" name="Google Shape;398;p54"/>
          <p:cNvPicPr preferRelativeResize="0"/>
          <p:nvPr/>
        </p:nvPicPr>
        <p:blipFill rotWithShape="1">
          <a:blip r:embed="rId3">
            <a:alphaModFix/>
          </a:blip>
          <a:srcRect b="0" l="0" r="0" t="0"/>
          <a:stretch/>
        </p:blipFill>
        <p:spPr>
          <a:xfrm>
            <a:off x="2081212" y="3805237"/>
            <a:ext cx="4610100" cy="20050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ph idx="4294967295" type="title"/>
          </p:nvPr>
        </p:nvSpPr>
        <p:spPr>
          <a:xfrm>
            <a:off x="1152525" y="166687"/>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Computing Environments - Peer-to-Peer</a:t>
            </a:r>
            <a:endParaRPr/>
          </a:p>
        </p:txBody>
      </p:sp>
      <p:sp>
        <p:nvSpPr>
          <p:cNvPr id="404" name="Google Shape;404;p55"/>
          <p:cNvSpPr txBox="1"/>
          <p:nvPr>
            <p:ph idx="4294967295" type="body"/>
          </p:nvPr>
        </p:nvSpPr>
        <p:spPr>
          <a:xfrm>
            <a:off x="806450" y="1233487"/>
            <a:ext cx="5057775"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Another model of distributed system</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P2P does not distinguish clients and servers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Instead all nodes are considered peers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May each act as client, server or both</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Node must join P2P network</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Registers its service with central lookup service on network, or</a:t>
            </a:r>
            <a:endParaRPr/>
          </a:p>
          <a:p>
            <a:pPr indent="-228600" lvl="2" marL="1085850" marR="0" rtl="0" algn="l">
              <a:lnSpc>
                <a:spcPct val="100000"/>
              </a:lnSpc>
              <a:spcBef>
                <a:spcPts val="630"/>
              </a:spcBef>
              <a:spcAft>
                <a:spcPts val="0"/>
              </a:spcAft>
              <a:buClr>
                <a:srgbClr val="009900"/>
              </a:buClr>
              <a:buSzPts val="1350"/>
              <a:buFont typeface="Arimo"/>
              <a:buChar char="4"/>
            </a:pPr>
            <a:r>
              <a:rPr b="0" i="0" lang="en-US" sz="1800" u="none" cap="none" strike="noStrike">
                <a:solidFill>
                  <a:schemeClr val="dk1"/>
                </a:solidFill>
                <a:latin typeface="Helvetica Neue"/>
                <a:ea typeface="Helvetica Neue"/>
                <a:cs typeface="Helvetica Neue"/>
                <a:sym typeface="Helvetica Neue"/>
              </a:rPr>
              <a:t>Broadcast request for service and respond to requests for service via </a:t>
            </a:r>
            <a:r>
              <a:rPr b="1" i="1" lang="en-US" sz="1800" u="none" cap="none" strike="noStrike">
                <a:solidFill>
                  <a:schemeClr val="dk1"/>
                </a:solidFill>
                <a:latin typeface="Helvetica Neue"/>
                <a:ea typeface="Helvetica Neue"/>
                <a:cs typeface="Helvetica Neue"/>
                <a:sym typeface="Helvetica Neue"/>
              </a:rPr>
              <a:t>discovery protocol</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Examples include</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Napster</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and</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Gnutella</a:t>
            </a:r>
            <a:r>
              <a:rPr b="0" i="1" lang="en-US" sz="1800" u="none" cap="none" strike="noStrike">
                <a:solidFill>
                  <a:schemeClr val="dk1"/>
                </a:solidFill>
                <a:latin typeface="Helvetica Neue"/>
                <a:ea typeface="Helvetica Neue"/>
                <a:cs typeface="Helvetica Neue"/>
                <a:sym typeface="Helvetica Neue"/>
              </a:rPr>
              <a:t>, </a:t>
            </a:r>
            <a:r>
              <a:rPr b="1" i="0" lang="en-US" sz="1800" u="none" cap="none" strike="noStrike">
                <a:solidFill>
                  <a:srgbClr val="3366FF"/>
                </a:solidFill>
                <a:latin typeface="Helvetica Neue"/>
                <a:ea typeface="Helvetica Neue"/>
                <a:cs typeface="Helvetica Neue"/>
                <a:sym typeface="Helvetica Neue"/>
              </a:rPr>
              <a:t>Voice over IP </a:t>
            </a:r>
            <a:r>
              <a:rPr b="0" i="0" lang="en-US" sz="1800" u="none" cap="none" strike="noStrike">
                <a:solidFill>
                  <a:schemeClr val="dk1"/>
                </a:solidFill>
                <a:latin typeface="Helvetica Neue"/>
                <a:ea typeface="Helvetica Neue"/>
                <a:cs typeface="Helvetica Neue"/>
                <a:sym typeface="Helvetica Neue"/>
              </a:rPr>
              <a:t>(</a:t>
            </a:r>
            <a:r>
              <a:rPr b="1" i="0" lang="en-US" sz="1800" u="none" cap="none" strike="noStrike">
                <a:solidFill>
                  <a:srgbClr val="3366FF"/>
                </a:solidFill>
                <a:latin typeface="Helvetica Neue"/>
                <a:ea typeface="Helvetica Neue"/>
                <a:cs typeface="Helvetica Neue"/>
                <a:sym typeface="Helvetica Neue"/>
              </a:rPr>
              <a:t>VoIP</a:t>
            </a:r>
            <a:r>
              <a:rPr b="0" i="0" lang="en-US" sz="1800" u="none" cap="none" strike="noStrike">
                <a:solidFill>
                  <a:schemeClr val="dk1"/>
                </a:solidFill>
                <a:latin typeface="Helvetica Neue"/>
                <a:ea typeface="Helvetica Neue"/>
                <a:cs typeface="Helvetica Neue"/>
                <a:sym typeface="Helvetica Neue"/>
              </a:rPr>
              <a:t>)</a:t>
            </a:r>
            <a:r>
              <a:rPr b="0" i="1" lang="en-US" sz="1800" u="none" cap="none" strike="noStrike">
                <a:solidFill>
                  <a:schemeClr val="dk1"/>
                </a:solidFill>
                <a:latin typeface="Helvetica Neue"/>
                <a:ea typeface="Helvetica Neue"/>
                <a:cs typeface="Helvetica Neue"/>
                <a:sym typeface="Helvetica Neue"/>
              </a:rPr>
              <a:t> </a:t>
            </a:r>
            <a:r>
              <a:rPr b="0" i="0" lang="en-US" sz="1800" u="none" cap="none" strike="noStrike">
                <a:solidFill>
                  <a:schemeClr val="dk1"/>
                </a:solidFill>
                <a:latin typeface="Helvetica Neue"/>
                <a:ea typeface="Helvetica Neue"/>
                <a:cs typeface="Helvetica Neue"/>
                <a:sym typeface="Helvetica Neue"/>
              </a:rPr>
              <a:t>such as Skype </a:t>
            </a:r>
            <a:endParaRPr/>
          </a:p>
        </p:txBody>
      </p:sp>
      <p:pic>
        <p:nvPicPr>
          <p:cNvPr descr="1_19.pdf" id="405" name="Google Shape;405;p55"/>
          <p:cNvPicPr preferRelativeResize="0"/>
          <p:nvPr/>
        </p:nvPicPr>
        <p:blipFill rotWithShape="1">
          <a:blip r:embed="rId3">
            <a:alphaModFix/>
          </a:blip>
          <a:srcRect b="0" l="0" r="0" t="0"/>
          <a:stretch/>
        </p:blipFill>
        <p:spPr>
          <a:xfrm>
            <a:off x="6059487" y="1984375"/>
            <a:ext cx="2668587" cy="202723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ph idx="4294967295" type="title"/>
          </p:nvPr>
        </p:nvSpPr>
        <p:spPr>
          <a:xfrm>
            <a:off x="1123950" y="114300"/>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400"/>
              <a:buFont typeface="Arial"/>
              <a:buNone/>
            </a:pPr>
            <a:r>
              <a:rPr b="1" i="0" lang="en-US" sz="2400" u="none" cap="none" strike="noStrike">
                <a:solidFill>
                  <a:srgbClr val="006699"/>
                </a:solidFill>
                <a:latin typeface="Arial"/>
                <a:ea typeface="Arial"/>
                <a:cs typeface="Arial"/>
                <a:sym typeface="Arial"/>
              </a:rPr>
              <a:t>Computing Environments – Cloud Computing</a:t>
            </a:r>
            <a:endParaRPr/>
          </a:p>
        </p:txBody>
      </p:sp>
      <p:sp>
        <p:nvSpPr>
          <p:cNvPr id="411" name="Google Shape;411;p56"/>
          <p:cNvSpPr txBox="1"/>
          <p:nvPr>
            <p:ph idx="4294967295" type="body"/>
          </p:nvPr>
        </p:nvSpPr>
        <p:spPr>
          <a:xfrm>
            <a:off x="806450" y="1060450"/>
            <a:ext cx="7439025" cy="51038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440"/>
              <a:buFont typeface="Arial"/>
              <a:buChar char="●"/>
            </a:pPr>
            <a:r>
              <a:rPr b="0" i="0" lang="en-US" sz="1600" u="none">
                <a:solidFill>
                  <a:schemeClr val="dk1"/>
                </a:solidFill>
                <a:latin typeface="Helvetica Neue"/>
                <a:ea typeface="Helvetica Neue"/>
                <a:cs typeface="Helvetica Neue"/>
                <a:sym typeface="Helvetica Neue"/>
              </a:rPr>
              <a:t>Delivers computing, storage, even apps as a service across a network</a:t>
            </a:r>
            <a:endParaRPr/>
          </a:p>
          <a:p>
            <a:pPr indent="-342900" lvl="0" marL="342900" marR="0" rtl="0" algn="l">
              <a:lnSpc>
                <a:spcPct val="100000"/>
              </a:lnSpc>
              <a:spcBef>
                <a:spcPts val="560"/>
              </a:spcBef>
              <a:spcAft>
                <a:spcPts val="0"/>
              </a:spcAft>
              <a:buClr>
                <a:srgbClr val="993300"/>
              </a:buClr>
              <a:buSzPts val="1440"/>
              <a:buFont typeface="Arial"/>
              <a:buChar char="●"/>
            </a:pPr>
            <a:r>
              <a:rPr b="0" i="0" lang="en-US" sz="1600" u="none">
                <a:solidFill>
                  <a:schemeClr val="dk1"/>
                </a:solidFill>
                <a:latin typeface="Helvetica Neue"/>
                <a:ea typeface="Helvetica Neue"/>
                <a:cs typeface="Helvetica Neue"/>
                <a:sym typeface="Helvetica Neue"/>
              </a:rPr>
              <a:t>Logical extension of virtualization because it uses virtualization as the base for it functionality.</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Amazon </a:t>
            </a:r>
            <a:r>
              <a:rPr b="1" i="0" lang="en-US" sz="1600" u="none" cap="none" strike="noStrike">
                <a:solidFill>
                  <a:srgbClr val="3366FF"/>
                </a:solidFill>
                <a:latin typeface="Helvetica Neue"/>
                <a:ea typeface="Helvetica Neue"/>
                <a:cs typeface="Helvetica Neue"/>
                <a:sym typeface="Helvetica Neue"/>
              </a:rPr>
              <a:t>EC2</a:t>
            </a:r>
            <a:r>
              <a:rPr b="0" i="0" lang="en-US" sz="1600" u="none" cap="none" strike="noStrike">
                <a:solidFill>
                  <a:schemeClr val="dk1"/>
                </a:solidFill>
                <a:latin typeface="Helvetica Neue"/>
                <a:ea typeface="Helvetica Neue"/>
                <a:cs typeface="Helvetica Neue"/>
                <a:sym typeface="Helvetica Neue"/>
              </a:rPr>
              <a:t>  has thousands of servers, millions of virtual machines, petabytes of storage available across the Internet, pay based on usage</a:t>
            </a:r>
            <a:endParaRPr/>
          </a:p>
          <a:p>
            <a:pPr indent="-342900" lvl="0" marL="342900" marR="0" rtl="0" algn="l">
              <a:lnSpc>
                <a:spcPct val="100000"/>
              </a:lnSpc>
              <a:spcBef>
                <a:spcPts val="560"/>
              </a:spcBef>
              <a:spcAft>
                <a:spcPts val="0"/>
              </a:spcAft>
              <a:buClr>
                <a:srgbClr val="993300"/>
              </a:buClr>
              <a:buSzPts val="1440"/>
              <a:buFont typeface="Arial"/>
              <a:buChar char="●"/>
            </a:pPr>
            <a:r>
              <a:rPr b="0" i="0" lang="en-US" sz="1600" u="none">
                <a:solidFill>
                  <a:schemeClr val="dk1"/>
                </a:solidFill>
                <a:latin typeface="Helvetica Neue"/>
                <a:ea typeface="Helvetica Neue"/>
                <a:cs typeface="Helvetica Neue"/>
                <a:sym typeface="Helvetica Neue"/>
              </a:rPr>
              <a:t>Many types</a:t>
            </a:r>
            <a:endParaRPr/>
          </a:p>
          <a:p>
            <a:pPr indent="-285750" lvl="1" marL="742950" marR="0" rtl="0" algn="l">
              <a:lnSpc>
                <a:spcPct val="100000"/>
              </a:lnSpc>
              <a:spcBef>
                <a:spcPts val="560"/>
              </a:spcBef>
              <a:spcAft>
                <a:spcPts val="0"/>
              </a:spcAft>
              <a:buClr>
                <a:srgbClr val="CC6600"/>
              </a:buClr>
              <a:buSzPts val="1280"/>
              <a:buFont typeface="Arial"/>
              <a:buChar char="●"/>
            </a:pPr>
            <a:r>
              <a:rPr b="1" i="0" lang="en-US" sz="1600" u="none" cap="none" strike="noStrike">
                <a:solidFill>
                  <a:srgbClr val="3366FF"/>
                </a:solidFill>
                <a:latin typeface="Helvetica Neue"/>
                <a:ea typeface="Helvetica Neue"/>
                <a:cs typeface="Helvetica Neue"/>
                <a:sym typeface="Helvetica Neue"/>
              </a:rPr>
              <a:t>Public cloud </a:t>
            </a:r>
            <a:r>
              <a:rPr b="0" i="0" lang="en-US" sz="1600" u="none" cap="none" strike="noStrike">
                <a:solidFill>
                  <a:schemeClr val="dk1"/>
                </a:solidFill>
                <a:latin typeface="Helvetica Neue"/>
                <a:ea typeface="Helvetica Neue"/>
                <a:cs typeface="Helvetica Neue"/>
                <a:sym typeface="Helvetica Neue"/>
              </a:rPr>
              <a:t>– available via Internet to anyone willing to pay</a:t>
            </a:r>
            <a:endParaRPr/>
          </a:p>
          <a:p>
            <a:pPr indent="-285750" lvl="1" marL="742950" marR="0" rtl="0" algn="l">
              <a:lnSpc>
                <a:spcPct val="100000"/>
              </a:lnSpc>
              <a:spcBef>
                <a:spcPts val="560"/>
              </a:spcBef>
              <a:spcAft>
                <a:spcPts val="0"/>
              </a:spcAft>
              <a:buClr>
                <a:srgbClr val="CC6600"/>
              </a:buClr>
              <a:buSzPts val="1280"/>
              <a:buFont typeface="Arial"/>
              <a:buChar char="●"/>
            </a:pPr>
            <a:r>
              <a:rPr b="1" i="0" lang="en-US" sz="1600" u="none" cap="none" strike="noStrike">
                <a:solidFill>
                  <a:srgbClr val="3366FF"/>
                </a:solidFill>
                <a:latin typeface="Helvetica Neue"/>
                <a:ea typeface="Helvetica Neue"/>
                <a:cs typeface="Helvetica Neue"/>
                <a:sym typeface="Helvetica Neue"/>
              </a:rPr>
              <a:t>Private cloud </a:t>
            </a:r>
            <a:r>
              <a:rPr b="0" i="0" lang="en-US" sz="1600" u="none" cap="none" strike="noStrike">
                <a:solidFill>
                  <a:schemeClr val="dk1"/>
                </a:solidFill>
                <a:latin typeface="Helvetica Neue"/>
                <a:ea typeface="Helvetica Neue"/>
                <a:cs typeface="Helvetica Neue"/>
                <a:sym typeface="Helvetica Neue"/>
              </a:rPr>
              <a:t>– run by a company for the company’s own use</a:t>
            </a:r>
            <a:endParaRPr/>
          </a:p>
          <a:p>
            <a:pPr indent="-285750" lvl="1" marL="742950" marR="0" rtl="0" algn="l">
              <a:lnSpc>
                <a:spcPct val="100000"/>
              </a:lnSpc>
              <a:spcBef>
                <a:spcPts val="560"/>
              </a:spcBef>
              <a:spcAft>
                <a:spcPts val="0"/>
              </a:spcAft>
              <a:buClr>
                <a:srgbClr val="CC6600"/>
              </a:buClr>
              <a:buSzPts val="1280"/>
              <a:buFont typeface="Arial"/>
              <a:buChar char="●"/>
            </a:pPr>
            <a:r>
              <a:rPr b="1" i="0" lang="en-US" sz="1600" u="none" cap="none" strike="noStrike">
                <a:solidFill>
                  <a:srgbClr val="3366FF"/>
                </a:solidFill>
                <a:latin typeface="Helvetica Neue"/>
                <a:ea typeface="Helvetica Neue"/>
                <a:cs typeface="Helvetica Neue"/>
                <a:sym typeface="Helvetica Neue"/>
              </a:rPr>
              <a:t>Hybrid cloud </a:t>
            </a:r>
            <a:r>
              <a:rPr b="0" i="0" lang="en-US" sz="1600" u="none" cap="none" strike="noStrike">
                <a:solidFill>
                  <a:schemeClr val="dk1"/>
                </a:solidFill>
                <a:latin typeface="Helvetica Neue"/>
                <a:ea typeface="Helvetica Neue"/>
                <a:cs typeface="Helvetica Neue"/>
                <a:sym typeface="Helvetica Neue"/>
              </a:rPr>
              <a:t>– includes both public and private cloud components</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Software as a Service (</a:t>
            </a:r>
            <a:r>
              <a:rPr b="1" i="0" lang="en-US" sz="1600" u="none" cap="none" strike="noStrike">
                <a:solidFill>
                  <a:srgbClr val="3366FF"/>
                </a:solidFill>
                <a:latin typeface="Helvetica Neue"/>
                <a:ea typeface="Helvetica Neue"/>
                <a:cs typeface="Helvetica Neue"/>
                <a:sym typeface="Helvetica Neue"/>
              </a:rPr>
              <a:t>SaaS</a:t>
            </a:r>
            <a:r>
              <a:rPr b="0" i="0" lang="en-US" sz="1600" u="none" cap="none" strike="noStrike">
                <a:solidFill>
                  <a:schemeClr val="dk1"/>
                </a:solidFill>
                <a:latin typeface="Helvetica Neue"/>
                <a:ea typeface="Helvetica Neue"/>
                <a:cs typeface="Helvetica Neue"/>
                <a:sym typeface="Helvetica Neue"/>
              </a:rPr>
              <a:t>) – one or more applications available via the Internet (i.e., word processor)</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Platform as a Service (</a:t>
            </a:r>
            <a:r>
              <a:rPr b="1" i="0" lang="en-US" sz="1600" u="none" cap="none" strike="noStrike">
                <a:solidFill>
                  <a:srgbClr val="3366FF"/>
                </a:solidFill>
                <a:latin typeface="Helvetica Neue"/>
                <a:ea typeface="Helvetica Neue"/>
                <a:cs typeface="Helvetica Neue"/>
                <a:sym typeface="Helvetica Neue"/>
              </a:rPr>
              <a:t>PaaS</a:t>
            </a:r>
            <a:r>
              <a:rPr b="0" i="0" lang="en-US" sz="1600" u="none" cap="none" strike="noStrike">
                <a:solidFill>
                  <a:schemeClr val="dk1"/>
                </a:solidFill>
                <a:latin typeface="Helvetica Neue"/>
                <a:ea typeface="Helvetica Neue"/>
                <a:cs typeface="Helvetica Neue"/>
                <a:sym typeface="Helvetica Neue"/>
              </a:rPr>
              <a:t>) – software stack ready for application use via the Internet (i.e., a database server)</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Infrastructure as a Service (</a:t>
            </a:r>
            <a:r>
              <a:rPr b="1" i="0" lang="en-US" sz="1600" u="none" cap="none" strike="noStrike">
                <a:solidFill>
                  <a:srgbClr val="3366FF"/>
                </a:solidFill>
                <a:latin typeface="Helvetica Neue"/>
                <a:ea typeface="Helvetica Neue"/>
                <a:cs typeface="Helvetica Neue"/>
                <a:sym typeface="Helvetica Neue"/>
              </a:rPr>
              <a:t>IaaS</a:t>
            </a:r>
            <a:r>
              <a:rPr b="0" i="0" lang="en-US" sz="1600" u="none" cap="none" strike="noStrike">
                <a:solidFill>
                  <a:schemeClr val="dk1"/>
                </a:solidFill>
                <a:latin typeface="Helvetica Neue"/>
                <a:ea typeface="Helvetica Neue"/>
                <a:cs typeface="Helvetica Neue"/>
                <a:sym typeface="Helvetica Neue"/>
              </a:rPr>
              <a:t>) – servers or storage available over Internet (i.e., storage available for backup use)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7"/>
          <p:cNvSpPr txBox="1"/>
          <p:nvPr>
            <p:ph idx="4294967295" type="title"/>
          </p:nvPr>
        </p:nvSpPr>
        <p:spPr>
          <a:xfrm>
            <a:off x="1109662" y="73025"/>
            <a:ext cx="76454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400"/>
              <a:buFont typeface="Arial"/>
              <a:buNone/>
            </a:pPr>
            <a:r>
              <a:rPr b="1" i="0" lang="en-US" sz="2400" u="none" cap="none" strike="noStrike">
                <a:solidFill>
                  <a:srgbClr val="006699"/>
                </a:solidFill>
                <a:latin typeface="Arial"/>
                <a:ea typeface="Arial"/>
                <a:cs typeface="Arial"/>
                <a:sym typeface="Arial"/>
              </a:rPr>
              <a:t>Computing Environments – Cloud Computing</a:t>
            </a:r>
            <a:endParaRPr/>
          </a:p>
        </p:txBody>
      </p:sp>
      <p:sp>
        <p:nvSpPr>
          <p:cNvPr id="417" name="Google Shape;417;p57"/>
          <p:cNvSpPr txBox="1"/>
          <p:nvPr>
            <p:ph idx="4294967295" type="body"/>
          </p:nvPr>
        </p:nvSpPr>
        <p:spPr>
          <a:xfrm>
            <a:off x="854075" y="1092200"/>
            <a:ext cx="7154862" cy="1571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Cloud computing environments composed of traditional OSes, plus VMMs, plus cloud management tools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Internet connectivity requires security like firewalls</a:t>
            </a:r>
            <a:endParaRPr b="0" i="0" sz="800" u="none" cap="none" strike="noStrike">
              <a:solidFill>
                <a:schemeClr val="dk1"/>
              </a:solidFill>
              <a:latin typeface="Helvetica Neue"/>
              <a:ea typeface="Helvetica Neue"/>
              <a:cs typeface="Helvetica Neue"/>
              <a:sym typeface="Helvetica Neue"/>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Load balancers spread traffic across multiple applications</a:t>
            </a:r>
            <a:endParaRPr/>
          </a:p>
        </p:txBody>
      </p:sp>
      <p:pic>
        <p:nvPicPr>
          <p:cNvPr descr="1_21.pdf" id="418" name="Google Shape;418;p57"/>
          <p:cNvPicPr preferRelativeResize="0"/>
          <p:nvPr/>
        </p:nvPicPr>
        <p:blipFill rotWithShape="1">
          <a:blip r:embed="rId3">
            <a:alphaModFix/>
          </a:blip>
          <a:srcRect b="0" l="0" r="0" t="0"/>
          <a:stretch/>
        </p:blipFill>
        <p:spPr>
          <a:xfrm>
            <a:off x="2427287" y="2800350"/>
            <a:ext cx="4119562" cy="32607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8"/>
          <p:cNvSpPr txBox="1"/>
          <p:nvPr>
            <p:ph idx="4294967295" type="title"/>
          </p:nvPr>
        </p:nvSpPr>
        <p:spPr>
          <a:xfrm>
            <a:off x="1058862" y="73025"/>
            <a:ext cx="8229600"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000"/>
              <a:buFont typeface="Arial"/>
              <a:buNone/>
            </a:pPr>
            <a:r>
              <a:rPr b="1" i="0" lang="en-US" sz="2000" u="none" cap="none" strike="noStrike">
                <a:solidFill>
                  <a:srgbClr val="006699"/>
                </a:solidFill>
                <a:latin typeface="Arial"/>
                <a:ea typeface="Arial"/>
                <a:cs typeface="Arial"/>
                <a:sym typeface="Arial"/>
              </a:rPr>
              <a:t>Computing Environments – Real-Time Embedded Systems</a:t>
            </a:r>
            <a:endParaRPr/>
          </a:p>
        </p:txBody>
      </p:sp>
      <p:sp>
        <p:nvSpPr>
          <p:cNvPr id="424" name="Google Shape;424;p58"/>
          <p:cNvSpPr txBox="1"/>
          <p:nvPr>
            <p:ph idx="4294967295" type="body"/>
          </p:nvPr>
        </p:nvSpPr>
        <p:spPr>
          <a:xfrm>
            <a:off x="854075" y="1154112"/>
            <a:ext cx="7245350"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Real-time embedded systems most prevalent form of computers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Vary considerable, special purpose, limited purpose OS,    </a:t>
            </a:r>
            <a:r>
              <a:rPr b="1" i="0" lang="en-US" sz="1800" u="none" cap="none" strike="noStrike">
                <a:solidFill>
                  <a:srgbClr val="3366FF"/>
                </a:solidFill>
                <a:latin typeface="Helvetica Neue"/>
                <a:ea typeface="Helvetica Neue"/>
                <a:cs typeface="Helvetica Neue"/>
                <a:sym typeface="Helvetica Neue"/>
              </a:rPr>
              <a:t>real-time OS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Use expanding</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Many other special computing environments as well</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Some have OSes, some perform tasks without an OS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Real-time OS has well-defined fixed time constraints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Processing </a:t>
            </a:r>
            <a:r>
              <a:rPr b="1" i="1" lang="en-US" sz="1800" u="none" cap="none" strike="noStrike">
                <a:solidFill>
                  <a:schemeClr val="dk1"/>
                </a:solidFill>
                <a:latin typeface="Helvetica Neue"/>
                <a:ea typeface="Helvetica Neue"/>
                <a:cs typeface="Helvetica Neue"/>
                <a:sym typeface="Helvetica Neue"/>
              </a:rPr>
              <a:t>must</a:t>
            </a:r>
            <a:r>
              <a:rPr b="0" i="0" lang="en-US" sz="1800" u="none" cap="none" strike="noStrike">
                <a:solidFill>
                  <a:schemeClr val="dk1"/>
                </a:solidFill>
                <a:latin typeface="Helvetica Neue"/>
                <a:ea typeface="Helvetica Neue"/>
                <a:cs typeface="Helvetica Neue"/>
                <a:sym typeface="Helvetica Neue"/>
              </a:rPr>
              <a:t> be done within constraint</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Correct operation only if constraints met</a:t>
            </a:r>
            <a:endParaRPr/>
          </a:p>
          <a:p>
            <a:pPr indent="-240030" lvl="0" marL="342900" marR="0" rtl="0" algn="l">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9"/>
          <p:cNvSpPr txBox="1"/>
          <p:nvPr>
            <p:ph idx="4294967295" type="title"/>
          </p:nvPr>
        </p:nvSpPr>
        <p:spPr>
          <a:xfrm>
            <a:off x="982662" y="127000"/>
            <a:ext cx="7704137"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2800"/>
              <a:buFont typeface="Arial"/>
              <a:buNone/>
            </a:pPr>
            <a:r>
              <a:rPr b="1" i="0" lang="en-US" sz="2800" u="none" cap="none" strike="noStrike">
                <a:solidFill>
                  <a:srgbClr val="006699"/>
                </a:solidFill>
                <a:latin typeface="Arial"/>
                <a:ea typeface="Arial"/>
                <a:cs typeface="Arial"/>
                <a:sym typeface="Arial"/>
              </a:rPr>
              <a:t>Free and Open-Source Operating Systems</a:t>
            </a:r>
            <a:endParaRPr/>
          </a:p>
        </p:txBody>
      </p:sp>
      <p:sp>
        <p:nvSpPr>
          <p:cNvPr id="430" name="Google Shape;430;p59"/>
          <p:cNvSpPr txBox="1"/>
          <p:nvPr>
            <p:ph idx="4294967295" type="body"/>
          </p:nvPr>
        </p:nvSpPr>
        <p:spPr>
          <a:xfrm>
            <a:off x="806450" y="1233487"/>
            <a:ext cx="7186612" cy="45307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Operating systems made available in source-code format rather than just binary </a:t>
            </a:r>
            <a:r>
              <a:rPr b="1" i="0" lang="en-US" sz="1800" u="none">
                <a:solidFill>
                  <a:srgbClr val="3366FF"/>
                </a:solidFill>
                <a:latin typeface="Helvetica Neue"/>
                <a:ea typeface="Helvetica Neue"/>
                <a:cs typeface="Helvetica Neue"/>
                <a:sym typeface="Helvetica Neue"/>
              </a:rPr>
              <a:t>closed-source </a:t>
            </a:r>
            <a:r>
              <a:rPr b="0" i="0" lang="en-US" sz="1800" u="none">
                <a:solidFill>
                  <a:schemeClr val="dk1"/>
                </a:solidFill>
                <a:latin typeface="Helvetica Neue"/>
                <a:ea typeface="Helvetica Neue"/>
                <a:cs typeface="Helvetica Neue"/>
                <a:sym typeface="Helvetica Neue"/>
              </a:rPr>
              <a:t>and</a:t>
            </a:r>
            <a:r>
              <a:rPr b="1" i="0" lang="en-US" sz="1800" u="none">
                <a:solidFill>
                  <a:srgbClr val="3366FF"/>
                </a:solidFill>
                <a:latin typeface="Helvetica Neue"/>
                <a:ea typeface="Helvetica Neue"/>
                <a:cs typeface="Helvetica Neue"/>
                <a:sym typeface="Helvetica Neue"/>
              </a:rPr>
              <a:t> proprietary</a:t>
            </a:r>
            <a:endParaRPr b="1" i="0" sz="800" u="none">
              <a:solidFill>
                <a:srgbClr val="3366FF"/>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Counter to the </a:t>
            </a:r>
            <a:r>
              <a:rPr b="1" i="0" lang="en-US" sz="1800" u="none">
                <a:solidFill>
                  <a:srgbClr val="3366FF"/>
                </a:solidFill>
                <a:latin typeface="Helvetica Neue"/>
                <a:ea typeface="Helvetica Neue"/>
                <a:cs typeface="Helvetica Neue"/>
                <a:sym typeface="Helvetica Neue"/>
              </a:rPr>
              <a:t>copy protection</a:t>
            </a:r>
            <a:r>
              <a:rPr b="0" i="0" lang="en-US" sz="1800" u="none">
                <a:solidFill>
                  <a:srgbClr val="3366FF"/>
                </a:solidFill>
                <a:latin typeface="Helvetica Neue"/>
                <a:ea typeface="Helvetica Neue"/>
                <a:cs typeface="Helvetica Neue"/>
                <a:sym typeface="Helvetica Neue"/>
              </a:rPr>
              <a:t> </a:t>
            </a:r>
            <a:r>
              <a:rPr b="0" i="0" lang="en-US" sz="1800" u="none">
                <a:solidFill>
                  <a:srgbClr val="000000"/>
                </a:solidFill>
                <a:latin typeface="Helvetica Neue"/>
                <a:ea typeface="Helvetica Neue"/>
                <a:cs typeface="Helvetica Neue"/>
                <a:sym typeface="Helvetica Neue"/>
              </a:rPr>
              <a:t>and </a:t>
            </a:r>
            <a:r>
              <a:rPr b="1" i="0" lang="en-US" sz="1800" u="none">
                <a:solidFill>
                  <a:srgbClr val="3366FF"/>
                </a:solidFill>
                <a:latin typeface="Helvetica Neue"/>
                <a:ea typeface="Helvetica Neue"/>
                <a:cs typeface="Helvetica Neue"/>
                <a:sym typeface="Helvetica Neue"/>
              </a:rPr>
              <a:t>Digital Rights Management (DRM)</a:t>
            </a:r>
            <a:r>
              <a:rPr b="0" i="0" lang="en-US" sz="1800" u="none">
                <a:solidFill>
                  <a:srgbClr val="3366FF"/>
                </a:solidFill>
                <a:latin typeface="Helvetica Neue"/>
                <a:ea typeface="Helvetica Neue"/>
                <a:cs typeface="Helvetica Neue"/>
                <a:sym typeface="Helvetica Neue"/>
              </a:rPr>
              <a:t> </a:t>
            </a:r>
            <a:r>
              <a:rPr b="0" i="0" lang="en-US" sz="1800" u="none">
                <a:solidFill>
                  <a:srgbClr val="000000"/>
                </a:solidFill>
                <a:latin typeface="Helvetica Neue"/>
                <a:ea typeface="Helvetica Neue"/>
                <a:cs typeface="Helvetica Neue"/>
                <a:sym typeface="Helvetica Neue"/>
              </a:rPr>
              <a:t>movement</a:t>
            </a:r>
            <a:endParaRPr b="0" i="0" sz="800" u="none">
              <a:solidFill>
                <a:srgbClr val="000000"/>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rgbClr val="000000"/>
                </a:solidFill>
                <a:latin typeface="Helvetica Neue"/>
                <a:ea typeface="Helvetica Neue"/>
                <a:cs typeface="Helvetica Neue"/>
                <a:sym typeface="Helvetica Neue"/>
              </a:rPr>
              <a:t>Started by </a:t>
            </a:r>
            <a:r>
              <a:rPr b="1" i="0" lang="en-US" sz="1800" u="none">
                <a:solidFill>
                  <a:srgbClr val="3366FF"/>
                </a:solidFill>
                <a:latin typeface="Helvetica Neue"/>
                <a:ea typeface="Helvetica Neue"/>
                <a:cs typeface="Helvetica Neue"/>
                <a:sym typeface="Helvetica Neue"/>
              </a:rPr>
              <a:t>Free Software Foundation (FSF)</a:t>
            </a:r>
            <a:r>
              <a:rPr b="0" i="0" lang="en-US" sz="1800" u="none">
                <a:solidFill>
                  <a:srgbClr val="000000"/>
                </a:solidFill>
                <a:latin typeface="Helvetica Neue"/>
                <a:ea typeface="Helvetica Neue"/>
                <a:cs typeface="Helvetica Neue"/>
                <a:sym typeface="Helvetica Neue"/>
              </a:rPr>
              <a:t>, which has “copyleft” </a:t>
            </a:r>
            <a:r>
              <a:rPr b="1" i="0" lang="en-US" sz="1800" u="none">
                <a:solidFill>
                  <a:srgbClr val="3366FF"/>
                </a:solidFill>
                <a:latin typeface="Helvetica Neue"/>
                <a:ea typeface="Helvetica Neue"/>
                <a:cs typeface="Helvetica Neue"/>
                <a:sym typeface="Helvetica Neue"/>
              </a:rPr>
              <a:t>GNU Public License (GPL)</a:t>
            </a:r>
            <a:endParaRPr/>
          </a:p>
          <a:p>
            <a:pPr indent="-285750" lvl="1" marL="742950" marR="0" rtl="0" algn="l">
              <a:lnSpc>
                <a:spcPct val="100000"/>
              </a:lnSpc>
              <a:spcBef>
                <a:spcPts val="560"/>
              </a:spcBef>
              <a:spcAft>
                <a:spcPts val="0"/>
              </a:spcAft>
              <a:buClr>
                <a:srgbClr val="CC6600"/>
              </a:buClr>
              <a:buSzPts val="1280"/>
              <a:buFont typeface="Arial"/>
              <a:buChar char="●"/>
            </a:pPr>
            <a:r>
              <a:rPr b="0" i="0" lang="en-US" sz="1600" u="none" cap="none" strike="noStrike">
                <a:solidFill>
                  <a:schemeClr val="dk1"/>
                </a:solidFill>
                <a:latin typeface="Helvetica Neue"/>
                <a:ea typeface="Helvetica Neue"/>
                <a:cs typeface="Helvetica Neue"/>
                <a:sym typeface="Helvetica Neue"/>
              </a:rPr>
              <a:t>Free software and open-source software are two different ideas championed by different groups of people</a:t>
            </a:r>
            <a:endParaRPr/>
          </a:p>
          <a:p>
            <a:pPr indent="-228600" lvl="2" marL="1085850" marR="0" rtl="0" algn="l">
              <a:lnSpc>
                <a:spcPct val="100000"/>
              </a:lnSpc>
              <a:spcBef>
                <a:spcPts val="560"/>
              </a:spcBef>
              <a:spcAft>
                <a:spcPts val="0"/>
              </a:spcAft>
              <a:buClr>
                <a:srgbClr val="009900"/>
              </a:buClr>
              <a:buSzPts val="1200"/>
              <a:buFont typeface="Arimo"/>
              <a:buChar char="4"/>
            </a:pPr>
            <a:r>
              <a:rPr b="0" i="0" lang="en-US" sz="1600" u="sng" cap="none" strike="noStrike">
                <a:solidFill>
                  <a:schemeClr val="dk1"/>
                </a:solidFill>
                <a:latin typeface="Helvetica Neue"/>
                <a:ea typeface="Helvetica Neue"/>
                <a:cs typeface="Helvetica Neue"/>
                <a:sym typeface="Helvetica Neue"/>
                <a:hlinkClick r:id="rId3">
                  <a:extLst>
                    <a:ext uri="{A12FA001-AC4F-418D-AE19-62706E023703}">
                      <ahyp:hlinkClr val="tx"/>
                    </a:ext>
                  </a:extLst>
                </a:hlinkClick>
              </a:rPr>
              <a:t>http://gnu.org/philosophy/open-source-misses-the-point.html/</a:t>
            </a:r>
            <a:r>
              <a:rPr b="0" i="0" lang="en-US" sz="1600" u="none" cap="none" strike="noStrike">
                <a:solidFill>
                  <a:schemeClr val="dk1"/>
                </a:solidFill>
                <a:latin typeface="Helvetica Neue"/>
                <a:ea typeface="Helvetica Neue"/>
                <a:cs typeface="Helvetica Neue"/>
                <a:sym typeface="Helvetica Neue"/>
              </a:rPr>
              <a:t> </a:t>
            </a:r>
            <a:endParaRPr b="1" i="0" sz="1600" u="none" cap="none" strike="noStrike">
              <a:solidFill>
                <a:srgbClr val="3366FF"/>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rgbClr val="000000"/>
                </a:solidFill>
                <a:latin typeface="Helvetica Neue"/>
                <a:ea typeface="Helvetica Neue"/>
                <a:cs typeface="Helvetica Neue"/>
                <a:sym typeface="Helvetica Neue"/>
              </a:rPr>
              <a:t>Examples include </a:t>
            </a:r>
            <a:r>
              <a:rPr b="1" i="0" lang="en-US" sz="1800" u="none">
                <a:solidFill>
                  <a:srgbClr val="3366FF"/>
                </a:solidFill>
                <a:latin typeface="Helvetica Neue"/>
                <a:ea typeface="Helvetica Neue"/>
                <a:cs typeface="Helvetica Neue"/>
                <a:sym typeface="Helvetica Neue"/>
              </a:rPr>
              <a:t>GNU/Linux</a:t>
            </a:r>
            <a:r>
              <a:rPr b="0" i="0" lang="en-US" sz="1800" u="none">
                <a:solidFill>
                  <a:schemeClr val="dk1"/>
                </a:solidFill>
                <a:latin typeface="Helvetica Neue"/>
                <a:ea typeface="Helvetica Neue"/>
                <a:cs typeface="Helvetica Neue"/>
                <a:sym typeface="Helvetica Neue"/>
              </a:rPr>
              <a:t> and </a:t>
            </a:r>
            <a:r>
              <a:rPr b="1" i="0" lang="en-US" sz="1800" u="none">
                <a:solidFill>
                  <a:srgbClr val="3366FF"/>
                </a:solidFill>
                <a:latin typeface="Helvetica Neue"/>
                <a:ea typeface="Helvetica Neue"/>
                <a:cs typeface="Helvetica Neue"/>
                <a:sym typeface="Helvetica Neue"/>
              </a:rPr>
              <a:t>BSD UNIX</a:t>
            </a:r>
            <a:r>
              <a:rPr b="0" i="0" lang="en-US" sz="1800" u="none">
                <a:solidFill>
                  <a:srgbClr val="3366FF"/>
                </a:solidFill>
                <a:latin typeface="Helvetica Neue"/>
                <a:ea typeface="Helvetica Neue"/>
                <a:cs typeface="Helvetica Neue"/>
                <a:sym typeface="Helvetica Neue"/>
              </a:rPr>
              <a:t> </a:t>
            </a:r>
            <a:r>
              <a:rPr b="0" i="0" lang="en-US" sz="1800" u="none">
                <a:solidFill>
                  <a:srgbClr val="000000"/>
                </a:solidFill>
                <a:latin typeface="Helvetica Neue"/>
                <a:ea typeface="Helvetica Neue"/>
                <a:cs typeface="Helvetica Neue"/>
                <a:sym typeface="Helvetica Neue"/>
              </a:rPr>
              <a:t>(including core of </a:t>
            </a:r>
            <a:r>
              <a:rPr b="1" i="0" lang="en-US" sz="1800" u="none">
                <a:solidFill>
                  <a:srgbClr val="3366FF"/>
                </a:solidFill>
                <a:latin typeface="Helvetica Neue"/>
                <a:ea typeface="Helvetica Neue"/>
                <a:cs typeface="Helvetica Neue"/>
                <a:sym typeface="Helvetica Neue"/>
              </a:rPr>
              <a:t>Mac OS X</a:t>
            </a:r>
            <a:r>
              <a:rPr b="0" i="0" lang="en-US" sz="1800" u="none">
                <a:solidFill>
                  <a:srgbClr val="000000"/>
                </a:solidFill>
                <a:latin typeface="Helvetica Neue"/>
                <a:ea typeface="Helvetica Neue"/>
                <a:cs typeface="Helvetica Neue"/>
                <a:sym typeface="Helvetica Neue"/>
              </a:rPr>
              <a:t>), and many more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rgbClr val="000000"/>
                </a:solidFill>
                <a:latin typeface="Helvetica Neue"/>
                <a:ea typeface="Helvetica Neue"/>
                <a:cs typeface="Helvetica Neue"/>
                <a:sym typeface="Helvetica Neue"/>
              </a:rPr>
              <a:t>Can use VMM like VMware Player (Free on Windows), Virtualbox (open source and free on many platforms - </a:t>
            </a:r>
            <a:r>
              <a:rPr b="0" i="0" lang="en-US" sz="1800" u="none">
                <a:solidFill>
                  <a:schemeClr val="dk1"/>
                </a:solidFill>
                <a:latin typeface="Helvetica Neue"/>
                <a:ea typeface="Helvetica Neue"/>
                <a:cs typeface="Helvetica Neue"/>
                <a:sym typeface="Helvetica Neue"/>
              </a:rPr>
              <a:t>http://www.virtualbox.com) </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rgbClr val="000000"/>
                </a:solidFill>
                <a:latin typeface="Helvetica Neue"/>
                <a:ea typeface="Helvetica Neue"/>
                <a:cs typeface="Helvetica Neue"/>
                <a:sym typeface="Helvetica Neue"/>
              </a:rPr>
              <a:t>Use to run guest operating systems for exploration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0"/>
          <p:cNvSpPr txBox="1"/>
          <p:nvPr>
            <p:ph idx="4294967295" type="title"/>
          </p:nvPr>
        </p:nvSpPr>
        <p:spPr>
          <a:xfrm>
            <a:off x="1033462" y="198437"/>
            <a:ext cx="8024812" cy="576262"/>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rgbClr val="006699"/>
              </a:buClr>
              <a:buSzPts val="3200"/>
              <a:buFont typeface="Arial"/>
              <a:buNone/>
            </a:pPr>
            <a:r>
              <a:rPr b="1" i="0" lang="en-US" sz="3200" u="none" cap="none" strike="noStrike">
                <a:solidFill>
                  <a:srgbClr val="006699"/>
                </a:solidFill>
                <a:latin typeface="Arial"/>
                <a:ea typeface="Arial"/>
                <a:cs typeface="Arial"/>
                <a:sym typeface="Arial"/>
              </a:rPr>
              <a:t>The Study of Operating Systems</a:t>
            </a:r>
            <a:endParaRPr/>
          </a:p>
        </p:txBody>
      </p:sp>
      <p:sp>
        <p:nvSpPr>
          <p:cNvPr id="436" name="Google Shape;436;p60"/>
          <p:cNvSpPr txBox="1"/>
          <p:nvPr/>
        </p:nvSpPr>
        <p:spPr>
          <a:xfrm>
            <a:off x="647700" y="1222375"/>
            <a:ext cx="7920037" cy="4703762"/>
          </a:xfrm>
          <a:prstGeom prst="rect">
            <a:avLst/>
          </a:prstGeom>
          <a:solidFill>
            <a:srgbClr val="CEEBF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There has never been a more interesting time to study operating systems, and it has never been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easier. The open-source movement has overtaken operating systems, causing many of them to be</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made available in both source and binary (executable) format. The list of operating</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systems available in both formats includes Linux, BUSD UNIX, Solaris, and part of macOS.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The availability of source code allows us to study operating systems from the inside out.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Questions that we could once answer only by looking at documentation or the behavior of an</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operating system we can now answer by examining the code itself.</a:t>
            </a:r>
            <a:endParaRPr/>
          </a:p>
          <a:p>
            <a:pPr indent="0" lvl="0" marL="0" marR="0" rtl="0" algn="l">
              <a:lnSpc>
                <a:spcPct val="100000"/>
              </a:lnSpc>
              <a:spcBef>
                <a:spcPts val="0"/>
              </a:spcBef>
              <a:spcAft>
                <a:spcPts val="0"/>
              </a:spcAft>
              <a:buClr>
                <a:schemeClr val="dk1"/>
              </a:buClr>
              <a:buSzPts val="1200"/>
              <a:buFont typeface="Verdana"/>
              <a:buNone/>
            </a:pPr>
            <a:r>
              <a:t/>
            </a:r>
            <a:endParaRPr b="0"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Operating systems that are no longer commercially viable have been open-sourced as well, enabling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us to study how systems operated in a time of fewer CPU, memory, and storage resources.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An extensive but incomplete list of open-source operating-system projects is available</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from http://dmoz.org/Computers/Software/Operating_Systems/Open_Source/</a:t>
            </a:r>
            <a:endParaRPr/>
          </a:p>
          <a:p>
            <a:pPr indent="0" lvl="0" marL="0" marR="0" rtl="0" algn="l">
              <a:lnSpc>
                <a:spcPct val="100000"/>
              </a:lnSpc>
              <a:spcBef>
                <a:spcPts val="0"/>
              </a:spcBef>
              <a:spcAft>
                <a:spcPts val="0"/>
              </a:spcAft>
              <a:buClr>
                <a:schemeClr val="dk1"/>
              </a:buClr>
              <a:buSzPts val="1200"/>
              <a:buFont typeface="Verdana"/>
              <a:buNone/>
            </a:pPr>
            <a:r>
              <a:t/>
            </a:r>
            <a:endParaRPr b="0"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In addition, the rise of virtualization as a mainstream (and frequently free) computer function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makes it possible to run many operating systems on top of one core system. For example, VMware</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(http://www.vmware.com) providesa free “player” for Windows on which hundreds of free</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“virtual appliances” can run. Virtualbox (http://www.virtualbox.com) provides a free, open-source</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virtual machine manager on many operating systems. Using such tools, students can try out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hundreds of operating systems without dedicated hardware.</a:t>
            </a:r>
            <a:endParaRPr/>
          </a:p>
          <a:p>
            <a:pPr indent="0" lvl="0" marL="0" marR="0" rtl="0" algn="l">
              <a:lnSpc>
                <a:spcPct val="100000"/>
              </a:lnSpc>
              <a:spcBef>
                <a:spcPts val="0"/>
              </a:spcBef>
              <a:spcAft>
                <a:spcPts val="0"/>
              </a:spcAft>
              <a:buClr>
                <a:schemeClr val="dk1"/>
              </a:buClr>
              <a:buSzPts val="1200"/>
              <a:buFont typeface="Verdana"/>
              <a:buNone/>
            </a:pPr>
            <a:r>
              <a:t/>
            </a:r>
            <a:endParaRPr b="0" i="0" sz="1200" u="non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The advent of open-source operating systems has also made it easier to make the move from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student to operating-system developer. With some knowledge, some effort, and an Internet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connection, a student can even create a new operating-system distribution. Just a few years ago, </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it was difficult or impossible to get access to source code. Now, such access is limited only by</a:t>
            </a:r>
            <a:endParaRPr/>
          </a:p>
          <a:p>
            <a:pPr indent="0" lvl="0" marL="0" marR="0" rtl="0" algn="l">
              <a:lnSpc>
                <a:spcPct val="100000"/>
              </a:lnSpc>
              <a:spcBef>
                <a:spcPts val="0"/>
              </a:spcBef>
              <a:spcAft>
                <a:spcPts val="0"/>
              </a:spcAft>
              <a:buClr>
                <a:schemeClr val="dk1"/>
              </a:buClr>
              <a:buSzPts val="1200"/>
              <a:buFont typeface="Verdana"/>
              <a:buNone/>
            </a:pPr>
            <a:r>
              <a:rPr b="0" i="0" lang="en-US" sz="1200" u="none">
                <a:solidFill>
                  <a:schemeClr val="dk1"/>
                </a:solidFill>
                <a:latin typeface="Verdana"/>
                <a:ea typeface="Verdana"/>
                <a:cs typeface="Verdana"/>
                <a:sym typeface="Verdana"/>
              </a:rPr>
              <a:t>how much interest, time, and disk space a student has.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1"/>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006699"/>
              </a:buClr>
              <a:buSzPts val="4300"/>
              <a:buFont typeface="Arial"/>
              <a:buNone/>
            </a:pPr>
            <a:r>
              <a:rPr b="1" i="0" lang="en-US" sz="4300" u="none">
                <a:solidFill>
                  <a:srgbClr val="006699"/>
                </a:solidFill>
                <a:latin typeface="Arial"/>
                <a:ea typeface="Arial"/>
                <a:cs typeface="Arial"/>
                <a:sym typeface="Arial"/>
              </a:rPr>
              <a:t>End of Chapter 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

<file path=docProps/custom.xml><?xml version="1.0" encoding="utf-8"?>
<Properties xmlns="http://schemas.openxmlformats.org/officeDocument/2006/custom-properties" xmlns:vt="http://schemas.openxmlformats.org/officeDocument/2006/docPropsVTypes"/>
</file>