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6" r:id="rId4"/>
    <p:sldId id="284" r:id="rId5"/>
    <p:sldId id="285" r:id="rId6"/>
    <p:sldId id="286" r:id="rId7"/>
    <p:sldId id="291" r:id="rId8"/>
    <p:sldId id="295" r:id="rId9"/>
    <p:sldId id="294" r:id="rId10"/>
    <p:sldId id="289" r:id="rId11"/>
    <p:sldId id="287" r:id="rId12"/>
    <p:sldId id="288" r:id="rId13"/>
    <p:sldId id="297" r:id="rId14"/>
    <p:sldId id="298" r:id="rId15"/>
    <p:sldId id="299" r:id="rId16"/>
    <p:sldId id="300" r:id="rId17"/>
    <p:sldId id="301" r:id="rId18"/>
    <p:sldId id="302" r:id="rId19"/>
    <p:sldId id="29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84" autoAdjust="0"/>
  </p:normalViewPr>
  <p:slideViewPr>
    <p:cSldViewPr snapToGrid="0">
      <p:cViewPr varScale="1">
        <p:scale>
          <a:sx n="74" d="100"/>
          <a:sy n="74" d="100"/>
        </p:scale>
        <p:origin x="104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8EA228E-C830-463D-8508-B4E1D7B0B3EB}"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3730664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EA228E-C830-463D-8508-B4E1D7B0B3EB}"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2581620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EA228E-C830-463D-8508-B4E1D7B0B3EB}"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1333727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EA228E-C830-463D-8508-B4E1D7B0B3EB}"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44615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EA228E-C830-463D-8508-B4E1D7B0B3EB}"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3096868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EA228E-C830-463D-8508-B4E1D7B0B3EB}"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1851527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EA228E-C830-463D-8508-B4E1D7B0B3EB}"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21931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EA228E-C830-463D-8508-B4E1D7B0B3EB}"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2508742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EA228E-C830-463D-8508-B4E1D7B0B3EB}"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144927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EA228E-C830-463D-8508-B4E1D7B0B3EB}"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185843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EA228E-C830-463D-8508-B4E1D7B0B3EB}"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0C28E-4141-47EF-86BB-1F45FC2054F0}" type="slidenum">
              <a:rPr lang="en-US" smtClean="0"/>
              <a:t>‹#›</a:t>
            </a:fld>
            <a:endParaRPr lang="en-US"/>
          </a:p>
        </p:txBody>
      </p:sp>
    </p:spTree>
    <p:extLst>
      <p:ext uri="{BB962C8B-B14F-4D97-AF65-F5344CB8AC3E}">
        <p14:creationId xmlns:p14="http://schemas.microsoft.com/office/powerpoint/2010/main" val="2608927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A228E-C830-463D-8508-B4E1D7B0B3EB}" type="datetimeFigureOut">
              <a:rPr lang="en-US" smtClean="0"/>
              <a:t>8/26/2026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E0C28E-4141-47EF-86BB-1F45FC2054F0}" type="slidenum">
              <a:rPr lang="en-US" smtClean="0"/>
              <a:t>‹#›</a:t>
            </a:fld>
            <a:endParaRPr lang="en-US"/>
          </a:p>
        </p:txBody>
      </p:sp>
    </p:spTree>
    <p:extLst>
      <p:ext uri="{BB962C8B-B14F-4D97-AF65-F5344CB8AC3E}">
        <p14:creationId xmlns:p14="http://schemas.microsoft.com/office/powerpoint/2010/main" val="1341378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6572" y="2039815"/>
            <a:ext cx="11426690" cy="1997614"/>
          </a:xfrm>
        </p:spPr>
        <p:txBody>
          <a:bodyPr>
            <a:normAutofit/>
          </a:bodyPr>
          <a:lstStyle/>
          <a:p>
            <a:r>
              <a:rPr lang="en-US" sz="2800" b="1" dirty="0"/>
              <a:t>Cold War Geopolitics and </a:t>
            </a:r>
            <a:r>
              <a:rPr lang="en-US" sz="2800" b="1" dirty="0">
                <a:solidFill>
                  <a:srgbClr val="FF0000"/>
                </a:solidFill>
              </a:rPr>
              <a:t>Great Game </a:t>
            </a:r>
            <a:r>
              <a:rPr lang="en-US" sz="2800" b="1" dirty="0"/>
              <a:t>by Great Powers in 1971  </a:t>
            </a:r>
          </a:p>
        </p:txBody>
      </p:sp>
    </p:spTree>
    <p:extLst>
      <p:ext uri="{BB962C8B-B14F-4D97-AF65-F5344CB8AC3E}">
        <p14:creationId xmlns:p14="http://schemas.microsoft.com/office/powerpoint/2010/main" val="156505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2769821"/>
          </a:xfrm>
        </p:spPr>
        <p:style>
          <a:lnRef idx="1">
            <a:schemeClr val="dk1"/>
          </a:lnRef>
          <a:fillRef idx="2">
            <a:schemeClr val="dk1"/>
          </a:fillRef>
          <a:effectRef idx="1">
            <a:schemeClr val="dk1"/>
          </a:effectRef>
          <a:fontRef idx="minor">
            <a:schemeClr val="dk1"/>
          </a:fontRef>
        </p:style>
        <p:txBody>
          <a:bodyPr/>
          <a:lstStyle/>
          <a:p>
            <a:pPr algn="just"/>
            <a:r>
              <a:rPr lang="en-US" dirty="0"/>
              <a:t>To any Bangladeshi populace there are some stereotype answers about the causes for the emergence of Bangladesh in 1971. Most citizens would argue that the </a:t>
            </a:r>
            <a:r>
              <a:rPr lang="en-US" dirty="0">
                <a:solidFill>
                  <a:srgbClr val="FF0000"/>
                </a:solidFill>
              </a:rPr>
              <a:t>discrimination</a:t>
            </a:r>
            <a:r>
              <a:rPr lang="en-US" dirty="0"/>
              <a:t> between the Bengali and non-Bengali population was responsible for the disintegration of the two wings within a short span of 23 years of statehood. </a:t>
            </a:r>
          </a:p>
        </p:txBody>
      </p:sp>
    </p:spTree>
    <p:extLst>
      <p:ext uri="{BB962C8B-B14F-4D97-AF65-F5344CB8AC3E}">
        <p14:creationId xmlns:p14="http://schemas.microsoft.com/office/powerpoint/2010/main" val="106269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2584" y="1825625"/>
            <a:ext cx="9431215" cy="2734652"/>
          </a:xfrm>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a:t>Geopolitics</a:t>
            </a:r>
          </a:p>
          <a:p>
            <a:r>
              <a:rPr lang="en-US" dirty="0"/>
              <a:t>Cold War </a:t>
            </a:r>
          </a:p>
          <a:p>
            <a:r>
              <a:rPr lang="en-US" dirty="0"/>
              <a:t>Sino-Soviet Conflicts</a:t>
            </a:r>
          </a:p>
          <a:p>
            <a:r>
              <a:rPr lang="en-US" dirty="0"/>
              <a:t>Sino-Indian Rivalry </a:t>
            </a:r>
          </a:p>
          <a:p>
            <a:r>
              <a:rPr lang="en-US" dirty="0"/>
              <a:t>Nuclear powers Competition </a:t>
            </a:r>
          </a:p>
          <a:p>
            <a:endParaRPr lang="en-US" dirty="0"/>
          </a:p>
        </p:txBody>
      </p:sp>
    </p:spTree>
    <p:extLst>
      <p:ext uri="{BB962C8B-B14F-4D97-AF65-F5344CB8AC3E}">
        <p14:creationId xmlns:p14="http://schemas.microsoft.com/office/powerpoint/2010/main" val="2764662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33" y="365126"/>
            <a:ext cx="11759013" cy="832609"/>
          </a:xfrm>
        </p:spPr>
        <p:txBody>
          <a:bodyPr>
            <a:normAutofit fontScale="90000"/>
          </a:bodyPr>
          <a:lstStyle/>
          <a:p>
            <a:r>
              <a:rPr lang="en-US" dirty="0">
                <a:solidFill>
                  <a:srgbClr val="FF0000"/>
                </a:solidFill>
              </a:rPr>
              <a:t>Great and super powers in the emergence of Bangladesh </a:t>
            </a:r>
          </a:p>
        </p:txBody>
      </p:sp>
      <p:sp>
        <p:nvSpPr>
          <p:cNvPr id="3" name="Content Placeholder 2"/>
          <p:cNvSpPr>
            <a:spLocks noGrp="1"/>
          </p:cNvSpPr>
          <p:nvPr>
            <p:ph idx="1"/>
          </p:nvPr>
        </p:nvSpPr>
        <p:spPr>
          <a:xfrm>
            <a:off x="984738" y="1207478"/>
            <a:ext cx="10369062" cy="4853354"/>
          </a:xfrm>
        </p:spPr>
        <p:style>
          <a:lnRef idx="1">
            <a:schemeClr val="accent6"/>
          </a:lnRef>
          <a:fillRef idx="2">
            <a:schemeClr val="accent6"/>
          </a:fillRef>
          <a:effectRef idx="1">
            <a:schemeClr val="accent6"/>
          </a:effectRef>
          <a:fontRef idx="minor">
            <a:schemeClr val="dk1"/>
          </a:fontRef>
        </p:style>
        <p:txBody>
          <a:bodyPr>
            <a:normAutofit lnSpcReduction="10000"/>
          </a:bodyPr>
          <a:lstStyle/>
          <a:p>
            <a:r>
              <a:rPr lang="en-US" dirty="0"/>
              <a:t>India claimed that her involvement in the Bangladesh crisis was due to the influx of </a:t>
            </a:r>
            <a:r>
              <a:rPr lang="en-US" dirty="0">
                <a:solidFill>
                  <a:srgbClr val="FF0000"/>
                </a:solidFill>
              </a:rPr>
              <a:t>“ten million” refugees. </a:t>
            </a:r>
          </a:p>
          <a:p>
            <a:r>
              <a:rPr lang="en-US" dirty="0">
                <a:solidFill>
                  <a:srgbClr val="FF0000"/>
                </a:solidFill>
              </a:rPr>
              <a:t>Security scenarios that persisted between 1947-1953 led Pakistan to usher a new era of close alignment with the United States. Pakistan concluded a Muslim Defense Assistance Agreement with the USA on May 19, 1954. </a:t>
            </a:r>
          </a:p>
          <a:p>
            <a:r>
              <a:rPr lang="en-US" dirty="0"/>
              <a:t>Pakistan received economic and military aid from the big and super powers. </a:t>
            </a:r>
          </a:p>
          <a:p>
            <a:r>
              <a:rPr lang="en-US" dirty="0">
                <a:solidFill>
                  <a:srgbClr val="FF0000"/>
                </a:solidFill>
              </a:rPr>
              <a:t>In 1955, Pakistan signed another US-sponsored pact of mutual cooperation with Turkey, Iraq, and Great Britain and Iran, which become as the Baghdad Pact. It was later renamed as the Central Treaty Organization (CENTO) in 1958. </a:t>
            </a:r>
          </a:p>
        </p:txBody>
      </p:sp>
    </p:spTree>
    <p:extLst>
      <p:ext uri="{BB962C8B-B14F-4D97-AF65-F5344CB8AC3E}">
        <p14:creationId xmlns:p14="http://schemas.microsoft.com/office/powerpoint/2010/main" val="111540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740" y="444381"/>
            <a:ext cx="11029060" cy="5732582"/>
          </a:xfrm>
        </p:spPr>
        <p:txBody>
          <a:bodyPr/>
          <a:lstStyle/>
          <a:p>
            <a:pPr marL="0" indent="0">
              <a:buNone/>
            </a:pPr>
            <a:r>
              <a:rPr lang="en-US" dirty="0"/>
              <a:t>What role did the Soviet Union play during the 1971 crisis?</a:t>
            </a:r>
          </a:p>
          <a:p>
            <a:r>
              <a:rPr lang="en-US" dirty="0"/>
              <a:t>Polarized world system ( </a:t>
            </a:r>
            <a:r>
              <a:rPr lang="en-US" dirty="0">
                <a:solidFill>
                  <a:srgbClr val="FF0000"/>
                </a:solidFill>
              </a:rPr>
              <a:t>USA vs. Soviet Union)</a:t>
            </a:r>
          </a:p>
          <a:p>
            <a:r>
              <a:rPr lang="en-US" dirty="0"/>
              <a:t>Decolonization </a:t>
            </a:r>
          </a:p>
          <a:p>
            <a:r>
              <a:rPr lang="en-US" dirty="0">
                <a:solidFill>
                  <a:srgbClr val="FF0000"/>
                </a:solidFill>
              </a:rPr>
              <a:t>Cold War ( Capitalist vs. Socialist blocks/USA vs. USSR)</a:t>
            </a:r>
          </a:p>
          <a:p>
            <a:r>
              <a:rPr lang="en-US" dirty="0"/>
              <a:t>Vietnam war</a:t>
            </a:r>
          </a:p>
          <a:p>
            <a:r>
              <a:rPr lang="en-US" dirty="0"/>
              <a:t>War in the Korean peninsula </a:t>
            </a:r>
          </a:p>
          <a:p>
            <a:r>
              <a:rPr lang="en-US" dirty="0"/>
              <a:t>Non-aligned Movement ( by India’s Nehru and others ) </a:t>
            </a:r>
          </a:p>
        </p:txBody>
      </p:sp>
    </p:spTree>
    <p:extLst>
      <p:ext uri="{BB962C8B-B14F-4D97-AF65-F5344CB8AC3E}">
        <p14:creationId xmlns:p14="http://schemas.microsoft.com/office/powerpoint/2010/main" val="1227518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374" y="632389"/>
            <a:ext cx="10833657" cy="5053303"/>
          </a:xfrm>
        </p:spPr>
        <p:style>
          <a:lnRef idx="1">
            <a:schemeClr val="accent6"/>
          </a:lnRef>
          <a:fillRef idx="2">
            <a:schemeClr val="accent6"/>
          </a:fillRef>
          <a:effectRef idx="1">
            <a:schemeClr val="accent6"/>
          </a:effectRef>
          <a:fontRef idx="minor">
            <a:schemeClr val="dk1"/>
          </a:fontRef>
        </p:style>
        <p:txBody>
          <a:bodyPr>
            <a:normAutofit/>
          </a:bodyPr>
          <a:lstStyle/>
          <a:p>
            <a:pPr algn="just"/>
            <a:r>
              <a:rPr lang="en-US" dirty="0"/>
              <a:t>The Liberation War of Bangladesh was seen by the Indian policy makers as a prime time to dismember Pakistan. By the creation of Bangladesh, they pondered: (a) the political enemy on both its borders would be replaced by a far weaker enemy on one side and a friend on the other; (b) </a:t>
            </a:r>
            <a:r>
              <a:rPr lang="en-US" dirty="0">
                <a:solidFill>
                  <a:srgbClr val="FF0000"/>
                </a:solidFill>
              </a:rPr>
              <a:t>secularism</a:t>
            </a:r>
            <a:r>
              <a:rPr lang="en-US" dirty="0"/>
              <a:t> would be regarded as a dominant ideology for the developing countries; (c) India would emerge as an </a:t>
            </a:r>
            <a:r>
              <a:rPr lang="en-US" dirty="0">
                <a:solidFill>
                  <a:srgbClr val="FF0000"/>
                </a:solidFill>
              </a:rPr>
              <a:t>Asian superpower</a:t>
            </a:r>
            <a:r>
              <a:rPr lang="en-US" dirty="0"/>
              <a:t>; (d) </a:t>
            </a:r>
            <a:r>
              <a:rPr lang="en-US" dirty="0">
                <a:solidFill>
                  <a:srgbClr val="FF0000"/>
                </a:solidFill>
              </a:rPr>
              <a:t>India would establish a subservient government in Bangladesh</a:t>
            </a:r>
            <a:r>
              <a:rPr lang="en-US" dirty="0"/>
              <a:t>; (e) Bangladesh would be an extension of the Indian market; (f) India would materialize the </a:t>
            </a:r>
            <a:r>
              <a:rPr lang="en-US" dirty="0" err="1"/>
              <a:t>Nehruvian</a:t>
            </a:r>
            <a:r>
              <a:rPr lang="en-US" dirty="0"/>
              <a:t> vision of the </a:t>
            </a:r>
            <a:r>
              <a:rPr lang="en-US" dirty="0">
                <a:solidFill>
                  <a:srgbClr val="FF0000"/>
                </a:solidFill>
              </a:rPr>
              <a:t>Greater Indian Union.</a:t>
            </a:r>
          </a:p>
          <a:p>
            <a:pPr algn="just"/>
            <a:r>
              <a:rPr lang="en-US" dirty="0"/>
              <a:t>India’s interest and involvement in political happenings in East Pakistan during 1969-70 were closely linked with her constantly tense and </a:t>
            </a:r>
            <a:r>
              <a:rPr lang="en-US" dirty="0">
                <a:solidFill>
                  <a:srgbClr val="FF0000"/>
                </a:solidFill>
              </a:rPr>
              <a:t>bad relations with Pakistan.</a:t>
            </a:r>
          </a:p>
        </p:txBody>
      </p:sp>
    </p:spTree>
    <p:extLst>
      <p:ext uri="{BB962C8B-B14F-4D97-AF65-F5344CB8AC3E}">
        <p14:creationId xmlns:p14="http://schemas.microsoft.com/office/powerpoint/2010/main" val="4247217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2646"/>
            <a:ext cx="10515600" cy="4934317"/>
          </a:xfrm>
        </p:spPr>
        <p:style>
          <a:lnRef idx="1">
            <a:schemeClr val="accent5"/>
          </a:lnRef>
          <a:fillRef idx="2">
            <a:schemeClr val="accent5"/>
          </a:fillRef>
          <a:effectRef idx="1">
            <a:schemeClr val="accent5"/>
          </a:effectRef>
          <a:fontRef idx="minor">
            <a:schemeClr val="dk1"/>
          </a:fontRef>
        </p:style>
        <p:txBody>
          <a:bodyPr/>
          <a:lstStyle/>
          <a:p>
            <a:r>
              <a:rPr lang="en-US" dirty="0"/>
              <a:t>Machiavelli said, </a:t>
            </a:r>
            <a:r>
              <a:rPr lang="en-US" dirty="0">
                <a:solidFill>
                  <a:srgbClr val="FF0000"/>
                </a:solidFill>
              </a:rPr>
              <a:t>“Enemy’s enemy is my friend”.</a:t>
            </a:r>
          </a:p>
          <a:p>
            <a:r>
              <a:rPr lang="en-US" dirty="0"/>
              <a:t>China has border disputes with India. Also China has historic claim to the </a:t>
            </a:r>
            <a:r>
              <a:rPr lang="en-US" dirty="0">
                <a:solidFill>
                  <a:srgbClr val="FF0000"/>
                </a:solidFill>
              </a:rPr>
              <a:t>Arunachal Pradesh of India (</a:t>
            </a:r>
            <a:r>
              <a:rPr lang="en-US" altLang="zh-CN" dirty="0" err="1">
                <a:solidFill>
                  <a:srgbClr val="FF0000"/>
                </a:solidFill>
              </a:rPr>
              <a:t>Shahriar</a:t>
            </a:r>
            <a:r>
              <a:rPr lang="en-US" altLang="zh-CN" dirty="0">
                <a:solidFill>
                  <a:srgbClr val="FF0000"/>
                </a:solidFill>
              </a:rPr>
              <a:t>, 2020)</a:t>
            </a:r>
            <a:r>
              <a:rPr lang="en-US" dirty="0"/>
              <a:t>. </a:t>
            </a:r>
          </a:p>
          <a:p>
            <a:r>
              <a:rPr lang="en-US" dirty="0"/>
              <a:t>India and Pakistan have disputed claims over </a:t>
            </a:r>
            <a:r>
              <a:rPr lang="en-US" dirty="0">
                <a:solidFill>
                  <a:srgbClr val="FF0000"/>
                </a:solidFill>
              </a:rPr>
              <a:t>Jammu and Kashmir</a:t>
            </a:r>
          </a:p>
        </p:txBody>
      </p:sp>
    </p:spTree>
    <p:extLst>
      <p:ext uri="{BB962C8B-B14F-4D97-AF65-F5344CB8AC3E}">
        <p14:creationId xmlns:p14="http://schemas.microsoft.com/office/powerpoint/2010/main" val="1898974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89517" y="0"/>
            <a:ext cx="9084179" cy="6176963"/>
          </a:xfrm>
          <a:prstGeom prst="rect">
            <a:avLst/>
          </a:prstGeom>
        </p:spPr>
      </p:pic>
    </p:spTree>
    <p:extLst>
      <p:ext uri="{BB962C8B-B14F-4D97-AF65-F5344CB8AC3E}">
        <p14:creationId xmlns:p14="http://schemas.microsoft.com/office/powerpoint/2010/main" val="351182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10811" y="435836"/>
            <a:ext cx="6913548" cy="5741128"/>
          </a:xfrm>
          <a:prstGeom prst="rect">
            <a:avLst/>
          </a:prstGeom>
        </p:spPr>
      </p:pic>
    </p:spTree>
    <p:extLst>
      <p:ext uri="{BB962C8B-B14F-4D97-AF65-F5344CB8AC3E}">
        <p14:creationId xmlns:p14="http://schemas.microsoft.com/office/powerpoint/2010/main" val="149498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55194" y="750278"/>
            <a:ext cx="10399608" cy="5426686"/>
          </a:xfrm>
          <a:prstGeom prst="rect">
            <a:avLst/>
          </a:prstGeom>
        </p:spPr>
      </p:pic>
    </p:spTree>
    <p:extLst>
      <p:ext uri="{BB962C8B-B14F-4D97-AF65-F5344CB8AC3E}">
        <p14:creationId xmlns:p14="http://schemas.microsoft.com/office/powerpoint/2010/main" val="3022106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39097" y="581114"/>
            <a:ext cx="10515600" cy="5178663"/>
          </a:xfrm>
          <a:prstGeom prst="rect">
            <a:avLst/>
          </a:prstGeom>
        </p:spPr>
      </p:pic>
    </p:spTree>
    <p:extLst>
      <p:ext uri="{BB962C8B-B14F-4D97-AF65-F5344CB8AC3E}">
        <p14:creationId xmlns:p14="http://schemas.microsoft.com/office/powerpoint/2010/main" val="2715005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65160" y="538385"/>
            <a:ext cx="10675863" cy="4510133"/>
          </a:xfrm>
          <a:prstGeom prst="rect">
            <a:avLst/>
          </a:prstGeom>
        </p:spPr>
      </p:pic>
    </p:spTree>
    <p:extLst>
      <p:ext uri="{BB962C8B-B14F-4D97-AF65-F5344CB8AC3E}">
        <p14:creationId xmlns:p14="http://schemas.microsoft.com/office/powerpoint/2010/main" val="782810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1846" y="1031631"/>
            <a:ext cx="8428892" cy="4587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5504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6031" y="1148862"/>
            <a:ext cx="7772400" cy="4528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79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324708"/>
            <a:ext cx="6951785" cy="445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817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1877" y="1195754"/>
            <a:ext cx="6928338" cy="442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99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6707" y="318866"/>
            <a:ext cx="6832209" cy="619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160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2185" y="961292"/>
            <a:ext cx="5416427" cy="377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37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748" y="811850"/>
            <a:ext cx="10841052" cy="5365113"/>
          </a:xfrm>
        </p:spPr>
        <p:txBody>
          <a:bodyPr/>
          <a:lstStyle/>
          <a:p>
            <a:r>
              <a:rPr lang="en-US" dirty="0"/>
              <a:t>Super power rivalry </a:t>
            </a:r>
          </a:p>
          <a:p>
            <a:r>
              <a:rPr lang="en-US" dirty="0"/>
              <a:t>Nixon administration </a:t>
            </a:r>
          </a:p>
          <a:p>
            <a:r>
              <a:rPr lang="en-US" dirty="0"/>
              <a:t>SEATO &amp; CENTO Pact </a:t>
            </a:r>
          </a:p>
          <a:p>
            <a:r>
              <a:rPr lang="en-US" dirty="0"/>
              <a:t>Kashmir issue </a:t>
            </a:r>
          </a:p>
          <a:p>
            <a:r>
              <a:rPr lang="en-US" dirty="0"/>
              <a:t>U.S. role/Nixon Administration </a:t>
            </a:r>
          </a:p>
          <a:p>
            <a:r>
              <a:rPr lang="en-US" dirty="0"/>
              <a:t>Indian assistance  </a:t>
            </a:r>
          </a:p>
          <a:p>
            <a:r>
              <a:rPr lang="en-US" dirty="0"/>
              <a:t>Political Leadership </a:t>
            </a:r>
          </a:p>
          <a:p>
            <a:r>
              <a:rPr lang="en-US" dirty="0" err="1"/>
              <a:t>Awami</a:t>
            </a:r>
            <a:r>
              <a:rPr lang="en-US" dirty="0"/>
              <a:t> League </a:t>
            </a:r>
          </a:p>
        </p:txBody>
      </p:sp>
    </p:spTree>
    <p:extLst>
      <p:ext uri="{BB962C8B-B14F-4D97-AF65-F5344CB8AC3E}">
        <p14:creationId xmlns:p14="http://schemas.microsoft.com/office/powerpoint/2010/main" val="968061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467</Words>
  <Application>Microsoft Office PowerPoint</Application>
  <PresentationFormat>Widescreen</PresentationFormat>
  <Paragraphs>32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Cold War Geopolitics and Great Game by Great Powers in 1971  </vt:lpstr>
      <vt:lpstr>PowerPoint Presentation</vt:lpstr>
      <vt:lpstr>PowerPoint Presentation</vt:lpstr>
      <vt:lpstr>Great and super powers in the emergence of Bangladesh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Grounds for the Emergence of Bangladesh</dc:title>
  <dc:creator>User</dc:creator>
  <cp:lastModifiedBy>Saleh Shahriar</cp:lastModifiedBy>
  <cp:revision>239</cp:revision>
  <dcterms:created xsi:type="dcterms:W3CDTF">2021-01-06T14:55:29Z</dcterms:created>
  <dcterms:modified xsi:type="dcterms:W3CDTF">2026-08-26T06:18:33Z</dcterms:modified>
</cp:coreProperties>
</file>