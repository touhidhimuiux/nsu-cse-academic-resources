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82" r:id="rId3"/>
    <p:sldId id="286" r:id="rId4"/>
    <p:sldId id="284" r:id="rId5"/>
    <p:sldId id="283" r:id="rId6"/>
    <p:sldId id="287" r:id="rId7"/>
    <p:sldId id="285" r:id="rId8"/>
    <p:sldId id="288" r:id="rId9"/>
    <p:sldId id="281" r:id="rId10"/>
    <p:sldId id="280" r:id="rId11"/>
    <p:sldId id="257" r:id="rId12"/>
    <p:sldId id="259" r:id="rId13"/>
    <p:sldId id="260" r:id="rId14"/>
    <p:sldId id="261" r:id="rId15"/>
    <p:sldId id="263" r:id="rId16"/>
    <p:sldId id="264" r:id="rId17"/>
    <p:sldId id="262" r:id="rId18"/>
    <p:sldId id="265" r:id="rId19"/>
    <p:sldId id="266" r:id="rId20"/>
    <p:sldId id="267" r:id="rId21"/>
    <p:sldId id="268" r:id="rId22"/>
    <p:sldId id="276" r:id="rId23"/>
    <p:sldId id="269" r:id="rId24"/>
    <p:sldId id="277" r:id="rId25"/>
    <p:sldId id="278" r:id="rId26"/>
    <p:sldId id="289" r:id="rId27"/>
    <p:sldId id="270" r:id="rId28"/>
    <p:sldId id="271" r:id="rId29"/>
    <p:sldId id="272" r:id="rId30"/>
    <p:sldId id="274" r:id="rId31"/>
    <p:sldId id="273" r:id="rId32"/>
    <p:sldId id="27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291" autoAdjust="0"/>
  </p:normalViewPr>
  <p:slideViewPr>
    <p:cSldViewPr>
      <p:cViewPr varScale="1">
        <p:scale>
          <a:sx n="85" d="100"/>
          <a:sy n="85" d="100"/>
        </p:scale>
        <p:origin x="134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2353863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2882768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2531704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713600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3445594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4016523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1722298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21599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89805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3735440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DE0946-2155-4305-9583-12A799890235}" type="datetimeFigureOut">
              <a:rPr lang="en-US" smtClean="0"/>
              <a:pPr/>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2E4E43-1BEF-41A0-BF1B-6EF869EB6ADF}" type="slidenum">
              <a:rPr lang="en-US" smtClean="0"/>
              <a:pPr/>
              <a:t>‹#›</a:t>
            </a:fld>
            <a:endParaRPr lang="en-US"/>
          </a:p>
        </p:txBody>
      </p:sp>
    </p:spTree>
    <p:extLst>
      <p:ext uri="{BB962C8B-B14F-4D97-AF65-F5344CB8AC3E}">
        <p14:creationId xmlns:p14="http://schemas.microsoft.com/office/powerpoint/2010/main" val="2576015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DE0946-2155-4305-9583-12A799890235}" type="datetimeFigureOut">
              <a:rPr lang="en-US" smtClean="0"/>
              <a:pPr/>
              <a:t>11/19/2024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2E4E43-1BEF-41A0-BF1B-6EF869EB6ADF}" type="slidenum">
              <a:rPr lang="en-US" smtClean="0"/>
              <a:pPr/>
              <a:t>‹#›</a:t>
            </a:fld>
            <a:endParaRPr lang="en-US"/>
          </a:p>
        </p:txBody>
      </p:sp>
    </p:spTree>
    <p:extLst>
      <p:ext uri="{BB962C8B-B14F-4D97-AF65-F5344CB8AC3E}">
        <p14:creationId xmlns:p14="http://schemas.microsoft.com/office/powerpoint/2010/main" val="2761169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2438400"/>
            <a:ext cx="8153400" cy="1447800"/>
          </a:xfrm>
        </p:spPr>
        <p:txBody>
          <a:bodyPr>
            <a:normAutofit/>
          </a:bodyPr>
          <a:lstStyle/>
          <a:p>
            <a:pPr marL="0" indent="0" algn="ctr">
              <a:buNone/>
            </a:pPr>
            <a:r>
              <a:rPr lang="en-US" b="1" dirty="0"/>
              <a:t>Upsurge of </a:t>
            </a:r>
            <a:r>
              <a:rPr lang="en-US" b="1"/>
              <a:t>1969 &amp; 1970 </a:t>
            </a:r>
            <a:r>
              <a:rPr lang="en-US" b="1" dirty="0"/>
              <a:t>General Elections </a:t>
            </a:r>
          </a:p>
        </p:txBody>
      </p:sp>
    </p:spTree>
    <p:extLst>
      <p:ext uri="{BB962C8B-B14F-4D97-AF65-F5344CB8AC3E}">
        <p14:creationId xmlns:p14="http://schemas.microsoft.com/office/powerpoint/2010/main" val="4162667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686800" cy="3886200"/>
          </a:xfrm>
        </p:spPr>
        <p:txBody>
          <a:bodyPr>
            <a:normAutofit/>
          </a:bodyPr>
          <a:lstStyle/>
          <a:p>
            <a:pPr algn="just"/>
            <a:r>
              <a:rPr lang="en-US" sz="2800" dirty="0"/>
              <a:t>On the night of 7 October 1958, the constitution was </a:t>
            </a:r>
            <a:r>
              <a:rPr lang="en-US" sz="2800" dirty="0">
                <a:solidFill>
                  <a:srgbClr val="FF0000"/>
                </a:solidFill>
              </a:rPr>
              <a:t>suspended </a:t>
            </a:r>
            <a:r>
              <a:rPr lang="en-US" sz="2800" dirty="0"/>
              <a:t>by a Presidential </a:t>
            </a:r>
            <a:r>
              <a:rPr lang="en-US" sz="2800" dirty="0">
                <a:solidFill>
                  <a:srgbClr val="FF0000"/>
                </a:solidFill>
              </a:rPr>
              <a:t>proclamation. The ministers were dismissed; the legislatures dissolved and political parties were banned. </a:t>
            </a:r>
          </a:p>
          <a:p>
            <a:pPr algn="just"/>
            <a:r>
              <a:rPr lang="en-US" sz="2800" dirty="0"/>
              <a:t>The Commander in Chief of the Army, General </a:t>
            </a:r>
            <a:r>
              <a:rPr lang="en-US" sz="2800" dirty="0">
                <a:solidFill>
                  <a:srgbClr val="FF0000"/>
                </a:solidFill>
              </a:rPr>
              <a:t>Mohammad Ayub Khan</a:t>
            </a:r>
            <a:r>
              <a:rPr lang="en-US" sz="2800" dirty="0"/>
              <a:t>, was appointed </a:t>
            </a:r>
            <a:r>
              <a:rPr lang="en-US" sz="2800" dirty="0">
                <a:solidFill>
                  <a:srgbClr val="FF0000"/>
                </a:solidFill>
              </a:rPr>
              <a:t>Chief Martial Law Administrator</a:t>
            </a:r>
            <a:r>
              <a:rPr lang="en-US" sz="2800" dirty="0"/>
              <a:t>.</a:t>
            </a:r>
          </a:p>
          <a:p>
            <a:pPr algn="just"/>
            <a:endParaRPr lang="en-US" sz="2800" dirty="0"/>
          </a:p>
          <a:p>
            <a:endParaRPr lang="en-US" sz="2800" dirty="0"/>
          </a:p>
        </p:txBody>
      </p:sp>
    </p:spTree>
    <p:extLst>
      <p:ext uri="{BB962C8B-B14F-4D97-AF65-F5344CB8AC3E}">
        <p14:creationId xmlns:p14="http://schemas.microsoft.com/office/powerpoint/2010/main" val="1756692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19200"/>
            <a:ext cx="8610600" cy="4906963"/>
          </a:xfrm>
        </p:spPr>
        <p:txBody>
          <a:bodyPr>
            <a:normAutofit fontScale="85000" lnSpcReduction="20000"/>
          </a:bodyPr>
          <a:lstStyle/>
          <a:p>
            <a:pPr algn="just"/>
            <a:r>
              <a:rPr lang="en-US" dirty="0"/>
              <a:t>The proclamation dwelt at length on the chaotic state of the country, lack of scruples on the part of parliamentary leaders, </a:t>
            </a:r>
            <a:r>
              <a:rPr lang="en-US" dirty="0">
                <a:solidFill>
                  <a:srgbClr val="FF0000"/>
                </a:solidFill>
              </a:rPr>
              <a:t>widespread corruption</a:t>
            </a:r>
            <a:r>
              <a:rPr lang="en-US" dirty="0"/>
              <a:t>, irresponsible conduct of services and disorderly finances. Another announcement stated that the object of this ‘take over’ was to ‘clear the messes’ and prepare the country for more practicable form of government. </a:t>
            </a:r>
          </a:p>
          <a:p>
            <a:pPr algn="just"/>
            <a:r>
              <a:rPr lang="en-US" dirty="0"/>
              <a:t>Three weeks experience of the new government showed, however, that Iskandar Mirza was still playing and trying to use the same weapons against his new colleagues that he had so successfully used </a:t>
            </a:r>
            <a:r>
              <a:rPr lang="en-US" dirty="0">
                <a:solidFill>
                  <a:srgbClr val="FF0000"/>
                </a:solidFill>
              </a:rPr>
              <a:t>against the politicians. </a:t>
            </a:r>
            <a:r>
              <a:rPr lang="en-US" dirty="0"/>
              <a:t>He was made to vacate office on 27 October1958 and the </a:t>
            </a:r>
            <a:r>
              <a:rPr lang="en-US" dirty="0">
                <a:solidFill>
                  <a:srgbClr val="FF0000"/>
                </a:solidFill>
              </a:rPr>
              <a:t>Chief Martial Law Administrator, Mohammad </a:t>
            </a:r>
            <a:r>
              <a:rPr lang="en-US" dirty="0" err="1">
                <a:solidFill>
                  <a:srgbClr val="FF0000"/>
                </a:solidFill>
              </a:rPr>
              <a:t>Ayub</a:t>
            </a:r>
            <a:r>
              <a:rPr lang="en-US" dirty="0">
                <a:solidFill>
                  <a:srgbClr val="FF0000"/>
                </a:solidFill>
              </a:rPr>
              <a:t> Khan,</a:t>
            </a:r>
            <a:r>
              <a:rPr lang="en-US" dirty="0"/>
              <a:t> became the President of the country.</a:t>
            </a:r>
          </a:p>
        </p:txBody>
      </p:sp>
    </p:spTree>
    <p:extLst>
      <p:ext uri="{BB962C8B-B14F-4D97-AF65-F5344CB8AC3E}">
        <p14:creationId xmlns:p14="http://schemas.microsoft.com/office/powerpoint/2010/main" val="1751797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534400" cy="4343401"/>
          </a:xfrm>
        </p:spPr>
        <p:txBody>
          <a:bodyPr>
            <a:normAutofit/>
          </a:bodyPr>
          <a:lstStyle/>
          <a:p>
            <a:pPr algn="just"/>
            <a:r>
              <a:rPr lang="en-US" sz="2800" dirty="0"/>
              <a:t>When martial law was declared in Pakistan on October 7, 1958, </a:t>
            </a:r>
            <a:r>
              <a:rPr lang="en-US" sz="2800" dirty="0">
                <a:solidFill>
                  <a:srgbClr val="FF0000"/>
                </a:solidFill>
              </a:rPr>
              <a:t>abrogating the constitution </a:t>
            </a:r>
            <a:r>
              <a:rPr lang="en-US" sz="2800" dirty="0"/>
              <a:t>and established the political process, the </a:t>
            </a:r>
            <a:r>
              <a:rPr lang="en-US" sz="2800" dirty="0">
                <a:solidFill>
                  <a:srgbClr val="FF0000"/>
                </a:solidFill>
              </a:rPr>
              <a:t>coup</a:t>
            </a:r>
            <a:r>
              <a:rPr lang="en-US" sz="2800" dirty="0"/>
              <a:t> was hailed by its supporters as a </a:t>
            </a:r>
            <a:r>
              <a:rPr lang="en-US" sz="2800" dirty="0">
                <a:solidFill>
                  <a:srgbClr val="FF0000"/>
                </a:solidFill>
              </a:rPr>
              <a:t>revolution </a:t>
            </a:r>
            <a:r>
              <a:rPr lang="en-US" sz="2800" dirty="0"/>
              <a:t>, a break with the past and the </a:t>
            </a:r>
            <a:r>
              <a:rPr lang="en-US" sz="2800" dirty="0">
                <a:solidFill>
                  <a:srgbClr val="FF0000"/>
                </a:solidFill>
              </a:rPr>
              <a:t>beginning of a new era</a:t>
            </a:r>
            <a:r>
              <a:rPr lang="en-US" sz="2800" dirty="0"/>
              <a:t>. </a:t>
            </a:r>
          </a:p>
          <a:p>
            <a:pPr algn="just"/>
            <a:r>
              <a:rPr lang="en-US" sz="2800" dirty="0"/>
              <a:t>From the birth of Pakistan, the central government saw itself as </a:t>
            </a:r>
            <a:r>
              <a:rPr lang="en-US" sz="2800" dirty="0">
                <a:solidFill>
                  <a:srgbClr val="FF0000"/>
                </a:solidFill>
              </a:rPr>
              <a:t>devoted to development</a:t>
            </a:r>
            <a:r>
              <a:rPr lang="en-US" sz="2800" dirty="0"/>
              <a:t>. A </a:t>
            </a:r>
            <a:r>
              <a:rPr lang="en-US" sz="2800" dirty="0">
                <a:solidFill>
                  <a:srgbClr val="FF0000"/>
                </a:solidFill>
              </a:rPr>
              <a:t>decade of development</a:t>
            </a:r>
            <a:r>
              <a:rPr lang="en-US" sz="2800" dirty="0"/>
              <a:t> was observed in 1968.</a:t>
            </a:r>
          </a:p>
          <a:p>
            <a:endParaRPr lang="en-US" dirty="0"/>
          </a:p>
        </p:txBody>
      </p:sp>
    </p:spTree>
    <p:extLst>
      <p:ext uri="{BB962C8B-B14F-4D97-AF65-F5344CB8AC3E}">
        <p14:creationId xmlns:p14="http://schemas.microsoft.com/office/powerpoint/2010/main" val="4047348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458200" cy="5486400"/>
          </a:xfrm>
        </p:spPr>
        <p:txBody>
          <a:bodyPr>
            <a:normAutofit fontScale="92500" lnSpcReduction="10000"/>
          </a:bodyPr>
          <a:lstStyle/>
          <a:p>
            <a:r>
              <a:rPr lang="en-US" dirty="0"/>
              <a:t>Constitutional autocracy ( </a:t>
            </a:r>
            <a:r>
              <a:rPr lang="en-US" dirty="0">
                <a:solidFill>
                  <a:srgbClr val="FF0000"/>
                </a:solidFill>
              </a:rPr>
              <a:t>Constitution of 1962</a:t>
            </a:r>
            <a:r>
              <a:rPr lang="en-US" dirty="0"/>
              <a:t>)</a:t>
            </a:r>
          </a:p>
          <a:p>
            <a:r>
              <a:rPr lang="en-US" dirty="0"/>
              <a:t>Presidential dictatorship</a:t>
            </a:r>
          </a:p>
          <a:p>
            <a:r>
              <a:rPr lang="en-US" dirty="0">
                <a:solidFill>
                  <a:srgbClr val="00B0F0"/>
                </a:solidFill>
              </a:rPr>
              <a:t>40,000+40,000=80,000 </a:t>
            </a:r>
            <a:r>
              <a:rPr lang="en-US" dirty="0">
                <a:solidFill>
                  <a:srgbClr val="FF0000"/>
                </a:solidFill>
              </a:rPr>
              <a:t>basic democrats </a:t>
            </a:r>
          </a:p>
          <a:p>
            <a:r>
              <a:rPr lang="en-US" dirty="0"/>
              <a:t>Choudhury Muhammad Ali asserted that the 1962 constitution established “</a:t>
            </a:r>
            <a:r>
              <a:rPr lang="en-US" dirty="0">
                <a:solidFill>
                  <a:srgbClr val="002060"/>
                </a:solidFill>
              </a:rPr>
              <a:t>a government of the president, by the president and for the president</a:t>
            </a:r>
            <a:r>
              <a:rPr lang="en-US" dirty="0"/>
              <a:t>” (Source:  K.B. </a:t>
            </a:r>
            <a:r>
              <a:rPr lang="en-US" dirty="0" err="1"/>
              <a:t>Sayeed</a:t>
            </a:r>
            <a:r>
              <a:rPr lang="en-US" dirty="0"/>
              <a:t>, </a:t>
            </a:r>
            <a:r>
              <a:rPr lang="en-US" i="1" dirty="0"/>
              <a:t>The Political System of Pakistan</a:t>
            </a:r>
            <a:r>
              <a:rPr lang="en-US" dirty="0"/>
              <a:t>).</a:t>
            </a:r>
          </a:p>
          <a:p>
            <a:r>
              <a:rPr lang="en-US" dirty="0"/>
              <a:t>Six-point Movement &amp; </a:t>
            </a:r>
            <a:r>
              <a:rPr lang="en-US" dirty="0" err="1"/>
              <a:t>Agartala</a:t>
            </a:r>
            <a:r>
              <a:rPr lang="en-US" dirty="0"/>
              <a:t> Conspiracy Case </a:t>
            </a:r>
          </a:p>
          <a:p>
            <a:r>
              <a:rPr lang="en-US" dirty="0"/>
              <a:t>11-Point program</a:t>
            </a:r>
          </a:p>
          <a:p>
            <a:r>
              <a:rPr lang="en-US" dirty="0"/>
              <a:t>Anti-</a:t>
            </a:r>
            <a:r>
              <a:rPr lang="en-US" dirty="0" err="1"/>
              <a:t>Ayub</a:t>
            </a:r>
            <a:r>
              <a:rPr lang="en-US" dirty="0"/>
              <a:t> Movement </a:t>
            </a:r>
          </a:p>
          <a:p>
            <a:endParaRPr lang="en-US" dirty="0"/>
          </a:p>
        </p:txBody>
      </p:sp>
    </p:spTree>
    <p:extLst>
      <p:ext uri="{BB962C8B-B14F-4D97-AF65-F5344CB8AC3E}">
        <p14:creationId xmlns:p14="http://schemas.microsoft.com/office/powerpoint/2010/main" val="2960820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600201"/>
            <a:ext cx="8686800" cy="3124200"/>
          </a:xfrm>
        </p:spPr>
        <p:txBody>
          <a:bodyPr/>
          <a:lstStyle/>
          <a:p>
            <a:pPr algn="just"/>
            <a:r>
              <a:rPr lang="en-US" dirty="0">
                <a:solidFill>
                  <a:srgbClr val="FF0000"/>
                </a:solidFill>
              </a:rPr>
              <a:t>General </a:t>
            </a:r>
            <a:r>
              <a:rPr lang="en-US" dirty="0" err="1">
                <a:solidFill>
                  <a:srgbClr val="FF0000"/>
                </a:solidFill>
              </a:rPr>
              <a:t>Ayub</a:t>
            </a:r>
            <a:r>
              <a:rPr lang="en-US" dirty="0">
                <a:solidFill>
                  <a:srgbClr val="FF0000"/>
                </a:solidFill>
              </a:rPr>
              <a:t> Khan </a:t>
            </a:r>
            <a:r>
              <a:rPr lang="en-US" dirty="0"/>
              <a:t>remarked , </a:t>
            </a:r>
          </a:p>
          <a:p>
            <a:pPr marL="0" indent="0" algn="just">
              <a:buNone/>
            </a:pPr>
            <a:r>
              <a:rPr lang="en-US" dirty="0">
                <a:solidFill>
                  <a:srgbClr val="00B0F0"/>
                </a:solidFill>
              </a:rPr>
              <a:t>“The biggest weapon of the politicians is his tongue, which we have controlled</a:t>
            </a:r>
            <a:r>
              <a:rPr lang="en-US" dirty="0">
                <a:solidFill>
                  <a:srgbClr val="FF0000"/>
                </a:solidFill>
              </a:rPr>
              <a:t>”( </a:t>
            </a:r>
            <a:r>
              <a:rPr lang="en-US" dirty="0" err="1"/>
              <a:t>Sayeed</a:t>
            </a:r>
            <a:r>
              <a:rPr lang="en-US" dirty="0"/>
              <a:t>, </a:t>
            </a:r>
            <a:r>
              <a:rPr lang="en-US" i="1" dirty="0"/>
              <a:t>The</a:t>
            </a:r>
            <a:r>
              <a:rPr lang="en-US" dirty="0"/>
              <a:t> </a:t>
            </a:r>
            <a:r>
              <a:rPr lang="en-US" i="1" dirty="0"/>
              <a:t>Political System of Pakistan</a:t>
            </a:r>
            <a:r>
              <a:rPr lang="en-US" dirty="0"/>
              <a:t>, 1967, p.118).</a:t>
            </a:r>
          </a:p>
          <a:p>
            <a:endParaRPr lang="en-US" dirty="0"/>
          </a:p>
        </p:txBody>
      </p:sp>
    </p:spTree>
    <p:extLst>
      <p:ext uri="{BB962C8B-B14F-4D97-AF65-F5344CB8AC3E}">
        <p14:creationId xmlns:p14="http://schemas.microsoft.com/office/powerpoint/2010/main" val="4138364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10600" cy="5821363"/>
          </a:xfrm>
        </p:spPr>
        <p:txBody>
          <a:bodyPr>
            <a:normAutofit fontScale="92500" lnSpcReduction="20000"/>
          </a:bodyPr>
          <a:lstStyle/>
          <a:p>
            <a:r>
              <a:rPr lang="en-US" b="1" dirty="0"/>
              <a:t>Basic Democracies</a:t>
            </a:r>
            <a:r>
              <a:rPr lang="en-US" dirty="0"/>
              <a:t> a </a:t>
            </a:r>
            <a:r>
              <a:rPr lang="en-US" dirty="0">
                <a:solidFill>
                  <a:srgbClr val="FF0000"/>
                </a:solidFill>
              </a:rPr>
              <a:t>local government system </a:t>
            </a:r>
            <a:r>
              <a:rPr lang="en-US" dirty="0"/>
              <a:t>introduced during the </a:t>
            </a:r>
            <a:r>
              <a:rPr lang="en-US" dirty="0" err="1"/>
              <a:t>Ayub</a:t>
            </a:r>
            <a:r>
              <a:rPr lang="en-US" dirty="0"/>
              <a:t> regime in the early 1960s. General </a:t>
            </a:r>
            <a:r>
              <a:rPr lang="en-US" b="1" cap="small" dirty="0"/>
              <a:t>Ayub Khan</a:t>
            </a:r>
            <a:r>
              <a:rPr lang="en-US" b="1" dirty="0"/>
              <a:t> </a:t>
            </a:r>
            <a:r>
              <a:rPr lang="en-US" dirty="0"/>
              <a:t>President of Pakistan, introduced the </a:t>
            </a:r>
            <a:r>
              <a:rPr lang="en-US" dirty="0">
                <a:solidFill>
                  <a:srgbClr val="FF0000"/>
                </a:solidFill>
              </a:rPr>
              <a:t>concept of basic democracy </a:t>
            </a:r>
            <a:r>
              <a:rPr lang="en-US" dirty="0"/>
              <a:t>under the </a:t>
            </a:r>
            <a:r>
              <a:rPr lang="en-US" dirty="0">
                <a:solidFill>
                  <a:srgbClr val="FF0000"/>
                </a:solidFill>
              </a:rPr>
              <a:t>Basic Democracies Order, 1959 </a:t>
            </a:r>
            <a:r>
              <a:rPr lang="en-US" dirty="0"/>
              <a:t>having made an attempt to initiate </a:t>
            </a:r>
            <a:r>
              <a:rPr lang="en-US" dirty="0">
                <a:solidFill>
                  <a:srgbClr val="FF0000"/>
                </a:solidFill>
              </a:rPr>
              <a:t>a grass-root level democratic system</a:t>
            </a:r>
            <a:r>
              <a:rPr lang="en-US" dirty="0"/>
              <a:t>. </a:t>
            </a:r>
          </a:p>
          <a:p>
            <a:r>
              <a:rPr lang="en-US" dirty="0"/>
              <a:t>The system of Basic Democracies was initially a </a:t>
            </a:r>
            <a:r>
              <a:rPr lang="en-US" dirty="0">
                <a:solidFill>
                  <a:srgbClr val="FF0000"/>
                </a:solidFill>
              </a:rPr>
              <a:t>five-tier arrangement</a:t>
            </a:r>
            <a:r>
              <a:rPr lang="en-US" dirty="0"/>
              <a:t>. They were: (</a:t>
            </a:r>
            <a:r>
              <a:rPr lang="en-US" dirty="0" err="1"/>
              <a:t>i</a:t>
            </a:r>
            <a:r>
              <a:rPr lang="en-US" dirty="0"/>
              <a:t>) union councils (rural areas), town and union committees (urban areas); (ii) </a:t>
            </a:r>
            <a:r>
              <a:rPr lang="en-US" dirty="0" err="1"/>
              <a:t>thana</a:t>
            </a:r>
            <a:r>
              <a:rPr lang="en-US" dirty="0"/>
              <a:t> councils (East Pakistan), tehsil councils (West Pakistan); (iii) district councils; (iv) divisional councils; (v) provincial development advisory council.</a:t>
            </a:r>
          </a:p>
          <a:p>
            <a:endParaRPr lang="en-US" dirty="0"/>
          </a:p>
        </p:txBody>
      </p:sp>
    </p:spTree>
    <p:extLst>
      <p:ext uri="{BB962C8B-B14F-4D97-AF65-F5344CB8AC3E}">
        <p14:creationId xmlns:p14="http://schemas.microsoft.com/office/powerpoint/2010/main" val="2288786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71800" y="838200"/>
            <a:ext cx="3914775" cy="5105400"/>
          </a:xfrm>
          <a:prstGeom prst="rect">
            <a:avLst/>
          </a:prstGeom>
        </p:spPr>
      </p:pic>
    </p:spTree>
    <p:extLst>
      <p:ext uri="{BB962C8B-B14F-4D97-AF65-F5344CB8AC3E}">
        <p14:creationId xmlns:p14="http://schemas.microsoft.com/office/powerpoint/2010/main" val="4039178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667000"/>
            <a:ext cx="8763000" cy="1524000"/>
          </a:xfrm>
        </p:spPr>
        <p:txBody>
          <a:bodyPr/>
          <a:lstStyle/>
          <a:p>
            <a:r>
              <a:rPr lang="en-US" dirty="0"/>
              <a:t>1970 election was </a:t>
            </a:r>
            <a:r>
              <a:rPr lang="en-US" dirty="0">
                <a:solidFill>
                  <a:srgbClr val="FF0000"/>
                </a:solidFill>
              </a:rPr>
              <a:t>the first and last general </a:t>
            </a:r>
            <a:r>
              <a:rPr lang="en-US" dirty="0"/>
              <a:t>election in united Pakistan </a:t>
            </a:r>
          </a:p>
        </p:txBody>
      </p:sp>
    </p:spTree>
    <p:extLst>
      <p:ext uri="{BB962C8B-B14F-4D97-AF65-F5344CB8AC3E}">
        <p14:creationId xmlns:p14="http://schemas.microsoft.com/office/powerpoint/2010/main" val="64355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1371600"/>
            <a:ext cx="8610600" cy="4267200"/>
          </a:xfrm>
        </p:spPr>
        <p:txBody>
          <a:bodyPr>
            <a:noAutofit/>
          </a:bodyPr>
          <a:lstStyle/>
          <a:p>
            <a:r>
              <a:rPr lang="en-US" sz="2800" dirty="0" err="1">
                <a:solidFill>
                  <a:srgbClr val="002060"/>
                </a:solidFill>
              </a:rPr>
              <a:t>Ayub</a:t>
            </a:r>
            <a:r>
              <a:rPr lang="en-US" sz="2800" dirty="0">
                <a:solidFill>
                  <a:srgbClr val="002060"/>
                </a:solidFill>
              </a:rPr>
              <a:t> Khan handed over power illegally and unconstitutionally to </a:t>
            </a:r>
            <a:r>
              <a:rPr lang="en-US" sz="2800" dirty="0" err="1">
                <a:solidFill>
                  <a:srgbClr val="00B0F0"/>
                </a:solidFill>
              </a:rPr>
              <a:t>Yahya</a:t>
            </a:r>
            <a:r>
              <a:rPr lang="en-US" sz="2800" dirty="0">
                <a:solidFill>
                  <a:srgbClr val="00B0F0"/>
                </a:solidFill>
              </a:rPr>
              <a:t> Khan</a:t>
            </a:r>
            <a:r>
              <a:rPr lang="en-US" sz="2800" dirty="0">
                <a:solidFill>
                  <a:srgbClr val="002060"/>
                </a:solidFill>
              </a:rPr>
              <a:t>, the Commander in Chief, on 25 March 1969, after a </a:t>
            </a:r>
            <a:r>
              <a:rPr lang="en-US" sz="2800" dirty="0">
                <a:solidFill>
                  <a:srgbClr val="FF0000"/>
                </a:solidFill>
              </a:rPr>
              <a:t>countrywide movement against him.</a:t>
            </a:r>
          </a:p>
          <a:p>
            <a:r>
              <a:rPr lang="en-US" sz="2800" dirty="0">
                <a:solidFill>
                  <a:srgbClr val="002060"/>
                </a:solidFill>
              </a:rPr>
              <a:t>Soon after the acceptance of power, </a:t>
            </a:r>
            <a:r>
              <a:rPr lang="en-US" sz="2800" dirty="0" err="1">
                <a:solidFill>
                  <a:srgbClr val="002060"/>
                </a:solidFill>
              </a:rPr>
              <a:t>Yahaya</a:t>
            </a:r>
            <a:r>
              <a:rPr lang="en-US" sz="2800" dirty="0">
                <a:solidFill>
                  <a:srgbClr val="002060"/>
                </a:solidFill>
              </a:rPr>
              <a:t> Khan proclaimed </a:t>
            </a:r>
            <a:r>
              <a:rPr lang="en-US" sz="2800" dirty="0">
                <a:solidFill>
                  <a:srgbClr val="00B0F0"/>
                </a:solidFill>
              </a:rPr>
              <a:t>Martial Law </a:t>
            </a:r>
            <a:r>
              <a:rPr lang="en-US" sz="2800" dirty="0">
                <a:solidFill>
                  <a:srgbClr val="002060"/>
                </a:solidFill>
              </a:rPr>
              <a:t>for </a:t>
            </a:r>
            <a:r>
              <a:rPr lang="en-US" sz="2800" dirty="0">
                <a:solidFill>
                  <a:srgbClr val="00B0F0"/>
                </a:solidFill>
              </a:rPr>
              <a:t>the second time  in Pakistan </a:t>
            </a:r>
            <a:r>
              <a:rPr lang="en-US" sz="2800" dirty="0">
                <a:solidFill>
                  <a:srgbClr val="002060"/>
                </a:solidFill>
              </a:rPr>
              <a:t>and became the CMLA and President of the country.</a:t>
            </a:r>
          </a:p>
          <a:p>
            <a:endParaRPr lang="en-US" sz="2400" dirty="0">
              <a:solidFill>
                <a:srgbClr val="002060"/>
              </a:solidFill>
            </a:endParaRPr>
          </a:p>
        </p:txBody>
      </p:sp>
    </p:spTree>
    <p:extLst>
      <p:ext uri="{BB962C8B-B14F-4D97-AF65-F5344CB8AC3E}">
        <p14:creationId xmlns:p14="http://schemas.microsoft.com/office/powerpoint/2010/main" val="822242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2"/>
          </a:xfrm>
        </p:spPr>
        <p:txBody>
          <a:bodyPr>
            <a:normAutofit fontScale="90000"/>
          </a:bodyPr>
          <a:lstStyle/>
          <a:p>
            <a:r>
              <a:rPr lang="en-US" dirty="0">
                <a:solidFill>
                  <a:srgbClr val="FF0000"/>
                </a:solidFill>
              </a:rPr>
              <a:t>YAHYA’S Intentions</a:t>
            </a:r>
          </a:p>
        </p:txBody>
      </p:sp>
      <p:sp>
        <p:nvSpPr>
          <p:cNvPr id="3" name="Content Placeholder 2"/>
          <p:cNvSpPr>
            <a:spLocks noGrp="1"/>
          </p:cNvSpPr>
          <p:nvPr>
            <p:ph idx="1"/>
          </p:nvPr>
        </p:nvSpPr>
        <p:spPr>
          <a:xfrm>
            <a:off x="457200" y="1295400"/>
            <a:ext cx="8229600" cy="5410200"/>
          </a:xfrm>
        </p:spPr>
        <p:style>
          <a:lnRef idx="1">
            <a:schemeClr val="dk1"/>
          </a:lnRef>
          <a:fillRef idx="2">
            <a:schemeClr val="dk1"/>
          </a:fillRef>
          <a:effectRef idx="1">
            <a:schemeClr val="dk1"/>
          </a:effectRef>
          <a:fontRef idx="minor">
            <a:schemeClr val="dk1"/>
          </a:fontRef>
        </p:style>
        <p:txBody>
          <a:bodyPr>
            <a:noAutofit/>
          </a:bodyPr>
          <a:lstStyle/>
          <a:p>
            <a:pPr algn="just"/>
            <a:r>
              <a:rPr lang="en-US" sz="2400" dirty="0" err="1">
                <a:solidFill>
                  <a:srgbClr val="002060"/>
                </a:solidFill>
              </a:rPr>
              <a:t>Yahya</a:t>
            </a:r>
            <a:r>
              <a:rPr lang="en-US" sz="2400" dirty="0">
                <a:solidFill>
                  <a:srgbClr val="002060"/>
                </a:solidFill>
              </a:rPr>
              <a:t> Khan made it clear that although his government would be very tough in maintaining peace and order in the country,  but his regime would be </a:t>
            </a:r>
            <a:r>
              <a:rPr lang="en-US" sz="2400" dirty="0">
                <a:solidFill>
                  <a:srgbClr val="00B0F0"/>
                </a:solidFill>
              </a:rPr>
              <a:t>only for a short period.</a:t>
            </a:r>
          </a:p>
          <a:p>
            <a:pPr algn="just"/>
            <a:r>
              <a:rPr lang="en-US" sz="2400" dirty="0">
                <a:solidFill>
                  <a:srgbClr val="00B050"/>
                </a:solidFill>
              </a:rPr>
              <a:t>He announced that his was an interim government and that the power would be handed over to elected representatives after recreating an atmosphere for general election.</a:t>
            </a:r>
          </a:p>
          <a:p>
            <a:pPr algn="just"/>
            <a:r>
              <a:rPr lang="en-US" sz="2400" dirty="0">
                <a:solidFill>
                  <a:srgbClr val="00B050"/>
                </a:solidFill>
              </a:rPr>
              <a:t>That the election would be held  on the basis of </a:t>
            </a:r>
            <a:r>
              <a:rPr lang="en-US" sz="2400" dirty="0">
                <a:solidFill>
                  <a:srgbClr val="FF0000"/>
                </a:solidFill>
              </a:rPr>
              <a:t>universal adult franchise </a:t>
            </a:r>
          </a:p>
          <a:p>
            <a:pPr algn="just"/>
            <a:r>
              <a:rPr lang="en-US" sz="2400" dirty="0">
                <a:solidFill>
                  <a:srgbClr val="00B050"/>
                </a:solidFill>
              </a:rPr>
              <a:t>That Pakistan would be a </a:t>
            </a:r>
            <a:r>
              <a:rPr lang="en-US" sz="2400" dirty="0">
                <a:solidFill>
                  <a:srgbClr val="FF0000"/>
                </a:solidFill>
              </a:rPr>
              <a:t>parliamentary form of government </a:t>
            </a:r>
          </a:p>
          <a:p>
            <a:pPr algn="just"/>
            <a:r>
              <a:rPr lang="en-US" sz="2400" dirty="0">
                <a:solidFill>
                  <a:srgbClr val="00B050"/>
                </a:solidFill>
              </a:rPr>
              <a:t>Political activities would be suspended for a while though political parties would not be banned .</a:t>
            </a:r>
          </a:p>
          <a:p>
            <a:pPr algn="just"/>
            <a:r>
              <a:rPr lang="en-US" sz="2400" dirty="0">
                <a:solidFill>
                  <a:srgbClr val="0070C0"/>
                </a:solidFill>
              </a:rPr>
              <a:t>The promise of election was welcomed by all sections of the people.</a:t>
            </a:r>
          </a:p>
        </p:txBody>
      </p:sp>
    </p:spTree>
    <p:extLst>
      <p:ext uri="{BB962C8B-B14F-4D97-AF65-F5344CB8AC3E}">
        <p14:creationId xmlns:p14="http://schemas.microsoft.com/office/powerpoint/2010/main" val="1750645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LEGAL FRAME WORKS</a:t>
            </a:r>
          </a:p>
        </p:txBody>
      </p:sp>
      <p:sp>
        <p:nvSpPr>
          <p:cNvPr id="3" name="Content Placeholder 2"/>
          <p:cNvSpPr>
            <a:spLocks noGrp="1"/>
          </p:cNvSpPr>
          <p:nvPr>
            <p:ph idx="1"/>
          </p:nvPr>
        </p:nvSpPr>
        <p:spPr/>
        <p:txBody>
          <a:bodyPr>
            <a:normAutofit lnSpcReduction="10000"/>
          </a:bodyPr>
          <a:lstStyle/>
          <a:p>
            <a:r>
              <a:rPr lang="en-US" dirty="0">
                <a:solidFill>
                  <a:srgbClr val="002060"/>
                </a:solidFill>
              </a:rPr>
              <a:t>On November 28, 1969 </a:t>
            </a:r>
            <a:r>
              <a:rPr lang="en-US" dirty="0" err="1">
                <a:solidFill>
                  <a:srgbClr val="002060"/>
                </a:solidFill>
              </a:rPr>
              <a:t>Yahya</a:t>
            </a:r>
            <a:r>
              <a:rPr lang="en-US" dirty="0">
                <a:solidFill>
                  <a:srgbClr val="002060"/>
                </a:solidFill>
              </a:rPr>
              <a:t> Khan made a broadcast where he said that he would evolve a </a:t>
            </a:r>
            <a:r>
              <a:rPr lang="en-US" dirty="0">
                <a:solidFill>
                  <a:srgbClr val="FF0000"/>
                </a:solidFill>
              </a:rPr>
              <a:t>general framework for elections </a:t>
            </a:r>
            <a:r>
              <a:rPr lang="en-US" dirty="0">
                <a:solidFill>
                  <a:srgbClr val="002060"/>
                </a:solidFill>
              </a:rPr>
              <a:t>on the basis of a consensus among various groups and political leaders</a:t>
            </a:r>
            <a:r>
              <a:rPr lang="en-US" dirty="0"/>
              <a:t>.</a:t>
            </a:r>
          </a:p>
          <a:p>
            <a:r>
              <a:rPr lang="en-US" dirty="0">
                <a:solidFill>
                  <a:srgbClr val="00B050"/>
                </a:solidFill>
              </a:rPr>
              <a:t>He said that there are three issues before Pakistani people , 1. One Unit , 2. One man one vote versus parity, 3. Relation between the Center and the Federating Provinces</a:t>
            </a:r>
            <a:r>
              <a:rPr lang="en-US" dirty="0"/>
              <a:t>.</a:t>
            </a:r>
          </a:p>
        </p:txBody>
      </p:sp>
    </p:spTree>
    <p:extLst>
      <p:ext uri="{BB962C8B-B14F-4D97-AF65-F5344CB8AC3E}">
        <p14:creationId xmlns:p14="http://schemas.microsoft.com/office/powerpoint/2010/main" val="1667117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YAHAYA’S ELECTION PREPARATION</a:t>
            </a:r>
          </a:p>
        </p:txBody>
      </p:sp>
      <p:sp>
        <p:nvSpPr>
          <p:cNvPr id="3" name="Content Placeholder 2"/>
          <p:cNvSpPr>
            <a:spLocks noGrp="1"/>
          </p:cNvSpPr>
          <p:nvPr>
            <p:ph idx="1"/>
          </p:nvPr>
        </p:nvSpPr>
        <p:spPr/>
        <p:txBody>
          <a:bodyPr>
            <a:normAutofit fontScale="85000" lnSpcReduction="20000"/>
          </a:bodyPr>
          <a:lstStyle/>
          <a:p>
            <a:r>
              <a:rPr lang="en-US" dirty="0" err="1">
                <a:solidFill>
                  <a:srgbClr val="FF0000"/>
                </a:solidFill>
              </a:rPr>
              <a:t>Yahaya</a:t>
            </a:r>
            <a:r>
              <a:rPr lang="en-US" dirty="0">
                <a:solidFill>
                  <a:srgbClr val="002060"/>
                </a:solidFill>
              </a:rPr>
              <a:t> observed that the one unit issue would be sorted out before election by dissolving it and creating new provinces.</a:t>
            </a:r>
          </a:p>
          <a:p>
            <a:r>
              <a:rPr lang="en-US" dirty="0">
                <a:solidFill>
                  <a:srgbClr val="002060"/>
                </a:solidFill>
              </a:rPr>
              <a:t>The National Assembly would be elected </a:t>
            </a:r>
            <a:r>
              <a:rPr lang="en-US" dirty="0">
                <a:solidFill>
                  <a:srgbClr val="FF0000"/>
                </a:solidFill>
              </a:rPr>
              <a:t>on the basis of one man one vote principle</a:t>
            </a:r>
            <a:r>
              <a:rPr lang="en-US" dirty="0">
                <a:solidFill>
                  <a:srgbClr val="002060"/>
                </a:solidFill>
              </a:rPr>
              <a:t>. This gave East Pakistan a clear majority in the National Assembly.</a:t>
            </a:r>
          </a:p>
          <a:p>
            <a:r>
              <a:rPr lang="en-US" dirty="0">
                <a:solidFill>
                  <a:srgbClr val="002060"/>
                </a:solidFill>
              </a:rPr>
              <a:t>The autonomy would be granted as far as it does not interfere with the idea of Pakistan.</a:t>
            </a:r>
          </a:p>
          <a:p>
            <a:r>
              <a:rPr lang="en-US" dirty="0">
                <a:solidFill>
                  <a:srgbClr val="002060"/>
                </a:solidFill>
              </a:rPr>
              <a:t>He announced that the general election will be held on 5 October 1970.</a:t>
            </a:r>
          </a:p>
          <a:p>
            <a:r>
              <a:rPr lang="en-US" dirty="0">
                <a:solidFill>
                  <a:srgbClr val="0070C0"/>
                </a:solidFill>
              </a:rPr>
              <a:t>The martial law will remain in force till the power is handed over to the people’s representatives.</a:t>
            </a:r>
          </a:p>
          <a:p>
            <a:endParaRPr lang="en-US" dirty="0">
              <a:solidFill>
                <a:srgbClr val="0070C0"/>
              </a:solidFill>
            </a:endParaRPr>
          </a:p>
        </p:txBody>
      </p:sp>
    </p:spTree>
    <p:extLst>
      <p:ext uri="{BB962C8B-B14F-4D97-AF65-F5344CB8AC3E}">
        <p14:creationId xmlns:p14="http://schemas.microsoft.com/office/powerpoint/2010/main" val="1603773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LEGAL FRAMEWORK ORDER (LFO)</a:t>
            </a:r>
          </a:p>
        </p:txBody>
      </p:sp>
      <p:sp>
        <p:nvSpPr>
          <p:cNvPr id="3" name="Content Placeholder 2"/>
          <p:cNvSpPr>
            <a:spLocks noGrp="1"/>
          </p:cNvSpPr>
          <p:nvPr>
            <p:ph idx="1"/>
          </p:nvPr>
        </p:nvSpPr>
        <p:spPr/>
        <p:txBody>
          <a:bodyPr>
            <a:normAutofit fontScale="92500"/>
          </a:bodyPr>
          <a:lstStyle/>
          <a:p>
            <a:r>
              <a:rPr lang="en-US" dirty="0">
                <a:solidFill>
                  <a:srgbClr val="7030A0"/>
                </a:solidFill>
              </a:rPr>
              <a:t>In order to give the practical transformation of his intentions </a:t>
            </a:r>
            <a:r>
              <a:rPr lang="en-US" dirty="0" err="1">
                <a:solidFill>
                  <a:srgbClr val="7030A0"/>
                </a:solidFill>
              </a:rPr>
              <a:t>Yahya</a:t>
            </a:r>
            <a:r>
              <a:rPr lang="en-US" dirty="0">
                <a:solidFill>
                  <a:srgbClr val="7030A0"/>
                </a:solidFill>
              </a:rPr>
              <a:t> Khan promulgated  a Legal Framework Order and the Province of West Pakistan ( Dissolution ) Order  on 30 March 1970 .</a:t>
            </a:r>
          </a:p>
          <a:p>
            <a:r>
              <a:rPr lang="en-US" dirty="0">
                <a:solidFill>
                  <a:srgbClr val="FF0000"/>
                </a:solidFill>
              </a:rPr>
              <a:t>The LFO laid down the composition of the National Assembly and the Provincial Assemblies, principle of election, date of polling, rules of procedures and fundamental principles of the constitution.</a:t>
            </a:r>
          </a:p>
        </p:txBody>
      </p:sp>
    </p:spTree>
    <p:extLst>
      <p:ext uri="{BB962C8B-B14F-4D97-AF65-F5344CB8AC3E}">
        <p14:creationId xmlns:p14="http://schemas.microsoft.com/office/powerpoint/2010/main" val="1779532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FRAMEWORK</a:t>
            </a:r>
          </a:p>
        </p:txBody>
      </p:sp>
      <p:sp>
        <p:nvSpPr>
          <p:cNvPr id="3" name="Content Placeholder 2"/>
          <p:cNvSpPr>
            <a:spLocks noGrp="1"/>
          </p:cNvSpPr>
          <p:nvPr>
            <p:ph idx="1"/>
          </p:nvPr>
        </p:nvSpPr>
        <p:spPr>
          <a:xfrm>
            <a:off x="228600" y="1417638"/>
            <a:ext cx="8686800" cy="4708525"/>
          </a:xfrm>
        </p:spPr>
        <p:txBody>
          <a:bodyPr>
            <a:normAutofit/>
          </a:bodyPr>
          <a:lstStyle/>
          <a:p>
            <a:pPr algn="just"/>
            <a:r>
              <a:rPr lang="en-US" dirty="0">
                <a:solidFill>
                  <a:srgbClr val="002060"/>
                </a:solidFill>
              </a:rPr>
              <a:t>Pakistan shall be a Federal Republic to be known as the </a:t>
            </a:r>
            <a:r>
              <a:rPr lang="en-US" dirty="0">
                <a:solidFill>
                  <a:srgbClr val="FF0000"/>
                </a:solidFill>
              </a:rPr>
              <a:t>Islamic Republic of Pakistan.</a:t>
            </a:r>
          </a:p>
          <a:p>
            <a:pPr algn="just"/>
            <a:r>
              <a:rPr lang="en-US" dirty="0">
                <a:solidFill>
                  <a:srgbClr val="0000FF"/>
                </a:solidFill>
              </a:rPr>
              <a:t>Islamic ideologies to be prevailed because it was the basis for the creation of Pakistan</a:t>
            </a:r>
            <a:r>
              <a:rPr lang="en-US" dirty="0"/>
              <a:t>.</a:t>
            </a:r>
          </a:p>
          <a:p>
            <a:pPr algn="just"/>
            <a:r>
              <a:rPr lang="en-US" dirty="0">
                <a:solidFill>
                  <a:srgbClr val="C00000"/>
                </a:solidFill>
              </a:rPr>
              <a:t>Fundamental principles of democracy shall be ensured by providing direct and free periodical elections to the federal  and provincial legislatures on the basis of population and adult franchise</a:t>
            </a:r>
            <a:r>
              <a:rPr lang="en-US" dirty="0"/>
              <a:t>.</a:t>
            </a:r>
          </a:p>
        </p:txBody>
      </p:sp>
    </p:spTree>
    <p:extLst>
      <p:ext uri="{BB962C8B-B14F-4D97-AF65-F5344CB8AC3E}">
        <p14:creationId xmlns:p14="http://schemas.microsoft.com/office/powerpoint/2010/main" val="2262771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FRAMEWORK</a:t>
            </a:r>
          </a:p>
        </p:txBody>
      </p:sp>
      <p:sp>
        <p:nvSpPr>
          <p:cNvPr id="3" name="Content Placeholder 2"/>
          <p:cNvSpPr>
            <a:spLocks noGrp="1"/>
          </p:cNvSpPr>
          <p:nvPr>
            <p:ph idx="1"/>
          </p:nvPr>
        </p:nvSpPr>
        <p:spPr/>
        <p:txBody>
          <a:bodyPr/>
          <a:lstStyle/>
          <a:p>
            <a:r>
              <a:rPr lang="en-US" dirty="0">
                <a:solidFill>
                  <a:srgbClr val="002060"/>
                </a:solidFill>
              </a:rPr>
              <a:t>The Provinces shall have </a:t>
            </a:r>
            <a:r>
              <a:rPr lang="en-US" dirty="0">
                <a:solidFill>
                  <a:srgbClr val="FF0000"/>
                </a:solidFill>
              </a:rPr>
              <a:t>maximum autonomy </a:t>
            </a:r>
            <a:r>
              <a:rPr lang="en-US" dirty="0">
                <a:solidFill>
                  <a:srgbClr val="002060"/>
                </a:solidFill>
              </a:rPr>
              <a:t>i.e. maximum legislative, administrative and financial powers but Federal Government shall also have adequate powers to discharge its responsibilities in relation to external and internal affairs and to preserve the independence and territorial integrity of the country</a:t>
            </a:r>
            <a:r>
              <a:rPr lang="en-US" dirty="0"/>
              <a:t>.</a:t>
            </a:r>
          </a:p>
        </p:txBody>
      </p:sp>
    </p:spTree>
    <p:extLst>
      <p:ext uri="{BB962C8B-B14F-4D97-AF65-F5344CB8AC3E}">
        <p14:creationId xmlns:p14="http://schemas.microsoft.com/office/powerpoint/2010/main" val="2843063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LFO</a:t>
            </a:r>
          </a:p>
        </p:txBody>
      </p:sp>
      <p:sp>
        <p:nvSpPr>
          <p:cNvPr id="3" name="Content Placeholder 2"/>
          <p:cNvSpPr>
            <a:spLocks noGrp="1"/>
          </p:cNvSpPr>
          <p:nvPr>
            <p:ph idx="1"/>
          </p:nvPr>
        </p:nvSpPr>
        <p:spPr/>
        <p:txBody>
          <a:bodyPr>
            <a:normAutofit fontScale="85000" lnSpcReduction="10000"/>
          </a:bodyPr>
          <a:lstStyle/>
          <a:p>
            <a:r>
              <a:rPr lang="en-US" dirty="0">
                <a:solidFill>
                  <a:srgbClr val="002060"/>
                </a:solidFill>
              </a:rPr>
              <a:t>The LFO stated that the National Assembly will consist of 313 seats. </a:t>
            </a:r>
            <a:r>
              <a:rPr lang="en-US" dirty="0">
                <a:solidFill>
                  <a:srgbClr val="FF0000"/>
                </a:solidFill>
              </a:rPr>
              <a:t>Of it 300 members would be directly elected and 13 seats would be reserved for wom</a:t>
            </a:r>
            <a:r>
              <a:rPr lang="en-US" dirty="0">
                <a:solidFill>
                  <a:srgbClr val="002060"/>
                </a:solidFill>
              </a:rPr>
              <a:t>en.</a:t>
            </a:r>
          </a:p>
          <a:p>
            <a:r>
              <a:rPr lang="en-US" dirty="0">
                <a:solidFill>
                  <a:srgbClr val="002060"/>
                </a:solidFill>
              </a:rPr>
              <a:t>The number of seats in the</a:t>
            </a:r>
            <a:r>
              <a:rPr lang="en-US" dirty="0">
                <a:solidFill>
                  <a:srgbClr val="FF0000"/>
                </a:solidFill>
              </a:rPr>
              <a:t> four </a:t>
            </a:r>
            <a:r>
              <a:rPr lang="en-US" dirty="0">
                <a:solidFill>
                  <a:srgbClr val="002060"/>
                </a:solidFill>
              </a:rPr>
              <a:t>provinces of West Pakistan would vary.</a:t>
            </a:r>
          </a:p>
          <a:p>
            <a:r>
              <a:rPr lang="en-US" dirty="0">
                <a:solidFill>
                  <a:srgbClr val="002060"/>
                </a:solidFill>
              </a:rPr>
              <a:t>The seats of the National and Provincial Assemblies were allocated on the basis of the </a:t>
            </a:r>
            <a:r>
              <a:rPr lang="en-US" dirty="0">
                <a:solidFill>
                  <a:srgbClr val="FF0000"/>
                </a:solidFill>
              </a:rPr>
              <a:t>1961 Census</a:t>
            </a:r>
            <a:r>
              <a:rPr lang="en-US" dirty="0">
                <a:solidFill>
                  <a:srgbClr val="002060"/>
                </a:solidFill>
              </a:rPr>
              <a:t>. East Pakistan thus received 169 seats out of 313 in the National Assembly and the remaining 144 seats were distributed among the four provinces and the Tribal Land of West Pakistan.</a:t>
            </a:r>
          </a:p>
        </p:txBody>
      </p:sp>
    </p:spTree>
    <p:extLst>
      <p:ext uri="{BB962C8B-B14F-4D97-AF65-F5344CB8AC3E}">
        <p14:creationId xmlns:p14="http://schemas.microsoft.com/office/powerpoint/2010/main" val="2340505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LFO</a:t>
            </a:r>
          </a:p>
        </p:txBody>
      </p:sp>
      <p:sp>
        <p:nvSpPr>
          <p:cNvPr id="3" name="Content Placeholder 2"/>
          <p:cNvSpPr>
            <a:spLocks noGrp="1"/>
          </p:cNvSpPr>
          <p:nvPr>
            <p:ph idx="1"/>
          </p:nvPr>
        </p:nvSpPr>
        <p:spPr>
          <a:xfrm>
            <a:off x="457200" y="1417638"/>
            <a:ext cx="8229600" cy="4708525"/>
          </a:xfrm>
        </p:spPr>
        <p:txBody>
          <a:bodyPr>
            <a:normAutofit fontScale="92500" lnSpcReduction="20000"/>
          </a:bodyPr>
          <a:lstStyle/>
          <a:p>
            <a:r>
              <a:rPr lang="en-US" dirty="0">
                <a:solidFill>
                  <a:srgbClr val="002060"/>
                </a:solidFill>
              </a:rPr>
              <a:t>The Constitution Bill shall be authenticated by the President.</a:t>
            </a:r>
          </a:p>
          <a:p>
            <a:r>
              <a:rPr lang="en-US" dirty="0">
                <a:solidFill>
                  <a:srgbClr val="002060"/>
                </a:solidFill>
              </a:rPr>
              <a:t>The LFO cannot be contested in the Court.</a:t>
            </a:r>
          </a:p>
          <a:p>
            <a:r>
              <a:rPr lang="en-US" dirty="0">
                <a:solidFill>
                  <a:srgbClr val="C00000"/>
                </a:solidFill>
              </a:rPr>
              <a:t>These two articles confirmed the power of the armed forces. Hence these were opposed by most of the leftist and radical forces who demanded boycott of the election. </a:t>
            </a:r>
          </a:p>
          <a:p>
            <a:r>
              <a:rPr lang="en-US" dirty="0">
                <a:solidFill>
                  <a:srgbClr val="7030A0"/>
                </a:solidFill>
              </a:rPr>
              <a:t>However, Sk. </a:t>
            </a:r>
            <a:r>
              <a:rPr lang="en-US" dirty="0" err="1">
                <a:solidFill>
                  <a:srgbClr val="7030A0"/>
                </a:solidFill>
              </a:rPr>
              <a:t>Mujib</a:t>
            </a:r>
            <a:r>
              <a:rPr lang="en-US" dirty="0">
                <a:solidFill>
                  <a:srgbClr val="7030A0"/>
                </a:solidFill>
              </a:rPr>
              <a:t> thought that the one man one vote principle gave opportunities for East Pakistan securing 169 seats , and thus a victory for his efforts.</a:t>
            </a:r>
          </a:p>
        </p:txBody>
      </p:sp>
    </p:spTree>
    <p:extLst>
      <p:ext uri="{BB962C8B-B14F-4D97-AF65-F5344CB8AC3E}">
        <p14:creationId xmlns:p14="http://schemas.microsoft.com/office/powerpoint/2010/main" val="960157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SK. MUJIB</a:t>
            </a:r>
          </a:p>
        </p:txBody>
      </p:sp>
      <p:sp>
        <p:nvSpPr>
          <p:cNvPr id="3" name="Content Placeholder 2"/>
          <p:cNvSpPr>
            <a:spLocks noGrp="1"/>
          </p:cNvSpPr>
          <p:nvPr>
            <p:ph idx="1"/>
          </p:nvPr>
        </p:nvSpPr>
        <p:spPr>
          <a:xfrm>
            <a:off x="457200" y="1417638"/>
            <a:ext cx="8229600" cy="4708525"/>
          </a:xfrm>
        </p:spPr>
        <p:txBody>
          <a:bodyPr/>
          <a:lstStyle/>
          <a:p>
            <a:r>
              <a:rPr lang="en-US" dirty="0">
                <a:solidFill>
                  <a:srgbClr val="002060"/>
                </a:solidFill>
              </a:rPr>
              <a:t>Sheikh </a:t>
            </a:r>
            <a:r>
              <a:rPr lang="en-US" dirty="0" err="1">
                <a:solidFill>
                  <a:srgbClr val="002060"/>
                </a:solidFill>
              </a:rPr>
              <a:t>Mujib</a:t>
            </a:r>
            <a:r>
              <a:rPr lang="en-US" dirty="0">
                <a:solidFill>
                  <a:srgbClr val="002060"/>
                </a:solidFill>
              </a:rPr>
              <a:t> also thought that if his party secures the majority of the seats ,’ the army which had no legal authority to hold power would not be able to do anything as </a:t>
            </a:r>
            <a:r>
              <a:rPr lang="en-US" dirty="0">
                <a:solidFill>
                  <a:srgbClr val="FF0000"/>
                </a:solidFill>
              </a:rPr>
              <a:t>world sympathy</a:t>
            </a:r>
            <a:r>
              <a:rPr lang="en-US" dirty="0">
                <a:solidFill>
                  <a:srgbClr val="002060"/>
                </a:solidFill>
              </a:rPr>
              <a:t> would be with him.’</a:t>
            </a:r>
          </a:p>
        </p:txBody>
      </p:sp>
    </p:spTree>
    <p:extLst>
      <p:ext uri="{BB962C8B-B14F-4D97-AF65-F5344CB8AC3E}">
        <p14:creationId xmlns:p14="http://schemas.microsoft.com/office/powerpoint/2010/main" val="3359514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ELECTION MANIFESTO</a:t>
            </a:r>
          </a:p>
        </p:txBody>
      </p:sp>
      <p:sp>
        <p:nvSpPr>
          <p:cNvPr id="3" name="Content Placeholder 2"/>
          <p:cNvSpPr>
            <a:spLocks noGrp="1"/>
          </p:cNvSpPr>
          <p:nvPr>
            <p:ph idx="1"/>
          </p:nvPr>
        </p:nvSpPr>
        <p:spPr/>
        <p:txBody>
          <a:bodyPr/>
          <a:lstStyle/>
          <a:p>
            <a:r>
              <a:rPr lang="en-US" dirty="0">
                <a:solidFill>
                  <a:srgbClr val="002060"/>
                </a:solidFill>
              </a:rPr>
              <a:t>The Election manifesto of the </a:t>
            </a:r>
            <a:r>
              <a:rPr lang="en-US" dirty="0" err="1">
                <a:solidFill>
                  <a:srgbClr val="002060"/>
                </a:solidFill>
              </a:rPr>
              <a:t>Awami</a:t>
            </a:r>
            <a:r>
              <a:rPr lang="en-US" dirty="0">
                <a:solidFill>
                  <a:srgbClr val="002060"/>
                </a:solidFill>
              </a:rPr>
              <a:t> League was a composite and comprehensive document comprising the </a:t>
            </a:r>
            <a:r>
              <a:rPr lang="en-US" dirty="0">
                <a:solidFill>
                  <a:srgbClr val="FF0000"/>
                </a:solidFill>
              </a:rPr>
              <a:t>six- points program</a:t>
            </a:r>
            <a:r>
              <a:rPr lang="en-US" dirty="0">
                <a:solidFill>
                  <a:srgbClr val="002060"/>
                </a:solidFill>
              </a:rPr>
              <a:t>, the </a:t>
            </a:r>
            <a:r>
              <a:rPr lang="en-US" dirty="0">
                <a:solidFill>
                  <a:srgbClr val="FF0000"/>
                </a:solidFill>
              </a:rPr>
              <a:t>11 points of All Party Students Community </a:t>
            </a:r>
            <a:r>
              <a:rPr lang="en-US" dirty="0">
                <a:solidFill>
                  <a:srgbClr val="002060"/>
                </a:solidFill>
              </a:rPr>
              <a:t>of Action as well as some other issues not covered by these two programs.</a:t>
            </a:r>
          </a:p>
          <a:p>
            <a:r>
              <a:rPr lang="en-US" dirty="0">
                <a:solidFill>
                  <a:srgbClr val="00B050"/>
                </a:solidFill>
              </a:rPr>
              <a:t>Manifestoes – Likewise other parties have their manifestoes</a:t>
            </a:r>
          </a:p>
        </p:txBody>
      </p:sp>
    </p:spTree>
    <p:extLst>
      <p:ext uri="{BB962C8B-B14F-4D97-AF65-F5344CB8AC3E}">
        <p14:creationId xmlns:p14="http://schemas.microsoft.com/office/powerpoint/2010/main" val="460404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CAMPAIGN</a:t>
            </a:r>
          </a:p>
        </p:txBody>
      </p:sp>
      <p:sp>
        <p:nvSpPr>
          <p:cNvPr id="3" name="Content Placeholder 2"/>
          <p:cNvSpPr>
            <a:spLocks noGrp="1"/>
          </p:cNvSpPr>
          <p:nvPr>
            <p:ph idx="1"/>
          </p:nvPr>
        </p:nvSpPr>
        <p:spPr/>
        <p:txBody>
          <a:bodyPr>
            <a:normAutofit fontScale="92500" lnSpcReduction="10000"/>
          </a:bodyPr>
          <a:lstStyle/>
          <a:p>
            <a:r>
              <a:rPr lang="en-US" dirty="0">
                <a:solidFill>
                  <a:srgbClr val="002060"/>
                </a:solidFill>
              </a:rPr>
              <a:t>Campaign – Soon the election campaign started and the </a:t>
            </a:r>
            <a:r>
              <a:rPr lang="en-US" dirty="0" err="1">
                <a:solidFill>
                  <a:srgbClr val="002060"/>
                </a:solidFill>
              </a:rPr>
              <a:t>Awami</a:t>
            </a:r>
            <a:r>
              <a:rPr lang="en-US" dirty="0">
                <a:solidFill>
                  <a:srgbClr val="002060"/>
                </a:solidFill>
              </a:rPr>
              <a:t> League officially launched its election on the basis of the six- point program on 7 June 1970. During the campaign , </a:t>
            </a:r>
            <a:r>
              <a:rPr lang="en-US" dirty="0" err="1">
                <a:solidFill>
                  <a:srgbClr val="002060"/>
                </a:solidFill>
              </a:rPr>
              <a:t>Mujib</a:t>
            </a:r>
            <a:r>
              <a:rPr lang="en-US" dirty="0">
                <a:solidFill>
                  <a:srgbClr val="002060"/>
                </a:solidFill>
              </a:rPr>
              <a:t> warned the  people to be ready for any eventuality in the </a:t>
            </a:r>
            <a:r>
              <a:rPr lang="en-US" dirty="0">
                <a:solidFill>
                  <a:srgbClr val="FF0000"/>
                </a:solidFill>
              </a:rPr>
              <a:t>great struggle for their rights. </a:t>
            </a:r>
            <a:r>
              <a:rPr lang="en-US" dirty="0">
                <a:solidFill>
                  <a:srgbClr val="002060"/>
                </a:solidFill>
              </a:rPr>
              <a:t>	In a public meeting at the Dhaka Race Course </a:t>
            </a:r>
            <a:r>
              <a:rPr lang="en-US" dirty="0" err="1">
                <a:solidFill>
                  <a:srgbClr val="002060"/>
                </a:solidFill>
              </a:rPr>
              <a:t>Maidan</a:t>
            </a:r>
            <a:r>
              <a:rPr lang="en-US" dirty="0">
                <a:solidFill>
                  <a:srgbClr val="002060"/>
                </a:solidFill>
              </a:rPr>
              <a:t> </a:t>
            </a:r>
            <a:r>
              <a:rPr lang="en-US" dirty="0" err="1">
                <a:solidFill>
                  <a:srgbClr val="002060"/>
                </a:solidFill>
              </a:rPr>
              <a:t>Mujib</a:t>
            </a:r>
            <a:r>
              <a:rPr lang="en-US" dirty="0">
                <a:solidFill>
                  <a:srgbClr val="002060"/>
                </a:solidFill>
              </a:rPr>
              <a:t> used the slogan </a:t>
            </a:r>
            <a:r>
              <a:rPr lang="en-US" i="1" dirty="0" err="1">
                <a:solidFill>
                  <a:srgbClr val="002060"/>
                </a:solidFill>
              </a:rPr>
              <a:t>Joi</a:t>
            </a:r>
            <a:r>
              <a:rPr lang="en-US" i="1" dirty="0">
                <a:solidFill>
                  <a:srgbClr val="002060"/>
                </a:solidFill>
              </a:rPr>
              <a:t> Bangla</a:t>
            </a:r>
            <a:r>
              <a:rPr lang="en-US" dirty="0">
                <a:solidFill>
                  <a:srgbClr val="002060"/>
                </a:solidFill>
              </a:rPr>
              <a:t>  for the first time. It became the battle cry in the electoral campaign and later, in the liberation war</a:t>
            </a:r>
            <a:r>
              <a:rPr lang="en-US" dirty="0"/>
              <a:t>.</a:t>
            </a:r>
          </a:p>
        </p:txBody>
      </p:sp>
    </p:spTree>
    <p:extLst>
      <p:ext uri="{BB962C8B-B14F-4D97-AF65-F5344CB8AC3E}">
        <p14:creationId xmlns:p14="http://schemas.microsoft.com/office/powerpoint/2010/main" val="1086632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CAMPAIGN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981200"/>
            <a:ext cx="3429000" cy="375300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2476500"/>
            <a:ext cx="2895600" cy="3257710"/>
          </a:xfrm>
          <a:prstGeom prst="rect">
            <a:avLst/>
          </a:prstGeom>
        </p:spPr>
      </p:pic>
    </p:spTree>
    <p:extLst>
      <p:ext uri="{BB962C8B-B14F-4D97-AF65-F5344CB8AC3E}">
        <p14:creationId xmlns:p14="http://schemas.microsoft.com/office/powerpoint/2010/main" val="730677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DEVASTATING CYCLONE</a:t>
            </a:r>
          </a:p>
        </p:txBody>
      </p:sp>
      <p:sp>
        <p:nvSpPr>
          <p:cNvPr id="3" name="Content Placeholder 2"/>
          <p:cNvSpPr>
            <a:spLocks noGrp="1"/>
          </p:cNvSpPr>
          <p:nvPr>
            <p:ph idx="1"/>
          </p:nvPr>
        </p:nvSpPr>
        <p:spPr/>
        <p:txBody>
          <a:bodyPr>
            <a:normAutofit fontScale="77500" lnSpcReduction="20000"/>
          </a:bodyPr>
          <a:lstStyle/>
          <a:p>
            <a:r>
              <a:rPr lang="en-US" dirty="0">
                <a:solidFill>
                  <a:srgbClr val="00B050"/>
                </a:solidFill>
              </a:rPr>
              <a:t>Dates of Election -  Originally the date of election was fixed for 5 October 1970. But it was postponed to 7 December because of devastating floods in East Pakistan during the month of August</a:t>
            </a:r>
            <a:r>
              <a:rPr lang="en-US" dirty="0">
                <a:solidFill>
                  <a:srgbClr val="002060"/>
                </a:solidFill>
              </a:rPr>
              <a:t>.   </a:t>
            </a:r>
          </a:p>
          <a:p>
            <a:r>
              <a:rPr lang="en-US" dirty="0">
                <a:solidFill>
                  <a:srgbClr val="002060"/>
                </a:solidFill>
              </a:rPr>
              <a:t>Devastating Cyclone – In November 1970 there was a devastating cyclone in the </a:t>
            </a:r>
            <a:r>
              <a:rPr lang="en-US" dirty="0">
                <a:solidFill>
                  <a:srgbClr val="FF0000"/>
                </a:solidFill>
              </a:rPr>
              <a:t>coastal areas of East Pakistan killing thousands of people, cattle and destroying </a:t>
            </a:r>
            <a:r>
              <a:rPr lang="en-US" dirty="0">
                <a:solidFill>
                  <a:srgbClr val="002060"/>
                </a:solidFill>
              </a:rPr>
              <a:t>properties and houses. There was an utter negligence on the part of the government to come to the help of the people and provide relief. President </a:t>
            </a:r>
            <a:r>
              <a:rPr lang="en-US" dirty="0" err="1">
                <a:solidFill>
                  <a:srgbClr val="002060"/>
                </a:solidFill>
              </a:rPr>
              <a:t>Yahya</a:t>
            </a:r>
            <a:r>
              <a:rPr lang="en-US" dirty="0">
                <a:solidFill>
                  <a:srgbClr val="002060"/>
                </a:solidFill>
              </a:rPr>
              <a:t> was very casual about it and his government even did not respond properly when foreign governments and agencies extended their helping hands.  </a:t>
            </a:r>
          </a:p>
        </p:txBody>
      </p:sp>
    </p:spTree>
    <p:extLst>
      <p:ext uri="{BB962C8B-B14F-4D97-AF65-F5344CB8AC3E}">
        <p14:creationId xmlns:p14="http://schemas.microsoft.com/office/powerpoint/2010/main" val="1766276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FLOOD : 1970 EAST PAKISTAN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1752600"/>
            <a:ext cx="4876800" cy="4114800"/>
          </a:xfrm>
        </p:spPr>
      </p:pic>
    </p:spTree>
    <p:extLst>
      <p:ext uri="{BB962C8B-B14F-4D97-AF65-F5344CB8AC3E}">
        <p14:creationId xmlns:p14="http://schemas.microsoft.com/office/powerpoint/2010/main" val="2862399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DEVASTATING CYCLONE 1970</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5725" y="3415506"/>
            <a:ext cx="1352550" cy="895350"/>
          </a:xfr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1" y="2981324"/>
            <a:ext cx="2438400" cy="251580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2981324"/>
            <a:ext cx="2614613" cy="108585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3337" y="1524000"/>
            <a:ext cx="2328863" cy="1314450"/>
          </a:xfrm>
          <a:prstGeom prst="rect">
            <a:avLst/>
          </a:prstGeom>
        </p:spPr>
      </p:pic>
    </p:spTree>
    <p:extLst>
      <p:ext uri="{BB962C8B-B14F-4D97-AF65-F5344CB8AC3E}">
        <p14:creationId xmlns:p14="http://schemas.microsoft.com/office/powerpoint/2010/main" val="4037410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144E7BD-E2EA-4A7A-9D7A-EE8239FFC608}"/>
              </a:ext>
            </a:extLst>
          </p:cNvPr>
          <p:cNvPicPr>
            <a:picLocks noGrp="1" noChangeAspect="1"/>
          </p:cNvPicPr>
          <p:nvPr>
            <p:ph idx="1"/>
          </p:nvPr>
        </p:nvPicPr>
        <p:blipFill>
          <a:blip r:embed="rId2"/>
          <a:stretch>
            <a:fillRect/>
          </a:stretch>
        </p:blipFill>
        <p:spPr>
          <a:xfrm>
            <a:off x="981075" y="2057401"/>
            <a:ext cx="4276725" cy="3733800"/>
          </a:xfrm>
          <a:prstGeom prst="rect">
            <a:avLst/>
          </a:prstGeom>
        </p:spPr>
      </p:pic>
      <p:pic>
        <p:nvPicPr>
          <p:cNvPr id="5" name="Picture 4">
            <a:extLst>
              <a:ext uri="{FF2B5EF4-FFF2-40B4-BE49-F238E27FC236}">
                <a16:creationId xmlns:a16="http://schemas.microsoft.com/office/drawing/2014/main" id="{891E7CEF-B761-4B26-B0BC-D8916452044C}"/>
              </a:ext>
            </a:extLst>
          </p:cNvPr>
          <p:cNvPicPr>
            <a:picLocks noChangeAspect="1"/>
          </p:cNvPicPr>
          <p:nvPr/>
        </p:nvPicPr>
        <p:blipFill>
          <a:blip r:embed="rId3"/>
          <a:stretch>
            <a:fillRect/>
          </a:stretch>
        </p:blipFill>
        <p:spPr>
          <a:xfrm>
            <a:off x="5562600" y="2057401"/>
            <a:ext cx="3276600" cy="3733799"/>
          </a:xfrm>
          <a:prstGeom prst="rect">
            <a:avLst/>
          </a:prstGeom>
        </p:spPr>
      </p:pic>
    </p:spTree>
    <p:extLst>
      <p:ext uri="{BB962C8B-B14F-4D97-AF65-F5344CB8AC3E}">
        <p14:creationId xmlns:p14="http://schemas.microsoft.com/office/powerpoint/2010/main" val="4044877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REACTION</a:t>
            </a:r>
          </a:p>
        </p:txBody>
      </p:sp>
      <p:sp>
        <p:nvSpPr>
          <p:cNvPr id="3" name="Content Placeholder 2"/>
          <p:cNvSpPr>
            <a:spLocks noGrp="1"/>
          </p:cNvSpPr>
          <p:nvPr>
            <p:ph idx="1"/>
          </p:nvPr>
        </p:nvSpPr>
        <p:spPr/>
        <p:txBody>
          <a:bodyPr>
            <a:normAutofit fontScale="85000" lnSpcReduction="20000"/>
          </a:bodyPr>
          <a:lstStyle/>
          <a:p>
            <a:r>
              <a:rPr lang="en-US" dirty="0">
                <a:solidFill>
                  <a:srgbClr val="7030A0"/>
                </a:solidFill>
              </a:rPr>
              <a:t>On the </a:t>
            </a:r>
            <a:r>
              <a:rPr lang="en-US" dirty="0">
                <a:solidFill>
                  <a:srgbClr val="FF0000"/>
                </a:solidFill>
              </a:rPr>
              <a:t>contrary the East Pakistan political parties and the public especially students did an exemplary work in helping the affected people</a:t>
            </a:r>
            <a:r>
              <a:rPr lang="en-US" dirty="0">
                <a:solidFill>
                  <a:srgbClr val="7030A0"/>
                </a:solidFill>
              </a:rPr>
              <a:t>. </a:t>
            </a:r>
            <a:r>
              <a:rPr lang="en-US" dirty="0" err="1">
                <a:solidFill>
                  <a:srgbClr val="7030A0"/>
                </a:solidFill>
              </a:rPr>
              <a:t>Awami</a:t>
            </a:r>
            <a:r>
              <a:rPr lang="en-US" dirty="0">
                <a:solidFill>
                  <a:srgbClr val="7030A0"/>
                </a:solidFill>
              </a:rPr>
              <a:t> League and its leaders won the hearts of the cyclone affected people by touring the areas </a:t>
            </a:r>
            <a:r>
              <a:rPr lang="en-US" dirty="0">
                <a:solidFill>
                  <a:srgbClr val="FF0000"/>
                </a:solidFill>
              </a:rPr>
              <a:t>and sending volunteers to provide relief to them.</a:t>
            </a:r>
            <a:r>
              <a:rPr lang="en-US" dirty="0">
                <a:solidFill>
                  <a:srgbClr val="7030A0"/>
                </a:solidFill>
              </a:rPr>
              <a:t>  In any case the  political leaders and the general public became extremely unhappy and discontented by the attitude of the government and specially </a:t>
            </a:r>
            <a:r>
              <a:rPr lang="en-US" dirty="0" err="1">
                <a:solidFill>
                  <a:srgbClr val="7030A0"/>
                </a:solidFill>
              </a:rPr>
              <a:t>Yahya</a:t>
            </a:r>
            <a:r>
              <a:rPr lang="en-US" dirty="0">
                <a:solidFill>
                  <a:srgbClr val="7030A0"/>
                </a:solidFill>
              </a:rPr>
              <a:t> Khan and other military rulers.</a:t>
            </a:r>
          </a:p>
          <a:p>
            <a:r>
              <a:rPr lang="en-US" dirty="0">
                <a:solidFill>
                  <a:srgbClr val="00B0F0"/>
                </a:solidFill>
              </a:rPr>
              <a:t>On 13 November 1970, </a:t>
            </a:r>
            <a:r>
              <a:rPr lang="en-US" dirty="0" err="1">
                <a:solidFill>
                  <a:srgbClr val="00B0F0"/>
                </a:solidFill>
              </a:rPr>
              <a:t>Maulana</a:t>
            </a:r>
            <a:r>
              <a:rPr lang="en-US" dirty="0">
                <a:solidFill>
                  <a:srgbClr val="00B0F0"/>
                </a:solidFill>
              </a:rPr>
              <a:t> </a:t>
            </a:r>
            <a:r>
              <a:rPr lang="en-US" dirty="0" err="1">
                <a:solidFill>
                  <a:srgbClr val="00B0F0"/>
                </a:solidFill>
              </a:rPr>
              <a:t>Bhasani</a:t>
            </a:r>
            <a:r>
              <a:rPr lang="en-US" dirty="0">
                <a:solidFill>
                  <a:srgbClr val="00B0F0"/>
                </a:solidFill>
              </a:rPr>
              <a:t> called for an independent East Pakistan. </a:t>
            </a:r>
          </a:p>
          <a:p>
            <a:r>
              <a:rPr lang="en-US" dirty="0">
                <a:solidFill>
                  <a:srgbClr val="00B0F0"/>
                </a:solidFill>
              </a:rPr>
              <a:t> </a:t>
            </a:r>
          </a:p>
          <a:p>
            <a:endParaRPr lang="en-US" dirty="0"/>
          </a:p>
        </p:txBody>
      </p:sp>
    </p:spTree>
    <p:extLst>
      <p:ext uri="{BB962C8B-B14F-4D97-AF65-F5344CB8AC3E}">
        <p14:creationId xmlns:p14="http://schemas.microsoft.com/office/powerpoint/2010/main" val="3676801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FEAR OF POSTPONMENT OF ELECTION</a:t>
            </a:r>
          </a:p>
        </p:txBody>
      </p:sp>
      <p:sp>
        <p:nvSpPr>
          <p:cNvPr id="3" name="Content Placeholder 2"/>
          <p:cNvSpPr>
            <a:spLocks noGrp="1"/>
          </p:cNvSpPr>
          <p:nvPr>
            <p:ph idx="1"/>
          </p:nvPr>
        </p:nvSpPr>
        <p:spPr/>
        <p:txBody>
          <a:bodyPr>
            <a:normAutofit/>
          </a:bodyPr>
          <a:lstStyle/>
          <a:p>
            <a:r>
              <a:rPr lang="en-US" dirty="0">
                <a:solidFill>
                  <a:srgbClr val="002060"/>
                </a:solidFill>
              </a:rPr>
              <a:t>It was feared that the military government taking advantage of </a:t>
            </a:r>
            <a:r>
              <a:rPr lang="en-US" dirty="0">
                <a:solidFill>
                  <a:srgbClr val="FF0000"/>
                </a:solidFill>
              </a:rPr>
              <a:t>the natural disaster might postpone the election for an indefinite period</a:t>
            </a:r>
            <a:r>
              <a:rPr lang="en-US" dirty="0">
                <a:solidFill>
                  <a:srgbClr val="002060"/>
                </a:solidFill>
              </a:rPr>
              <a:t>. Actually the </a:t>
            </a:r>
            <a:r>
              <a:rPr lang="en-US" dirty="0" err="1">
                <a:solidFill>
                  <a:srgbClr val="002060"/>
                </a:solidFill>
              </a:rPr>
              <a:t>Yahya</a:t>
            </a:r>
            <a:r>
              <a:rPr lang="en-US" dirty="0">
                <a:solidFill>
                  <a:srgbClr val="002060"/>
                </a:solidFill>
              </a:rPr>
              <a:t> government was thinking that but fearing that such a step would cause unprecedented hostility , the government only postponed </a:t>
            </a:r>
            <a:r>
              <a:rPr lang="en-US" dirty="0">
                <a:solidFill>
                  <a:srgbClr val="FF0000"/>
                </a:solidFill>
              </a:rPr>
              <a:t>the election of the cyclone affected </a:t>
            </a:r>
            <a:r>
              <a:rPr lang="en-US" dirty="0">
                <a:solidFill>
                  <a:srgbClr val="002060"/>
                </a:solidFill>
              </a:rPr>
              <a:t>areas involving only nine (9) seats. These were held on 17</a:t>
            </a:r>
            <a:r>
              <a:rPr lang="en-US" baseline="30000" dirty="0">
                <a:solidFill>
                  <a:srgbClr val="002060"/>
                </a:solidFill>
              </a:rPr>
              <a:t>th</a:t>
            </a:r>
            <a:r>
              <a:rPr lang="en-US" dirty="0">
                <a:solidFill>
                  <a:srgbClr val="002060"/>
                </a:solidFill>
              </a:rPr>
              <a:t> January 1971.    </a:t>
            </a:r>
          </a:p>
          <a:p>
            <a:endParaRPr lang="en-US" dirty="0"/>
          </a:p>
        </p:txBody>
      </p:sp>
    </p:spTree>
    <p:extLst>
      <p:ext uri="{BB962C8B-B14F-4D97-AF65-F5344CB8AC3E}">
        <p14:creationId xmlns:p14="http://schemas.microsoft.com/office/powerpoint/2010/main" val="3676727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LANDSLIDE VICTORY FOR AWAMI LEAGUE   </a:t>
            </a:r>
          </a:p>
        </p:txBody>
      </p:sp>
      <p:sp>
        <p:nvSpPr>
          <p:cNvPr id="3" name="Content Placeholder 2"/>
          <p:cNvSpPr>
            <a:spLocks noGrp="1"/>
          </p:cNvSpPr>
          <p:nvPr>
            <p:ph idx="1"/>
          </p:nvPr>
        </p:nvSpPr>
        <p:spPr/>
        <p:txBody>
          <a:bodyPr>
            <a:normAutofit/>
          </a:bodyPr>
          <a:lstStyle/>
          <a:p>
            <a:r>
              <a:rPr lang="en-US" dirty="0">
                <a:solidFill>
                  <a:srgbClr val="002060"/>
                </a:solidFill>
              </a:rPr>
              <a:t>The election was held on 7 December 1970 for the National Assembly of Pakistan in a very peaceful and organized manner. </a:t>
            </a:r>
            <a:r>
              <a:rPr lang="en-US" dirty="0" err="1">
                <a:solidFill>
                  <a:srgbClr val="002060"/>
                </a:solidFill>
              </a:rPr>
              <a:t>Awami</a:t>
            </a:r>
            <a:r>
              <a:rPr lang="en-US" dirty="0">
                <a:solidFill>
                  <a:srgbClr val="002060"/>
                </a:solidFill>
              </a:rPr>
              <a:t> League won a </a:t>
            </a:r>
            <a:r>
              <a:rPr lang="en-US" dirty="0">
                <a:solidFill>
                  <a:srgbClr val="FF0000"/>
                </a:solidFill>
              </a:rPr>
              <a:t>landslide victory in the election of the National Assembly securing 167 seats </a:t>
            </a:r>
            <a:r>
              <a:rPr lang="en-US" dirty="0">
                <a:solidFill>
                  <a:srgbClr val="002060"/>
                </a:solidFill>
              </a:rPr>
              <a:t>out of 169. </a:t>
            </a:r>
            <a:r>
              <a:rPr lang="en-US" dirty="0">
                <a:solidFill>
                  <a:srgbClr val="FF0000"/>
                </a:solidFill>
              </a:rPr>
              <a:t>This was a great surprise for the politicians of West Pakistan especially the military junta.   </a:t>
            </a:r>
          </a:p>
          <a:p>
            <a:endParaRPr lang="en-US" dirty="0"/>
          </a:p>
        </p:txBody>
      </p:sp>
    </p:spTree>
    <p:extLst>
      <p:ext uri="{BB962C8B-B14F-4D97-AF65-F5344CB8AC3E}">
        <p14:creationId xmlns:p14="http://schemas.microsoft.com/office/powerpoint/2010/main" val="25402738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ELECTION RESULTS</a:t>
            </a:r>
          </a:p>
        </p:txBody>
      </p:sp>
      <p:sp>
        <p:nvSpPr>
          <p:cNvPr id="3" name="Content Placeholder 2"/>
          <p:cNvSpPr>
            <a:spLocks noGrp="1"/>
          </p:cNvSpPr>
          <p:nvPr>
            <p:ph idx="1"/>
          </p:nvPr>
        </p:nvSpPr>
        <p:spPr/>
        <p:txBody>
          <a:bodyPr>
            <a:normAutofit fontScale="85000" lnSpcReduction="10000"/>
          </a:bodyPr>
          <a:lstStyle/>
          <a:p>
            <a:r>
              <a:rPr lang="en-US" dirty="0" err="1">
                <a:solidFill>
                  <a:srgbClr val="002060"/>
                </a:solidFill>
              </a:rPr>
              <a:t>Awami</a:t>
            </a:r>
            <a:r>
              <a:rPr lang="en-US" dirty="0">
                <a:solidFill>
                  <a:srgbClr val="002060"/>
                </a:solidFill>
              </a:rPr>
              <a:t> League </a:t>
            </a:r>
            <a:r>
              <a:rPr lang="en-US" dirty="0">
                <a:solidFill>
                  <a:srgbClr val="FF0000"/>
                </a:solidFill>
              </a:rPr>
              <a:t>secured 82 per cent of the votes cast </a:t>
            </a:r>
            <a:r>
              <a:rPr lang="en-US" dirty="0">
                <a:solidFill>
                  <a:srgbClr val="002060"/>
                </a:solidFill>
              </a:rPr>
              <a:t>in East Pakistan while in West Pakistan Bhutto’s People’s Party left others far behind. It alone secured 88 seats out of a total of 146 seats in WP. </a:t>
            </a:r>
          </a:p>
          <a:p>
            <a:r>
              <a:rPr lang="en-US" dirty="0">
                <a:solidFill>
                  <a:srgbClr val="7030A0"/>
                </a:solidFill>
              </a:rPr>
              <a:t>Final Result – The AL in East Pakistan secured  167 seats out of 169 in the NA and </a:t>
            </a:r>
            <a:r>
              <a:rPr lang="en-US" dirty="0">
                <a:solidFill>
                  <a:srgbClr val="FF0000"/>
                </a:solidFill>
              </a:rPr>
              <a:t>298 seats out of 310</a:t>
            </a:r>
            <a:r>
              <a:rPr lang="en-US" dirty="0">
                <a:solidFill>
                  <a:srgbClr val="7030A0"/>
                </a:solidFill>
              </a:rPr>
              <a:t> in the Provincial Assembly </a:t>
            </a:r>
            <a:r>
              <a:rPr lang="en-US" dirty="0"/>
              <a:t>.</a:t>
            </a:r>
          </a:p>
          <a:p>
            <a:r>
              <a:rPr lang="en-US" dirty="0">
                <a:solidFill>
                  <a:srgbClr val="00B0F0"/>
                </a:solidFill>
              </a:rPr>
              <a:t>In all AL secured 38.3 per cent of the votes cast all over Pakistan while the PPP secured only 19.5 percent.</a:t>
            </a:r>
          </a:p>
          <a:p>
            <a:r>
              <a:rPr lang="en-US" dirty="0">
                <a:solidFill>
                  <a:srgbClr val="0070C0"/>
                </a:solidFill>
              </a:rPr>
              <a:t>The AL secured a position </a:t>
            </a:r>
            <a:r>
              <a:rPr lang="en-US" dirty="0">
                <a:solidFill>
                  <a:srgbClr val="FF0000"/>
                </a:solidFill>
              </a:rPr>
              <a:t>of absolute majority in the National Assembly of Pakistan.</a:t>
            </a:r>
          </a:p>
        </p:txBody>
      </p:sp>
    </p:spTree>
    <p:extLst>
      <p:ext uri="{BB962C8B-B14F-4D97-AF65-F5344CB8AC3E}">
        <p14:creationId xmlns:p14="http://schemas.microsoft.com/office/powerpoint/2010/main" val="1579905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SUCCESS OF THE AWAMI LEAGUE</a:t>
            </a:r>
          </a:p>
        </p:txBody>
      </p:sp>
      <p:sp>
        <p:nvSpPr>
          <p:cNvPr id="3" name="Content Placeholder 2"/>
          <p:cNvSpPr>
            <a:spLocks noGrp="1"/>
          </p:cNvSpPr>
          <p:nvPr>
            <p:ph idx="1"/>
          </p:nvPr>
        </p:nvSpPr>
        <p:spPr/>
        <p:txBody>
          <a:bodyPr>
            <a:normAutofit fontScale="92500" lnSpcReduction="10000"/>
          </a:bodyPr>
          <a:lstStyle/>
          <a:p>
            <a:r>
              <a:rPr lang="en-US" dirty="0">
                <a:solidFill>
                  <a:srgbClr val="0070C0"/>
                </a:solidFill>
              </a:rPr>
              <a:t>Reasons for the success of the </a:t>
            </a:r>
            <a:r>
              <a:rPr lang="en-US" dirty="0" err="1">
                <a:solidFill>
                  <a:srgbClr val="0070C0"/>
                </a:solidFill>
              </a:rPr>
              <a:t>Awami</a:t>
            </a:r>
            <a:r>
              <a:rPr lang="en-US" dirty="0">
                <a:solidFill>
                  <a:srgbClr val="0070C0"/>
                </a:solidFill>
              </a:rPr>
              <a:t> League  </a:t>
            </a:r>
          </a:p>
          <a:p>
            <a:pPr lvl="0"/>
            <a:r>
              <a:rPr lang="en-US" dirty="0">
                <a:solidFill>
                  <a:srgbClr val="002060"/>
                </a:solidFill>
              </a:rPr>
              <a:t>The Six-Points Program</a:t>
            </a:r>
          </a:p>
          <a:p>
            <a:pPr lvl="0"/>
            <a:r>
              <a:rPr lang="en-US" dirty="0">
                <a:solidFill>
                  <a:srgbClr val="7030A0"/>
                </a:solidFill>
              </a:rPr>
              <a:t>Natural Disaster of 1970 and the callous response of the government</a:t>
            </a:r>
          </a:p>
          <a:p>
            <a:pPr lvl="0"/>
            <a:r>
              <a:rPr lang="en-US" dirty="0">
                <a:solidFill>
                  <a:srgbClr val="7030A0"/>
                </a:solidFill>
              </a:rPr>
              <a:t>President </a:t>
            </a:r>
            <a:r>
              <a:rPr lang="en-US" dirty="0" err="1">
                <a:solidFill>
                  <a:srgbClr val="7030A0"/>
                </a:solidFill>
              </a:rPr>
              <a:t>Yahya</a:t>
            </a:r>
            <a:r>
              <a:rPr lang="en-US" dirty="0">
                <a:solidFill>
                  <a:srgbClr val="7030A0"/>
                </a:solidFill>
              </a:rPr>
              <a:t> Khan did not give much importance to the cyclone disaster. In fact the </a:t>
            </a:r>
            <a:r>
              <a:rPr lang="en-US" dirty="0">
                <a:solidFill>
                  <a:srgbClr val="FF0000"/>
                </a:solidFill>
              </a:rPr>
              <a:t>government tried to give out the death figures as being around 50</a:t>
            </a:r>
            <a:r>
              <a:rPr lang="en-US" dirty="0">
                <a:solidFill>
                  <a:srgbClr val="7030A0"/>
                </a:solidFill>
              </a:rPr>
              <a:t>. On his way back from China, </a:t>
            </a:r>
            <a:r>
              <a:rPr lang="en-US" dirty="0" err="1">
                <a:solidFill>
                  <a:srgbClr val="7030A0"/>
                </a:solidFill>
              </a:rPr>
              <a:t>Yahya</a:t>
            </a:r>
            <a:r>
              <a:rPr lang="en-US" dirty="0">
                <a:solidFill>
                  <a:srgbClr val="7030A0"/>
                </a:solidFill>
              </a:rPr>
              <a:t> Khan stopped at Dhaka, flew over the affected areas on November 14 and left on 16</a:t>
            </a:r>
            <a:r>
              <a:rPr lang="en-US" baseline="30000" dirty="0">
                <a:solidFill>
                  <a:srgbClr val="7030A0"/>
                </a:solidFill>
              </a:rPr>
              <a:t>th</a:t>
            </a:r>
            <a:r>
              <a:rPr lang="en-US" dirty="0">
                <a:solidFill>
                  <a:srgbClr val="7030A0"/>
                </a:solidFill>
              </a:rPr>
              <a:t>.                                                                                                                                                                                   </a:t>
            </a:r>
          </a:p>
        </p:txBody>
      </p:sp>
    </p:spTree>
    <p:extLst>
      <p:ext uri="{BB962C8B-B14F-4D97-AF65-F5344CB8AC3E}">
        <p14:creationId xmlns:p14="http://schemas.microsoft.com/office/powerpoint/2010/main" val="606480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HANDING OVER POWER</a:t>
            </a:r>
          </a:p>
        </p:txBody>
      </p:sp>
      <p:sp>
        <p:nvSpPr>
          <p:cNvPr id="3" name="Content Placeholder 2"/>
          <p:cNvSpPr>
            <a:spLocks noGrp="1"/>
          </p:cNvSpPr>
          <p:nvPr>
            <p:ph idx="1"/>
          </p:nvPr>
        </p:nvSpPr>
        <p:spPr/>
        <p:txBody>
          <a:bodyPr>
            <a:normAutofit fontScale="92500" lnSpcReduction="10000"/>
          </a:bodyPr>
          <a:lstStyle/>
          <a:p>
            <a:r>
              <a:rPr lang="en-US" dirty="0">
                <a:solidFill>
                  <a:srgbClr val="002060"/>
                </a:solidFill>
              </a:rPr>
              <a:t>The </a:t>
            </a:r>
            <a:r>
              <a:rPr lang="en-US" dirty="0" err="1">
                <a:solidFill>
                  <a:srgbClr val="002060"/>
                </a:solidFill>
              </a:rPr>
              <a:t>Awami</a:t>
            </a:r>
            <a:r>
              <a:rPr lang="en-US" dirty="0">
                <a:solidFill>
                  <a:srgbClr val="002060"/>
                </a:solidFill>
              </a:rPr>
              <a:t> League and the people of East Pakistan after the election generally expected that the new government both in the </a:t>
            </a:r>
            <a:r>
              <a:rPr lang="en-US" dirty="0">
                <a:solidFill>
                  <a:srgbClr val="FF0000"/>
                </a:solidFill>
              </a:rPr>
              <a:t>Center and in East Pakistan</a:t>
            </a:r>
            <a:r>
              <a:rPr lang="en-US" dirty="0">
                <a:solidFill>
                  <a:srgbClr val="002060"/>
                </a:solidFill>
              </a:rPr>
              <a:t> would be formed by the AL. And that the new constitution</a:t>
            </a:r>
            <a:r>
              <a:rPr lang="en-US" dirty="0">
                <a:solidFill>
                  <a:srgbClr val="FF0000"/>
                </a:solidFill>
              </a:rPr>
              <a:t> would be framed along with the wishes of the people and the Six- Point Program.</a:t>
            </a:r>
          </a:p>
          <a:p>
            <a:r>
              <a:rPr lang="en-US" dirty="0">
                <a:solidFill>
                  <a:srgbClr val="0070C0"/>
                </a:solidFill>
              </a:rPr>
              <a:t>But the Military Junta and the leader of the PPP Bhutto thought otherwise .</a:t>
            </a:r>
          </a:p>
          <a:p>
            <a:r>
              <a:rPr lang="en-US" dirty="0">
                <a:solidFill>
                  <a:srgbClr val="FF0000"/>
                </a:solidFill>
              </a:rPr>
              <a:t>Pakistan headed for uncertainties.</a:t>
            </a:r>
          </a:p>
        </p:txBody>
      </p:sp>
    </p:spTree>
    <p:extLst>
      <p:ext uri="{BB962C8B-B14F-4D97-AF65-F5344CB8AC3E}">
        <p14:creationId xmlns:p14="http://schemas.microsoft.com/office/powerpoint/2010/main" val="3572150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836</TotalTime>
  <Words>1836</Words>
  <Application>Microsoft Office PowerPoint</Application>
  <PresentationFormat>On-screen Show (4:3)</PresentationFormat>
  <Paragraphs>90</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YAHYA’S Intentions</vt:lpstr>
      <vt:lpstr>LEGAL FRAME WORKS</vt:lpstr>
      <vt:lpstr>YAHAYA’S ELECTION PREPARATION</vt:lpstr>
      <vt:lpstr>LEGAL FRAMEWORK ORDER (LFO)</vt:lpstr>
      <vt:lpstr>FRAMEWORK</vt:lpstr>
      <vt:lpstr>FRAMEWORK</vt:lpstr>
      <vt:lpstr>LFO</vt:lpstr>
      <vt:lpstr>LFO</vt:lpstr>
      <vt:lpstr>SK. MUJIB</vt:lpstr>
      <vt:lpstr>ELECTION MANIFESTO</vt:lpstr>
      <vt:lpstr>CAMPAIGN</vt:lpstr>
      <vt:lpstr>CAMPAIGN</vt:lpstr>
      <vt:lpstr>DEVASTATING CYCLONE</vt:lpstr>
      <vt:lpstr>FLOOD : 1970 EAST PAKISTAN</vt:lpstr>
      <vt:lpstr>DEVASTATING CYCLONE 1970</vt:lpstr>
      <vt:lpstr>PowerPoint Presentation</vt:lpstr>
      <vt:lpstr>REACTION</vt:lpstr>
      <vt:lpstr>FEAR OF POSTPONMENT OF ELECTION</vt:lpstr>
      <vt:lpstr>LANDSLIDE VICTORY FOR AWAMI LEAGUE   </vt:lpstr>
      <vt:lpstr>ELECTION RESULTS</vt:lpstr>
      <vt:lpstr>SUCCESS OF THE AWAMI LEAGUE</vt:lpstr>
      <vt:lpstr>HANDING OVER POWER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NSU</cp:lastModifiedBy>
  <cp:revision>136</cp:revision>
  <dcterms:created xsi:type="dcterms:W3CDTF">2016-11-08T06:19:34Z</dcterms:created>
  <dcterms:modified xsi:type="dcterms:W3CDTF">2024-11-19T03:09:06Z</dcterms:modified>
</cp:coreProperties>
</file>