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5" r:id="rId1"/>
  </p:sldMasterIdLst>
  <p:sldIdLst>
    <p:sldId id="256" r:id="rId2"/>
    <p:sldId id="264" r:id="rId3"/>
    <p:sldId id="307" r:id="rId4"/>
    <p:sldId id="267" r:id="rId5"/>
    <p:sldId id="268" r:id="rId6"/>
    <p:sldId id="269" r:id="rId7"/>
    <p:sldId id="289" r:id="rId8"/>
    <p:sldId id="271" r:id="rId9"/>
    <p:sldId id="273" r:id="rId10"/>
    <p:sldId id="272" r:id="rId11"/>
    <p:sldId id="274" r:id="rId12"/>
    <p:sldId id="291" r:id="rId13"/>
    <p:sldId id="292" r:id="rId14"/>
    <p:sldId id="306" r:id="rId15"/>
    <p:sldId id="275" r:id="rId16"/>
    <p:sldId id="276" r:id="rId17"/>
    <p:sldId id="277" r:id="rId18"/>
    <p:sldId id="278" r:id="rId19"/>
    <p:sldId id="321" r:id="rId20"/>
    <p:sldId id="323" r:id="rId21"/>
    <p:sldId id="311" r:id="rId22"/>
    <p:sldId id="312" r:id="rId23"/>
    <p:sldId id="279" r:id="rId24"/>
    <p:sldId id="280" r:id="rId25"/>
    <p:sldId id="314" r:id="rId26"/>
    <p:sldId id="304" r:id="rId27"/>
    <p:sldId id="282"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1160" autoAdjust="0"/>
  </p:normalViewPr>
  <p:slideViewPr>
    <p:cSldViewPr snapToGrid="0">
      <p:cViewPr varScale="1">
        <p:scale>
          <a:sx n="77" d="100"/>
          <a:sy n="77" d="100"/>
        </p:scale>
        <p:origin x="498"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54043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4/5/2025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01389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52667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smtClean="0"/>
              <a:pPr/>
              <a:t>4/5/2025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16868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4/5/2025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36001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smtClean="0"/>
              <a:pPr/>
              <a:t>4/5/2025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63491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4121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44707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68935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4/5/2025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94484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4/5/2025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7644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4/5/2025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15023495"/>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06400" y="2191657"/>
            <a:ext cx="11640457" cy="4050117"/>
          </a:xfrm>
        </p:spPr>
        <p:txBody>
          <a:bodyPr>
            <a:normAutofit/>
          </a:bodyPr>
          <a:lstStyle/>
          <a:p>
            <a:r>
              <a:rPr lang="en-US" sz="4200" b="1" dirty="0">
                <a:solidFill>
                  <a:srgbClr val="002060"/>
                </a:solidFill>
              </a:rPr>
              <a:t>Six-Point Movement &amp; Agartala Conspiracy Case</a:t>
            </a:r>
            <a:endParaRPr lang="en-US" sz="2900" b="1" dirty="0">
              <a:solidFill>
                <a:srgbClr val="00B050"/>
              </a:solidFill>
            </a:endParaRPr>
          </a:p>
          <a:p>
            <a:endParaRPr lang="en-US" sz="2900" b="1" dirty="0"/>
          </a:p>
          <a:p>
            <a:r>
              <a:rPr lang="en-US" sz="2900" b="1" dirty="0"/>
              <a:t>North South University</a:t>
            </a:r>
          </a:p>
          <a:p>
            <a:r>
              <a:rPr lang="en-US" sz="2900" b="1" dirty="0"/>
              <a:t>Dhaka, Bangladesh</a:t>
            </a:r>
          </a:p>
          <a:p>
            <a:endParaRPr lang="en-US" sz="2900" dirty="0"/>
          </a:p>
          <a:p>
            <a:r>
              <a:rPr lang="en-US" sz="2900" b="1" dirty="0"/>
              <a:t> </a:t>
            </a:r>
          </a:p>
        </p:txBody>
      </p:sp>
    </p:spTree>
    <p:extLst>
      <p:ext uri="{BB962C8B-B14F-4D97-AF65-F5344CB8AC3E}">
        <p14:creationId xmlns:p14="http://schemas.microsoft.com/office/powerpoint/2010/main" val="2145617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2030" y="412017"/>
            <a:ext cx="4677507" cy="728737"/>
          </a:xfrm>
        </p:spPr>
        <p:style>
          <a:lnRef idx="1">
            <a:schemeClr val="accent6"/>
          </a:lnRef>
          <a:fillRef idx="2">
            <a:schemeClr val="accent6"/>
          </a:fillRef>
          <a:effectRef idx="1">
            <a:schemeClr val="accent6"/>
          </a:effectRef>
          <a:fontRef idx="minor">
            <a:schemeClr val="dk1"/>
          </a:fontRef>
        </p:style>
        <p:txBody>
          <a:bodyPr>
            <a:normAutofit/>
          </a:bodyPr>
          <a:lstStyle/>
          <a:p>
            <a:r>
              <a:rPr lang="en-US" dirty="0">
                <a:solidFill>
                  <a:srgbClr val="FF0000"/>
                </a:solidFill>
              </a:rPr>
              <a:t>Political Roadmap:</a:t>
            </a:r>
          </a:p>
        </p:txBody>
      </p:sp>
      <p:sp>
        <p:nvSpPr>
          <p:cNvPr id="3" name="Content Placeholder 2"/>
          <p:cNvSpPr>
            <a:spLocks noGrp="1"/>
          </p:cNvSpPr>
          <p:nvPr>
            <p:ph idx="1"/>
          </p:nvPr>
        </p:nvSpPr>
        <p:spPr>
          <a:xfrm>
            <a:off x="653143" y="1275008"/>
            <a:ext cx="10972800" cy="4901955"/>
          </a:xfrm>
        </p:spPr>
        <p:txBody>
          <a:bodyPr>
            <a:normAutofit/>
          </a:bodyPr>
          <a:lstStyle/>
          <a:p>
            <a:pPr algn="just"/>
            <a:r>
              <a:rPr lang="en-US" dirty="0"/>
              <a:t>The Six-Point program's political aspirations go back to 23rd June 1949, when the East Pakistan </a:t>
            </a:r>
            <a:r>
              <a:rPr lang="en-US" dirty="0" err="1"/>
              <a:t>Awami</a:t>
            </a:r>
            <a:r>
              <a:rPr lang="en-US" dirty="0"/>
              <a:t> Muslim League came into being for safeguarding the regional autonomy of the Bengali people. The party was formed at </a:t>
            </a:r>
            <a:r>
              <a:rPr lang="en-US" i="1" dirty="0"/>
              <a:t>Rose Garden </a:t>
            </a:r>
            <a:r>
              <a:rPr lang="en-US" dirty="0"/>
              <a:t>in KM Das Lane of old Dhaka city, ushering the Bengali people's hope for progress and prosperity. During the first </a:t>
            </a:r>
            <a:r>
              <a:rPr lang="en-US" i="1" dirty="0"/>
              <a:t>Grand Convention of </a:t>
            </a:r>
            <a:r>
              <a:rPr lang="en-US" i="1" dirty="0" err="1"/>
              <a:t>Awami</a:t>
            </a:r>
            <a:r>
              <a:rPr lang="en-US" i="1" dirty="0"/>
              <a:t> League </a:t>
            </a:r>
            <a:r>
              <a:rPr lang="en-US" dirty="0"/>
              <a:t>in November 1950, some noted </a:t>
            </a:r>
            <a:r>
              <a:rPr lang="en-US" dirty="0" err="1"/>
              <a:t>Awami</a:t>
            </a:r>
            <a:r>
              <a:rPr lang="en-US" dirty="0"/>
              <a:t> League leaders, including </a:t>
            </a:r>
            <a:r>
              <a:rPr lang="en-US" dirty="0">
                <a:solidFill>
                  <a:srgbClr val="FF0000"/>
                </a:solidFill>
              </a:rPr>
              <a:t>Maulana Abdul Hamid Khan </a:t>
            </a:r>
            <a:r>
              <a:rPr lang="en-US" dirty="0" err="1">
                <a:solidFill>
                  <a:srgbClr val="FF0000"/>
                </a:solidFill>
              </a:rPr>
              <a:t>Bhashani</a:t>
            </a:r>
            <a:r>
              <a:rPr lang="en-US" dirty="0">
                <a:solidFill>
                  <a:srgbClr val="FF0000"/>
                </a:solidFill>
              </a:rPr>
              <a:t>, Huseyn Shaheed Suhrawardy, Abul Hashim, and Sheikh Mujibur Rahman </a:t>
            </a:r>
            <a:r>
              <a:rPr lang="en-US" dirty="0"/>
              <a:t>advocated for the adoption of a right federal structure in Pakistan. </a:t>
            </a:r>
          </a:p>
        </p:txBody>
      </p:sp>
    </p:spTree>
    <p:extLst>
      <p:ext uri="{BB962C8B-B14F-4D97-AF65-F5344CB8AC3E}">
        <p14:creationId xmlns:p14="http://schemas.microsoft.com/office/powerpoint/2010/main" val="4026663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685236E-25A9-4F38-B4E6-0A916D0036BB}"/>
              </a:ext>
            </a:extLst>
          </p:cNvPr>
          <p:cNvPicPr>
            <a:picLocks noGrp="1" noChangeAspect="1"/>
          </p:cNvPicPr>
          <p:nvPr>
            <p:ph idx="1"/>
          </p:nvPr>
        </p:nvPicPr>
        <p:blipFill>
          <a:blip r:embed="rId2"/>
          <a:stretch>
            <a:fillRect/>
          </a:stretch>
        </p:blipFill>
        <p:spPr>
          <a:xfrm>
            <a:off x="2756452" y="940905"/>
            <a:ext cx="8411402" cy="4253947"/>
          </a:xfrm>
          <a:prstGeom prst="rect">
            <a:avLst/>
          </a:prstGeom>
        </p:spPr>
      </p:pic>
    </p:spTree>
    <p:extLst>
      <p:ext uri="{BB962C8B-B14F-4D97-AF65-F5344CB8AC3E}">
        <p14:creationId xmlns:p14="http://schemas.microsoft.com/office/powerpoint/2010/main" val="4155739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83771"/>
            <a:ext cx="11125912" cy="5393192"/>
          </a:xfrm>
        </p:spPr>
        <p:txBody>
          <a:bodyPr>
            <a:normAutofit/>
          </a:bodyPr>
          <a:lstStyle/>
          <a:p>
            <a:r>
              <a:rPr lang="en-US" dirty="0"/>
              <a:t>Pakistani leadership foiled the general elections plan undertaken by Prime Minister </a:t>
            </a:r>
            <a:r>
              <a:rPr lang="en-US" dirty="0" err="1"/>
              <a:t>Hoseyn</a:t>
            </a:r>
            <a:r>
              <a:rPr lang="en-US" dirty="0"/>
              <a:t> Shaheed Suhrawardy under the constitution of 1956. </a:t>
            </a:r>
          </a:p>
          <a:p>
            <a:endParaRPr lang="en-US" dirty="0"/>
          </a:p>
        </p:txBody>
      </p:sp>
      <p:pic>
        <p:nvPicPr>
          <p:cNvPr id="2" name="Picture 1"/>
          <p:cNvPicPr>
            <a:picLocks noChangeAspect="1"/>
          </p:cNvPicPr>
          <p:nvPr/>
        </p:nvPicPr>
        <p:blipFill>
          <a:blip r:embed="rId2"/>
          <a:stretch>
            <a:fillRect/>
          </a:stretch>
        </p:blipFill>
        <p:spPr>
          <a:xfrm>
            <a:off x="2581217" y="2076973"/>
            <a:ext cx="2871988" cy="3541690"/>
          </a:xfrm>
          <a:prstGeom prst="rect">
            <a:avLst/>
          </a:prstGeom>
        </p:spPr>
      </p:pic>
      <p:sp>
        <p:nvSpPr>
          <p:cNvPr id="4" name="Rectangle 3">
            <a:extLst>
              <a:ext uri="{FF2B5EF4-FFF2-40B4-BE49-F238E27FC236}">
                <a16:creationId xmlns:a16="http://schemas.microsoft.com/office/drawing/2014/main" id="{C76AC2A8-6113-4AEB-9933-B57CD896976E}"/>
              </a:ext>
            </a:extLst>
          </p:cNvPr>
          <p:cNvSpPr/>
          <p:nvPr/>
        </p:nvSpPr>
        <p:spPr>
          <a:xfrm>
            <a:off x="6778171" y="3244334"/>
            <a:ext cx="4963886" cy="369332"/>
          </a:xfrm>
          <a:prstGeom prst="rect">
            <a:avLst/>
          </a:prstGeom>
        </p:spPr>
        <p:txBody>
          <a:bodyPr wrap="square">
            <a:spAutoFit/>
          </a:bodyPr>
          <a:lstStyle/>
          <a:p>
            <a:r>
              <a:rPr lang="en-US" b="1" dirty="0">
                <a:solidFill>
                  <a:srgbClr val="333333"/>
                </a:solidFill>
                <a:latin typeface="SiyamRupali"/>
              </a:rPr>
              <a:t>   </a:t>
            </a:r>
            <a:r>
              <a:rPr lang="as-IN" b="1" dirty="0">
                <a:solidFill>
                  <a:srgbClr val="333333"/>
                </a:solidFill>
                <a:latin typeface="SiyamRupali"/>
              </a:rPr>
              <a:t>গণতন্ত্রের মানসপুত্র হোসেন শহীদ সোহরাওয়ার্দী</a:t>
            </a:r>
            <a:endParaRPr lang="as-IN" b="1" i="0" dirty="0">
              <a:solidFill>
                <a:srgbClr val="333333"/>
              </a:solidFill>
              <a:effectLst/>
              <a:latin typeface="SiyamRupali"/>
            </a:endParaRPr>
          </a:p>
        </p:txBody>
      </p:sp>
      <p:cxnSp>
        <p:nvCxnSpPr>
          <p:cNvPr id="8" name="Straight Arrow Connector 7">
            <a:extLst>
              <a:ext uri="{FF2B5EF4-FFF2-40B4-BE49-F238E27FC236}">
                <a16:creationId xmlns:a16="http://schemas.microsoft.com/office/drawing/2014/main" id="{1B2016B7-A21B-417F-8975-18AF47CC9918}"/>
              </a:ext>
            </a:extLst>
          </p:cNvPr>
          <p:cNvCxnSpPr>
            <a:cxnSpLocks/>
          </p:cNvCxnSpPr>
          <p:nvPr/>
        </p:nvCxnSpPr>
        <p:spPr>
          <a:xfrm flipH="1">
            <a:off x="5791201" y="3477023"/>
            <a:ext cx="98697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5971B96-2180-46B6-8B17-C6D4E502EBDF}"/>
              </a:ext>
            </a:extLst>
          </p:cNvPr>
          <p:cNvPicPr>
            <a:picLocks noChangeAspect="1"/>
          </p:cNvPicPr>
          <p:nvPr/>
        </p:nvPicPr>
        <p:blipFill>
          <a:blip r:embed="rId3"/>
          <a:stretch>
            <a:fillRect/>
          </a:stretch>
        </p:blipFill>
        <p:spPr>
          <a:xfrm>
            <a:off x="7524225" y="3585880"/>
            <a:ext cx="3471778" cy="523875"/>
          </a:xfrm>
          <a:prstGeom prst="rect">
            <a:avLst/>
          </a:prstGeom>
        </p:spPr>
      </p:pic>
    </p:spTree>
    <p:extLst>
      <p:ext uri="{BB962C8B-B14F-4D97-AF65-F5344CB8AC3E}">
        <p14:creationId xmlns:p14="http://schemas.microsoft.com/office/powerpoint/2010/main" val="728012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7262" y="85459"/>
            <a:ext cx="5603630" cy="803184"/>
          </a:xfrm>
        </p:spPr>
        <p:style>
          <a:lnRef idx="2">
            <a:schemeClr val="accent6">
              <a:shade val="50000"/>
            </a:schemeClr>
          </a:lnRef>
          <a:fillRef idx="1">
            <a:schemeClr val="accent6"/>
          </a:fillRef>
          <a:effectRef idx="0">
            <a:schemeClr val="accent6"/>
          </a:effectRef>
          <a:fontRef idx="minor">
            <a:schemeClr val="lt1"/>
          </a:fontRef>
        </p:style>
        <p:txBody>
          <a:bodyPr>
            <a:normAutofit/>
          </a:bodyPr>
          <a:lstStyle/>
          <a:p>
            <a:r>
              <a:rPr lang="en-US" b="1" dirty="0"/>
              <a:t>The Six-Point Program :</a:t>
            </a:r>
          </a:p>
        </p:txBody>
      </p:sp>
      <p:sp>
        <p:nvSpPr>
          <p:cNvPr id="3" name="Content Placeholder 2"/>
          <p:cNvSpPr>
            <a:spLocks noGrp="1"/>
          </p:cNvSpPr>
          <p:nvPr>
            <p:ph idx="1"/>
          </p:nvPr>
        </p:nvSpPr>
        <p:spPr>
          <a:xfrm>
            <a:off x="205100" y="1187865"/>
            <a:ext cx="11576084" cy="4989097"/>
          </a:xfrm>
        </p:spPr>
        <p:style>
          <a:lnRef idx="1">
            <a:schemeClr val="accent1"/>
          </a:lnRef>
          <a:fillRef idx="2">
            <a:schemeClr val="accent1"/>
          </a:fillRef>
          <a:effectRef idx="1">
            <a:schemeClr val="accent1"/>
          </a:effectRef>
          <a:fontRef idx="minor">
            <a:schemeClr val="dk1"/>
          </a:fontRef>
        </p:style>
        <p:txBody>
          <a:bodyPr/>
          <a:lstStyle/>
          <a:p>
            <a:pPr algn="just"/>
            <a:r>
              <a:rPr lang="en-US" dirty="0"/>
              <a:t>The initial move in Lahore could bring only a marginal dividend for Sheikh </a:t>
            </a:r>
            <a:r>
              <a:rPr lang="en-US" dirty="0" err="1"/>
              <a:t>Mujib</a:t>
            </a:r>
            <a:r>
              <a:rPr lang="en-US" dirty="0"/>
              <a:t> politically. Once the </a:t>
            </a:r>
            <a:r>
              <a:rPr lang="en-US" dirty="0" err="1"/>
              <a:t>Awami</a:t>
            </a:r>
            <a:r>
              <a:rPr lang="en-US" dirty="0"/>
              <a:t> League Executive Committee reached a consensus in favor of Six-Points on 21st February </a:t>
            </a:r>
            <a:r>
              <a:rPr lang="en-US" dirty="0">
                <a:solidFill>
                  <a:srgbClr val="FF0000"/>
                </a:solidFill>
              </a:rPr>
              <a:t>1966</a:t>
            </a:r>
            <a:r>
              <a:rPr lang="en-US" dirty="0"/>
              <a:t>, it set out an important milestone in its political history. </a:t>
            </a:r>
          </a:p>
          <a:p>
            <a:pPr algn="just"/>
            <a:r>
              <a:rPr lang="en-US" dirty="0"/>
              <a:t>The plan was presented in a big public rally at the Chittagong </a:t>
            </a:r>
            <a:r>
              <a:rPr lang="en-US" i="1" dirty="0"/>
              <a:t>Lal Dighi Maidan </a:t>
            </a:r>
            <a:r>
              <a:rPr lang="en-US" dirty="0"/>
              <a:t>on 25th February. The program was then endorsed in </a:t>
            </a:r>
            <a:r>
              <a:rPr lang="en-US" dirty="0" err="1"/>
              <a:t>Awami</a:t>
            </a:r>
            <a:r>
              <a:rPr lang="en-US" dirty="0"/>
              <a:t> League Party Council at the Dhaka Eden Hotel on 18-19th March. A booklet entitled </a:t>
            </a:r>
            <a:r>
              <a:rPr lang="en-US" i="1" dirty="0"/>
              <a:t>Our demands for existence: Six-Point program</a:t>
            </a:r>
            <a:r>
              <a:rPr lang="en-US" dirty="0"/>
              <a:t> ( </a:t>
            </a:r>
            <a:r>
              <a:rPr lang="en-US" dirty="0" err="1"/>
              <a:t>Amader</a:t>
            </a:r>
            <a:r>
              <a:rPr lang="en-US" dirty="0"/>
              <a:t> </a:t>
            </a:r>
            <a:r>
              <a:rPr lang="en-US" dirty="0" err="1"/>
              <a:t>Bachar</a:t>
            </a:r>
            <a:r>
              <a:rPr lang="en-US" dirty="0"/>
              <a:t> </a:t>
            </a:r>
            <a:r>
              <a:rPr lang="en-US" dirty="0" err="1"/>
              <a:t>Dabi</a:t>
            </a:r>
            <a:r>
              <a:rPr lang="en-US" dirty="0"/>
              <a:t>: Choi </a:t>
            </a:r>
            <a:r>
              <a:rPr lang="en-US" dirty="0" err="1"/>
              <a:t>dofa</a:t>
            </a:r>
            <a:r>
              <a:rPr lang="en-US" dirty="0"/>
              <a:t>/</a:t>
            </a:r>
            <a:r>
              <a:rPr lang="as-IN" sz="2400" b="1" i="1" dirty="0"/>
              <a:t>ছয় দফাঃ আমাদের বাঁচার দাবি</a:t>
            </a:r>
            <a:r>
              <a:rPr lang="en-US" sz="1800" i="1" dirty="0"/>
              <a:t> </a:t>
            </a:r>
            <a:r>
              <a:rPr lang="en-US" sz="1800" dirty="0"/>
              <a:t>)</a:t>
            </a:r>
            <a:r>
              <a:rPr lang="en-US" dirty="0"/>
              <a:t> was published and distributed among the party activists for large scale publicity. </a:t>
            </a:r>
          </a:p>
        </p:txBody>
      </p:sp>
    </p:spTree>
    <p:extLst>
      <p:ext uri="{BB962C8B-B14F-4D97-AF65-F5344CB8AC3E}">
        <p14:creationId xmlns:p14="http://schemas.microsoft.com/office/powerpoint/2010/main" val="3923449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8931" y="1513420"/>
            <a:ext cx="10296395" cy="2570065"/>
          </a:xfrm>
        </p:spPr>
        <p:style>
          <a:lnRef idx="1">
            <a:schemeClr val="accent3"/>
          </a:lnRef>
          <a:fillRef idx="2">
            <a:schemeClr val="accent3"/>
          </a:fillRef>
          <a:effectRef idx="1">
            <a:schemeClr val="accent3"/>
          </a:effectRef>
          <a:fontRef idx="minor">
            <a:schemeClr val="dk1"/>
          </a:fontRef>
        </p:style>
        <p:txBody>
          <a:bodyPr/>
          <a:lstStyle/>
          <a:p>
            <a:r>
              <a:rPr lang="en-US" dirty="0">
                <a:solidFill>
                  <a:schemeClr val="tx1"/>
                </a:solidFill>
              </a:rPr>
              <a:t>Six-Point demands provided an excellent opportunity to encounter the civil-military autocracy that came to power in October 1958. Thus, the Six-Point directions were the culmination of issues and the logical outcome of unmet resolutions raised in the early phases of Pakistan's political history. </a:t>
            </a:r>
          </a:p>
          <a:p>
            <a:endParaRPr lang="en-US" dirty="0"/>
          </a:p>
        </p:txBody>
      </p:sp>
    </p:spTree>
    <p:extLst>
      <p:ext uri="{BB962C8B-B14F-4D97-AF65-F5344CB8AC3E}">
        <p14:creationId xmlns:p14="http://schemas.microsoft.com/office/powerpoint/2010/main" val="1078530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4887" y="1749286"/>
            <a:ext cx="10668000" cy="4068417"/>
          </a:xfrm>
        </p:spPr>
        <p:txBody>
          <a:bodyPr>
            <a:normAutofit/>
          </a:bodyPr>
          <a:lstStyle/>
          <a:p>
            <a:pPr marL="0" indent="0" algn="just">
              <a:buNone/>
            </a:pPr>
            <a:endParaRPr lang="en-US" dirty="0"/>
          </a:p>
          <a:p>
            <a:pPr algn="just">
              <a:buFont typeface="Wingdings" panose="05000000000000000000" pitchFamily="2" charset="2"/>
              <a:buChar char="q"/>
            </a:pPr>
            <a:r>
              <a:rPr lang="en-US" dirty="0"/>
              <a:t>The worst mistake was to implicate Mujib in a highly controversial conspiracy case known as the </a:t>
            </a:r>
            <a:r>
              <a:rPr lang="en-US" dirty="0">
                <a:solidFill>
                  <a:srgbClr val="FF0000"/>
                </a:solidFill>
              </a:rPr>
              <a:t>'Agartala Conspiracy Case' </a:t>
            </a:r>
            <a:r>
              <a:rPr lang="en-US" dirty="0"/>
              <a:t>when he was already under arrest. People asked, </a:t>
            </a:r>
            <a:r>
              <a:rPr lang="en-US" dirty="0">
                <a:solidFill>
                  <a:srgbClr val="FF0000"/>
                </a:solidFill>
              </a:rPr>
              <a:t>how could he be a party to the conspiracy since he was already in prison? </a:t>
            </a:r>
            <a:r>
              <a:rPr lang="en-US" dirty="0"/>
              <a:t>(G. W. Choudhury, </a:t>
            </a:r>
            <a:r>
              <a:rPr lang="en-US" i="1" dirty="0"/>
              <a:t>Ibid</a:t>
            </a:r>
            <a:r>
              <a:rPr lang="en-US" dirty="0"/>
              <a:t>, 1972).</a:t>
            </a:r>
          </a:p>
        </p:txBody>
      </p:sp>
    </p:spTree>
    <p:extLst>
      <p:ext uri="{BB962C8B-B14F-4D97-AF65-F5344CB8AC3E}">
        <p14:creationId xmlns:p14="http://schemas.microsoft.com/office/powerpoint/2010/main" val="1035492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299103"/>
            <a:ext cx="11074637" cy="5877860"/>
          </a:xfrm>
        </p:spPr>
        <p:style>
          <a:lnRef idx="1">
            <a:schemeClr val="accent6"/>
          </a:lnRef>
          <a:fillRef idx="2">
            <a:schemeClr val="accent6"/>
          </a:fillRef>
          <a:effectRef idx="1">
            <a:schemeClr val="accent6"/>
          </a:effectRef>
          <a:fontRef idx="minor">
            <a:schemeClr val="dk1"/>
          </a:fontRef>
        </p:style>
        <p:txBody>
          <a:bodyPr>
            <a:normAutofit fontScale="92500" lnSpcReduction="20000"/>
          </a:bodyPr>
          <a:lstStyle/>
          <a:p>
            <a:pPr marL="0" indent="0" algn="ctr">
              <a:buNone/>
            </a:pPr>
            <a:r>
              <a:rPr lang="en-US" u="sng" dirty="0"/>
              <a:t>SIX POINTS:</a:t>
            </a:r>
          </a:p>
          <a:p>
            <a:r>
              <a:rPr lang="en-US" dirty="0"/>
              <a:t>1. The Constitution should provide for a Federation of Pakistan in its true sense on the Lahore Resolution, and the parliamentary form of government with supremacy of a Legislature directly elected based on universal adult franchise. </a:t>
            </a:r>
          </a:p>
          <a:p>
            <a:r>
              <a:rPr lang="en-US" dirty="0"/>
              <a:t>2. The Federal Government shall deal with </a:t>
            </a:r>
            <a:r>
              <a:rPr lang="en-US" dirty="0">
                <a:solidFill>
                  <a:srgbClr val="FF0000"/>
                </a:solidFill>
              </a:rPr>
              <a:t>only two subjects</a:t>
            </a:r>
            <a:r>
              <a:rPr lang="en-US" dirty="0"/>
              <a:t>: defense and foreign affairs, while all residuary issues were to be vested in the federating units. </a:t>
            </a:r>
          </a:p>
          <a:p>
            <a:r>
              <a:rPr lang="en-US" dirty="0"/>
              <a:t>3. There should be two separate freely convertible currencies for the two wings, or one currency with two different Banking Reserve to prevent the inter-wing flight of capital. </a:t>
            </a:r>
          </a:p>
          <a:p>
            <a:r>
              <a:rPr lang="en-US" dirty="0"/>
              <a:t>4. The power of taxation and revenue collection shall be vested in the federating units. The Federal Government will receive a share to meet its financial obligations. </a:t>
            </a:r>
          </a:p>
          <a:p>
            <a:r>
              <a:rPr lang="en-US" dirty="0"/>
              <a:t>5. Economic disparities between the two wings shall be made to disappear through a series of economic, fiscal, and legal reforms. </a:t>
            </a:r>
          </a:p>
          <a:p>
            <a:r>
              <a:rPr lang="en-US" dirty="0"/>
              <a:t>6. A militia or para-military force must be created in East Pakistan, which has no defense of its own. </a:t>
            </a:r>
          </a:p>
          <a:p>
            <a:endParaRPr lang="en-US" dirty="0"/>
          </a:p>
        </p:txBody>
      </p:sp>
    </p:spTree>
    <p:extLst>
      <p:ext uri="{BB962C8B-B14F-4D97-AF65-F5344CB8AC3E}">
        <p14:creationId xmlns:p14="http://schemas.microsoft.com/office/powerpoint/2010/main" val="3446205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6194" y="1465943"/>
            <a:ext cx="11647918" cy="2249714"/>
          </a:xfrm>
        </p:spPr>
        <p:txBody>
          <a:bodyPr>
            <a:normAutofit/>
          </a:bodyPr>
          <a:lstStyle/>
          <a:p>
            <a:pPr marL="0" indent="0" algn="just">
              <a:buNone/>
            </a:pPr>
            <a:r>
              <a:rPr lang="en-US" dirty="0"/>
              <a:t>The first two demands were also identical to </a:t>
            </a:r>
            <a:r>
              <a:rPr lang="en-US" dirty="0">
                <a:solidFill>
                  <a:srgbClr val="FF0000"/>
                </a:solidFill>
              </a:rPr>
              <a:t>Jinnah's 14-Points placed in 1929 in response to the </a:t>
            </a:r>
            <a:r>
              <a:rPr lang="en-US" dirty="0" err="1">
                <a:solidFill>
                  <a:srgbClr val="FF0000"/>
                </a:solidFill>
              </a:rPr>
              <a:t>Neheru</a:t>
            </a:r>
            <a:r>
              <a:rPr lang="en-US" dirty="0">
                <a:solidFill>
                  <a:srgbClr val="FF0000"/>
                </a:solidFill>
              </a:rPr>
              <a:t> Report published earlier</a:t>
            </a:r>
            <a:r>
              <a:rPr lang="en-US" dirty="0"/>
              <a:t>. However, the dilemma on national issues was that East Pakistan represented nearly 60% of Pakistan's total population, but demographically it possessed one-third of West Pakistani territories. </a:t>
            </a:r>
          </a:p>
        </p:txBody>
      </p:sp>
    </p:spTree>
    <p:extLst>
      <p:ext uri="{BB962C8B-B14F-4D97-AF65-F5344CB8AC3E}">
        <p14:creationId xmlns:p14="http://schemas.microsoft.com/office/powerpoint/2010/main" val="25975451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4740" y="2240924"/>
            <a:ext cx="11477002" cy="2955190"/>
          </a:xfrm>
        </p:spPr>
        <p:txBody>
          <a:bodyPr>
            <a:normAutofit/>
          </a:bodyPr>
          <a:lstStyle/>
          <a:p>
            <a:pPr algn="just"/>
            <a:r>
              <a:rPr lang="en-US" dirty="0">
                <a:latin typeface="Times New Roman" panose="02020603050405020304" pitchFamily="18" charset="0"/>
                <a:cs typeface="Times New Roman" panose="02020603050405020304" pitchFamily="18" charset="0"/>
              </a:rPr>
              <a:t>The massive electoral defeat of the Muslim League candidates in the provincial elections of 1954 was an </a:t>
            </a:r>
            <a:r>
              <a:rPr lang="en-US" dirty="0">
                <a:solidFill>
                  <a:srgbClr val="FF0000"/>
                </a:solidFill>
                <a:latin typeface="Times New Roman" panose="02020603050405020304" pitchFamily="18" charset="0"/>
                <a:cs typeface="Times New Roman" panose="02020603050405020304" pitchFamily="18" charset="0"/>
              </a:rPr>
              <a:t>acid test for its leadership</a:t>
            </a:r>
            <a:r>
              <a:rPr lang="en-US" dirty="0">
                <a:latin typeface="Times New Roman" panose="02020603050405020304" pitchFamily="18" charset="0"/>
                <a:cs typeface="Times New Roman" panose="02020603050405020304" pitchFamily="18" charset="0"/>
              </a:rPr>
              <a:t>. </a:t>
            </a:r>
          </a:p>
          <a:p>
            <a:pPr algn="just"/>
            <a:r>
              <a:rPr lang="en-US" dirty="0" err="1">
                <a:latin typeface="Times New Roman" panose="02020603050405020304" pitchFamily="18" charset="0"/>
                <a:cs typeface="Times New Roman" panose="02020603050405020304" pitchFamily="18" charset="0"/>
              </a:rPr>
              <a:t>Ayub</a:t>
            </a:r>
            <a:r>
              <a:rPr lang="en-US" dirty="0">
                <a:latin typeface="Times New Roman" panose="02020603050405020304" pitchFamily="18" charset="0"/>
                <a:cs typeface="Times New Roman" panose="02020603050405020304" pitchFamily="18" charset="0"/>
              </a:rPr>
              <a:t> Khan called Sheikh Mujib a ‘secessionist’. </a:t>
            </a:r>
          </a:p>
        </p:txBody>
      </p:sp>
    </p:spTree>
    <p:extLst>
      <p:ext uri="{BB962C8B-B14F-4D97-AF65-F5344CB8AC3E}">
        <p14:creationId xmlns:p14="http://schemas.microsoft.com/office/powerpoint/2010/main" val="2733669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2892" y="365125"/>
            <a:ext cx="7924800" cy="617641"/>
          </a:xfrm>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r>
              <a:rPr lang="en-US" dirty="0"/>
              <a:t>East-West disparity in expenditure: </a:t>
            </a:r>
          </a:p>
        </p:txBody>
      </p:sp>
      <p:pic>
        <p:nvPicPr>
          <p:cNvPr id="4" name="Content Placeholder 3"/>
          <p:cNvPicPr>
            <a:picLocks noGrp="1" noChangeAspect="1"/>
          </p:cNvPicPr>
          <p:nvPr>
            <p:ph idx="1"/>
          </p:nvPr>
        </p:nvPicPr>
        <p:blipFill>
          <a:blip r:embed="rId2"/>
          <a:stretch>
            <a:fillRect/>
          </a:stretch>
        </p:blipFill>
        <p:spPr>
          <a:xfrm>
            <a:off x="838199" y="1158787"/>
            <a:ext cx="10881575" cy="4061313"/>
          </a:xfrm>
          <a:prstGeom prst="rect">
            <a:avLst/>
          </a:prstGeom>
        </p:spPr>
      </p:pic>
    </p:spTree>
    <p:extLst>
      <p:ext uri="{BB962C8B-B14F-4D97-AF65-F5344CB8AC3E}">
        <p14:creationId xmlns:p14="http://schemas.microsoft.com/office/powerpoint/2010/main" val="417530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17738"/>
            <a:ext cx="10515600" cy="5920589"/>
          </a:xfrm>
        </p:spPr>
        <p:txBody>
          <a:bodyPr/>
          <a:lstStyle/>
          <a:p>
            <a:r>
              <a:rPr lang="en-US" dirty="0"/>
              <a:t>Out of a central revenue expenditure of </a:t>
            </a:r>
            <a:r>
              <a:rPr lang="en-US" dirty="0" err="1"/>
              <a:t>Rs</a:t>
            </a:r>
            <a:r>
              <a:rPr lang="en-US" dirty="0"/>
              <a:t>. 3796 </a:t>
            </a:r>
            <a:r>
              <a:rPr lang="en-US" dirty="0" err="1"/>
              <a:t>crores</a:t>
            </a:r>
            <a:r>
              <a:rPr lang="en-US" dirty="0"/>
              <a:t> in 16 years as given in the Table below </a:t>
            </a:r>
            <a:r>
              <a:rPr lang="en-US" dirty="0" err="1"/>
              <a:t>Rs</a:t>
            </a:r>
            <a:r>
              <a:rPr lang="en-US" dirty="0"/>
              <a:t>. 2132 crores or more than 56 per cent was </a:t>
            </a:r>
            <a:r>
              <a:rPr lang="en-US" dirty="0">
                <a:solidFill>
                  <a:srgbClr val="FF0000"/>
                </a:solidFill>
              </a:rPr>
              <a:t>defense expenditure. </a:t>
            </a:r>
            <a:r>
              <a:rPr lang="en-US" dirty="0"/>
              <a:t>Out of the amount of Rs. 2132 crores hardly 10 per cent could have been spent in East Pakistan.</a:t>
            </a:r>
            <a:endParaRPr lang="en-US" dirty="0">
              <a:solidFill>
                <a:srgbClr val="FF0000"/>
              </a:solidFill>
            </a:endParaRPr>
          </a:p>
          <a:p>
            <a:endParaRPr lang="en-US" dirty="0">
              <a:solidFill>
                <a:srgbClr val="FF0000"/>
              </a:solidFill>
            </a:endParaRPr>
          </a:p>
        </p:txBody>
      </p:sp>
      <p:pic>
        <p:nvPicPr>
          <p:cNvPr id="4" name="Content Placeholder 3"/>
          <p:cNvPicPr>
            <a:picLocks noChangeAspect="1"/>
          </p:cNvPicPr>
          <p:nvPr/>
        </p:nvPicPr>
        <p:blipFill rotWithShape="1">
          <a:blip r:embed="rId2"/>
          <a:srcRect l="6432" t="13616" r="2568"/>
          <a:stretch/>
        </p:blipFill>
        <p:spPr>
          <a:xfrm>
            <a:off x="2075543" y="1843314"/>
            <a:ext cx="8229600" cy="4796947"/>
          </a:xfrm>
          <a:prstGeom prst="rect">
            <a:avLst/>
          </a:prstGeom>
        </p:spPr>
      </p:pic>
    </p:spTree>
    <p:extLst>
      <p:ext uri="{BB962C8B-B14F-4D97-AF65-F5344CB8AC3E}">
        <p14:creationId xmlns:p14="http://schemas.microsoft.com/office/powerpoint/2010/main" val="17085605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t="7304"/>
          <a:stretch/>
        </p:blipFill>
        <p:spPr>
          <a:xfrm>
            <a:off x="1160584" y="996461"/>
            <a:ext cx="10530061" cy="4547995"/>
          </a:xfrm>
          <a:prstGeom prst="rect">
            <a:avLst/>
          </a:prstGeom>
        </p:spPr>
      </p:pic>
    </p:spTree>
    <p:extLst>
      <p:ext uri="{BB962C8B-B14F-4D97-AF65-F5344CB8AC3E}">
        <p14:creationId xmlns:p14="http://schemas.microsoft.com/office/powerpoint/2010/main" val="4926294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10AA9FF-9968-4E1B-9289-80F08D05D1A3}"/>
              </a:ext>
            </a:extLst>
          </p:cNvPr>
          <p:cNvPicPr>
            <a:picLocks noGrp="1" noChangeAspect="1"/>
          </p:cNvPicPr>
          <p:nvPr>
            <p:ph idx="1"/>
          </p:nvPr>
        </p:nvPicPr>
        <p:blipFill rotWithShape="1">
          <a:blip r:embed="rId2"/>
          <a:srcRect l="5455" t="-959" r="8177" b="3726"/>
          <a:stretch/>
        </p:blipFill>
        <p:spPr>
          <a:xfrm>
            <a:off x="957944" y="493486"/>
            <a:ext cx="9855200" cy="5965372"/>
          </a:xfrm>
          <a:prstGeom prst="rect">
            <a:avLst/>
          </a:prstGeom>
        </p:spPr>
      </p:pic>
    </p:spTree>
    <p:extLst>
      <p:ext uri="{BB962C8B-B14F-4D97-AF65-F5344CB8AC3E}">
        <p14:creationId xmlns:p14="http://schemas.microsoft.com/office/powerpoint/2010/main" val="3790606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086" y="1107583"/>
            <a:ext cx="10386549" cy="3667617"/>
          </a:xfrm>
        </p:spPr>
        <p:txBody>
          <a:bodyPr>
            <a:normAutofit/>
          </a:bodyPr>
          <a:lstStyle/>
          <a:p>
            <a:pPr algn="just"/>
            <a:r>
              <a:rPr lang="en-US" dirty="0"/>
              <a:t>The Table in the previous slide shows that the </a:t>
            </a:r>
            <a:r>
              <a:rPr lang="en-US" dirty="0">
                <a:solidFill>
                  <a:srgbClr val="FF0000"/>
                </a:solidFill>
              </a:rPr>
              <a:t>income gap in twenty years doubled both in percentage and absolute terms</a:t>
            </a:r>
            <a:r>
              <a:rPr lang="en-US" dirty="0"/>
              <a:t>, which was more alarming to the Bengali nationalist aspirants. </a:t>
            </a:r>
          </a:p>
          <a:p>
            <a:pPr algn="just"/>
            <a:r>
              <a:rPr lang="en-US" dirty="0"/>
              <a:t> </a:t>
            </a:r>
            <a:r>
              <a:rPr lang="en-US" dirty="0">
                <a:solidFill>
                  <a:srgbClr val="FF0000"/>
                </a:solidFill>
              </a:rPr>
              <a:t>Six-Point program </a:t>
            </a:r>
            <a:r>
              <a:rPr lang="en-US" dirty="0"/>
              <a:t>appeared as a </a:t>
            </a:r>
            <a:r>
              <a:rPr lang="en-US" dirty="0">
                <a:solidFill>
                  <a:srgbClr val="FF0000"/>
                </a:solidFill>
              </a:rPr>
              <a:t>radical approach </a:t>
            </a:r>
            <a:r>
              <a:rPr lang="en-US" dirty="0"/>
              <a:t>to many analysts because it went beyond Pakistan's federal structure debate for </a:t>
            </a:r>
            <a:r>
              <a:rPr lang="en-US" dirty="0">
                <a:solidFill>
                  <a:srgbClr val="FF0000"/>
                </a:solidFill>
              </a:rPr>
              <a:t>economic justice. </a:t>
            </a:r>
          </a:p>
        </p:txBody>
      </p:sp>
    </p:spTree>
    <p:extLst>
      <p:ext uri="{BB962C8B-B14F-4D97-AF65-F5344CB8AC3E}">
        <p14:creationId xmlns:p14="http://schemas.microsoft.com/office/powerpoint/2010/main" val="13372745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4123"/>
            <a:ext cx="9489831" cy="921193"/>
          </a:xfrm>
        </p:spPr>
        <p:txBody>
          <a:bodyPr>
            <a:normAutofit fontScale="90000"/>
          </a:bodyPr>
          <a:lstStyle/>
          <a:p>
            <a:r>
              <a:rPr lang="en-US" dirty="0">
                <a:solidFill>
                  <a:srgbClr val="C00000"/>
                </a:solidFill>
              </a:rPr>
              <a:t>Textual Analysis, Expert Opinion &amp; Reactions: </a:t>
            </a:r>
          </a:p>
        </p:txBody>
      </p:sp>
      <p:sp>
        <p:nvSpPr>
          <p:cNvPr id="3" name="Content Placeholder 2"/>
          <p:cNvSpPr>
            <a:spLocks noGrp="1"/>
          </p:cNvSpPr>
          <p:nvPr>
            <p:ph idx="1"/>
          </p:nvPr>
        </p:nvSpPr>
        <p:spPr>
          <a:xfrm>
            <a:off x="838200" y="1041054"/>
            <a:ext cx="10515600" cy="1643531"/>
          </a:xfrm>
        </p:spPr>
        <p:style>
          <a:lnRef idx="2">
            <a:schemeClr val="accent5">
              <a:shade val="50000"/>
            </a:schemeClr>
          </a:lnRef>
          <a:fillRef idx="1">
            <a:schemeClr val="accent5"/>
          </a:fillRef>
          <a:effectRef idx="0">
            <a:schemeClr val="accent5"/>
          </a:effectRef>
          <a:fontRef idx="minor">
            <a:schemeClr val="lt1"/>
          </a:fontRef>
        </p:style>
        <p:txBody>
          <a:bodyPr>
            <a:normAutofit fontScale="92500"/>
          </a:bodyPr>
          <a:lstStyle/>
          <a:p>
            <a:r>
              <a:rPr lang="en-US" dirty="0"/>
              <a:t>In her book , entitled,  </a:t>
            </a:r>
            <a:r>
              <a:rPr lang="en-US" i="1" dirty="0"/>
              <a:t>Pakistan: Failure in National Integration</a:t>
            </a:r>
            <a:r>
              <a:rPr lang="en-US" dirty="0"/>
              <a:t>, political scientist professor </a:t>
            </a:r>
            <a:r>
              <a:rPr lang="en-US" dirty="0" err="1"/>
              <a:t>Rounaq</a:t>
            </a:r>
            <a:r>
              <a:rPr lang="en-US" dirty="0"/>
              <a:t> Jahan (1972) maintained that the Six-Point mandate made it difficult for the East Pakistan </a:t>
            </a:r>
            <a:r>
              <a:rPr lang="en-US" dirty="0" err="1"/>
              <a:t>Awami</a:t>
            </a:r>
            <a:r>
              <a:rPr lang="en-US" dirty="0"/>
              <a:t> League to reconcile with any other West Pakistan-based political parties. </a:t>
            </a:r>
          </a:p>
        </p:txBody>
      </p:sp>
      <p:pic>
        <p:nvPicPr>
          <p:cNvPr id="4" name="Content Placeholder 3"/>
          <p:cNvPicPr>
            <a:picLocks noChangeAspect="1"/>
          </p:cNvPicPr>
          <p:nvPr/>
        </p:nvPicPr>
        <p:blipFill>
          <a:blip r:embed="rId2"/>
          <a:stretch>
            <a:fillRect/>
          </a:stretch>
        </p:blipFill>
        <p:spPr>
          <a:xfrm>
            <a:off x="3182155" y="2743091"/>
            <a:ext cx="2563739" cy="3073854"/>
          </a:xfrm>
          <a:prstGeom prst="rect">
            <a:avLst/>
          </a:prstGeom>
        </p:spPr>
      </p:pic>
      <p:pic>
        <p:nvPicPr>
          <p:cNvPr id="5" name="Content Placeholder 3"/>
          <p:cNvPicPr>
            <a:picLocks noChangeAspect="1"/>
          </p:cNvPicPr>
          <p:nvPr/>
        </p:nvPicPr>
        <p:blipFill>
          <a:blip r:embed="rId3"/>
          <a:stretch>
            <a:fillRect/>
          </a:stretch>
        </p:blipFill>
        <p:spPr>
          <a:xfrm>
            <a:off x="6213231" y="2743092"/>
            <a:ext cx="2578527" cy="3073854"/>
          </a:xfrm>
          <a:prstGeom prst="rect">
            <a:avLst/>
          </a:prstGeom>
        </p:spPr>
      </p:pic>
    </p:spTree>
    <p:extLst>
      <p:ext uri="{BB962C8B-B14F-4D97-AF65-F5344CB8AC3E}">
        <p14:creationId xmlns:p14="http://schemas.microsoft.com/office/powerpoint/2010/main" val="31846932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2707" y="1455313"/>
            <a:ext cx="11007969" cy="3799267"/>
          </a:xfrm>
        </p:spPr>
        <p:txBody>
          <a:bodyPr/>
          <a:lstStyle/>
          <a:p>
            <a:r>
              <a:rPr lang="en-US" dirty="0"/>
              <a:t>Summarizing the </a:t>
            </a:r>
            <a:r>
              <a:rPr lang="en-US" dirty="0">
                <a:solidFill>
                  <a:srgbClr val="FF0000"/>
                </a:solidFill>
              </a:rPr>
              <a:t> reactions </a:t>
            </a:r>
            <a:r>
              <a:rPr lang="en-US" dirty="0"/>
              <a:t>of different political parties to the six-point formula, Dr. </a:t>
            </a:r>
            <a:r>
              <a:rPr lang="en-US" dirty="0" err="1"/>
              <a:t>Rounaq</a:t>
            </a:r>
            <a:r>
              <a:rPr lang="en-US" dirty="0"/>
              <a:t> </a:t>
            </a:r>
            <a:r>
              <a:rPr lang="en-US" dirty="0" err="1"/>
              <a:t>Jahan</a:t>
            </a:r>
            <a:r>
              <a:rPr lang="en-US" dirty="0"/>
              <a:t> commented that:  </a:t>
            </a:r>
          </a:p>
          <a:p>
            <a:pPr marL="1005840" indent="0">
              <a:spcBef>
                <a:spcPts val="0"/>
              </a:spcBef>
              <a:buNone/>
            </a:pPr>
            <a:endParaRPr lang="en-US" dirty="0"/>
          </a:p>
          <a:p>
            <a:pPr marL="1005840" indent="0" algn="dist">
              <a:spcBef>
                <a:spcPts val="0"/>
              </a:spcBef>
              <a:buNone/>
            </a:pPr>
            <a:r>
              <a:rPr lang="en-US" sz="2400" i="1" dirty="0">
                <a:solidFill>
                  <a:srgbClr val="FF0000"/>
                </a:solidFill>
                <a:latin typeface="Times New Roman" pitchFamily="18" charset="0"/>
                <a:cs typeface="Times New Roman" pitchFamily="18" charset="0"/>
              </a:rPr>
              <a:t>“The Council Muslim League described the six points as demand for confederation, not a federation. The </a:t>
            </a:r>
            <a:r>
              <a:rPr lang="en-US" sz="2400" i="1" dirty="0" err="1">
                <a:solidFill>
                  <a:srgbClr val="FF0000"/>
                </a:solidFill>
                <a:latin typeface="Times New Roman" pitchFamily="18" charset="0"/>
                <a:cs typeface="Times New Roman" pitchFamily="18" charset="0"/>
              </a:rPr>
              <a:t>Jama'at</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i-Islami</a:t>
            </a:r>
            <a:r>
              <a:rPr lang="en-US" sz="2400" i="1" dirty="0">
                <a:solidFill>
                  <a:srgbClr val="FF0000"/>
                </a:solidFill>
                <a:latin typeface="Times New Roman" pitchFamily="18" charset="0"/>
                <a:cs typeface="Times New Roman" pitchFamily="18" charset="0"/>
              </a:rPr>
              <a:t> branded it as a separatist design; the </a:t>
            </a:r>
            <a:r>
              <a:rPr lang="en-US" sz="2400" i="1" dirty="0" err="1">
                <a:solidFill>
                  <a:srgbClr val="FF0000"/>
                </a:solidFill>
                <a:latin typeface="Times New Roman" pitchFamily="18" charset="0"/>
                <a:cs typeface="Times New Roman" pitchFamily="18" charset="0"/>
              </a:rPr>
              <a:t>Nizam</a:t>
            </a:r>
            <a:r>
              <a:rPr lang="en-US" sz="2400" i="1" dirty="0">
                <a:solidFill>
                  <a:srgbClr val="FF0000"/>
                </a:solidFill>
                <a:latin typeface="Times New Roman" pitchFamily="18" charset="0"/>
                <a:cs typeface="Times New Roman" pitchFamily="18" charset="0"/>
              </a:rPr>
              <a:t>-</a:t>
            </a:r>
            <a:r>
              <a:rPr lang="en-US" sz="2400" i="1" dirty="0" err="1">
                <a:solidFill>
                  <a:srgbClr val="FF0000"/>
                </a:solidFill>
                <a:latin typeface="Times New Roman" pitchFamily="18" charset="0"/>
                <a:cs typeface="Times New Roman" pitchFamily="18" charset="0"/>
              </a:rPr>
              <a:t>i</a:t>
            </a:r>
            <a:r>
              <a:rPr lang="en-US" sz="2400" i="1" dirty="0">
                <a:solidFill>
                  <a:srgbClr val="FF0000"/>
                </a:solidFill>
                <a:latin typeface="Times New Roman" pitchFamily="18" charset="0"/>
                <a:cs typeface="Times New Roman" pitchFamily="18" charset="0"/>
              </a:rPr>
              <a:t>-Islam rejected it as a unilateral, dictatorial move on </a:t>
            </a:r>
            <a:r>
              <a:rPr lang="en-US" sz="2400" i="1" dirty="0" err="1">
                <a:solidFill>
                  <a:srgbClr val="FF0000"/>
                </a:solidFill>
                <a:latin typeface="Times New Roman" pitchFamily="18" charset="0"/>
                <a:cs typeface="Times New Roman" pitchFamily="18" charset="0"/>
              </a:rPr>
              <a:t>Mujib's</a:t>
            </a:r>
            <a:r>
              <a:rPr lang="en-US" sz="2400" i="1" dirty="0">
                <a:solidFill>
                  <a:srgbClr val="FF0000"/>
                </a:solidFill>
                <a:latin typeface="Times New Roman" pitchFamily="18" charset="0"/>
                <a:cs typeface="Times New Roman" pitchFamily="18" charset="0"/>
              </a:rPr>
              <a:t> part; and the National </a:t>
            </a:r>
            <a:r>
              <a:rPr lang="en-US" sz="2400" i="1" dirty="0" err="1">
                <a:solidFill>
                  <a:srgbClr val="FF0000"/>
                </a:solidFill>
                <a:latin typeface="Times New Roman" pitchFamily="18" charset="0"/>
                <a:cs typeface="Times New Roman" pitchFamily="18" charset="0"/>
              </a:rPr>
              <a:t>Awami</a:t>
            </a:r>
            <a:r>
              <a:rPr lang="en-US" sz="2400" i="1" dirty="0">
                <a:solidFill>
                  <a:srgbClr val="FF0000"/>
                </a:solidFill>
                <a:latin typeface="Times New Roman" pitchFamily="18" charset="0"/>
                <a:cs typeface="Times New Roman" pitchFamily="18" charset="0"/>
              </a:rPr>
              <a:t> Party dismissed it because it was parochial and did not include any measures to free East Pakistan</a:t>
            </a:r>
            <a:r>
              <a:rPr lang="en-US" sz="2400" i="1" dirty="0">
                <a:solidFill>
                  <a:srgbClr val="FF0000"/>
                </a:solidFill>
                <a:latin typeface="Bahnschrift SemiLight SemiConde" pitchFamily="34" charset="0"/>
              </a:rPr>
              <a:t>”.</a:t>
            </a:r>
          </a:p>
        </p:txBody>
      </p:sp>
    </p:spTree>
    <p:extLst>
      <p:ext uri="{BB962C8B-B14F-4D97-AF65-F5344CB8AC3E}">
        <p14:creationId xmlns:p14="http://schemas.microsoft.com/office/powerpoint/2010/main" val="2158758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2122" y="2029216"/>
            <a:ext cx="11131826" cy="2705622"/>
          </a:xfrm>
        </p:spPr>
        <p:style>
          <a:lnRef idx="2">
            <a:schemeClr val="accent2"/>
          </a:lnRef>
          <a:fillRef idx="1">
            <a:schemeClr val="lt1"/>
          </a:fillRef>
          <a:effectRef idx="0">
            <a:schemeClr val="accent2"/>
          </a:effectRef>
          <a:fontRef idx="minor">
            <a:schemeClr val="dk1"/>
          </a:fontRef>
        </p:style>
        <p:txBody>
          <a:bodyPr>
            <a:normAutofit/>
          </a:bodyPr>
          <a:lstStyle/>
          <a:p>
            <a:r>
              <a:rPr lang="en-US" dirty="0">
                <a:solidFill>
                  <a:schemeClr val="tx1"/>
                </a:solidFill>
              </a:rPr>
              <a:t>Original or official name of the Case: “STATE VS SHEIKH MUJIBUR RAHMAN &amp; OTHERS”.  </a:t>
            </a:r>
            <a:r>
              <a:rPr lang="en-US" dirty="0"/>
              <a:t>There were 35 convicts of Agartala Conspiracy Case. </a:t>
            </a:r>
          </a:p>
          <a:p>
            <a:r>
              <a:rPr lang="en-US" dirty="0">
                <a:solidFill>
                  <a:schemeClr val="tx1"/>
                </a:solidFill>
              </a:rPr>
              <a:t>The Agartala Conspiracy Case was </a:t>
            </a:r>
            <a:r>
              <a:rPr lang="en-US" dirty="0">
                <a:solidFill>
                  <a:srgbClr val="FF0000"/>
                </a:solidFill>
              </a:rPr>
              <a:t>a testing ground </a:t>
            </a:r>
            <a:r>
              <a:rPr lang="en-US" dirty="0">
                <a:solidFill>
                  <a:schemeClr val="tx1"/>
                </a:solidFill>
              </a:rPr>
              <a:t>for Pakistan.</a:t>
            </a:r>
          </a:p>
          <a:p>
            <a:pPr algn="just">
              <a:buFont typeface="Wingdings" panose="05000000000000000000" pitchFamily="2" charset="2"/>
              <a:buChar char="§"/>
            </a:pPr>
            <a:r>
              <a:rPr lang="en-US" dirty="0">
                <a:solidFill>
                  <a:schemeClr val="tx1"/>
                </a:solidFill>
              </a:rPr>
              <a:t>Regional autonomy movement/Mass upheavals of 1969</a:t>
            </a:r>
          </a:p>
        </p:txBody>
      </p:sp>
    </p:spTree>
    <p:extLst>
      <p:ext uri="{BB962C8B-B14F-4D97-AF65-F5344CB8AC3E}">
        <p14:creationId xmlns:p14="http://schemas.microsoft.com/office/powerpoint/2010/main" val="31067529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FB12D3-FB2D-421F-A32D-E0BA0BA6D32C}"/>
              </a:ext>
            </a:extLst>
          </p:cNvPr>
          <p:cNvSpPr>
            <a:spLocks noGrp="1"/>
          </p:cNvSpPr>
          <p:nvPr>
            <p:ph idx="1"/>
          </p:nvPr>
        </p:nvSpPr>
        <p:spPr>
          <a:xfrm>
            <a:off x="1192696" y="874643"/>
            <a:ext cx="10681252" cy="5618922"/>
          </a:xfrm>
        </p:spPr>
        <p:txBody>
          <a:bodyPr>
            <a:normAutofit/>
          </a:bodyPr>
          <a:lstStyle/>
          <a:p>
            <a:r>
              <a:rPr lang="en-US" dirty="0" err="1"/>
              <a:t>Zahurul</a:t>
            </a:r>
            <a:r>
              <a:rPr lang="en-US" dirty="0"/>
              <a:t> Haque (1935-1969) was a sergeant of the Pakistan Airforce. He was the 17th among the 35 people accused in the Agartala case. He was arrested in December 1967 on the charge of planning an armed insurrection against the government.</a:t>
            </a:r>
          </a:p>
          <a:p>
            <a:r>
              <a:rPr lang="en-US" dirty="0"/>
              <a:t>Brutal killing of Sergeant </a:t>
            </a:r>
            <a:r>
              <a:rPr lang="en-US" dirty="0" err="1"/>
              <a:t>Zahurul</a:t>
            </a:r>
            <a:r>
              <a:rPr lang="en-US" dirty="0"/>
              <a:t> Haque, an accused of the Agartala conspiracy case on February15, 1969 and of Dr.Shamsuzzoha, a </a:t>
            </a:r>
            <a:r>
              <a:rPr lang="en-US" dirty="0" err="1"/>
              <a:t>Rajshahi</a:t>
            </a:r>
            <a:r>
              <a:rPr lang="en-US" dirty="0"/>
              <a:t> University teacher on February18, 1969.</a:t>
            </a:r>
          </a:p>
          <a:p>
            <a:r>
              <a:rPr lang="en-US" dirty="0"/>
              <a:t>Killing of Assad </a:t>
            </a:r>
          </a:p>
        </p:txBody>
      </p:sp>
    </p:spTree>
    <p:extLst>
      <p:ext uri="{BB962C8B-B14F-4D97-AF65-F5344CB8AC3E}">
        <p14:creationId xmlns:p14="http://schemas.microsoft.com/office/powerpoint/2010/main" val="19347349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7392FF0-0DCE-4C9C-9023-E5EAED814A2B}"/>
              </a:ext>
            </a:extLst>
          </p:cNvPr>
          <p:cNvPicPr>
            <a:picLocks noGrp="1" noChangeAspect="1"/>
          </p:cNvPicPr>
          <p:nvPr>
            <p:ph idx="1"/>
          </p:nvPr>
        </p:nvPicPr>
        <p:blipFill>
          <a:blip r:embed="rId2"/>
          <a:stretch>
            <a:fillRect/>
          </a:stretch>
        </p:blipFill>
        <p:spPr>
          <a:xfrm>
            <a:off x="7493669" y="772476"/>
            <a:ext cx="2974286" cy="4591499"/>
          </a:xfrm>
          <a:prstGeom prst="rect">
            <a:avLst/>
          </a:prstGeom>
        </p:spPr>
      </p:pic>
      <p:pic>
        <p:nvPicPr>
          <p:cNvPr id="5" name="Picture 4">
            <a:extLst>
              <a:ext uri="{FF2B5EF4-FFF2-40B4-BE49-F238E27FC236}">
                <a16:creationId xmlns:a16="http://schemas.microsoft.com/office/drawing/2014/main" id="{AA2EF0D9-B1EA-4795-BAE3-72C259955FC3}"/>
              </a:ext>
            </a:extLst>
          </p:cNvPr>
          <p:cNvPicPr>
            <a:picLocks noChangeAspect="1"/>
          </p:cNvPicPr>
          <p:nvPr/>
        </p:nvPicPr>
        <p:blipFill>
          <a:blip r:embed="rId3"/>
          <a:stretch>
            <a:fillRect/>
          </a:stretch>
        </p:blipFill>
        <p:spPr>
          <a:xfrm>
            <a:off x="1193109" y="370114"/>
            <a:ext cx="5114925" cy="2952750"/>
          </a:xfrm>
          <a:prstGeom prst="rect">
            <a:avLst/>
          </a:prstGeom>
        </p:spPr>
      </p:pic>
      <p:pic>
        <p:nvPicPr>
          <p:cNvPr id="6" name="Picture 5">
            <a:extLst>
              <a:ext uri="{FF2B5EF4-FFF2-40B4-BE49-F238E27FC236}">
                <a16:creationId xmlns:a16="http://schemas.microsoft.com/office/drawing/2014/main" id="{C4466700-EA9F-4659-A8EE-981716CAFCAF}"/>
              </a:ext>
            </a:extLst>
          </p:cNvPr>
          <p:cNvPicPr>
            <a:picLocks noChangeAspect="1"/>
          </p:cNvPicPr>
          <p:nvPr/>
        </p:nvPicPr>
        <p:blipFill>
          <a:blip r:embed="rId4"/>
          <a:stretch>
            <a:fillRect/>
          </a:stretch>
        </p:blipFill>
        <p:spPr>
          <a:xfrm>
            <a:off x="1983043" y="3535137"/>
            <a:ext cx="3267075" cy="2952749"/>
          </a:xfrm>
          <a:prstGeom prst="rect">
            <a:avLst/>
          </a:prstGeom>
        </p:spPr>
      </p:pic>
    </p:spTree>
    <p:extLst>
      <p:ext uri="{BB962C8B-B14F-4D97-AF65-F5344CB8AC3E}">
        <p14:creationId xmlns:p14="http://schemas.microsoft.com/office/powerpoint/2010/main" val="36256448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359EEC8-0AF7-411B-8A93-5DFDFE07DE07}"/>
              </a:ext>
            </a:extLst>
          </p:cNvPr>
          <p:cNvPicPr>
            <a:picLocks noGrp="1" noChangeAspect="1"/>
          </p:cNvPicPr>
          <p:nvPr>
            <p:ph idx="1"/>
          </p:nvPr>
        </p:nvPicPr>
        <p:blipFill>
          <a:blip r:embed="rId2"/>
          <a:stretch>
            <a:fillRect/>
          </a:stretch>
        </p:blipFill>
        <p:spPr>
          <a:xfrm>
            <a:off x="543132" y="1126435"/>
            <a:ext cx="5857875" cy="4237348"/>
          </a:xfrm>
          <a:prstGeom prst="rect">
            <a:avLst/>
          </a:prstGeom>
        </p:spPr>
      </p:pic>
      <p:pic>
        <p:nvPicPr>
          <p:cNvPr id="5" name="Picture 4">
            <a:extLst>
              <a:ext uri="{FF2B5EF4-FFF2-40B4-BE49-F238E27FC236}">
                <a16:creationId xmlns:a16="http://schemas.microsoft.com/office/drawing/2014/main" id="{08A1BB3B-D1CF-45D5-9FBF-D94E1EB25069}"/>
              </a:ext>
            </a:extLst>
          </p:cNvPr>
          <p:cNvPicPr>
            <a:picLocks noChangeAspect="1"/>
          </p:cNvPicPr>
          <p:nvPr/>
        </p:nvPicPr>
        <p:blipFill>
          <a:blip r:embed="rId3"/>
          <a:stretch>
            <a:fillRect/>
          </a:stretch>
        </p:blipFill>
        <p:spPr>
          <a:xfrm>
            <a:off x="6541191" y="1433512"/>
            <a:ext cx="5518288" cy="3990975"/>
          </a:xfrm>
          <a:prstGeom prst="rect">
            <a:avLst/>
          </a:prstGeom>
        </p:spPr>
      </p:pic>
    </p:spTree>
    <p:extLst>
      <p:ext uri="{BB962C8B-B14F-4D97-AF65-F5344CB8AC3E}">
        <p14:creationId xmlns:p14="http://schemas.microsoft.com/office/powerpoint/2010/main" val="39975541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1217D0E-6CE4-40FA-AA53-427AB85C26F1}"/>
              </a:ext>
            </a:extLst>
          </p:cNvPr>
          <p:cNvPicPr>
            <a:picLocks noGrp="1" noChangeAspect="1"/>
          </p:cNvPicPr>
          <p:nvPr>
            <p:ph idx="1"/>
          </p:nvPr>
        </p:nvPicPr>
        <p:blipFill>
          <a:blip r:embed="rId2"/>
          <a:stretch>
            <a:fillRect/>
          </a:stretch>
        </p:blipFill>
        <p:spPr>
          <a:xfrm>
            <a:off x="1205949" y="187895"/>
            <a:ext cx="3962606" cy="6191250"/>
          </a:xfrm>
          <a:prstGeom prst="rect">
            <a:avLst/>
          </a:prstGeom>
        </p:spPr>
      </p:pic>
      <p:pic>
        <p:nvPicPr>
          <p:cNvPr id="1026" name="Picture 2" descr="https://i0.wp.com/www.genocidebangladesh.org/wp-content/uploads/2008/02/mujib-agartala.jpg?ssl=1">
            <a:extLst>
              <a:ext uri="{FF2B5EF4-FFF2-40B4-BE49-F238E27FC236}">
                <a16:creationId xmlns:a16="http://schemas.microsoft.com/office/drawing/2014/main" id="{647BF772-5136-4D27-954F-AB54E90B30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0091" y="187895"/>
            <a:ext cx="5760761" cy="619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71270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2927" y="452927"/>
            <a:ext cx="11391544" cy="5724036"/>
          </a:xfrm>
        </p:spPr>
        <p:txBody>
          <a:bodyPr>
            <a:normAutofit lnSpcReduction="10000"/>
          </a:bodyPr>
          <a:lstStyle/>
          <a:p>
            <a:pPr algn="just"/>
            <a:r>
              <a:rPr lang="en-US" dirty="0"/>
              <a:t>Eventually, under the </a:t>
            </a:r>
            <a:r>
              <a:rPr lang="en-US" i="1" dirty="0" err="1"/>
              <a:t>Defence</a:t>
            </a:r>
            <a:r>
              <a:rPr lang="en-US" i="1" dirty="0"/>
              <a:t> Act of Pakistan, </a:t>
            </a:r>
            <a:r>
              <a:rPr lang="en-US" dirty="0"/>
              <a:t>the government arrested </a:t>
            </a:r>
            <a:r>
              <a:rPr lang="en-US" dirty="0" err="1"/>
              <a:t>Awami</a:t>
            </a:r>
            <a:r>
              <a:rPr lang="en-US" dirty="0"/>
              <a:t> League leader and his colleagues </a:t>
            </a:r>
            <a:r>
              <a:rPr lang="en-US" dirty="0" err="1"/>
              <a:t>Tajuddin</a:t>
            </a:r>
            <a:r>
              <a:rPr lang="en-US" dirty="0"/>
              <a:t> Ahmad, </a:t>
            </a:r>
            <a:r>
              <a:rPr lang="en-US" dirty="0" err="1"/>
              <a:t>Khandoker</a:t>
            </a:r>
            <a:r>
              <a:rPr lang="en-US" dirty="0"/>
              <a:t> </a:t>
            </a:r>
            <a:r>
              <a:rPr lang="en-US" dirty="0" err="1"/>
              <a:t>Mushtaq</a:t>
            </a:r>
            <a:r>
              <a:rPr lang="en-US" dirty="0"/>
              <a:t> Ahmed, </a:t>
            </a:r>
            <a:r>
              <a:rPr lang="en-US" dirty="0" err="1"/>
              <a:t>Mansoor</a:t>
            </a:r>
            <a:r>
              <a:rPr lang="en-US" dirty="0"/>
              <a:t> Ali, and </a:t>
            </a:r>
            <a:r>
              <a:rPr lang="en-US" dirty="0" err="1"/>
              <a:t>Zahur</a:t>
            </a:r>
            <a:r>
              <a:rPr lang="en-US" dirty="0"/>
              <a:t> Ahmed Chowdhury on 8th May 1966. In a press note, the Pakistan Home Ministry maintained that this group kept </a:t>
            </a:r>
            <a:r>
              <a:rPr lang="en-US" dirty="0">
                <a:solidFill>
                  <a:srgbClr val="FF0000"/>
                </a:solidFill>
              </a:rPr>
              <a:t>a close link with the Indian Deputy High Commissioner in Dhaka, P. N. </a:t>
            </a:r>
            <a:r>
              <a:rPr lang="en-US" dirty="0" err="1">
                <a:solidFill>
                  <a:srgbClr val="FF0000"/>
                </a:solidFill>
              </a:rPr>
              <a:t>Ojah</a:t>
            </a:r>
            <a:r>
              <a:rPr lang="en-US" dirty="0">
                <a:solidFill>
                  <a:srgbClr val="FF0000"/>
                </a:solidFill>
              </a:rPr>
              <a:t>. </a:t>
            </a:r>
          </a:p>
          <a:p>
            <a:pPr algn="just"/>
            <a:r>
              <a:rPr lang="en-US" dirty="0"/>
              <a:t>It further suggested that some of them had </a:t>
            </a:r>
            <a:r>
              <a:rPr lang="en-US" dirty="0">
                <a:solidFill>
                  <a:srgbClr val="FF0000"/>
                </a:solidFill>
              </a:rPr>
              <a:t>visited Agartala </a:t>
            </a:r>
            <a:r>
              <a:rPr lang="en-US" dirty="0"/>
              <a:t>and met Colonel Mishra, Major Menon, and other Indian officials to discuss their </a:t>
            </a:r>
            <a:r>
              <a:rPr lang="en-US" dirty="0">
                <a:solidFill>
                  <a:srgbClr val="FF0000"/>
                </a:solidFill>
              </a:rPr>
              <a:t>secret plan</a:t>
            </a:r>
            <a:endParaRPr lang="en-US" dirty="0"/>
          </a:p>
          <a:p>
            <a:pPr algn="just"/>
            <a:r>
              <a:rPr lang="en-US" dirty="0"/>
              <a:t>To foil the drive, Police killed 11 people in the </a:t>
            </a:r>
            <a:r>
              <a:rPr lang="en-US" dirty="0" err="1"/>
              <a:t>Adamji</a:t>
            </a:r>
            <a:r>
              <a:rPr lang="en-US" dirty="0"/>
              <a:t> industrial area in Narayangonj, Tejgaon industrial area in Dhaka, and </a:t>
            </a:r>
            <a:r>
              <a:rPr lang="en-US" dirty="0">
                <a:solidFill>
                  <a:srgbClr val="0070C0"/>
                </a:solidFill>
              </a:rPr>
              <a:t>arrested almost 800 people </a:t>
            </a:r>
            <a:r>
              <a:rPr lang="en-US" dirty="0"/>
              <a:t>from different places in the region. As a result of the repressive government measures, </a:t>
            </a:r>
            <a:r>
              <a:rPr lang="en-US" dirty="0">
                <a:solidFill>
                  <a:srgbClr val="FF0000"/>
                </a:solidFill>
              </a:rPr>
              <a:t>the Six-Point Movement temporarily lost its momentum but 'enhanced the popularity' of Sheikh </a:t>
            </a:r>
            <a:r>
              <a:rPr lang="en-US" dirty="0" err="1">
                <a:solidFill>
                  <a:srgbClr val="FF0000"/>
                </a:solidFill>
              </a:rPr>
              <a:t>Mujibur</a:t>
            </a:r>
            <a:r>
              <a:rPr lang="en-US" dirty="0">
                <a:solidFill>
                  <a:srgbClr val="FF0000"/>
                </a:solidFill>
              </a:rPr>
              <a:t> Rahman across the political spectrum.</a:t>
            </a:r>
          </a:p>
        </p:txBody>
      </p:sp>
    </p:spTree>
    <p:extLst>
      <p:ext uri="{BB962C8B-B14F-4D97-AF65-F5344CB8AC3E}">
        <p14:creationId xmlns:p14="http://schemas.microsoft.com/office/powerpoint/2010/main" val="36247576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6194" y="949569"/>
            <a:ext cx="11406883" cy="5227394"/>
          </a:xfrm>
        </p:spPr>
        <p:txBody>
          <a:bodyPr/>
          <a:lstStyle/>
          <a:p>
            <a:r>
              <a:rPr lang="en-US" dirty="0"/>
              <a:t>One of the high profile convicts of the Agartala Conspiracy Case </a:t>
            </a:r>
            <a:r>
              <a:rPr lang="en-US" dirty="0">
                <a:solidFill>
                  <a:srgbClr val="002060"/>
                </a:solidFill>
              </a:rPr>
              <a:t>Colonel </a:t>
            </a:r>
            <a:r>
              <a:rPr lang="en-US" dirty="0" err="1">
                <a:solidFill>
                  <a:srgbClr val="002060"/>
                </a:solidFill>
              </a:rPr>
              <a:t>Shawkat</a:t>
            </a:r>
            <a:r>
              <a:rPr lang="en-US" dirty="0">
                <a:solidFill>
                  <a:srgbClr val="002060"/>
                </a:solidFill>
              </a:rPr>
              <a:t> (</a:t>
            </a:r>
            <a:r>
              <a:rPr lang="en-US" dirty="0" err="1">
                <a:solidFill>
                  <a:srgbClr val="002060"/>
                </a:solidFill>
              </a:rPr>
              <a:t>Retd</a:t>
            </a:r>
            <a:r>
              <a:rPr lang="en-US" dirty="0">
                <a:solidFill>
                  <a:srgbClr val="002060"/>
                </a:solidFill>
              </a:rPr>
              <a:t>) </a:t>
            </a:r>
            <a:r>
              <a:rPr lang="en-US" dirty="0"/>
              <a:t>commented as follows: </a:t>
            </a:r>
          </a:p>
          <a:p>
            <a:pPr marL="0" indent="0" algn="just">
              <a:lnSpc>
                <a:spcPct val="100000"/>
              </a:lnSpc>
              <a:buNone/>
            </a:pPr>
            <a:r>
              <a:rPr lang="en-US" i="1" dirty="0">
                <a:solidFill>
                  <a:srgbClr val="002060"/>
                </a:solidFill>
              </a:rPr>
              <a:t>           </a:t>
            </a:r>
            <a:r>
              <a:rPr lang="en-US" sz="2400" i="1" dirty="0">
                <a:solidFill>
                  <a:srgbClr val="7030A0"/>
                </a:solidFill>
              </a:rPr>
              <a:t>“But as a matter of fact, several military officers and civil servants were involved in the case as we wanted to liberate the country from Pakistan through an armed Revolution under the leadership of </a:t>
            </a:r>
            <a:r>
              <a:rPr lang="en-US" sz="2400" i="1" dirty="0" err="1">
                <a:solidFill>
                  <a:srgbClr val="7030A0"/>
                </a:solidFill>
              </a:rPr>
              <a:t>Bangabandhu</a:t>
            </a:r>
            <a:r>
              <a:rPr lang="en-US" sz="2400" i="1" dirty="0">
                <a:solidFill>
                  <a:srgbClr val="7030A0"/>
                </a:solidFill>
              </a:rPr>
              <a:t> Sheikh </a:t>
            </a:r>
            <a:r>
              <a:rPr lang="en-US" sz="2400" i="1" dirty="0" err="1">
                <a:solidFill>
                  <a:srgbClr val="7030A0"/>
                </a:solidFill>
              </a:rPr>
              <a:t>Mujibur</a:t>
            </a:r>
            <a:r>
              <a:rPr lang="en-US" sz="2400" i="1" dirty="0">
                <a:solidFill>
                  <a:srgbClr val="7030A0"/>
                </a:solidFill>
              </a:rPr>
              <a:t> </a:t>
            </a:r>
            <a:r>
              <a:rPr lang="en-US" sz="2400" i="1" dirty="0" err="1">
                <a:solidFill>
                  <a:srgbClr val="7030A0"/>
                </a:solidFill>
              </a:rPr>
              <a:t>Rahman</a:t>
            </a:r>
            <a:r>
              <a:rPr lang="en-US" sz="2400" i="1" dirty="0">
                <a:solidFill>
                  <a:srgbClr val="7030A0"/>
                </a:solidFill>
              </a:rPr>
              <a:t>, which was not directly linked to the Six-Point”.</a:t>
            </a:r>
          </a:p>
        </p:txBody>
      </p:sp>
    </p:spTree>
    <p:extLst>
      <p:ext uri="{BB962C8B-B14F-4D97-AF65-F5344CB8AC3E}">
        <p14:creationId xmlns:p14="http://schemas.microsoft.com/office/powerpoint/2010/main" val="10986338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61C13EF8-6F33-4999-9BD7-DBB905164B31}"/>
              </a:ext>
            </a:extLst>
          </p:cNvPr>
          <p:cNvPicPr>
            <a:picLocks noGrp="1" noChangeAspect="1"/>
          </p:cNvPicPr>
          <p:nvPr>
            <p:ph idx="1"/>
          </p:nvPr>
        </p:nvPicPr>
        <p:blipFill>
          <a:blip r:embed="rId2"/>
          <a:stretch>
            <a:fillRect/>
          </a:stretch>
        </p:blipFill>
        <p:spPr>
          <a:xfrm>
            <a:off x="399015" y="1862137"/>
            <a:ext cx="2886075" cy="3578259"/>
          </a:xfrm>
          <a:prstGeom prst="rect">
            <a:avLst/>
          </a:prstGeom>
        </p:spPr>
      </p:pic>
      <p:pic>
        <p:nvPicPr>
          <p:cNvPr id="9" name="Picture 8">
            <a:extLst>
              <a:ext uri="{FF2B5EF4-FFF2-40B4-BE49-F238E27FC236}">
                <a16:creationId xmlns:a16="http://schemas.microsoft.com/office/drawing/2014/main" id="{71AF9AA2-332B-43C7-ADD0-75BF69EFE084}"/>
              </a:ext>
            </a:extLst>
          </p:cNvPr>
          <p:cNvPicPr>
            <a:picLocks noChangeAspect="1"/>
          </p:cNvPicPr>
          <p:nvPr/>
        </p:nvPicPr>
        <p:blipFill>
          <a:blip r:embed="rId3"/>
          <a:stretch>
            <a:fillRect/>
          </a:stretch>
        </p:blipFill>
        <p:spPr>
          <a:xfrm>
            <a:off x="3557380" y="265043"/>
            <a:ext cx="3619500" cy="6121469"/>
          </a:xfrm>
          <a:prstGeom prst="rect">
            <a:avLst/>
          </a:prstGeom>
        </p:spPr>
      </p:pic>
      <p:pic>
        <p:nvPicPr>
          <p:cNvPr id="10" name="Picture 9">
            <a:extLst>
              <a:ext uri="{FF2B5EF4-FFF2-40B4-BE49-F238E27FC236}">
                <a16:creationId xmlns:a16="http://schemas.microsoft.com/office/drawing/2014/main" id="{8B341ADF-349C-450D-B270-DA6A24436443}"/>
              </a:ext>
            </a:extLst>
          </p:cNvPr>
          <p:cNvPicPr>
            <a:picLocks noChangeAspect="1"/>
          </p:cNvPicPr>
          <p:nvPr/>
        </p:nvPicPr>
        <p:blipFill>
          <a:blip r:embed="rId4"/>
          <a:stretch>
            <a:fillRect/>
          </a:stretch>
        </p:blipFill>
        <p:spPr>
          <a:xfrm>
            <a:off x="7176880" y="1393371"/>
            <a:ext cx="4616105" cy="4156806"/>
          </a:xfrm>
          <a:prstGeom prst="rect">
            <a:avLst/>
          </a:prstGeom>
        </p:spPr>
      </p:pic>
    </p:spTree>
    <p:extLst>
      <p:ext uri="{BB962C8B-B14F-4D97-AF65-F5344CB8AC3E}">
        <p14:creationId xmlns:p14="http://schemas.microsoft.com/office/powerpoint/2010/main" val="17884511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8540" y="165652"/>
            <a:ext cx="5963478" cy="487491"/>
          </a:xfrm>
        </p:spPr>
        <p:txBody>
          <a:bodyPr>
            <a:normAutofit fontScale="90000"/>
          </a:bodyPr>
          <a:lstStyle/>
          <a:p>
            <a:r>
              <a:rPr lang="en-US" sz="4000" b="1" dirty="0">
                <a:ln w="18000">
                  <a:solidFill>
                    <a:schemeClr val="accent2">
                      <a:satMod val="140000"/>
                    </a:schemeClr>
                  </a:solidFill>
                  <a:prstDash val="solid"/>
                  <a:miter lim="800000"/>
                </a:ln>
                <a:noFill/>
                <a:effectLst>
                  <a:outerShdw blurRad="25500" dist="23000" dir="7020000" algn="tl">
                    <a:srgbClr val="000000">
                      <a:alpha val="50000"/>
                    </a:srgbClr>
                  </a:outerShdw>
                </a:effectLst>
              </a:rPr>
              <a:t>Implications &amp; Conclusions:</a:t>
            </a:r>
          </a:p>
        </p:txBody>
      </p:sp>
      <p:sp>
        <p:nvSpPr>
          <p:cNvPr id="3" name="Content Placeholder 2"/>
          <p:cNvSpPr>
            <a:spLocks noGrp="1"/>
          </p:cNvSpPr>
          <p:nvPr>
            <p:ph idx="1"/>
          </p:nvPr>
        </p:nvSpPr>
        <p:spPr>
          <a:xfrm>
            <a:off x="1756229" y="827314"/>
            <a:ext cx="10144222" cy="5865034"/>
          </a:xfrm>
        </p:spPr>
        <p:style>
          <a:lnRef idx="1">
            <a:schemeClr val="accent6"/>
          </a:lnRef>
          <a:fillRef idx="2">
            <a:schemeClr val="accent6"/>
          </a:fillRef>
          <a:effectRef idx="1">
            <a:schemeClr val="accent6"/>
          </a:effectRef>
          <a:fontRef idx="minor">
            <a:schemeClr val="dk1"/>
          </a:fontRef>
        </p:style>
        <p:txBody>
          <a:bodyPr>
            <a:normAutofit/>
          </a:bodyPr>
          <a:lstStyle/>
          <a:p>
            <a:r>
              <a:rPr lang="en-US" dirty="0"/>
              <a:t> </a:t>
            </a:r>
            <a:r>
              <a:rPr lang="en-US" i="1" dirty="0"/>
              <a:t>Magna Carta (</a:t>
            </a:r>
            <a:r>
              <a:rPr lang="en-US" dirty="0"/>
              <a:t>or Charter) of the Bengali freedom</a:t>
            </a:r>
          </a:p>
          <a:p>
            <a:r>
              <a:rPr lang="en-US" dirty="0"/>
              <a:t>Rising aspirations of the Bengali people</a:t>
            </a:r>
          </a:p>
          <a:p>
            <a:r>
              <a:rPr lang="en-US" dirty="0"/>
              <a:t>Growth of Bengali nationalism </a:t>
            </a:r>
          </a:p>
          <a:p>
            <a:r>
              <a:rPr lang="en-US" dirty="0"/>
              <a:t>Politics of regionalism based on the  ‘two-economy theory’. </a:t>
            </a:r>
          </a:p>
          <a:p>
            <a:r>
              <a:rPr lang="en-US" dirty="0"/>
              <a:t>Bengali identity politics </a:t>
            </a:r>
          </a:p>
          <a:p>
            <a:r>
              <a:rPr lang="en-US" dirty="0"/>
              <a:t>Fall of the military dictator, </a:t>
            </a:r>
            <a:r>
              <a:rPr lang="en-US" dirty="0" err="1"/>
              <a:t>Ayub</a:t>
            </a:r>
            <a:r>
              <a:rPr lang="en-US" dirty="0"/>
              <a:t> Khan</a:t>
            </a:r>
          </a:p>
          <a:p>
            <a:r>
              <a:rPr lang="en-US" dirty="0"/>
              <a:t>Mass upheavals of 1969 &amp; 1970 general election</a:t>
            </a:r>
          </a:p>
          <a:p>
            <a:r>
              <a:rPr lang="en-US" i="1" dirty="0"/>
              <a:t>Emergence of Bangladesh</a:t>
            </a:r>
            <a:endParaRPr lang="en-US" dirty="0"/>
          </a:p>
        </p:txBody>
      </p:sp>
    </p:spTree>
    <p:extLst>
      <p:ext uri="{BB962C8B-B14F-4D97-AF65-F5344CB8AC3E}">
        <p14:creationId xmlns:p14="http://schemas.microsoft.com/office/powerpoint/2010/main" val="13898543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32465" y="128789"/>
            <a:ext cx="10205484" cy="553791"/>
          </a:xfrm>
        </p:spPr>
        <p:txBody>
          <a:bodyPr>
            <a:normAutofit fontScale="90000"/>
          </a:bodyPr>
          <a:lstStyle/>
          <a:p>
            <a:r>
              <a:rPr lang="en-US" b="1" dirty="0">
                <a:solidFill>
                  <a:srgbClr val="FF0000"/>
                </a:solidFill>
              </a:rPr>
              <a:t>References : </a:t>
            </a:r>
          </a:p>
        </p:txBody>
      </p:sp>
      <p:pic>
        <p:nvPicPr>
          <p:cNvPr id="4" name="Content Placeholder 3"/>
          <p:cNvPicPr>
            <a:picLocks noGrp="1" noChangeAspect="1"/>
          </p:cNvPicPr>
          <p:nvPr>
            <p:ph idx="1"/>
          </p:nvPr>
        </p:nvPicPr>
        <p:blipFill>
          <a:blip r:embed="rId2"/>
          <a:stretch>
            <a:fillRect/>
          </a:stretch>
        </p:blipFill>
        <p:spPr>
          <a:xfrm>
            <a:off x="9129468" y="837127"/>
            <a:ext cx="2542554" cy="4493718"/>
          </a:xfrm>
        </p:spPr>
      </p:pic>
      <p:pic>
        <p:nvPicPr>
          <p:cNvPr id="5" name="Content Placeholder 3"/>
          <p:cNvPicPr>
            <a:picLocks noChangeAspect="1"/>
          </p:cNvPicPr>
          <p:nvPr/>
        </p:nvPicPr>
        <p:blipFill>
          <a:blip r:embed="rId3"/>
          <a:stretch>
            <a:fillRect/>
          </a:stretch>
        </p:blipFill>
        <p:spPr>
          <a:xfrm>
            <a:off x="587417" y="837127"/>
            <a:ext cx="2868679" cy="4493717"/>
          </a:xfrm>
          <a:prstGeom prst="rect">
            <a:avLst/>
          </a:prstGeom>
        </p:spPr>
      </p:pic>
      <p:pic>
        <p:nvPicPr>
          <p:cNvPr id="7" name="Content Placeholder 5"/>
          <p:cNvPicPr>
            <a:picLocks noChangeAspect="1"/>
          </p:cNvPicPr>
          <p:nvPr/>
        </p:nvPicPr>
        <p:blipFill>
          <a:blip r:embed="rId4"/>
          <a:stretch>
            <a:fillRect/>
          </a:stretch>
        </p:blipFill>
        <p:spPr>
          <a:xfrm>
            <a:off x="6225907" y="837127"/>
            <a:ext cx="2818818" cy="4533363"/>
          </a:xfrm>
          <a:prstGeom prst="rect">
            <a:avLst/>
          </a:prstGeom>
        </p:spPr>
      </p:pic>
      <p:pic>
        <p:nvPicPr>
          <p:cNvPr id="2" name="Picture 1"/>
          <p:cNvPicPr>
            <a:picLocks noChangeAspect="1"/>
          </p:cNvPicPr>
          <p:nvPr/>
        </p:nvPicPr>
        <p:blipFill>
          <a:blip r:embed="rId5"/>
          <a:stretch>
            <a:fillRect/>
          </a:stretch>
        </p:blipFill>
        <p:spPr>
          <a:xfrm>
            <a:off x="3540839" y="837127"/>
            <a:ext cx="2600325" cy="4533363"/>
          </a:xfrm>
          <a:prstGeom prst="rect">
            <a:avLst/>
          </a:prstGeom>
        </p:spPr>
      </p:pic>
    </p:spTree>
    <p:extLst>
      <p:ext uri="{BB962C8B-B14F-4D97-AF65-F5344CB8AC3E}">
        <p14:creationId xmlns:p14="http://schemas.microsoft.com/office/powerpoint/2010/main" val="6210981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898</TotalTime>
  <Words>1307</Words>
  <Application>Microsoft Office PowerPoint</Application>
  <PresentationFormat>Widescreen</PresentationFormat>
  <Paragraphs>56</Paragraphs>
  <Slides>27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Bahnschrift SemiLight SemiConde</vt:lpstr>
      <vt:lpstr>Calibri</vt:lpstr>
      <vt:lpstr>Calibri Light</vt:lpstr>
      <vt:lpstr>SiyamRupali</vt:lpstr>
      <vt:lpstr>Times New Roman</vt:lpstr>
      <vt:lpstr>Wingdings</vt:lpstr>
      <vt:lpstr>Office Theme</vt:lpstr>
      <vt:lpstr>PowerPoint Presentation</vt:lpstr>
      <vt:lpstr>Political Roadmap:</vt:lpstr>
      <vt:lpstr>PowerPoint Presentation</vt:lpstr>
      <vt:lpstr>PowerPoint Presentation</vt:lpstr>
      <vt:lpstr>The Six-Point Program :</vt:lpstr>
      <vt:lpstr>PowerPoint Presentation</vt:lpstr>
      <vt:lpstr>PowerPoint Presentation</vt:lpstr>
      <vt:lpstr>PowerPoint Presentation</vt:lpstr>
      <vt:lpstr>PowerPoint Presentation</vt:lpstr>
      <vt:lpstr>PowerPoint Presentation</vt:lpstr>
      <vt:lpstr>East-West disparity in expenditure: </vt:lpstr>
      <vt:lpstr>PowerPoint Presentation</vt:lpstr>
      <vt:lpstr>PowerPoint Presentation</vt:lpstr>
      <vt:lpstr>PowerPoint Presentation</vt:lpstr>
      <vt:lpstr>PowerPoint Presentation</vt:lpstr>
      <vt:lpstr>Textual Analysis, Expert Opinion &amp; Reactions: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Implications &amp; Conclusions:</vt:lpstr>
      <vt:lpstr>References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NSU</cp:lastModifiedBy>
  <cp:revision>699</cp:revision>
  <dcterms:created xsi:type="dcterms:W3CDTF">2020-12-31T13:27:52Z</dcterms:created>
  <dcterms:modified xsi:type="dcterms:W3CDTF">2025-04-05T06:47:25Z</dcterms:modified>
</cp:coreProperties>
</file>