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2" r:id="rId3"/>
    <p:sldId id="303" r:id="rId4"/>
    <p:sldId id="300" r:id="rId5"/>
    <p:sldId id="285" r:id="rId6"/>
    <p:sldId id="286" r:id="rId7"/>
    <p:sldId id="257" r:id="rId8"/>
    <p:sldId id="272" r:id="rId9"/>
    <p:sldId id="264" r:id="rId10"/>
    <p:sldId id="266" r:id="rId11"/>
    <p:sldId id="260" r:id="rId12"/>
    <p:sldId id="265" r:id="rId13"/>
    <p:sldId id="273" r:id="rId14"/>
    <p:sldId id="261" r:id="rId15"/>
    <p:sldId id="275" r:id="rId16"/>
    <p:sldId id="296" r:id="rId17"/>
    <p:sldId id="281" r:id="rId18"/>
    <p:sldId id="298" r:id="rId19"/>
    <p:sldId id="283" r:id="rId20"/>
    <p:sldId id="258" r:id="rId21"/>
    <p:sldId id="267" r:id="rId22"/>
    <p:sldId id="268" r:id="rId23"/>
    <p:sldId id="271" r:id="rId24"/>
    <p:sldId id="289"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432C09-2C39-4B31-B20D-D5B2CB5BF61E}"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1460328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432C09-2C39-4B31-B20D-D5B2CB5BF61E}"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1287318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32C09-2C39-4B31-B20D-D5B2CB5BF61E}"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2175943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432C09-2C39-4B31-B20D-D5B2CB5BF61E}"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778648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432C09-2C39-4B31-B20D-D5B2CB5BF61E}" type="datetimeFigureOut">
              <a:rPr lang="en-US" smtClean="0"/>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3316746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432C09-2C39-4B31-B20D-D5B2CB5BF61E}"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3512838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432C09-2C39-4B31-B20D-D5B2CB5BF61E}" type="datetimeFigureOut">
              <a:rPr lang="en-US" smtClean="0"/>
              <a:t>3/16/2025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3361822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432C09-2C39-4B31-B20D-D5B2CB5BF61E}"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3163511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432C09-2C39-4B31-B20D-D5B2CB5BF61E}"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2510115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432C09-2C39-4B31-B20D-D5B2CB5BF61E}"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287113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432C09-2C39-4B31-B20D-D5B2CB5BF61E}"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6CEDF-9813-4ED0-B6F8-D6B2BF67D510}" type="slidenum">
              <a:rPr lang="en-US" smtClean="0"/>
              <a:t>‹#›</a:t>
            </a:fld>
            <a:endParaRPr lang="en-US"/>
          </a:p>
        </p:txBody>
      </p:sp>
    </p:spTree>
    <p:extLst>
      <p:ext uri="{BB962C8B-B14F-4D97-AF65-F5344CB8AC3E}">
        <p14:creationId xmlns:p14="http://schemas.microsoft.com/office/powerpoint/2010/main" val="1602661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432C09-2C39-4B31-B20D-D5B2CB5BF61E}" type="datetimeFigureOut">
              <a:rPr lang="en-US" smtClean="0"/>
              <a:t>3/16/2025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86CEDF-9813-4ED0-B6F8-D6B2BF67D510}" type="slidenum">
              <a:rPr lang="en-US" smtClean="0"/>
              <a:t>‹#›</a:t>
            </a:fld>
            <a:endParaRPr lang="en-US"/>
          </a:p>
        </p:txBody>
      </p:sp>
    </p:spTree>
    <p:extLst>
      <p:ext uri="{BB962C8B-B14F-4D97-AF65-F5344CB8AC3E}">
        <p14:creationId xmlns:p14="http://schemas.microsoft.com/office/powerpoint/2010/main" val="2847377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8357/bigr11201919275"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20397" y="2150773"/>
            <a:ext cx="10930070" cy="2408348"/>
          </a:xfrm>
        </p:spPr>
        <p:style>
          <a:lnRef idx="1">
            <a:schemeClr val="dk1"/>
          </a:lnRef>
          <a:fillRef idx="2">
            <a:schemeClr val="dk1"/>
          </a:fillRef>
          <a:effectRef idx="1">
            <a:schemeClr val="dk1"/>
          </a:effectRef>
          <a:fontRef idx="minor">
            <a:schemeClr val="dk1"/>
          </a:fontRef>
        </p:style>
        <p:txBody>
          <a:bodyPr>
            <a:normAutofit/>
          </a:bodyPr>
          <a:lstStyle/>
          <a:p>
            <a:endParaRPr lang="en-US" sz="4400" dirty="0"/>
          </a:p>
          <a:p>
            <a:r>
              <a:rPr lang="en-US" sz="4400" dirty="0"/>
              <a:t>Problems of Constitution-Making in Pakistan</a:t>
            </a:r>
          </a:p>
          <a:p>
            <a:endParaRPr lang="en-US" sz="4400" dirty="0"/>
          </a:p>
        </p:txBody>
      </p:sp>
    </p:spTree>
    <p:extLst>
      <p:ext uri="{BB962C8B-B14F-4D97-AF65-F5344CB8AC3E}">
        <p14:creationId xmlns:p14="http://schemas.microsoft.com/office/powerpoint/2010/main" val="1746764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a Constitution: </a:t>
            </a:r>
          </a:p>
        </p:txBody>
      </p:sp>
      <p:pic>
        <p:nvPicPr>
          <p:cNvPr id="6" name="Content Placeholder 5"/>
          <p:cNvPicPr>
            <a:picLocks noGrp="1" noChangeAspect="1"/>
          </p:cNvPicPr>
          <p:nvPr>
            <p:ph idx="1"/>
          </p:nvPr>
        </p:nvPicPr>
        <p:blipFill>
          <a:blip r:embed="rId2"/>
          <a:stretch>
            <a:fillRect/>
          </a:stretch>
        </p:blipFill>
        <p:spPr>
          <a:xfrm>
            <a:off x="1635617" y="1690689"/>
            <a:ext cx="10071279" cy="2147216"/>
          </a:xfrm>
          <a:prstGeom prst="rect">
            <a:avLst/>
          </a:prstGeom>
        </p:spPr>
      </p:pic>
    </p:spTree>
    <p:extLst>
      <p:ext uri="{BB962C8B-B14F-4D97-AF65-F5344CB8AC3E}">
        <p14:creationId xmlns:p14="http://schemas.microsoft.com/office/powerpoint/2010/main" val="4000931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2984914"/>
          </a:xfrm>
        </p:spPr>
        <p:style>
          <a:lnRef idx="1">
            <a:schemeClr val="accent2"/>
          </a:lnRef>
          <a:fillRef idx="2">
            <a:schemeClr val="accent2"/>
          </a:fillRef>
          <a:effectRef idx="1">
            <a:schemeClr val="accent2"/>
          </a:effectRef>
          <a:fontRef idx="minor">
            <a:schemeClr val="dk1"/>
          </a:fontRef>
        </p:style>
        <p:txBody>
          <a:bodyPr/>
          <a:lstStyle/>
          <a:p>
            <a:pPr algn="just"/>
            <a:r>
              <a:rPr lang="en-US" dirty="0"/>
              <a:t>Professor K.C </a:t>
            </a:r>
            <a:r>
              <a:rPr lang="en-US" dirty="0" err="1"/>
              <a:t>Wheare</a:t>
            </a:r>
            <a:r>
              <a:rPr lang="en-US" dirty="0"/>
              <a:t> defines the constitution as:- “ The whole system of government of the country the </a:t>
            </a:r>
            <a:r>
              <a:rPr lang="en-US" dirty="0">
                <a:solidFill>
                  <a:srgbClr val="FF0000"/>
                </a:solidFill>
              </a:rPr>
              <a:t>collection of the rules </a:t>
            </a:r>
            <a:r>
              <a:rPr lang="en-US" dirty="0"/>
              <a:t>that establish and regulate or govern the government. The constitution can also be defined as a document which contains the rules regarding framework of the government”</a:t>
            </a:r>
          </a:p>
        </p:txBody>
      </p:sp>
    </p:spTree>
    <p:extLst>
      <p:ext uri="{BB962C8B-B14F-4D97-AF65-F5344CB8AC3E}">
        <p14:creationId xmlns:p14="http://schemas.microsoft.com/office/powerpoint/2010/main" val="2153184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93656"/>
          </a:xfrm>
        </p:spPr>
        <p:txBody>
          <a:bodyPr/>
          <a:lstStyle/>
          <a:p>
            <a:r>
              <a:rPr lang="en-US" dirty="0">
                <a:solidFill>
                  <a:srgbClr val="7030A0"/>
                </a:solidFill>
              </a:rPr>
              <a:t>Does Constitution really matter?</a:t>
            </a:r>
          </a:p>
        </p:txBody>
      </p:sp>
      <p:pic>
        <p:nvPicPr>
          <p:cNvPr id="4" name="Content Placeholder 3"/>
          <p:cNvPicPr>
            <a:picLocks noGrp="1" noChangeAspect="1"/>
          </p:cNvPicPr>
          <p:nvPr>
            <p:ph idx="1"/>
          </p:nvPr>
        </p:nvPicPr>
        <p:blipFill>
          <a:blip r:embed="rId2"/>
          <a:stretch>
            <a:fillRect/>
          </a:stretch>
        </p:blipFill>
        <p:spPr>
          <a:xfrm>
            <a:off x="623843" y="1358781"/>
            <a:ext cx="10729957" cy="4443065"/>
          </a:xfrm>
          <a:prstGeom prst="rect">
            <a:avLst/>
          </a:prstGeom>
        </p:spPr>
      </p:pic>
    </p:spTree>
    <p:extLst>
      <p:ext uri="{BB962C8B-B14F-4D97-AF65-F5344CB8AC3E}">
        <p14:creationId xmlns:p14="http://schemas.microsoft.com/office/powerpoint/2010/main" val="1981671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913" y="2292439"/>
            <a:ext cx="11218100" cy="2730322"/>
          </a:xfrm>
        </p:spPr>
        <p:style>
          <a:lnRef idx="1">
            <a:schemeClr val="accent2"/>
          </a:lnRef>
          <a:fillRef idx="2">
            <a:schemeClr val="accent2"/>
          </a:fillRef>
          <a:effectRef idx="1">
            <a:schemeClr val="accent2"/>
          </a:effectRef>
          <a:fontRef idx="minor">
            <a:schemeClr val="dk1"/>
          </a:fontRef>
        </p:style>
        <p:txBody>
          <a:bodyPr>
            <a:normAutofit/>
          </a:bodyPr>
          <a:lstStyle/>
          <a:p>
            <a:pPr marL="0" indent="0" algn="just">
              <a:buNone/>
            </a:pPr>
            <a:r>
              <a:rPr lang="en-US" dirty="0"/>
              <a:t>Pakistan, which won its independence in 1947, is confronted with  the task of framing a constitution. A </a:t>
            </a:r>
            <a:r>
              <a:rPr lang="en-US" dirty="0">
                <a:solidFill>
                  <a:srgbClr val="FF0000"/>
                </a:solidFill>
              </a:rPr>
              <a:t>Constituent Assembly </a:t>
            </a:r>
            <a:r>
              <a:rPr lang="en-US" dirty="0"/>
              <a:t>was set up for this purpose under the India Independence Act of 1947. The task, however, proved to be </a:t>
            </a:r>
            <a:r>
              <a:rPr lang="en-US" dirty="0">
                <a:solidFill>
                  <a:srgbClr val="FF0000"/>
                </a:solidFill>
              </a:rPr>
              <a:t>highly complex </a:t>
            </a:r>
            <a:r>
              <a:rPr lang="en-US" dirty="0"/>
              <a:t>and threatened to be a </a:t>
            </a:r>
            <a:r>
              <a:rPr lang="en-US" dirty="0">
                <a:solidFill>
                  <a:srgbClr val="FF0000"/>
                </a:solidFill>
              </a:rPr>
              <a:t>major national problem endangering national unity.</a:t>
            </a:r>
          </a:p>
        </p:txBody>
      </p:sp>
    </p:spTree>
    <p:extLst>
      <p:ext uri="{BB962C8B-B14F-4D97-AF65-F5344CB8AC3E}">
        <p14:creationId xmlns:p14="http://schemas.microsoft.com/office/powerpoint/2010/main" val="3072297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832"/>
            <a:ext cx="11049000" cy="6118789"/>
          </a:xfrm>
        </p:spPr>
        <p:txBody>
          <a:bodyPr>
            <a:normAutofit/>
          </a:bodyPr>
          <a:lstStyle/>
          <a:p>
            <a:pPr algn="just"/>
            <a:r>
              <a:rPr lang="en-US" dirty="0"/>
              <a:t>The first and most difficult problem was the exact character that the state should take. </a:t>
            </a:r>
          </a:p>
          <a:p>
            <a:pPr algn="just"/>
            <a:r>
              <a:rPr lang="en-US" dirty="0">
                <a:solidFill>
                  <a:srgbClr val="FF0000"/>
                </a:solidFill>
              </a:rPr>
              <a:t>The vast majority of the people of Pakistan are Muslims. Their aspiration to preserve and foster Islamic values was the main justification for insisting upon the partition of India</a:t>
            </a:r>
            <a:r>
              <a:rPr lang="en-US" dirty="0"/>
              <a:t>. It may be said that implicit in the demand for an independent Pakistan was the demand for an Islamic state. Some speeches of important leaders who were striving for Pakistan lend themselves to this interpretation. </a:t>
            </a:r>
            <a:r>
              <a:rPr lang="en-US" dirty="0">
                <a:solidFill>
                  <a:srgbClr val="FF0000"/>
                </a:solidFill>
              </a:rPr>
              <a:t>The first prime minister, </a:t>
            </a:r>
            <a:r>
              <a:rPr lang="en-US" dirty="0" err="1">
                <a:solidFill>
                  <a:srgbClr val="FF0000"/>
                </a:solidFill>
              </a:rPr>
              <a:t>Liaquat</a:t>
            </a:r>
            <a:r>
              <a:rPr lang="en-US" dirty="0">
                <a:solidFill>
                  <a:srgbClr val="FF0000"/>
                </a:solidFill>
              </a:rPr>
              <a:t> Ali Khan</a:t>
            </a:r>
            <a:r>
              <a:rPr lang="en-US" dirty="0"/>
              <a:t>, in introducing the </a:t>
            </a:r>
            <a:r>
              <a:rPr lang="en-US" dirty="0">
                <a:solidFill>
                  <a:srgbClr val="FF0000"/>
                </a:solidFill>
              </a:rPr>
              <a:t>objective resolution </a:t>
            </a:r>
            <a:r>
              <a:rPr lang="en-US" dirty="0"/>
              <a:t>of the Constitution of Pakistan in the </a:t>
            </a:r>
            <a:r>
              <a:rPr lang="en-US" dirty="0">
                <a:solidFill>
                  <a:srgbClr val="FF0000"/>
                </a:solidFill>
              </a:rPr>
              <a:t>Constituent Assembly </a:t>
            </a:r>
            <a:r>
              <a:rPr lang="en-US" dirty="0"/>
              <a:t>stated:</a:t>
            </a:r>
          </a:p>
        </p:txBody>
      </p:sp>
      <p:pic>
        <p:nvPicPr>
          <p:cNvPr id="5" name="Picture 4"/>
          <p:cNvPicPr>
            <a:picLocks noChangeAspect="1"/>
          </p:cNvPicPr>
          <p:nvPr/>
        </p:nvPicPr>
        <p:blipFill>
          <a:blip r:embed="rId2"/>
          <a:stretch>
            <a:fillRect/>
          </a:stretch>
        </p:blipFill>
        <p:spPr>
          <a:xfrm>
            <a:off x="2099257" y="4430332"/>
            <a:ext cx="9298546" cy="1171977"/>
          </a:xfrm>
          <a:prstGeom prst="rect">
            <a:avLst/>
          </a:prstGeom>
        </p:spPr>
      </p:pic>
    </p:spTree>
    <p:extLst>
      <p:ext uri="{BB962C8B-B14F-4D97-AF65-F5344CB8AC3E}">
        <p14:creationId xmlns:p14="http://schemas.microsoft.com/office/powerpoint/2010/main" val="3816816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736" y="239282"/>
            <a:ext cx="11861563" cy="6006971"/>
          </a:xfrm>
        </p:spPr>
        <p:txBody>
          <a:bodyPr>
            <a:normAutofit/>
          </a:bodyPr>
          <a:lstStyle/>
          <a:p>
            <a:pPr marL="0" indent="0" algn="just">
              <a:buNone/>
            </a:pPr>
            <a:r>
              <a:rPr lang="en-US" sz="3200" dirty="0"/>
              <a:t>In his widely acclaimed book, entitled, </a:t>
            </a:r>
            <a:r>
              <a:rPr lang="en-US" sz="3200" i="1" dirty="0"/>
              <a:t>Constitutional Development in Pakistan</a:t>
            </a:r>
            <a:r>
              <a:rPr lang="en-US" sz="3200" dirty="0"/>
              <a:t>,  </a:t>
            </a:r>
            <a:r>
              <a:rPr lang="en-US" sz="3200" dirty="0">
                <a:solidFill>
                  <a:srgbClr val="FF0000"/>
                </a:solidFill>
              </a:rPr>
              <a:t>Professor G. W. Choudhury </a:t>
            </a:r>
            <a:r>
              <a:rPr lang="en-US" sz="3200" dirty="0"/>
              <a:t>observed that:  </a:t>
            </a:r>
          </a:p>
          <a:p>
            <a:pPr marL="0" indent="0" algn="just">
              <a:buNone/>
            </a:pPr>
            <a:r>
              <a:rPr lang="en-US" sz="3200" dirty="0"/>
              <a:t>“</a:t>
            </a:r>
            <a:r>
              <a:rPr lang="en-US" dirty="0">
                <a:solidFill>
                  <a:srgbClr val="FF0000"/>
                </a:solidFill>
                <a:latin typeface="Arial Black" panose="020B0A04020102020204" pitchFamily="34" charset="0"/>
              </a:rPr>
              <a:t>Pakistan has become a laboratory for constitutional experiments</a:t>
            </a:r>
            <a:r>
              <a:rPr lang="en-US" sz="3200" dirty="0"/>
              <a:t>”( 1959, page 1).</a:t>
            </a:r>
          </a:p>
          <a:p>
            <a:pPr marL="0" indent="0" algn="just">
              <a:buNone/>
            </a:pPr>
            <a:endParaRPr lang="en-US" sz="3200" dirty="0">
              <a:solidFill>
                <a:srgbClr val="00B050"/>
              </a:solidFill>
            </a:endParaRPr>
          </a:p>
        </p:txBody>
      </p:sp>
      <p:pic>
        <p:nvPicPr>
          <p:cNvPr id="4" name="Content Placeholder 5"/>
          <p:cNvPicPr>
            <a:picLocks noChangeAspect="1"/>
          </p:cNvPicPr>
          <p:nvPr/>
        </p:nvPicPr>
        <p:blipFill>
          <a:blip r:embed="rId2"/>
          <a:stretch>
            <a:fillRect/>
          </a:stretch>
        </p:blipFill>
        <p:spPr>
          <a:xfrm>
            <a:off x="5924283" y="1957589"/>
            <a:ext cx="3348506" cy="3987394"/>
          </a:xfrm>
          <a:prstGeom prst="rect">
            <a:avLst/>
          </a:prstGeom>
        </p:spPr>
      </p:pic>
    </p:spTree>
    <p:extLst>
      <p:ext uri="{BB962C8B-B14F-4D97-AF65-F5344CB8AC3E}">
        <p14:creationId xmlns:p14="http://schemas.microsoft.com/office/powerpoint/2010/main" val="2702006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789" y="296214"/>
            <a:ext cx="11536219" cy="421633"/>
          </a:xfrm>
        </p:spPr>
        <p:txBody>
          <a:bodyPr>
            <a:normAutofit fontScale="90000"/>
          </a:bodyPr>
          <a:lstStyle/>
          <a:p>
            <a:r>
              <a:rPr lang="en-US" dirty="0"/>
              <a:t>Problems of constitution-making in Pakistan, 1947-56</a:t>
            </a:r>
          </a:p>
        </p:txBody>
      </p:sp>
      <p:sp>
        <p:nvSpPr>
          <p:cNvPr id="3" name="Content Placeholder 2"/>
          <p:cNvSpPr>
            <a:spLocks noGrp="1"/>
          </p:cNvSpPr>
          <p:nvPr>
            <p:ph idx="1"/>
          </p:nvPr>
        </p:nvSpPr>
        <p:spPr>
          <a:xfrm>
            <a:off x="572567" y="1056068"/>
            <a:ext cx="11092441" cy="5669472"/>
          </a:xfrm>
        </p:spPr>
        <p:style>
          <a:lnRef idx="2">
            <a:schemeClr val="accent6">
              <a:shade val="50000"/>
            </a:schemeClr>
          </a:lnRef>
          <a:fillRef idx="1">
            <a:schemeClr val="accent6"/>
          </a:fillRef>
          <a:effectRef idx="0">
            <a:schemeClr val="accent6"/>
          </a:effectRef>
          <a:fontRef idx="minor">
            <a:schemeClr val="lt1"/>
          </a:fontRef>
        </p:style>
        <p:txBody>
          <a:bodyPr>
            <a:normAutofit fontScale="92500" lnSpcReduction="20000"/>
          </a:bodyPr>
          <a:lstStyle/>
          <a:p>
            <a:r>
              <a:rPr lang="en-US" dirty="0"/>
              <a:t>Geographical absurdity </a:t>
            </a:r>
          </a:p>
          <a:p>
            <a:r>
              <a:rPr lang="en-US" dirty="0"/>
              <a:t>State language debate </a:t>
            </a:r>
          </a:p>
          <a:p>
            <a:r>
              <a:rPr lang="en-US" dirty="0"/>
              <a:t>Question over the forms of government </a:t>
            </a:r>
          </a:p>
          <a:p>
            <a:r>
              <a:rPr lang="en-US" dirty="0"/>
              <a:t>Political instability </a:t>
            </a:r>
          </a:p>
          <a:p>
            <a:r>
              <a:rPr lang="en-US" dirty="0"/>
              <a:t>The place of Islam in politics   </a:t>
            </a:r>
          </a:p>
          <a:p>
            <a:r>
              <a:rPr lang="en-US" dirty="0"/>
              <a:t>Regional economic disparity </a:t>
            </a:r>
          </a:p>
          <a:p>
            <a:r>
              <a:rPr lang="en-US" dirty="0"/>
              <a:t>Executive supremacy</a:t>
            </a:r>
          </a:p>
          <a:p>
            <a:r>
              <a:rPr lang="en-US" dirty="0"/>
              <a:t>Leadership crisis</a:t>
            </a:r>
          </a:p>
          <a:p>
            <a:r>
              <a:rPr lang="en-US" dirty="0"/>
              <a:t>Absence of a nationwide political party</a:t>
            </a:r>
          </a:p>
          <a:p>
            <a:r>
              <a:rPr lang="en-US" dirty="0"/>
              <a:t>Internal colonialism &amp; a “Double Country”</a:t>
            </a:r>
          </a:p>
          <a:p>
            <a:r>
              <a:rPr lang="en-US" dirty="0"/>
              <a:t>Absence of democracy</a:t>
            </a:r>
          </a:p>
          <a:p>
            <a:r>
              <a:rPr lang="en-US" dirty="0"/>
              <a:t>Palace intrigue </a:t>
            </a:r>
          </a:p>
          <a:p>
            <a:r>
              <a:rPr lang="en-US" dirty="0"/>
              <a:t>Kashmir conflicts</a:t>
            </a:r>
          </a:p>
          <a:p>
            <a:r>
              <a:rPr lang="en-US" dirty="0"/>
              <a:t>Civil-military bureaucratic dominance in politics</a:t>
            </a:r>
          </a:p>
          <a:p>
            <a:endParaRPr lang="en-US" dirty="0"/>
          </a:p>
        </p:txBody>
      </p:sp>
    </p:spTree>
    <p:extLst>
      <p:ext uri="{BB962C8B-B14F-4D97-AF65-F5344CB8AC3E}">
        <p14:creationId xmlns:p14="http://schemas.microsoft.com/office/powerpoint/2010/main" val="1881918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922946" y="487110"/>
            <a:ext cx="10784792" cy="5689853"/>
          </a:xfrm>
          <a:prstGeom prst="rect">
            <a:avLst/>
          </a:prstGeom>
        </p:spPr>
      </p:pic>
    </p:spTree>
    <p:extLst>
      <p:ext uri="{BB962C8B-B14F-4D97-AF65-F5344CB8AC3E}">
        <p14:creationId xmlns:p14="http://schemas.microsoft.com/office/powerpoint/2010/main" val="3814518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01915" y="528034"/>
            <a:ext cx="9048913" cy="5597134"/>
          </a:xfrm>
          <a:prstGeom prst="rect">
            <a:avLst/>
          </a:prstGeom>
        </p:spPr>
      </p:pic>
    </p:spTree>
    <p:extLst>
      <p:ext uri="{BB962C8B-B14F-4D97-AF65-F5344CB8AC3E}">
        <p14:creationId xmlns:p14="http://schemas.microsoft.com/office/powerpoint/2010/main" val="2058986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17079"/>
            <a:ext cx="11194775" cy="2529634"/>
          </a:xfrm>
        </p:spPr>
        <p:style>
          <a:lnRef idx="1">
            <a:schemeClr val="accent1"/>
          </a:lnRef>
          <a:fillRef idx="2">
            <a:schemeClr val="accent1"/>
          </a:fillRef>
          <a:effectRef idx="1">
            <a:schemeClr val="accent1"/>
          </a:effectRef>
          <a:fontRef idx="minor">
            <a:schemeClr val="dk1"/>
          </a:fontRef>
        </p:style>
        <p:txBody>
          <a:bodyPr>
            <a:normAutofit/>
          </a:bodyPr>
          <a:lstStyle/>
          <a:p>
            <a:pPr algn="just"/>
            <a:r>
              <a:rPr lang="en-US" dirty="0"/>
              <a:t>The most fundamental question that has challenged the constitution-makers and other political leaders in Pakistan was “how to keep the two physically and culturally separated regions of the country linked together as </a:t>
            </a:r>
            <a:r>
              <a:rPr lang="en-US" dirty="0">
                <a:solidFill>
                  <a:srgbClr val="FF0000"/>
                </a:solidFill>
              </a:rPr>
              <a:t>one nation and one state</a:t>
            </a:r>
            <a:r>
              <a:rPr lang="en-US" dirty="0"/>
              <a:t>” ( </a:t>
            </a:r>
            <a:r>
              <a:rPr lang="en-US" dirty="0">
                <a:solidFill>
                  <a:srgbClr val="FF0000"/>
                </a:solidFill>
              </a:rPr>
              <a:t>K. B. </a:t>
            </a:r>
            <a:r>
              <a:rPr lang="en-US" dirty="0" err="1">
                <a:solidFill>
                  <a:srgbClr val="FF0000"/>
                </a:solidFill>
              </a:rPr>
              <a:t>Sayeed</a:t>
            </a:r>
            <a:r>
              <a:rPr lang="en-US" dirty="0"/>
              <a:t>, </a:t>
            </a:r>
            <a:r>
              <a:rPr lang="en-US" i="1" dirty="0">
                <a:solidFill>
                  <a:srgbClr val="FF0000"/>
                </a:solidFill>
              </a:rPr>
              <a:t>The Political System of Pakistan</a:t>
            </a:r>
            <a:r>
              <a:rPr lang="en-US" dirty="0">
                <a:solidFill>
                  <a:srgbClr val="FF0000"/>
                </a:solidFill>
              </a:rPr>
              <a:t>, Oxford</a:t>
            </a:r>
            <a:r>
              <a:rPr lang="en-US" dirty="0"/>
              <a:t>, 1967, p. 208).</a:t>
            </a:r>
          </a:p>
        </p:txBody>
      </p:sp>
    </p:spTree>
    <p:extLst>
      <p:ext uri="{BB962C8B-B14F-4D97-AF65-F5344CB8AC3E}">
        <p14:creationId xmlns:p14="http://schemas.microsoft.com/office/powerpoint/2010/main" val="636551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948583"/>
            <a:ext cx="10920813" cy="3008120"/>
          </a:xfrm>
        </p:spPr>
        <p:txBody>
          <a:bodyPr/>
          <a:lstStyle/>
          <a:p>
            <a:pPr algn="just"/>
            <a:r>
              <a:rPr lang="en-US" dirty="0"/>
              <a:t>One of the main obstacles in the constitution-making was </a:t>
            </a:r>
            <a:r>
              <a:rPr lang="en-US" dirty="0">
                <a:solidFill>
                  <a:srgbClr val="FF0000"/>
                </a:solidFill>
              </a:rPr>
              <a:t>the peculiar geographical position of Pakistan</a:t>
            </a:r>
            <a:r>
              <a:rPr lang="en-US" dirty="0"/>
              <a:t>. The two wings of Pakistan do not have any common bond except the sentiment of religion. Western and Eastern </a:t>
            </a:r>
            <a:r>
              <a:rPr lang="en-US" dirty="0">
                <a:solidFill>
                  <a:srgbClr val="FF0000"/>
                </a:solidFill>
              </a:rPr>
              <a:t>Pakistan distance was about 1000 miles/ 1200 Kilometers</a:t>
            </a:r>
            <a:r>
              <a:rPr lang="en-US" dirty="0"/>
              <a:t>. As a result,  this geographical separation made the</a:t>
            </a:r>
            <a:r>
              <a:rPr lang="en-US" dirty="0">
                <a:solidFill>
                  <a:srgbClr val="FF0000"/>
                </a:solidFill>
              </a:rPr>
              <a:t> communication </a:t>
            </a:r>
            <a:r>
              <a:rPr lang="en-US" dirty="0"/>
              <a:t>between the two wings difficult and expensive. </a:t>
            </a:r>
          </a:p>
        </p:txBody>
      </p:sp>
    </p:spTree>
    <p:extLst>
      <p:ext uri="{BB962C8B-B14F-4D97-AF65-F5344CB8AC3E}">
        <p14:creationId xmlns:p14="http://schemas.microsoft.com/office/powerpoint/2010/main" val="3480825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875763"/>
            <a:ext cx="10920211" cy="5301200"/>
          </a:xfrm>
        </p:spPr>
        <p:txBody>
          <a:bodyPr>
            <a:normAutofit/>
          </a:bodyPr>
          <a:lstStyle/>
          <a:p>
            <a:pPr algn="just"/>
            <a:r>
              <a:rPr lang="en-US" dirty="0"/>
              <a:t>The controversy between East and West Pakistan was closely related to the question of state language ( M. </a:t>
            </a:r>
            <a:r>
              <a:rPr lang="en-US" dirty="0" err="1"/>
              <a:t>Rashiduzzaman</a:t>
            </a:r>
            <a:r>
              <a:rPr lang="en-US" dirty="0"/>
              <a:t>, </a:t>
            </a:r>
            <a:r>
              <a:rPr lang="en-US" i="1" dirty="0"/>
              <a:t>Pakistan: A Study of Government and Politics,</a:t>
            </a:r>
            <a:r>
              <a:rPr lang="en-US" dirty="0"/>
              <a:t> Dacca: Ideal Library, 1967, p.92). </a:t>
            </a:r>
          </a:p>
          <a:p>
            <a:pPr algn="just"/>
            <a:r>
              <a:rPr lang="en-US" dirty="0"/>
              <a:t>From the beginning Pakistani rulers were concerned about the geographical separation of the country by </a:t>
            </a:r>
            <a:r>
              <a:rPr lang="en-US" dirty="0">
                <a:solidFill>
                  <a:srgbClr val="FF0000"/>
                </a:solidFill>
              </a:rPr>
              <a:t>hostile India </a:t>
            </a:r>
            <a:r>
              <a:rPr lang="en-US" dirty="0"/>
              <a:t>and perceived the dominance of </a:t>
            </a:r>
            <a:r>
              <a:rPr lang="en-US" dirty="0">
                <a:solidFill>
                  <a:srgbClr val="FF0000"/>
                </a:solidFill>
              </a:rPr>
              <a:t>Bengali language in East Bengal as the number one barrier towards achieving political integration</a:t>
            </a:r>
            <a:r>
              <a:rPr lang="en-US" dirty="0"/>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lasting institutional imbalance within the Pakistani state structure. </a:t>
            </a:r>
          </a:p>
        </p:txBody>
      </p:sp>
    </p:spTree>
    <p:extLst>
      <p:ext uri="{BB962C8B-B14F-4D97-AF65-F5344CB8AC3E}">
        <p14:creationId xmlns:p14="http://schemas.microsoft.com/office/powerpoint/2010/main" val="1074870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33286"/>
            <a:ext cx="11168642" cy="6238430"/>
          </a:xfrm>
        </p:spPr>
        <p:txBody>
          <a:bodyPr>
            <a:normAutofit/>
          </a:bodyPr>
          <a:lstStyle/>
          <a:p>
            <a:pPr algn="just"/>
            <a:r>
              <a:rPr lang="en-US" sz="3200" dirty="0"/>
              <a:t>The influence of Islam: </a:t>
            </a:r>
            <a:r>
              <a:rPr lang="en-US" dirty="0"/>
              <a:t>The most unique feature of Pakistan was that the new state was </a:t>
            </a:r>
            <a:r>
              <a:rPr lang="en-US" dirty="0">
                <a:solidFill>
                  <a:srgbClr val="FF0000"/>
                </a:solidFill>
              </a:rPr>
              <a:t>born on the basis of religion</a:t>
            </a:r>
            <a:r>
              <a:rPr lang="en-US" dirty="0"/>
              <a:t>. Pakistan was founded on a political commitment that it would be governed according to the </a:t>
            </a:r>
            <a:r>
              <a:rPr lang="en-US" dirty="0">
                <a:solidFill>
                  <a:srgbClr val="FF0000"/>
                </a:solidFill>
              </a:rPr>
              <a:t>guidelines of Islam</a:t>
            </a:r>
            <a:r>
              <a:rPr lang="en-US" dirty="0"/>
              <a:t>. In Islam, there has never been a distinct between the civil and military authorities since Islam doesn’t divide the </a:t>
            </a:r>
            <a:r>
              <a:rPr lang="en-US" dirty="0" err="1"/>
              <a:t>Ummah</a:t>
            </a:r>
            <a:r>
              <a:rPr lang="en-US" dirty="0"/>
              <a:t> (community) into civil and military entities (Syed </a:t>
            </a:r>
            <a:r>
              <a:rPr lang="en-US" dirty="0" err="1"/>
              <a:t>Serajul</a:t>
            </a:r>
            <a:r>
              <a:rPr lang="en-US" dirty="0"/>
              <a:t> Islam, </a:t>
            </a:r>
            <a:r>
              <a:rPr lang="en-US" i="1" dirty="0"/>
              <a:t>Bangladesh: State and Economic Strategy</a:t>
            </a:r>
            <a:r>
              <a:rPr lang="en-US" dirty="0"/>
              <a:t>, Dhaka: UPL, 1988, page. 24). Thus, the constitution makers had to face the theocratic issues of Islam as a source of </a:t>
            </a:r>
            <a:r>
              <a:rPr lang="en-US" dirty="0">
                <a:solidFill>
                  <a:srgbClr val="FF0000"/>
                </a:solidFill>
              </a:rPr>
              <a:t>legitimacy and integrity </a:t>
            </a:r>
            <a:r>
              <a:rPr lang="en-US" dirty="0"/>
              <a:t>of the state.</a:t>
            </a:r>
          </a:p>
          <a:p>
            <a:pPr marL="0" indent="0" algn="just">
              <a:buNone/>
            </a:pPr>
            <a:endParaRPr lang="en-US" dirty="0"/>
          </a:p>
        </p:txBody>
      </p:sp>
      <p:pic>
        <p:nvPicPr>
          <p:cNvPr id="4" name="Content Placeholder 3"/>
          <p:cNvPicPr>
            <a:picLocks noChangeAspect="1"/>
          </p:cNvPicPr>
          <p:nvPr/>
        </p:nvPicPr>
        <p:blipFill>
          <a:blip r:embed="rId2"/>
          <a:stretch>
            <a:fillRect/>
          </a:stretch>
        </p:blipFill>
        <p:spPr>
          <a:xfrm>
            <a:off x="5523111" y="3863662"/>
            <a:ext cx="2307364" cy="2592986"/>
          </a:xfrm>
          <a:prstGeom prst="rect">
            <a:avLst/>
          </a:prstGeom>
        </p:spPr>
      </p:pic>
    </p:spTree>
    <p:extLst>
      <p:ext uri="{BB962C8B-B14F-4D97-AF65-F5344CB8AC3E}">
        <p14:creationId xmlns:p14="http://schemas.microsoft.com/office/powerpoint/2010/main" val="1000648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914401"/>
            <a:ext cx="10758443" cy="3459296"/>
          </a:xfrm>
        </p:spPr>
        <p:txBody>
          <a:bodyPr>
            <a:normAutofit/>
          </a:bodyPr>
          <a:lstStyle/>
          <a:p>
            <a:pPr algn="just"/>
            <a:r>
              <a:rPr lang="en-US" sz="3200" dirty="0"/>
              <a:t>As long as Jinnah was alive (he died September,1948),he was Pakistan. He held the position of Governor-General, but the powers and influence that he exercised were far beyond those normally associated with that office (</a:t>
            </a:r>
            <a:r>
              <a:rPr lang="en-US" sz="3200" dirty="0" err="1"/>
              <a:t>K.B.Sayeed</a:t>
            </a:r>
            <a:r>
              <a:rPr lang="en-US" sz="3200" dirty="0"/>
              <a:t>, </a:t>
            </a:r>
            <a:r>
              <a:rPr lang="en-US" sz="3200" i="1" dirty="0"/>
              <a:t>The Political System of Pakistan</a:t>
            </a:r>
            <a:r>
              <a:rPr lang="en-US" sz="3200" dirty="0"/>
              <a:t>, 1967, page 62).</a:t>
            </a:r>
          </a:p>
          <a:p>
            <a:pPr marL="0" indent="0" algn="just">
              <a:buNone/>
            </a:pPr>
            <a:endParaRPr lang="en-US" sz="3200" dirty="0"/>
          </a:p>
          <a:p>
            <a:pPr marL="0" indent="0" algn="just">
              <a:buNone/>
            </a:pPr>
            <a:endParaRPr lang="en-US" sz="3200" dirty="0"/>
          </a:p>
        </p:txBody>
      </p:sp>
    </p:spTree>
    <p:extLst>
      <p:ext uri="{BB962C8B-B14F-4D97-AF65-F5344CB8AC3E}">
        <p14:creationId xmlns:p14="http://schemas.microsoft.com/office/powerpoint/2010/main" val="671638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Both Muhammad Ali Jinnah and </a:t>
            </a:r>
            <a:r>
              <a:rPr lang="en-US" dirty="0" err="1"/>
              <a:t>Liaquat</a:t>
            </a:r>
            <a:r>
              <a:rPr lang="en-US" dirty="0"/>
              <a:t>  Ali Khan relied very heavily on the </a:t>
            </a:r>
            <a:r>
              <a:rPr lang="en-US" dirty="0">
                <a:solidFill>
                  <a:srgbClr val="FF0000"/>
                </a:solidFill>
              </a:rPr>
              <a:t>civil servants. </a:t>
            </a:r>
            <a:r>
              <a:rPr lang="en-US" dirty="0"/>
              <a:t>The rise of </a:t>
            </a:r>
            <a:r>
              <a:rPr lang="en-US" dirty="0">
                <a:solidFill>
                  <a:srgbClr val="FF0000"/>
                </a:solidFill>
              </a:rPr>
              <a:t>civil-military bureaucracy </a:t>
            </a:r>
            <a:r>
              <a:rPr lang="en-US" dirty="0"/>
              <a:t>was a major  factor affecting the rule of the United Pakistan. </a:t>
            </a:r>
          </a:p>
        </p:txBody>
      </p:sp>
    </p:spTree>
    <p:extLst>
      <p:ext uri="{BB962C8B-B14F-4D97-AF65-F5344CB8AC3E}">
        <p14:creationId xmlns:p14="http://schemas.microsoft.com/office/powerpoint/2010/main" val="3591976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9319" y="1532586"/>
            <a:ext cx="11468456" cy="1828800"/>
          </a:xfrm>
        </p:spPr>
        <p:txBody>
          <a:bodyPr>
            <a:normAutofit/>
          </a:bodyPr>
          <a:lstStyle/>
          <a:p>
            <a:pPr marL="0" indent="0" algn="just">
              <a:buNone/>
            </a:pPr>
            <a:r>
              <a:rPr lang="en-US" dirty="0"/>
              <a:t>After death of Jinnah, </a:t>
            </a:r>
            <a:r>
              <a:rPr lang="en-US" dirty="0">
                <a:solidFill>
                  <a:srgbClr val="FF0000"/>
                </a:solidFill>
              </a:rPr>
              <a:t>regionalism, factionalism and opportunism </a:t>
            </a:r>
            <a:r>
              <a:rPr lang="en-US" dirty="0"/>
              <a:t>became the general rules of political system of Pakistan. Quite contrary to Congress in India, Muslim League failed miserably to transform itself into a national political party from nationalist party. </a:t>
            </a:r>
          </a:p>
        </p:txBody>
      </p:sp>
    </p:spTree>
    <p:extLst>
      <p:ext uri="{BB962C8B-B14F-4D97-AF65-F5344CB8AC3E}">
        <p14:creationId xmlns:p14="http://schemas.microsoft.com/office/powerpoint/2010/main" val="2158346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8224"/>
            <a:ext cx="10515600" cy="5108739"/>
          </a:xfrm>
        </p:spPr>
        <p:txBody>
          <a:bodyPr>
            <a:normAutofit/>
          </a:bodyPr>
          <a:lstStyle/>
          <a:p>
            <a:pPr algn="just"/>
            <a:endParaRPr lang="en-US" sz="3200" dirty="0"/>
          </a:p>
          <a:p>
            <a:pPr algn="just"/>
            <a:r>
              <a:rPr lang="en-US" sz="3200" dirty="0"/>
              <a:t>Between August 1947 and October 1958, </a:t>
            </a:r>
            <a:r>
              <a:rPr lang="en-US" sz="3200" dirty="0">
                <a:solidFill>
                  <a:srgbClr val="FF0000"/>
                </a:solidFill>
              </a:rPr>
              <a:t>there were as many as seven cabinets, the average life of a cabinet being nineteenth months only. </a:t>
            </a:r>
          </a:p>
        </p:txBody>
      </p:sp>
    </p:spTree>
    <p:extLst>
      <p:ext uri="{BB962C8B-B14F-4D97-AF65-F5344CB8AC3E}">
        <p14:creationId xmlns:p14="http://schemas.microsoft.com/office/powerpoint/2010/main" val="453800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557" y="1287887"/>
            <a:ext cx="11613735" cy="3258355"/>
          </a:xfrm>
        </p:spPr>
        <p:txBody>
          <a:bodyPr/>
          <a:lstStyle/>
          <a:p>
            <a:pPr algn="just"/>
            <a:r>
              <a:rPr lang="en-US" dirty="0"/>
              <a:t>At the time of inception of Pakistan, Pakistan faced </a:t>
            </a:r>
            <a:r>
              <a:rPr lang="en-US" dirty="0">
                <a:solidFill>
                  <a:srgbClr val="FF0000"/>
                </a:solidFill>
              </a:rPr>
              <a:t>security threats </a:t>
            </a:r>
            <a:r>
              <a:rPr lang="en-US" dirty="0"/>
              <a:t>from India and Afghanistan, therefore, to meet the Indian or Afghanistan aggression, a strong and efficient military was pertinent. It became evident that defense would be the primary concern and Pakistan military would have to play active role in matters related to </a:t>
            </a:r>
            <a:r>
              <a:rPr lang="en-US" dirty="0">
                <a:solidFill>
                  <a:srgbClr val="FF0000"/>
                </a:solidFill>
              </a:rPr>
              <a:t>defense</a:t>
            </a:r>
            <a:r>
              <a:rPr lang="en-US" dirty="0"/>
              <a:t>.  Kashmir was a constant source of military conflict and war between Pakistan and India </a:t>
            </a:r>
            <a:r>
              <a:rPr lang="en-US" sz="2000" b="1" dirty="0"/>
              <a:t>(For a brief review, please see my review article , </a:t>
            </a:r>
            <a:r>
              <a:rPr lang="en-US" sz="2000" dirty="0">
                <a:hlinkClick r:id="rId2"/>
              </a:rPr>
              <a:t>https://doi.org/10.18357/bigr11201919275</a:t>
            </a:r>
            <a:r>
              <a:rPr lang="en-US" sz="2000" dirty="0"/>
              <a:t>). </a:t>
            </a:r>
          </a:p>
        </p:txBody>
      </p:sp>
    </p:spTree>
    <p:extLst>
      <p:ext uri="{BB962C8B-B14F-4D97-AF65-F5344CB8AC3E}">
        <p14:creationId xmlns:p14="http://schemas.microsoft.com/office/powerpoint/2010/main" val="2583525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5118"/>
            <a:ext cx="10515600" cy="5501845"/>
          </a:xfrm>
        </p:spPr>
        <p:txBody>
          <a:bodyPr/>
          <a:lstStyle/>
          <a:p>
            <a:r>
              <a:rPr lang="en-US" sz="3200" dirty="0"/>
              <a:t>Inequality between East and West Pakistan:</a:t>
            </a:r>
          </a:p>
          <a:p>
            <a:endParaRPr lang="en-US" dirty="0"/>
          </a:p>
        </p:txBody>
      </p:sp>
      <p:pic>
        <p:nvPicPr>
          <p:cNvPr id="4" name="Content Placeholder 3"/>
          <p:cNvPicPr>
            <a:picLocks noChangeAspect="1"/>
          </p:cNvPicPr>
          <p:nvPr/>
        </p:nvPicPr>
        <p:blipFill>
          <a:blip r:embed="rId2"/>
          <a:stretch>
            <a:fillRect/>
          </a:stretch>
        </p:blipFill>
        <p:spPr>
          <a:xfrm>
            <a:off x="658738" y="1175046"/>
            <a:ext cx="10331152" cy="4768554"/>
          </a:xfrm>
          <a:prstGeom prst="rect">
            <a:avLst/>
          </a:prstGeom>
        </p:spPr>
      </p:pic>
    </p:spTree>
    <p:extLst>
      <p:ext uri="{BB962C8B-B14F-4D97-AF65-F5344CB8AC3E}">
        <p14:creationId xmlns:p14="http://schemas.microsoft.com/office/powerpoint/2010/main" val="557721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905855"/>
            <a:ext cx="10515600" cy="4658364"/>
          </a:xfrm>
          <a:prstGeom prst="rect">
            <a:avLst/>
          </a:prstGeom>
        </p:spPr>
      </p:pic>
    </p:spTree>
    <p:extLst>
      <p:ext uri="{BB962C8B-B14F-4D97-AF65-F5344CB8AC3E}">
        <p14:creationId xmlns:p14="http://schemas.microsoft.com/office/powerpoint/2010/main" val="911172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358923"/>
            <a:ext cx="10515600" cy="6187156"/>
          </a:xfrm>
          <a:prstGeom prst="rect">
            <a:avLst/>
          </a:prstGeom>
        </p:spPr>
      </p:pic>
    </p:spTree>
    <p:extLst>
      <p:ext uri="{BB962C8B-B14F-4D97-AF65-F5344CB8AC3E}">
        <p14:creationId xmlns:p14="http://schemas.microsoft.com/office/powerpoint/2010/main" val="3783053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5915"/>
            <a:ext cx="10515600" cy="5211048"/>
          </a:xfrm>
        </p:spPr>
        <p:txBody>
          <a:bodyPr>
            <a:normAutofit/>
          </a:bodyPr>
          <a:lstStyle/>
          <a:p>
            <a:pPr algn="just"/>
            <a:r>
              <a:rPr lang="en-US" dirty="0"/>
              <a:t>Not only is the Pakistani military recruited from a few selected regions, it also does not </a:t>
            </a:r>
            <a:r>
              <a:rPr lang="en-US" dirty="0">
                <a:solidFill>
                  <a:srgbClr val="FF0000"/>
                </a:solidFill>
              </a:rPr>
              <a:t>represent the new middle class </a:t>
            </a:r>
            <a:r>
              <a:rPr lang="en-US" dirty="0"/>
              <a:t>referred to by Halpern. In the British Indian Army, training in England was required for commissioned ranks. This facilitated recruitment of military officers from </a:t>
            </a:r>
            <a:r>
              <a:rPr lang="en-US" dirty="0">
                <a:solidFill>
                  <a:srgbClr val="FF0000"/>
                </a:solidFill>
              </a:rPr>
              <a:t>wealthy families </a:t>
            </a:r>
            <a:r>
              <a:rPr lang="en-US" dirty="0"/>
              <a:t>who could afford to bear the expenses of foreign training. And since most of the wealthy Muslims of the </a:t>
            </a:r>
            <a:r>
              <a:rPr lang="en-US" dirty="0">
                <a:solidFill>
                  <a:srgbClr val="FF0000"/>
                </a:solidFill>
              </a:rPr>
              <a:t>Punjab and Northwest Frontier Province </a:t>
            </a:r>
            <a:r>
              <a:rPr lang="en-US" dirty="0"/>
              <a:t>were landlords, the military officers often came from </a:t>
            </a:r>
            <a:r>
              <a:rPr lang="en-US" dirty="0">
                <a:solidFill>
                  <a:srgbClr val="FF0000"/>
                </a:solidFill>
              </a:rPr>
              <a:t>landed aristocracy </a:t>
            </a:r>
            <a:r>
              <a:rPr lang="en-US" dirty="0"/>
              <a:t>( </a:t>
            </a:r>
            <a:r>
              <a:rPr lang="en-US" dirty="0" err="1"/>
              <a:t>Rounaq</a:t>
            </a:r>
            <a:r>
              <a:rPr lang="en-US" dirty="0"/>
              <a:t> </a:t>
            </a:r>
            <a:r>
              <a:rPr lang="en-US" dirty="0" err="1"/>
              <a:t>Jahan</a:t>
            </a:r>
            <a:r>
              <a:rPr lang="en-US" dirty="0"/>
              <a:t>, “</a:t>
            </a:r>
            <a:r>
              <a:rPr lang="en-US" b="1" dirty="0"/>
              <a:t>Ten Years of </a:t>
            </a:r>
            <a:r>
              <a:rPr lang="en-US" b="1" dirty="0" err="1"/>
              <a:t>Ayub</a:t>
            </a:r>
            <a:r>
              <a:rPr lang="en-US" b="1" dirty="0"/>
              <a:t> Khan and the Problem of National Integration”, </a:t>
            </a:r>
            <a:r>
              <a:rPr lang="en-US" i="1" dirty="0"/>
              <a:t>Administration &amp; Society </a:t>
            </a:r>
            <a:r>
              <a:rPr lang="en-US" dirty="0"/>
              <a:t>1970 2: 277)</a:t>
            </a:r>
          </a:p>
        </p:txBody>
      </p:sp>
    </p:spTree>
    <p:extLst>
      <p:ext uri="{BB962C8B-B14F-4D97-AF65-F5344CB8AC3E}">
        <p14:creationId xmlns:p14="http://schemas.microsoft.com/office/powerpoint/2010/main" val="57866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249746"/>
          </a:xfrm>
        </p:spPr>
        <p:txBody>
          <a:bodyPr/>
          <a:lstStyle/>
          <a:p>
            <a:pPr algn="ctr"/>
            <a:r>
              <a:rPr lang="en-US" dirty="0"/>
              <a:t>Conclusions and Questions </a:t>
            </a:r>
            <a:br>
              <a:rPr lang="en-US" dirty="0"/>
            </a:br>
            <a:r>
              <a:rPr lang="en-US" dirty="0"/>
              <a:t> </a:t>
            </a:r>
          </a:p>
        </p:txBody>
      </p:sp>
    </p:spTree>
    <p:extLst>
      <p:ext uri="{BB962C8B-B14F-4D97-AF65-F5344CB8AC3E}">
        <p14:creationId xmlns:p14="http://schemas.microsoft.com/office/powerpoint/2010/main" val="1877329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095"/>
          </a:xfrm>
        </p:spPr>
        <p:txBody>
          <a:bodyPr/>
          <a:lstStyle/>
          <a:p>
            <a:r>
              <a:rPr lang="en-US" dirty="0"/>
              <a:t>REFERENCES:</a:t>
            </a:r>
          </a:p>
        </p:txBody>
      </p:sp>
      <p:sp>
        <p:nvSpPr>
          <p:cNvPr id="3" name="Content Placeholder 2"/>
          <p:cNvSpPr>
            <a:spLocks noGrp="1"/>
          </p:cNvSpPr>
          <p:nvPr>
            <p:ph idx="1"/>
          </p:nvPr>
        </p:nvSpPr>
        <p:spPr>
          <a:xfrm>
            <a:off x="1751526" y="1287887"/>
            <a:ext cx="10161431" cy="4056845"/>
          </a:xfrm>
        </p:spPr>
        <p:txBody>
          <a:bodyPr>
            <a:normAutofit/>
          </a:bodyPr>
          <a:lstStyle/>
          <a:p>
            <a:r>
              <a:rPr lang="en-US" dirty="0"/>
              <a:t>G. W. Choudhury, </a:t>
            </a:r>
            <a:r>
              <a:rPr lang="en-US" i="1" dirty="0"/>
              <a:t>Constitutional Development in Pakistan</a:t>
            </a:r>
          </a:p>
          <a:p>
            <a:r>
              <a:rPr lang="en-US" dirty="0"/>
              <a:t>K.B. </a:t>
            </a:r>
            <a:r>
              <a:rPr lang="en-US" dirty="0" err="1"/>
              <a:t>Sayeed</a:t>
            </a:r>
            <a:r>
              <a:rPr lang="en-US" i="1" dirty="0"/>
              <a:t>, The Political System of Pakistan</a:t>
            </a:r>
          </a:p>
          <a:p>
            <a:r>
              <a:rPr lang="en-US" dirty="0" err="1"/>
              <a:t>Rounaq</a:t>
            </a:r>
            <a:r>
              <a:rPr lang="en-US" dirty="0"/>
              <a:t> </a:t>
            </a:r>
            <a:r>
              <a:rPr lang="en-US" dirty="0" err="1"/>
              <a:t>Jahan</a:t>
            </a:r>
            <a:r>
              <a:rPr lang="en-US" dirty="0"/>
              <a:t>, </a:t>
            </a:r>
            <a:r>
              <a:rPr lang="en-US" i="1" dirty="0"/>
              <a:t>Pakistan: Failure in National Integration</a:t>
            </a:r>
          </a:p>
          <a:p>
            <a:r>
              <a:rPr lang="en-US" dirty="0"/>
              <a:t>Syed </a:t>
            </a:r>
            <a:r>
              <a:rPr lang="en-US" dirty="0" err="1"/>
              <a:t>Serajul</a:t>
            </a:r>
            <a:r>
              <a:rPr lang="en-US" dirty="0"/>
              <a:t> Islam</a:t>
            </a:r>
            <a:r>
              <a:rPr lang="en-US" i="1" dirty="0"/>
              <a:t>, Bangladesh: State and Economic Strategy</a:t>
            </a:r>
          </a:p>
          <a:p>
            <a:r>
              <a:rPr lang="en-US" dirty="0" err="1"/>
              <a:t>Antía</a:t>
            </a:r>
            <a:r>
              <a:rPr lang="en-US" dirty="0"/>
              <a:t> Mato </a:t>
            </a:r>
            <a:r>
              <a:rPr lang="en-US" dirty="0" err="1"/>
              <a:t>Bouzas</a:t>
            </a:r>
            <a:r>
              <a:rPr lang="en-US" dirty="0"/>
              <a:t>, </a:t>
            </a:r>
            <a:r>
              <a:rPr lang="en-US" i="1" dirty="0"/>
              <a:t>Kashmir as a Borderland: The Politics of Space and Belonging across the Line of Control</a:t>
            </a:r>
          </a:p>
          <a:p>
            <a:endParaRPr lang="en-US" i="1" dirty="0"/>
          </a:p>
        </p:txBody>
      </p:sp>
    </p:spTree>
    <p:extLst>
      <p:ext uri="{BB962C8B-B14F-4D97-AF65-F5344CB8AC3E}">
        <p14:creationId xmlns:p14="http://schemas.microsoft.com/office/powerpoint/2010/main" val="4254552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805</TotalTime>
  <Words>1060</Words>
  <Application>Microsoft Office PowerPoint</Application>
  <PresentationFormat>Widescreen</PresentationFormat>
  <Paragraphs>47</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Arial Black</vt:lpstr>
      <vt:lpstr>Calibri</vt:lpstr>
      <vt:lpstr>Calibri Light</vt:lpstr>
      <vt:lpstr>Times New Roman</vt:lpstr>
      <vt:lpstr>Office Theme</vt:lpstr>
      <vt:lpstr>PowerPoint Presentation</vt:lpstr>
      <vt:lpstr>Definition of a Constitution: </vt:lpstr>
      <vt:lpstr>PowerPoint Presentation</vt:lpstr>
      <vt:lpstr>Does Constitution really matter?</vt:lpstr>
      <vt:lpstr>PowerPoint Presentation</vt:lpstr>
      <vt:lpstr>PowerPoint Presentation</vt:lpstr>
      <vt:lpstr>PowerPoint Presentation</vt:lpstr>
      <vt:lpstr>Problems of constitution-making in Pakistan, 1947-56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 and Questions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cp:lastModifiedBy>
  <cp:revision>462</cp:revision>
  <dcterms:created xsi:type="dcterms:W3CDTF">2020-12-05T05:01:27Z</dcterms:created>
  <dcterms:modified xsi:type="dcterms:W3CDTF">2025-03-16T04:55:35Z</dcterms:modified>
</cp:coreProperties>
</file>