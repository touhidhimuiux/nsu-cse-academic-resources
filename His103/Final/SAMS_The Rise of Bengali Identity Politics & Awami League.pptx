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0" r:id="rId7"/>
    <p:sldId id="261" r:id="rId8"/>
    <p:sldId id="262" r:id="rId9"/>
    <p:sldId id="275" r:id="rId10"/>
    <p:sldId id="273" r:id="rId11"/>
    <p:sldId id="274" r:id="rId12"/>
    <p:sldId id="263" r:id="rId13"/>
    <p:sldId id="264" r:id="rId14"/>
    <p:sldId id="265" r:id="rId15"/>
    <p:sldId id="266" r:id="rId16"/>
    <p:sldId id="267" r:id="rId17"/>
    <p:sldId id="268" r:id="rId18"/>
    <p:sldId id="272" r:id="rId19"/>
    <p:sldId id="271" r:id="rId20"/>
    <p:sldId id="276" r:id="rId21"/>
    <p:sldId id="277" r:id="rId22"/>
    <p:sldId id="279"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291" autoAdjust="0"/>
  </p:normalViewPr>
  <p:slideViewPr>
    <p:cSldViewPr snapToGrid="0">
      <p:cViewPr varScale="1">
        <p:scale>
          <a:sx n="72" d="100"/>
          <a:sy n="72" d="100"/>
        </p:scale>
        <p:origin x="100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B671B6-CEB7-40D7-9656-15ABA1CCB0EA}" type="datetimeFigureOut">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2493542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B671B6-CEB7-40D7-9656-15ABA1CCB0EA}" type="datetimeFigureOut">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1584290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671B6-CEB7-40D7-9656-15ABA1CCB0EA}" type="datetimeFigureOut">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224688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B671B6-CEB7-40D7-9656-15ABA1CCB0EA}" type="datetimeFigureOut">
              <a:rPr lang="en-US" smtClean="0"/>
              <a:t>10/1/2023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388135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B671B6-CEB7-40D7-9656-15ABA1CCB0EA}" type="datetimeFigureOut">
              <a:rPr lang="en-US" smtClean="0"/>
              <a:t>10/1/2023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44988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B671B6-CEB7-40D7-9656-15ABA1CCB0EA}" type="datetimeFigureOut">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3698934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B671B6-CEB7-40D7-9656-15ABA1CCB0EA}" type="datetimeFigureOut">
              <a:rPr lang="en-US" smtClean="0"/>
              <a:t>10/1/2023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413642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B671B6-CEB7-40D7-9656-15ABA1CCB0EA}" type="datetimeFigureOut">
              <a:rPr lang="en-US" smtClean="0"/>
              <a:t>10/1/2023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1778210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B671B6-CEB7-40D7-9656-15ABA1CCB0EA}" type="datetimeFigureOut">
              <a:rPr lang="en-US" smtClean="0"/>
              <a:t>10/1/2023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4215661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B671B6-CEB7-40D7-9656-15ABA1CCB0EA}" type="datetimeFigureOut">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976063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B671B6-CEB7-40D7-9656-15ABA1CCB0EA}" type="datetimeFigureOut">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B9792-5FD0-4F87-8FEB-1F2DAB4868A6}" type="slidenum">
              <a:rPr lang="en-US" smtClean="0"/>
              <a:t>‹#›</a:t>
            </a:fld>
            <a:endParaRPr lang="en-US"/>
          </a:p>
        </p:txBody>
      </p:sp>
    </p:spTree>
    <p:extLst>
      <p:ext uri="{BB962C8B-B14F-4D97-AF65-F5344CB8AC3E}">
        <p14:creationId xmlns:p14="http://schemas.microsoft.com/office/powerpoint/2010/main" val="3462205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B671B6-CEB7-40D7-9656-15ABA1CCB0EA}" type="datetimeFigureOut">
              <a:rPr lang="en-US" smtClean="0"/>
              <a:t>10/1/2023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3B9792-5FD0-4F87-8FEB-1F2DAB4868A6}" type="slidenum">
              <a:rPr lang="en-US" smtClean="0"/>
              <a:t>‹#›</a:t>
            </a:fld>
            <a:endParaRPr lang="en-US"/>
          </a:p>
        </p:txBody>
      </p:sp>
    </p:spTree>
    <p:extLst>
      <p:ext uri="{BB962C8B-B14F-4D97-AF65-F5344CB8AC3E}">
        <p14:creationId xmlns:p14="http://schemas.microsoft.com/office/powerpoint/2010/main" val="2760075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3999" y="2305318"/>
            <a:ext cx="9526073" cy="1262130"/>
          </a:xfrm>
        </p:spPr>
        <p:txBody>
          <a:bodyPr>
            <a:normAutofit/>
          </a:bodyPr>
          <a:lstStyle/>
          <a:p>
            <a:r>
              <a:rPr lang="en-US" sz="3200" b="1" dirty="0">
                <a:latin typeface="Times New Roman" panose="02020603050405020304" pitchFamily="18" charset="0"/>
                <a:cs typeface="Times New Roman" panose="02020603050405020304" pitchFamily="18" charset="0"/>
              </a:rPr>
              <a:t>The Rise of Bengali Identity Politics &amp; </a:t>
            </a:r>
            <a:r>
              <a:rPr lang="en-US" sz="3200" b="1" dirty="0" err="1">
                <a:latin typeface="Times New Roman" panose="02020603050405020304" pitchFamily="18" charset="0"/>
                <a:cs typeface="Times New Roman" panose="02020603050405020304" pitchFamily="18" charset="0"/>
              </a:rPr>
              <a:t>Awami</a:t>
            </a:r>
            <a:r>
              <a:rPr lang="en-US" sz="3200" b="1" dirty="0">
                <a:latin typeface="Times New Roman" panose="02020603050405020304" pitchFamily="18" charset="0"/>
                <a:cs typeface="Times New Roman" panose="02020603050405020304" pitchFamily="18" charset="0"/>
              </a:rPr>
              <a:t> League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7406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980198"/>
          </a:xfrm>
        </p:spPr>
        <p:txBody>
          <a:bodyPr>
            <a:normAutofit/>
          </a:bodyPr>
          <a:lstStyle/>
          <a:p>
            <a:r>
              <a:rPr lang="en-US" dirty="0">
                <a:solidFill>
                  <a:srgbClr val="002060"/>
                </a:solidFill>
              </a:rPr>
              <a:t>Lecture Outline </a:t>
            </a:r>
          </a:p>
        </p:txBody>
      </p:sp>
      <p:sp>
        <p:nvSpPr>
          <p:cNvPr id="3" name="Content Placeholder 2"/>
          <p:cNvSpPr>
            <a:spLocks noGrp="1"/>
          </p:cNvSpPr>
          <p:nvPr>
            <p:ph idx="1"/>
          </p:nvPr>
        </p:nvSpPr>
        <p:spPr>
          <a:xfrm>
            <a:off x="838200" y="1401510"/>
            <a:ext cx="10515600" cy="5212935"/>
          </a:xfrm>
        </p:spPr>
        <p:txBody>
          <a:bodyPr>
            <a:normAutofit/>
          </a:bodyPr>
          <a:lstStyle/>
          <a:p>
            <a:r>
              <a:rPr lang="en-US" dirty="0"/>
              <a:t>Introduction </a:t>
            </a:r>
          </a:p>
          <a:p>
            <a:r>
              <a:rPr lang="en-US" dirty="0"/>
              <a:t>Alliance of United Front. </a:t>
            </a:r>
          </a:p>
          <a:p>
            <a:r>
              <a:rPr lang="en-US" dirty="0">
                <a:solidFill>
                  <a:srgbClr val="FF0000"/>
                </a:solidFill>
              </a:rPr>
              <a:t> Twenty-One Point Program</a:t>
            </a:r>
            <a:r>
              <a:rPr lang="en-US" dirty="0"/>
              <a:t>. </a:t>
            </a:r>
          </a:p>
          <a:p>
            <a:r>
              <a:rPr lang="en-US" dirty="0"/>
              <a:t> Result of the Election in </a:t>
            </a:r>
            <a:r>
              <a:rPr lang="en-US" dirty="0">
                <a:solidFill>
                  <a:srgbClr val="FF0000"/>
                </a:solidFill>
              </a:rPr>
              <a:t>1954. </a:t>
            </a:r>
          </a:p>
          <a:p>
            <a:r>
              <a:rPr lang="en-US" dirty="0">
                <a:solidFill>
                  <a:srgbClr val="FF0000"/>
                </a:solidFill>
              </a:rPr>
              <a:t> Importance of Election in 1954</a:t>
            </a:r>
            <a:r>
              <a:rPr lang="en-US" dirty="0"/>
              <a:t>. </a:t>
            </a:r>
          </a:p>
          <a:p>
            <a:r>
              <a:rPr lang="en-US" dirty="0"/>
              <a:t> Rise of </a:t>
            </a:r>
            <a:r>
              <a:rPr lang="en-US" dirty="0">
                <a:solidFill>
                  <a:srgbClr val="FF0000"/>
                </a:solidFill>
              </a:rPr>
              <a:t>United Front </a:t>
            </a:r>
            <a:r>
              <a:rPr lang="en-US" dirty="0"/>
              <a:t>in1954 Election. </a:t>
            </a:r>
          </a:p>
          <a:p>
            <a:r>
              <a:rPr lang="en-US" dirty="0"/>
              <a:t> Fall of Muslim League Election in 1954</a:t>
            </a:r>
          </a:p>
          <a:p>
            <a:r>
              <a:rPr lang="en-US" dirty="0"/>
              <a:t>Reactions and impacts  </a:t>
            </a:r>
          </a:p>
          <a:p>
            <a:r>
              <a:rPr lang="en-US" dirty="0"/>
              <a:t>Conclusion</a:t>
            </a:r>
          </a:p>
        </p:txBody>
      </p:sp>
    </p:spTree>
    <p:extLst>
      <p:ext uri="{BB962C8B-B14F-4D97-AF65-F5344CB8AC3E}">
        <p14:creationId xmlns:p14="http://schemas.microsoft.com/office/powerpoint/2010/main" val="45866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561" y="452927"/>
            <a:ext cx="10952148" cy="5783857"/>
          </a:xfrm>
        </p:spPr>
        <p:txBody>
          <a:bodyPr>
            <a:normAutofit/>
          </a:bodyPr>
          <a:lstStyle/>
          <a:p>
            <a:pPr algn="just"/>
            <a:r>
              <a:rPr lang="en-US" dirty="0"/>
              <a:t>While the West Pakistan political scene was largely dominated by certain influential persons or families (</a:t>
            </a:r>
            <a:r>
              <a:rPr lang="en-US" dirty="0" err="1"/>
              <a:t>Pirs</a:t>
            </a:r>
            <a:r>
              <a:rPr lang="en-US" dirty="0"/>
              <a:t>, </a:t>
            </a:r>
            <a:r>
              <a:rPr lang="en-US" dirty="0" err="1"/>
              <a:t>Zamindars</a:t>
            </a:r>
            <a:r>
              <a:rPr lang="en-US" dirty="0"/>
              <a:t>, Khans and </a:t>
            </a:r>
            <a:r>
              <a:rPr lang="en-US" dirty="0" err="1"/>
              <a:t>Nawabs</a:t>
            </a:r>
            <a:r>
              <a:rPr lang="en-US" dirty="0"/>
              <a:t>), East Pakistan presented a different picture. </a:t>
            </a:r>
          </a:p>
          <a:p>
            <a:pPr algn="just"/>
            <a:r>
              <a:rPr lang="en-US" dirty="0"/>
              <a:t>Here, party politics first crystalized itself under the leadership of the </a:t>
            </a:r>
            <a:r>
              <a:rPr lang="en-US" dirty="0">
                <a:solidFill>
                  <a:srgbClr val="FF0000"/>
                </a:solidFill>
              </a:rPr>
              <a:t>East Pakistan </a:t>
            </a:r>
            <a:r>
              <a:rPr lang="en-US" dirty="0" err="1">
                <a:solidFill>
                  <a:srgbClr val="FF0000"/>
                </a:solidFill>
              </a:rPr>
              <a:t>Awami</a:t>
            </a:r>
            <a:r>
              <a:rPr lang="en-US" dirty="0">
                <a:solidFill>
                  <a:srgbClr val="FF0000"/>
                </a:solidFill>
              </a:rPr>
              <a:t> Muslim League, which played a prominent role in the language movement of the province in 1952</a:t>
            </a:r>
            <a:r>
              <a:rPr lang="en-US" dirty="0"/>
              <a:t>, and in the </a:t>
            </a:r>
            <a:r>
              <a:rPr lang="en-US" dirty="0">
                <a:solidFill>
                  <a:srgbClr val="FF0000"/>
                </a:solidFill>
              </a:rPr>
              <a:t>defeat of the Muslim League in the 1954 elections by forming an electoral alliance with the minor parties.</a:t>
            </a:r>
            <a:r>
              <a:rPr lang="en-US" dirty="0"/>
              <a:t> The </a:t>
            </a:r>
            <a:r>
              <a:rPr lang="en-US" dirty="0" err="1"/>
              <a:t>Awami</a:t>
            </a:r>
            <a:r>
              <a:rPr lang="en-US" dirty="0"/>
              <a:t> League was a constituent of the </a:t>
            </a:r>
            <a:r>
              <a:rPr lang="en-US" dirty="0">
                <a:solidFill>
                  <a:srgbClr val="FF0000"/>
                </a:solidFill>
              </a:rPr>
              <a:t>United Front cabinet </a:t>
            </a:r>
            <a:r>
              <a:rPr lang="en-US" dirty="0"/>
              <a:t>in 1954 which was dismissed by the Central Government.</a:t>
            </a:r>
          </a:p>
        </p:txBody>
      </p:sp>
    </p:spTree>
    <p:extLst>
      <p:ext uri="{BB962C8B-B14F-4D97-AF65-F5344CB8AC3E}">
        <p14:creationId xmlns:p14="http://schemas.microsoft.com/office/powerpoint/2010/main" val="1609061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9660"/>
            <a:ext cx="10515600" cy="5587303"/>
          </a:xfrm>
        </p:spPr>
        <p:txBody>
          <a:bodyPr/>
          <a:lstStyle/>
          <a:p>
            <a:pPr algn="just"/>
            <a:r>
              <a:rPr lang="en-US" dirty="0"/>
              <a:t>The </a:t>
            </a:r>
            <a:r>
              <a:rPr lang="en-US" dirty="0" err="1"/>
              <a:t>Awami</a:t>
            </a:r>
            <a:r>
              <a:rPr lang="en-US" dirty="0"/>
              <a:t> League claims to be an All-Pakistan party it has been primarily based in the </a:t>
            </a:r>
            <a:r>
              <a:rPr lang="en-US" dirty="0">
                <a:solidFill>
                  <a:srgbClr val="FF0000"/>
                </a:solidFill>
              </a:rPr>
              <a:t>Eastern Wing </a:t>
            </a:r>
            <a:r>
              <a:rPr lang="en-US" dirty="0"/>
              <a:t>and its success in the West is still limited. The </a:t>
            </a:r>
            <a:r>
              <a:rPr lang="en-US" dirty="0" err="1"/>
              <a:t>Awami</a:t>
            </a:r>
            <a:r>
              <a:rPr lang="en-US" dirty="0"/>
              <a:t> League leader, Sheikh </a:t>
            </a:r>
            <a:r>
              <a:rPr lang="en-US" dirty="0" err="1"/>
              <a:t>Mujibur</a:t>
            </a:r>
            <a:r>
              <a:rPr lang="en-US" dirty="0"/>
              <a:t> Rahman, gave a new turn to Pakistan politics when he put forward a </a:t>
            </a:r>
            <a:r>
              <a:rPr lang="en-US" dirty="0">
                <a:solidFill>
                  <a:srgbClr val="FF0000"/>
                </a:solidFill>
              </a:rPr>
              <a:t>six-point program </a:t>
            </a:r>
            <a:r>
              <a:rPr lang="en-US" dirty="0"/>
              <a:t>which would allocate maximum power to the province, and at the same time reduce the strength of the Central Government. </a:t>
            </a:r>
          </a:p>
          <a:p>
            <a:endParaRPr lang="en-US" dirty="0"/>
          </a:p>
        </p:txBody>
      </p:sp>
    </p:spTree>
    <p:extLst>
      <p:ext uri="{BB962C8B-B14F-4D97-AF65-F5344CB8AC3E}">
        <p14:creationId xmlns:p14="http://schemas.microsoft.com/office/powerpoint/2010/main" val="3451526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The 1954 Election:</a:t>
            </a:r>
          </a:p>
        </p:txBody>
      </p:sp>
      <p:sp>
        <p:nvSpPr>
          <p:cNvPr id="3" name="Content Placeholder 2"/>
          <p:cNvSpPr>
            <a:spLocks noGrp="1"/>
          </p:cNvSpPr>
          <p:nvPr>
            <p:ph idx="1"/>
          </p:nvPr>
        </p:nvSpPr>
        <p:spPr>
          <a:xfrm>
            <a:off x="410198" y="1825625"/>
            <a:ext cx="11639372" cy="4351338"/>
          </a:xfrm>
        </p:spPr>
        <p:txBody>
          <a:bodyPr/>
          <a:lstStyle/>
          <a:p>
            <a:r>
              <a:rPr lang="en-US" dirty="0"/>
              <a:t>The 1954 election marked the </a:t>
            </a:r>
            <a:r>
              <a:rPr lang="en-US" dirty="0">
                <a:solidFill>
                  <a:srgbClr val="FF0000"/>
                </a:solidFill>
              </a:rPr>
              <a:t>rejection of the national elite by the Bengali electorate</a:t>
            </a:r>
            <a:r>
              <a:rPr lang="en-US" dirty="0"/>
              <a:t> . The election strategy of the </a:t>
            </a:r>
            <a:r>
              <a:rPr lang="en-US" dirty="0">
                <a:solidFill>
                  <a:srgbClr val="FF0000"/>
                </a:solidFill>
              </a:rPr>
              <a:t>vernacular elite </a:t>
            </a:r>
            <a:r>
              <a:rPr lang="en-US" dirty="0"/>
              <a:t>was to maximize popular support by closing the divided ranks and drawing up a program upon which there was </a:t>
            </a:r>
            <a:r>
              <a:rPr lang="en-US" dirty="0">
                <a:solidFill>
                  <a:srgbClr val="FF0000"/>
                </a:solidFill>
              </a:rPr>
              <a:t>general consensus</a:t>
            </a:r>
            <a:r>
              <a:rPr lang="en-US" dirty="0"/>
              <a:t>. </a:t>
            </a:r>
          </a:p>
        </p:txBody>
      </p:sp>
    </p:spTree>
    <p:extLst>
      <p:ext uri="{BB962C8B-B14F-4D97-AF65-F5344CB8AC3E}">
        <p14:creationId xmlns:p14="http://schemas.microsoft.com/office/powerpoint/2010/main" val="4121809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5"/>
            <a:ext cx="10835355" cy="4351338"/>
          </a:xfrm>
        </p:spPr>
        <p:txBody>
          <a:bodyPr>
            <a:normAutofit/>
          </a:bodyPr>
          <a:lstStyle/>
          <a:p>
            <a:r>
              <a:rPr lang="en-US" sz="3600" dirty="0"/>
              <a:t>Before the election campaign the Bengali counter-elite was</a:t>
            </a:r>
            <a:r>
              <a:rPr lang="en-US" sz="3600" dirty="0">
                <a:solidFill>
                  <a:srgbClr val="FF0000"/>
                </a:solidFill>
              </a:rPr>
              <a:t> fragmented </a:t>
            </a:r>
            <a:r>
              <a:rPr lang="en-US" sz="3600" dirty="0"/>
              <a:t>into separate political parties. In addition to the </a:t>
            </a:r>
            <a:r>
              <a:rPr lang="en-US" sz="3600" dirty="0" err="1"/>
              <a:t>Awami</a:t>
            </a:r>
            <a:r>
              <a:rPr lang="en-US" sz="3600" dirty="0"/>
              <a:t> League, the major political party of the counter-elite, there were several other parties to the left and right. </a:t>
            </a:r>
          </a:p>
        </p:txBody>
      </p:sp>
    </p:spTree>
    <p:extLst>
      <p:ext uri="{BB962C8B-B14F-4D97-AF65-F5344CB8AC3E}">
        <p14:creationId xmlns:p14="http://schemas.microsoft.com/office/powerpoint/2010/main" val="3473902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7308"/>
            <a:ext cx="10515600" cy="5279655"/>
          </a:xfrm>
        </p:spPr>
        <p:txBody>
          <a:bodyPr/>
          <a:lstStyle/>
          <a:p>
            <a:r>
              <a:rPr lang="en-US" dirty="0"/>
              <a:t>There was </a:t>
            </a:r>
            <a:r>
              <a:rPr lang="en-US" dirty="0" err="1"/>
              <a:t>Nizam</a:t>
            </a:r>
            <a:r>
              <a:rPr lang="en-US" dirty="0"/>
              <a:t>-</a:t>
            </a:r>
            <a:r>
              <a:rPr lang="en-US" dirty="0" err="1"/>
              <a:t>i</a:t>
            </a:r>
            <a:r>
              <a:rPr lang="en-US" dirty="0"/>
              <a:t>-Islam, founded in 1950, which stood for the establishment of an </a:t>
            </a:r>
            <a:r>
              <a:rPr lang="en-US" dirty="0">
                <a:solidFill>
                  <a:srgbClr val="FF0000"/>
                </a:solidFill>
              </a:rPr>
              <a:t>Islamic state </a:t>
            </a:r>
            <a:r>
              <a:rPr lang="en-US" dirty="0"/>
              <a:t>based on the </a:t>
            </a:r>
            <a:r>
              <a:rPr lang="en-US" dirty="0">
                <a:solidFill>
                  <a:srgbClr val="FF0000"/>
                </a:solidFill>
              </a:rPr>
              <a:t>principles of the Holy Quran</a:t>
            </a:r>
            <a:r>
              <a:rPr lang="en-US" dirty="0"/>
              <a:t>. The </a:t>
            </a:r>
            <a:r>
              <a:rPr lang="en-US" dirty="0" err="1"/>
              <a:t>Nizam</a:t>
            </a:r>
            <a:r>
              <a:rPr lang="en-US" dirty="0"/>
              <a:t> consisted mainly of orthodox religious leaders and its socioeconomic program was the right of the </a:t>
            </a:r>
            <a:r>
              <a:rPr lang="en-US" dirty="0" err="1"/>
              <a:t>Awami</a:t>
            </a:r>
            <a:r>
              <a:rPr lang="en-US" dirty="0"/>
              <a:t> League. </a:t>
            </a:r>
          </a:p>
          <a:p>
            <a:r>
              <a:rPr lang="en-US" dirty="0"/>
              <a:t>To the left of the party stood the </a:t>
            </a:r>
            <a:r>
              <a:rPr lang="en-US" dirty="0" err="1">
                <a:solidFill>
                  <a:srgbClr val="FF0000"/>
                </a:solidFill>
              </a:rPr>
              <a:t>Ganatantri</a:t>
            </a:r>
            <a:r>
              <a:rPr lang="en-US" dirty="0">
                <a:solidFill>
                  <a:srgbClr val="FF0000"/>
                </a:solidFill>
              </a:rPr>
              <a:t> Dal</a:t>
            </a:r>
            <a:r>
              <a:rPr lang="en-US" dirty="0"/>
              <a:t>. In addition there was the </a:t>
            </a:r>
            <a:r>
              <a:rPr lang="en-US" dirty="0" err="1">
                <a:solidFill>
                  <a:srgbClr val="FF0000"/>
                </a:solidFill>
              </a:rPr>
              <a:t>Krishak</a:t>
            </a:r>
            <a:r>
              <a:rPr lang="en-US" dirty="0">
                <a:solidFill>
                  <a:srgbClr val="FF0000"/>
                </a:solidFill>
              </a:rPr>
              <a:t> </a:t>
            </a:r>
            <a:r>
              <a:rPr lang="en-US" dirty="0" err="1">
                <a:solidFill>
                  <a:srgbClr val="FF0000"/>
                </a:solidFill>
              </a:rPr>
              <a:t>Sramik</a:t>
            </a:r>
            <a:r>
              <a:rPr lang="en-US" dirty="0">
                <a:solidFill>
                  <a:srgbClr val="FF0000"/>
                </a:solidFill>
              </a:rPr>
              <a:t> Party(KSP) composed mainly of AK </a:t>
            </a:r>
            <a:r>
              <a:rPr lang="en-US" dirty="0" err="1">
                <a:solidFill>
                  <a:srgbClr val="FF0000"/>
                </a:solidFill>
              </a:rPr>
              <a:t>Fazlul</a:t>
            </a:r>
            <a:r>
              <a:rPr lang="en-US" dirty="0">
                <a:solidFill>
                  <a:srgbClr val="FF0000"/>
                </a:solidFill>
              </a:rPr>
              <a:t> </a:t>
            </a:r>
            <a:r>
              <a:rPr lang="en-US" dirty="0" err="1">
                <a:solidFill>
                  <a:srgbClr val="FF0000"/>
                </a:solidFill>
              </a:rPr>
              <a:t>Haq’s</a:t>
            </a:r>
            <a:r>
              <a:rPr lang="en-US" dirty="0">
                <a:solidFill>
                  <a:srgbClr val="FF0000"/>
                </a:solidFill>
              </a:rPr>
              <a:t> </a:t>
            </a:r>
            <a:r>
              <a:rPr lang="en-US" dirty="0"/>
              <a:t>personal followers and allies, and similar to the </a:t>
            </a:r>
            <a:r>
              <a:rPr lang="en-US" dirty="0" err="1"/>
              <a:t>Awami</a:t>
            </a:r>
            <a:r>
              <a:rPr lang="en-US" dirty="0"/>
              <a:t> League in its ideology and program.</a:t>
            </a:r>
          </a:p>
          <a:p>
            <a:pPr marL="0" indent="0">
              <a:buNone/>
            </a:pPr>
            <a:endParaRPr lang="en-US" dirty="0"/>
          </a:p>
        </p:txBody>
      </p:sp>
    </p:spTree>
    <p:extLst>
      <p:ext uri="{BB962C8B-B14F-4D97-AF65-F5344CB8AC3E}">
        <p14:creationId xmlns:p14="http://schemas.microsoft.com/office/powerpoint/2010/main" val="349923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751"/>
            <a:ext cx="10515600" cy="5570212"/>
          </a:xfrm>
        </p:spPr>
        <p:txBody>
          <a:bodyPr>
            <a:normAutofit/>
          </a:bodyPr>
          <a:lstStyle/>
          <a:p>
            <a:r>
              <a:rPr lang="en-US" dirty="0"/>
              <a:t>To strengthen their position , the political parties decided to form an </a:t>
            </a:r>
            <a:r>
              <a:rPr lang="en-US" dirty="0">
                <a:solidFill>
                  <a:srgbClr val="FF0000"/>
                </a:solidFill>
              </a:rPr>
              <a:t>electoral alliance</a:t>
            </a:r>
            <a:r>
              <a:rPr lang="en-US" dirty="0"/>
              <a:t>.</a:t>
            </a:r>
          </a:p>
          <a:p>
            <a:r>
              <a:rPr lang="en-US" dirty="0"/>
              <a:t> A </a:t>
            </a:r>
            <a:r>
              <a:rPr lang="en-US" dirty="0">
                <a:solidFill>
                  <a:srgbClr val="FF0000"/>
                </a:solidFill>
              </a:rPr>
              <a:t>United Front  </a:t>
            </a:r>
            <a:r>
              <a:rPr lang="en-US" dirty="0"/>
              <a:t>comprising the </a:t>
            </a:r>
            <a:r>
              <a:rPr lang="en-US" dirty="0" err="1"/>
              <a:t>Awami</a:t>
            </a:r>
            <a:r>
              <a:rPr lang="en-US" dirty="0"/>
              <a:t> League, the KSP, the </a:t>
            </a:r>
            <a:r>
              <a:rPr lang="en-US" dirty="0" err="1"/>
              <a:t>Nizam</a:t>
            </a:r>
            <a:r>
              <a:rPr lang="en-US" dirty="0"/>
              <a:t>-</a:t>
            </a:r>
            <a:r>
              <a:rPr lang="en-US" dirty="0" err="1"/>
              <a:t>i</a:t>
            </a:r>
            <a:r>
              <a:rPr lang="en-US" dirty="0"/>
              <a:t>-Islam , and the </a:t>
            </a:r>
            <a:r>
              <a:rPr lang="en-US" dirty="0" err="1"/>
              <a:t>Ganatantri</a:t>
            </a:r>
            <a:r>
              <a:rPr lang="en-US" dirty="0"/>
              <a:t> Dal was formed in 1953; and a </a:t>
            </a:r>
            <a:r>
              <a:rPr lang="en-US" dirty="0">
                <a:solidFill>
                  <a:srgbClr val="FF0000"/>
                </a:solidFill>
              </a:rPr>
              <a:t>common election manifesto </a:t>
            </a:r>
            <a:r>
              <a:rPr lang="en-US" dirty="0"/>
              <a:t>, the </a:t>
            </a:r>
            <a:r>
              <a:rPr lang="en-US" dirty="0">
                <a:solidFill>
                  <a:srgbClr val="FF0000"/>
                </a:solidFill>
              </a:rPr>
              <a:t>21-Point formula </a:t>
            </a:r>
            <a:r>
              <a:rPr lang="en-US" dirty="0"/>
              <a:t>was drawn up. </a:t>
            </a:r>
          </a:p>
          <a:p>
            <a:r>
              <a:rPr lang="en-US" dirty="0"/>
              <a:t>In other words, the United Front was composed of </a:t>
            </a:r>
            <a:r>
              <a:rPr lang="en-US" dirty="0">
                <a:solidFill>
                  <a:srgbClr val="FF0000"/>
                </a:solidFill>
              </a:rPr>
              <a:t>four political parties of East Bengal</a:t>
            </a:r>
            <a:r>
              <a:rPr lang="en-US" dirty="0"/>
              <a:t>, namely </a:t>
            </a:r>
            <a:r>
              <a:rPr lang="en-US" dirty="0" err="1">
                <a:solidFill>
                  <a:srgbClr val="FF0000"/>
                </a:solidFill>
              </a:rPr>
              <a:t>Awami</a:t>
            </a:r>
            <a:r>
              <a:rPr lang="en-US" dirty="0">
                <a:solidFill>
                  <a:srgbClr val="FF0000"/>
                </a:solidFill>
              </a:rPr>
              <a:t> Muslim League, </a:t>
            </a:r>
            <a:r>
              <a:rPr lang="en-US" dirty="0" err="1">
                <a:solidFill>
                  <a:srgbClr val="FF0000"/>
                </a:solidFill>
              </a:rPr>
              <a:t>Krishak</a:t>
            </a:r>
            <a:r>
              <a:rPr lang="en-US" dirty="0">
                <a:solidFill>
                  <a:srgbClr val="FF0000"/>
                </a:solidFill>
              </a:rPr>
              <a:t> </a:t>
            </a:r>
            <a:r>
              <a:rPr lang="en-US" dirty="0" err="1">
                <a:solidFill>
                  <a:srgbClr val="FF0000"/>
                </a:solidFill>
              </a:rPr>
              <a:t>Sramik</a:t>
            </a:r>
            <a:r>
              <a:rPr lang="en-US" dirty="0">
                <a:solidFill>
                  <a:srgbClr val="FF0000"/>
                </a:solidFill>
              </a:rPr>
              <a:t> Party, </a:t>
            </a:r>
            <a:r>
              <a:rPr lang="en-US" dirty="0" err="1">
                <a:solidFill>
                  <a:srgbClr val="FF0000"/>
                </a:solidFill>
              </a:rPr>
              <a:t>Nezam</a:t>
            </a:r>
            <a:r>
              <a:rPr lang="en-US" dirty="0">
                <a:solidFill>
                  <a:srgbClr val="FF0000"/>
                </a:solidFill>
              </a:rPr>
              <a:t>-e-Islam and </a:t>
            </a:r>
            <a:r>
              <a:rPr lang="en-US" dirty="0" err="1">
                <a:solidFill>
                  <a:srgbClr val="FF0000"/>
                </a:solidFill>
              </a:rPr>
              <a:t>Ganatantri</a:t>
            </a:r>
            <a:r>
              <a:rPr lang="en-US" dirty="0">
                <a:solidFill>
                  <a:srgbClr val="FF0000"/>
                </a:solidFill>
              </a:rPr>
              <a:t> Dal</a:t>
            </a:r>
            <a:r>
              <a:rPr lang="en-US" dirty="0"/>
              <a:t>. The Front was formed on 4 December 1953 by </a:t>
            </a:r>
            <a:r>
              <a:rPr lang="en-US" dirty="0">
                <a:solidFill>
                  <a:srgbClr val="FF0000"/>
                </a:solidFill>
              </a:rPr>
              <a:t>the initiative of AK </a:t>
            </a:r>
            <a:r>
              <a:rPr lang="en-US" dirty="0" err="1">
                <a:solidFill>
                  <a:srgbClr val="FF0000"/>
                </a:solidFill>
              </a:rPr>
              <a:t>Fazlul</a:t>
            </a:r>
            <a:r>
              <a:rPr lang="en-US" dirty="0">
                <a:solidFill>
                  <a:srgbClr val="FF0000"/>
                </a:solidFill>
              </a:rPr>
              <a:t> </a:t>
            </a:r>
            <a:r>
              <a:rPr lang="en-US" dirty="0" err="1">
                <a:solidFill>
                  <a:srgbClr val="FF0000"/>
                </a:solidFill>
              </a:rPr>
              <a:t>Huq</a:t>
            </a:r>
            <a:r>
              <a:rPr lang="en-US" dirty="0">
                <a:solidFill>
                  <a:srgbClr val="FF0000"/>
                </a:solidFill>
              </a:rPr>
              <a:t> of </a:t>
            </a:r>
            <a:r>
              <a:rPr lang="en-US" dirty="0" err="1">
                <a:solidFill>
                  <a:srgbClr val="FF0000"/>
                </a:solidFill>
              </a:rPr>
              <a:t>Krishak</a:t>
            </a:r>
            <a:r>
              <a:rPr lang="en-US" dirty="0">
                <a:solidFill>
                  <a:srgbClr val="FF0000"/>
                </a:solidFill>
              </a:rPr>
              <a:t> </a:t>
            </a:r>
            <a:r>
              <a:rPr lang="en-US" dirty="0" err="1">
                <a:solidFill>
                  <a:srgbClr val="FF0000"/>
                </a:solidFill>
              </a:rPr>
              <a:t>Sramik</a:t>
            </a:r>
            <a:r>
              <a:rPr lang="en-US" dirty="0">
                <a:solidFill>
                  <a:srgbClr val="FF0000"/>
                </a:solidFill>
              </a:rPr>
              <a:t> Party</a:t>
            </a:r>
            <a:r>
              <a:rPr lang="en-US" dirty="0"/>
              <a:t>, </a:t>
            </a:r>
            <a:r>
              <a:rPr lang="en-US" dirty="0" err="1"/>
              <a:t>Maulana</a:t>
            </a:r>
            <a:r>
              <a:rPr lang="en-US" dirty="0"/>
              <a:t> Abdul Hamid Khan </a:t>
            </a:r>
            <a:r>
              <a:rPr lang="en-US" dirty="0" err="1"/>
              <a:t>Bhasani</a:t>
            </a:r>
            <a:r>
              <a:rPr lang="en-US" dirty="0"/>
              <a:t> and </a:t>
            </a:r>
            <a:r>
              <a:rPr lang="en-US" dirty="0" err="1"/>
              <a:t>Huseyn</a:t>
            </a:r>
            <a:r>
              <a:rPr lang="en-US" dirty="0"/>
              <a:t> </a:t>
            </a:r>
            <a:r>
              <a:rPr lang="en-US" dirty="0" err="1"/>
              <a:t>Shaheed</a:t>
            </a:r>
            <a:r>
              <a:rPr lang="en-US" dirty="0"/>
              <a:t> </a:t>
            </a:r>
            <a:r>
              <a:rPr lang="en-US" dirty="0" err="1"/>
              <a:t>Suhrawardy</a:t>
            </a:r>
            <a:r>
              <a:rPr lang="en-US" dirty="0"/>
              <a:t> of </a:t>
            </a:r>
            <a:r>
              <a:rPr lang="en-US" dirty="0" err="1"/>
              <a:t>Awami</a:t>
            </a:r>
            <a:r>
              <a:rPr lang="en-US" dirty="0"/>
              <a:t> Muslim League. The </a:t>
            </a:r>
            <a:r>
              <a:rPr lang="en-US" dirty="0">
                <a:solidFill>
                  <a:srgbClr val="FF0000"/>
                </a:solidFill>
              </a:rPr>
              <a:t>21-point package </a:t>
            </a:r>
            <a:r>
              <a:rPr lang="en-US" dirty="0"/>
              <a:t>program in the </a:t>
            </a:r>
            <a:r>
              <a:rPr lang="en-US" dirty="0">
                <a:solidFill>
                  <a:srgbClr val="FF0000"/>
                </a:solidFill>
              </a:rPr>
              <a:t>election manifesto </a:t>
            </a:r>
            <a:r>
              <a:rPr lang="en-US" dirty="0"/>
              <a:t>adopted by the United Front runs as follows:</a:t>
            </a:r>
          </a:p>
          <a:p>
            <a:endParaRPr lang="en-US" dirty="0"/>
          </a:p>
        </p:txBody>
      </p:sp>
    </p:spTree>
    <p:extLst>
      <p:ext uri="{BB962C8B-B14F-4D97-AF65-F5344CB8AC3E}">
        <p14:creationId xmlns:p14="http://schemas.microsoft.com/office/powerpoint/2010/main" val="3387711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281585" y="437882"/>
            <a:ext cx="5566201" cy="5739081"/>
          </a:xfrm>
          <a:prstGeom prst="rect">
            <a:avLst/>
          </a:prstGeom>
        </p:spPr>
      </p:pic>
    </p:spTree>
    <p:extLst>
      <p:ext uri="{BB962C8B-B14F-4D97-AF65-F5344CB8AC3E}">
        <p14:creationId xmlns:p14="http://schemas.microsoft.com/office/powerpoint/2010/main" val="3886599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12065" y="1690688"/>
            <a:ext cx="4334537" cy="4703490"/>
          </a:xfrm>
          <a:prstGeom prst="rect">
            <a:avLst/>
          </a:prstGeom>
        </p:spPr>
      </p:pic>
      <p:pic>
        <p:nvPicPr>
          <p:cNvPr id="5" name="Picture 4"/>
          <p:cNvPicPr>
            <a:picLocks noChangeAspect="1"/>
          </p:cNvPicPr>
          <p:nvPr/>
        </p:nvPicPr>
        <p:blipFill>
          <a:blip r:embed="rId3"/>
          <a:stretch>
            <a:fillRect/>
          </a:stretch>
        </p:blipFill>
        <p:spPr>
          <a:xfrm>
            <a:off x="5648770" y="1690688"/>
            <a:ext cx="3622475" cy="4703490"/>
          </a:xfrm>
          <a:prstGeom prst="rect">
            <a:avLst/>
          </a:prstGeom>
        </p:spPr>
      </p:pic>
    </p:spTree>
    <p:extLst>
      <p:ext uri="{BB962C8B-B14F-4D97-AF65-F5344CB8AC3E}">
        <p14:creationId xmlns:p14="http://schemas.microsoft.com/office/powerpoint/2010/main" val="2155703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289989" y="632389"/>
            <a:ext cx="4205798" cy="5792402"/>
          </a:xfrm>
          <a:prstGeom prst="rect">
            <a:avLst/>
          </a:prstGeom>
        </p:spPr>
      </p:pic>
    </p:spTree>
    <p:extLst>
      <p:ext uri="{BB962C8B-B14F-4D97-AF65-F5344CB8AC3E}">
        <p14:creationId xmlns:p14="http://schemas.microsoft.com/office/powerpoint/2010/main" val="84865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21-Point Program: </a:t>
            </a:r>
          </a:p>
        </p:txBody>
      </p:sp>
      <p:sp>
        <p:nvSpPr>
          <p:cNvPr id="3" name="Content Placeholder 2"/>
          <p:cNvSpPr>
            <a:spLocks noGrp="1"/>
          </p:cNvSpPr>
          <p:nvPr>
            <p:ph idx="1"/>
          </p:nvPr>
        </p:nvSpPr>
        <p:spPr/>
        <p:txBody>
          <a:bodyPr>
            <a:normAutofit lnSpcReduction="10000"/>
          </a:bodyPr>
          <a:lstStyle/>
          <a:p>
            <a:pPr marL="0" indent="0">
              <a:buNone/>
            </a:pPr>
            <a:r>
              <a:rPr lang="en-US" dirty="0"/>
              <a:t>1. To </a:t>
            </a:r>
            <a:r>
              <a:rPr lang="en-US" dirty="0">
                <a:solidFill>
                  <a:srgbClr val="FF0000"/>
                </a:solidFill>
              </a:rPr>
              <a:t>recognize Bangla as one of the State Languages of Pakistan</a:t>
            </a:r>
            <a:r>
              <a:rPr lang="en-US" dirty="0"/>
              <a:t>;</a:t>
            </a:r>
          </a:p>
          <a:p>
            <a:pPr marL="0" indent="0">
              <a:buNone/>
            </a:pPr>
            <a:r>
              <a:rPr lang="en-US" dirty="0"/>
              <a:t>2. To abolish without compensation </a:t>
            </a:r>
            <a:r>
              <a:rPr lang="en-US" dirty="0" err="1">
                <a:solidFill>
                  <a:srgbClr val="FF0000"/>
                </a:solidFill>
              </a:rPr>
              <a:t>zamindari</a:t>
            </a:r>
            <a:r>
              <a:rPr lang="en-US" dirty="0"/>
              <a:t> and all rent receiving interest in land, and to distribute the surplus lands amongst the cultivators; to reduce rent to a fair level and abolish the certificate system of realizing rent;</a:t>
            </a:r>
          </a:p>
          <a:p>
            <a:pPr marL="0" indent="0">
              <a:buNone/>
            </a:pPr>
            <a:r>
              <a:rPr lang="en-US" dirty="0"/>
              <a:t>3. To nationalize the </a:t>
            </a:r>
            <a:r>
              <a:rPr lang="en-US" dirty="0">
                <a:solidFill>
                  <a:srgbClr val="FF0000"/>
                </a:solidFill>
              </a:rPr>
              <a:t>jute trade </a:t>
            </a:r>
            <a:r>
              <a:rPr lang="en-US" dirty="0"/>
              <a:t>and bring it under the </a:t>
            </a:r>
            <a:r>
              <a:rPr lang="en-US" dirty="0">
                <a:solidFill>
                  <a:srgbClr val="FF0000"/>
                </a:solidFill>
              </a:rPr>
              <a:t>direct control of the government </a:t>
            </a:r>
            <a:r>
              <a:rPr lang="en-US" dirty="0"/>
              <a:t>of East Bengal, secure fair price of jute to the growers and to investigate into the jute-bungling during the Muslim League regime to punish those found responsible for it</a:t>
            </a:r>
          </a:p>
          <a:p>
            <a:pPr marL="0" indent="0">
              <a:buNone/>
            </a:pPr>
            <a:r>
              <a:rPr lang="en-US" dirty="0"/>
              <a:t>4. To introduce </a:t>
            </a:r>
            <a:r>
              <a:rPr lang="en-US" dirty="0">
                <a:solidFill>
                  <a:srgbClr val="FF0000"/>
                </a:solidFill>
              </a:rPr>
              <a:t>co-operative farming in agriculture </a:t>
            </a:r>
            <a:r>
              <a:rPr lang="en-US" dirty="0"/>
              <a:t>and to develop </a:t>
            </a:r>
            <a:r>
              <a:rPr lang="en-US" dirty="0">
                <a:solidFill>
                  <a:srgbClr val="FF0000"/>
                </a:solidFill>
              </a:rPr>
              <a:t>cottage industries </a:t>
            </a:r>
            <a:r>
              <a:rPr lang="en-US" dirty="0"/>
              <a:t>with full government subsidies;</a:t>
            </a:r>
          </a:p>
        </p:txBody>
      </p:sp>
    </p:spTree>
    <p:extLst>
      <p:ext uri="{BB962C8B-B14F-4D97-AF65-F5344CB8AC3E}">
        <p14:creationId xmlns:p14="http://schemas.microsoft.com/office/powerpoint/2010/main" val="2428996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880217"/>
            <a:ext cx="11006271" cy="5296746"/>
          </a:xfrm>
        </p:spPr>
        <p:txBody>
          <a:bodyPr>
            <a:normAutofit/>
          </a:bodyPr>
          <a:lstStyle/>
          <a:p>
            <a:pPr marL="0" indent="0">
              <a:buNone/>
            </a:pPr>
            <a:r>
              <a:rPr lang="en-US" dirty="0"/>
              <a:t>5. To start </a:t>
            </a:r>
            <a:r>
              <a:rPr lang="en-US" dirty="0">
                <a:solidFill>
                  <a:srgbClr val="FF0000"/>
                </a:solidFill>
              </a:rPr>
              <a:t>salt industry </a:t>
            </a:r>
            <a:r>
              <a:rPr lang="en-US" dirty="0"/>
              <a:t>(both small and large scale) in order to make East Bengal self-sufficient in the supply of salt, and to investigate into the salt-bungling during the Muslim League regime to punish the offenders;</a:t>
            </a:r>
          </a:p>
          <a:p>
            <a:pPr marL="0" indent="0">
              <a:buNone/>
            </a:pPr>
            <a:r>
              <a:rPr lang="en-US" dirty="0"/>
              <a:t>6.To rehabilitate immediately all the poor </a:t>
            </a:r>
            <a:r>
              <a:rPr lang="en-US" dirty="0">
                <a:solidFill>
                  <a:srgbClr val="FF0000"/>
                </a:solidFill>
              </a:rPr>
              <a:t>refugees </a:t>
            </a:r>
            <a:r>
              <a:rPr lang="en-US" dirty="0"/>
              <a:t>belonging to the artisan and technician class;</a:t>
            </a:r>
          </a:p>
          <a:p>
            <a:pPr marL="0" indent="0">
              <a:buNone/>
            </a:pPr>
            <a:r>
              <a:rPr lang="en-US" dirty="0"/>
              <a:t>7. To protect the country from </a:t>
            </a:r>
            <a:r>
              <a:rPr lang="en-US" dirty="0">
                <a:solidFill>
                  <a:srgbClr val="FF0000"/>
                </a:solidFill>
              </a:rPr>
              <a:t>flood and famine </a:t>
            </a:r>
            <a:r>
              <a:rPr lang="en-US" dirty="0"/>
              <a:t>by means of digging canals </a:t>
            </a:r>
            <a:r>
              <a:rPr lang="en-US" dirty="0">
                <a:solidFill>
                  <a:srgbClr val="FF0000"/>
                </a:solidFill>
              </a:rPr>
              <a:t>and improving irrigation system</a:t>
            </a:r>
            <a:r>
              <a:rPr lang="en-US" dirty="0"/>
              <a:t>;</a:t>
            </a:r>
          </a:p>
          <a:p>
            <a:pPr marL="0" indent="0">
              <a:buNone/>
            </a:pPr>
            <a:r>
              <a:rPr lang="en-US" dirty="0"/>
              <a:t>8. To make the country self-sufficient by modernizing the method of </a:t>
            </a:r>
            <a:r>
              <a:rPr lang="en-US" dirty="0">
                <a:solidFill>
                  <a:srgbClr val="FF0000"/>
                </a:solidFill>
              </a:rPr>
              <a:t>cultivation and industrialization</a:t>
            </a:r>
            <a:r>
              <a:rPr lang="en-US" dirty="0"/>
              <a:t>, and to ensure the </a:t>
            </a:r>
            <a:r>
              <a:rPr lang="en-US" dirty="0">
                <a:solidFill>
                  <a:srgbClr val="FF0000"/>
                </a:solidFill>
              </a:rPr>
              <a:t>rights of the laborer as per ILO Convention;</a:t>
            </a:r>
          </a:p>
        </p:txBody>
      </p:sp>
    </p:spTree>
    <p:extLst>
      <p:ext uri="{BB962C8B-B14F-4D97-AF65-F5344CB8AC3E}">
        <p14:creationId xmlns:p14="http://schemas.microsoft.com/office/powerpoint/2010/main" val="900832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0019"/>
            <a:ext cx="10515600" cy="5706944"/>
          </a:xfrm>
        </p:spPr>
        <p:txBody>
          <a:bodyPr>
            <a:normAutofit/>
          </a:bodyPr>
          <a:lstStyle/>
          <a:p>
            <a:pPr marL="0" indent="0">
              <a:buNone/>
            </a:pPr>
            <a:r>
              <a:rPr lang="en-US" dirty="0"/>
              <a:t>9. To introduce </a:t>
            </a:r>
            <a:r>
              <a:rPr lang="en-US" dirty="0">
                <a:solidFill>
                  <a:srgbClr val="FF0000"/>
                </a:solidFill>
              </a:rPr>
              <a:t>free and compulsory primary education </a:t>
            </a:r>
            <a:r>
              <a:rPr lang="en-US" dirty="0"/>
              <a:t>throughout the country and to arrange for just pay and allowances to the teachers;</a:t>
            </a:r>
          </a:p>
          <a:p>
            <a:pPr marL="0" indent="0">
              <a:buNone/>
            </a:pPr>
            <a:r>
              <a:rPr lang="en-US" dirty="0"/>
              <a:t>10. To restructure the entire education system, </a:t>
            </a:r>
            <a:r>
              <a:rPr lang="en-US" dirty="0">
                <a:solidFill>
                  <a:srgbClr val="FF0000"/>
                </a:solidFill>
              </a:rPr>
              <a:t>introduce mother tongue as the medium of instruction</a:t>
            </a:r>
            <a:r>
              <a:rPr lang="en-US" dirty="0"/>
              <a:t>, remove </a:t>
            </a:r>
            <a:r>
              <a:rPr lang="en-US" dirty="0">
                <a:solidFill>
                  <a:srgbClr val="FF0000"/>
                </a:solidFill>
              </a:rPr>
              <a:t>discrimination between government and private schools</a:t>
            </a:r>
            <a:r>
              <a:rPr lang="en-US" dirty="0"/>
              <a:t> and to turn all the schools into government aided institutions;</a:t>
            </a:r>
          </a:p>
          <a:p>
            <a:pPr marL="0" indent="0">
              <a:buNone/>
            </a:pPr>
            <a:r>
              <a:rPr lang="en-US" dirty="0"/>
              <a:t>11. To repeal all reactionary laws including those of the Dhaka and </a:t>
            </a:r>
            <a:r>
              <a:rPr lang="en-US" dirty="0" err="1"/>
              <a:t>Rajshahi</a:t>
            </a:r>
            <a:r>
              <a:rPr lang="en-US" dirty="0"/>
              <a:t> Universities and to make them autonomous institutions; to make education cheaper and easily available to the people;</a:t>
            </a:r>
          </a:p>
          <a:p>
            <a:pPr marL="0" indent="0">
              <a:buNone/>
            </a:pPr>
            <a:r>
              <a:rPr lang="en-US" dirty="0"/>
              <a:t>12. To curtail the cost of administration and to rationalize the pay scale of high and low paid government servants. The ministers shall not receive more than 1000 taka as monthly salary;</a:t>
            </a:r>
          </a:p>
        </p:txBody>
      </p:sp>
    </p:spTree>
    <p:extLst>
      <p:ext uri="{BB962C8B-B14F-4D97-AF65-F5344CB8AC3E}">
        <p14:creationId xmlns:p14="http://schemas.microsoft.com/office/powerpoint/2010/main" val="3889694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366"/>
            <a:ext cx="10515600" cy="6108597"/>
          </a:xfrm>
        </p:spPr>
        <p:txBody>
          <a:bodyPr>
            <a:normAutofit lnSpcReduction="10000"/>
          </a:bodyPr>
          <a:lstStyle/>
          <a:p>
            <a:pPr marL="0" indent="0">
              <a:buNone/>
            </a:pPr>
            <a:r>
              <a:rPr lang="en-US" dirty="0"/>
              <a:t>13. To take steps to </a:t>
            </a:r>
            <a:r>
              <a:rPr lang="en-US" dirty="0">
                <a:solidFill>
                  <a:srgbClr val="FF0000"/>
                </a:solidFill>
              </a:rPr>
              <a:t>eradicate corruption, nepotism and bribery</a:t>
            </a:r>
            <a:r>
              <a:rPr lang="en-US" dirty="0"/>
              <a:t>, and with this end in view, to take stocks of the properties of all government officers and businessmen from 1940 onward and forfeit all properties the acquisition of which is not satisfactorily accounted for;</a:t>
            </a:r>
          </a:p>
          <a:p>
            <a:pPr marL="0" indent="0">
              <a:buNone/>
            </a:pPr>
            <a:r>
              <a:rPr lang="en-US" dirty="0"/>
              <a:t>14. To repeal all Safety and Preventive Detention Acts and release all prisoners detained without trial, and try in open court persons involved in anti-state activities; to safeguard the </a:t>
            </a:r>
            <a:r>
              <a:rPr lang="en-US" dirty="0">
                <a:solidFill>
                  <a:srgbClr val="FF0000"/>
                </a:solidFill>
              </a:rPr>
              <a:t>rights of the press </a:t>
            </a:r>
            <a:r>
              <a:rPr lang="en-US" dirty="0"/>
              <a:t>and of holding meetings;</a:t>
            </a:r>
          </a:p>
          <a:p>
            <a:pPr marL="0" indent="0">
              <a:buNone/>
            </a:pPr>
            <a:r>
              <a:rPr lang="en-US" dirty="0"/>
              <a:t>15. To separate the judiciary from the executive;</a:t>
            </a:r>
          </a:p>
          <a:p>
            <a:pPr marL="0" indent="0">
              <a:buNone/>
            </a:pPr>
            <a:r>
              <a:rPr lang="en-US" dirty="0"/>
              <a:t>16. To locate the residence of the chief minister of the United Front at a less costly house, and to convert </a:t>
            </a:r>
            <a:r>
              <a:rPr lang="en-US" dirty="0" err="1">
                <a:solidFill>
                  <a:srgbClr val="FF0000"/>
                </a:solidFill>
              </a:rPr>
              <a:t>Burdwan</a:t>
            </a:r>
            <a:r>
              <a:rPr lang="en-US" dirty="0">
                <a:solidFill>
                  <a:srgbClr val="FF0000"/>
                </a:solidFill>
              </a:rPr>
              <a:t> House </a:t>
            </a:r>
            <a:r>
              <a:rPr lang="en-US" dirty="0"/>
              <a:t>into a students hostel now, and later, into an institute for research on Bangla language and literature;</a:t>
            </a:r>
          </a:p>
          <a:p>
            <a:pPr marL="0" indent="0">
              <a:buNone/>
            </a:pPr>
            <a:r>
              <a:rPr lang="en-US" dirty="0"/>
              <a:t>17. To erect a monument in memory of the martyrs of the Language Movement on the spot where they were shot dead, and to pay compensation to the families of the martyrs;</a:t>
            </a:r>
          </a:p>
        </p:txBody>
      </p:sp>
    </p:spTree>
    <p:extLst>
      <p:ext uri="{BB962C8B-B14F-4D97-AF65-F5344CB8AC3E}">
        <p14:creationId xmlns:p14="http://schemas.microsoft.com/office/powerpoint/2010/main" val="3391293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912"/>
            <a:ext cx="10980634" cy="6100051"/>
          </a:xfrm>
        </p:spPr>
        <p:txBody>
          <a:bodyPr>
            <a:normAutofit/>
          </a:bodyPr>
          <a:lstStyle/>
          <a:p>
            <a:pPr marL="0" indent="0">
              <a:buNone/>
            </a:pPr>
            <a:r>
              <a:rPr lang="en-US" dirty="0"/>
              <a:t>18</a:t>
            </a:r>
            <a:r>
              <a:rPr lang="en-US" dirty="0">
                <a:solidFill>
                  <a:srgbClr val="FF0000"/>
                </a:solidFill>
              </a:rPr>
              <a:t>. To declare 21st of February as ‘</a:t>
            </a:r>
            <a:r>
              <a:rPr lang="en-US" dirty="0" err="1">
                <a:solidFill>
                  <a:srgbClr val="FF0000"/>
                </a:solidFill>
              </a:rPr>
              <a:t>Shaheed</a:t>
            </a:r>
            <a:r>
              <a:rPr lang="en-US" dirty="0">
                <a:solidFill>
                  <a:srgbClr val="FF0000"/>
                </a:solidFill>
              </a:rPr>
              <a:t> Day’ and a public holiday</a:t>
            </a:r>
            <a:r>
              <a:rPr lang="en-US" dirty="0"/>
              <a:t>;</a:t>
            </a:r>
          </a:p>
          <a:p>
            <a:pPr marL="0" indent="0">
              <a:buNone/>
            </a:pPr>
            <a:r>
              <a:rPr lang="en-US" dirty="0">
                <a:solidFill>
                  <a:srgbClr val="FF0000"/>
                </a:solidFill>
              </a:rPr>
              <a:t>19. The Lahore Resolution proposed full autonomy of East Bengal leaving defense, foreign affairs and currency under the central government. In the matter of defense, arrangements shall be made to set the headquarters of the army in West Pakistan and the naval headquarters in East Bengal and to establish ordnance factories in East Bengal, and to transform </a:t>
            </a:r>
            <a:r>
              <a:rPr lang="en-US" dirty="0" err="1">
                <a:solidFill>
                  <a:srgbClr val="FF0000"/>
                </a:solidFill>
              </a:rPr>
              <a:t>Ansar</a:t>
            </a:r>
            <a:r>
              <a:rPr lang="en-US" dirty="0">
                <a:solidFill>
                  <a:srgbClr val="FF0000"/>
                </a:solidFill>
              </a:rPr>
              <a:t> force into a full-fledged militia equipped with arms;</a:t>
            </a:r>
          </a:p>
          <a:p>
            <a:pPr marL="0" indent="0">
              <a:buNone/>
            </a:pPr>
            <a:r>
              <a:rPr lang="en-US" dirty="0"/>
              <a:t>20. The United Front Ministry shall on no account extend the tenure of the Legislature and shall resign six months before the general elections to facilitate free and fair elections under an Election Commission;</a:t>
            </a:r>
          </a:p>
          <a:p>
            <a:pPr marL="0" indent="0">
              <a:buNone/>
            </a:pPr>
            <a:r>
              <a:rPr lang="en-US" dirty="0"/>
              <a:t>21. All casual vacancies in the Legislature shall be filled up through by-elections within three months of the vacancies, and if the nominees of the Front are defeated in three </a:t>
            </a:r>
            <a:r>
              <a:rPr lang="en-US" dirty="0">
                <a:solidFill>
                  <a:srgbClr val="FF0000"/>
                </a:solidFill>
              </a:rPr>
              <a:t>successive by-elections</a:t>
            </a:r>
            <a:r>
              <a:rPr lang="en-US" dirty="0"/>
              <a:t>, the ministry shall resign from office.</a:t>
            </a:r>
          </a:p>
        </p:txBody>
      </p:sp>
    </p:spTree>
    <p:extLst>
      <p:ext uri="{BB962C8B-B14F-4D97-AF65-F5344CB8AC3E}">
        <p14:creationId xmlns:p14="http://schemas.microsoft.com/office/powerpoint/2010/main" val="2064756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 the elections held from 8 to 12 March, 1285 candidates contested for 304 seats, </a:t>
            </a:r>
            <a:r>
              <a:rPr lang="en-US" dirty="0">
                <a:solidFill>
                  <a:srgbClr val="FF0000"/>
                </a:solidFill>
              </a:rPr>
              <a:t>5 seats having been won uncontested</a:t>
            </a:r>
            <a:r>
              <a:rPr lang="en-US" dirty="0"/>
              <a:t>. Of them, 986 were Muslim candidates for 228 seats, 101 Hindu candidates for 30 seats, and 151 scheduled caste candidates for 36 seats. The seats for the non-Muslims were contested by candidates mainly from the Pakistan National Congress, United Progressive Party and the Scheduled Caste Federation. The total electors numbered 1,97,48,568 of whom 73,44,216 (</a:t>
            </a:r>
            <a:r>
              <a:rPr lang="en-US" dirty="0">
                <a:solidFill>
                  <a:srgbClr val="FF0000"/>
                </a:solidFill>
              </a:rPr>
              <a:t>37.19%) </a:t>
            </a:r>
            <a:r>
              <a:rPr lang="en-US" dirty="0"/>
              <a:t>cast their votes. The lower turnout was ascribed to poor </a:t>
            </a:r>
            <a:r>
              <a:rPr lang="en-US" dirty="0">
                <a:solidFill>
                  <a:srgbClr val="FF0000"/>
                </a:solidFill>
              </a:rPr>
              <a:t>communications in rural areas and the reluctance of conservative Muslim women to come out of their houses</a:t>
            </a:r>
            <a:r>
              <a:rPr lang="en-US" dirty="0"/>
              <a:t>.</a:t>
            </a:r>
          </a:p>
        </p:txBody>
      </p:sp>
    </p:spTree>
    <p:extLst>
      <p:ext uri="{BB962C8B-B14F-4D97-AF65-F5344CB8AC3E}">
        <p14:creationId xmlns:p14="http://schemas.microsoft.com/office/powerpoint/2010/main" val="226461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509" y="451507"/>
            <a:ext cx="10877282" cy="5751960"/>
          </a:xfrm>
        </p:spPr>
        <p:txBody>
          <a:bodyPr/>
          <a:lstStyle/>
          <a:p>
            <a:pPr marL="0" indent="0">
              <a:buNone/>
            </a:pPr>
            <a:r>
              <a:rPr lang="en-US" dirty="0"/>
              <a:t>Professor </a:t>
            </a:r>
            <a:r>
              <a:rPr lang="en-US" dirty="0" err="1"/>
              <a:t>Rounaq</a:t>
            </a:r>
            <a:r>
              <a:rPr lang="en-US" dirty="0"/>
              <a:t> </a:t>
            </a:r>
            <a:r>
              <a:rPr lang="en-US" dirty="0" err="1"/>
              <a:t>Jahan</a:t>
            </a:r>
            <a:r>
              <a:rPr lang="en-US" dirty="0"/>
              <a:t> in her book titled, </a:t>
            </a:r>
            <a:r>
              <a:rPr lang="en-US" i="1" dirty="0">
                <a:solidFill>
                  <a:srgbClr val="FF0000"/>
                </a:solidFill>
              </a:rPr>
              <a:t>Pakistan: Failure in National Integration</a:t>
            </a:r>
            <a:r>
              <a:rPr lang="en-US" dirty="0"/>
              <a:t>, commented that : </a:t>
            </a:r>
          </a:p>
          <a:p>
            <a:pPr marL="0" indent="0">
              <a:buNone/>
            </a:pPr>
            <a:r>
              <a:rPr lang="en-US" dirty="0">
                <a:solidFill>
                  <a:srgbClr val="7030A0"/>
                </a:solidFill>
                <a:latin typeface="Agency FB" panose="020B0503020202020204" pitchFamily="34" charset="0"/>
              </a:rPr>
              <a:t>The United Front and its 21-Point Manifesto foreshadowed later political trends in East Pakistan (Page: 45).</a:t>
            </a:r>
          </a:p>
        </p:txBody>
      </p:sp>
      <p:pic>
        <p:nvPicPr>
          <p:cNvPr id="2" name="Picture 1"/>
          <p:cNvPicPr>
            <a:picLocks noChangeAspect="1"/>
          </p:cNvPicPr>
          <p:nvPr/>
        </p:nvPicPr>
        <p:blipFill>
          <a:blip r:embed="rId2"/>
          <a:stretch>
            <a:fillRect/>
          </a:stretch>
        </p:blipFill>
        <p:spPr>
          <a:xfrm>
            <a:off x="4317575" y="2080591"/>
            <a:ext cx="2809875" cy="3279685"/>
          </a:xfrm>
          <a:prstGeom prst="rect">
            <a:avLst/>
          </a:prstGeom>
        </p:spPr>
      </p:pic>
    </p:spTree>
    <p:extLst>
      <p:ext uri="{BB962C8B-B14F-4D97-AF65-F5344CB8AC3E}">
        <p14:creationId xmlns:p14="http://schemas.microsoft.com/office/powerpoint/2010/main" val="263327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The elections resulted in a </a:t>
            </a:r>
            <a:r>
              <a:rPr lang="en-US" dirty="0">
                <a:solidFill>
                  <a:srgbClr val="FF0000"/>
                </a:solidFill>
              </a:rPr>
              <a:t>landslide victory </a:t>
            </a:r>
            <a:r>
              <a:rPr lang="en-US" dirty="0"/>
              <a:t>for the United Front which </a:t>
            </a:r>
            <a:r>
              <a:rPr lang="en-US" dirty="0">
                <a:solidFill>
                  <a:srgbClr val="FF0000"/>
                </a:solidFill>
              </a:rPr>
              <a:t>won 228 seats </a:t>
            </a:r>
            <a:r>
              <a:rPr lang="en-US" dirty="0"/>
              <a:t>in a </a:t>
            </a:r>
            <a:r>
              <a:rPr lang="en-US" dirty="0">
                <a:solidFill>
                  <a:srgbClr val="FF0000"/>
                </a:solidFill>
              </a:rPr>
              <a:t>House of 309 </a:t>
            </a:r>
            <a:r>
              <a:rPr lang="en-US" dirty="0"/>
              <a:t>(including nine reserved seats for women). On the other hand, the Muslim League, the party in power directly or indirectly ever since 1937, managed to get </a:t>
            </a:r>
            <a:r>
              <a:rPr lang="en-US" dirty="0">
                <a:solidFill>
                  <a:srgbClr val="FF0000"/>
                </a:solidFill>
              </a:rPr>
              <a:t>only 7 seats</a:t>
            </a:r>
            <a:r>
              <a:rPr lang="en-US" dirty="0"/>
              <a:t>. Of the total of 228 elected Front members, </a:t>
            </a:r>
            <a:r>
              <a:rPr lang="en-US" dirty="0">
                <a:solidFill>
                  <a:srgbClr val="FF0000"/>
                </a:solidFill>
              </a:rPr>
              <a:t>143 belonged to </a:t>
            </a:r>
            <a:r>
              <a:rPr lang="en-US" dirty="0" err="1">
                <a:solidFill>
                  <a:srgbClr val="FF0000"/>
                </a:solidFill>
              </a:rPr>
              <a:t>Awami</a:t>
            </a:r>
            <a:r>
              <a:rPr lang="en-US" dirty="0">
                <a:solidFill>
                  <a:srgbClr val="FF0000"/>
                </a:solidFill>
              </a:rPr>
              <a:t> Muslim League</a:t>
            </a:r>
            <a:r>
              <a:rPr lang="en-US" dirty="0"/>
              <a:t>, 48 to </a:t>
            </a:r>
            <a:r>
              <a:rPr lang="en-US" dirty="0" err="1"/>
              <a:t>Krishak</a:t>
            </a:r>
            <a:r>
              <a:rPr lang="en-US" dirty="0"/>
              <a:t> </a:t>
            </a:r>
            <a:r>
              <a:rPr lang="en-US" dirty="0" err="1"/>
              <a:t>Sramaik</a:t>
            </a:r>
            <a:r>
              <a:rPr lang="en-US" dirty="0"/>
              <a:t> Party, 22 to </a:t>
            </a:r>
            <a:r>
              <a:rPr lang="en-US" dirty="0" err="1"/>
              <a:t>Nezam</a:t>
            </a:r>
            <a:r>
              <a:rPr lang="en-US" dirty="0"/>
              <a:t>-I-Islam, 13 to </a:t>
            </a:r>
            <a:r>
              <a:rPr lang="en-US" dirty="0" err="1">
                <a:solidFill>
                  <a:srgbClr val="FF0000"/>
                </a:solidFill>
              </a:rPr>
              <a:t>Ganatantri</a:t>
            </a:r>
            <a:r>
              <a:rPr lang="en-US" dirty="0">
                <a:solidFill>
                  <a:srgbClr val="FF0000"/>
                </a:solidFill>
              </a:rPr>
              <a:t> Dal </a:t>
            </a:r>
            <a:r>
              <a:rPr lang="en-US" dirty="0"/>
              <a:t>and 2 to </a:t>
            </a:r>
            <a:r>
              <a:rPr lang="en-US" dirty="0" err="1">
                <a:solidFill>
                  <a:srgbClr val="FF0000"/>
                </a:solidFill>
              </a:rPr>
              <a:t>Khilafat</a:t>
            </a:r>
            <a:r>
              <a:rPr lang="en-US" dirty="0">
                <a:solidFill>
                  <a:srgbClr val="FF0000"/>
                </a:solidFill>
              </a:rPr>
              <a:t>-e-</a:t>
            </a:r>
            <a:r>
              <a:rPr lang="en-US" dirty="0" err="1">
                <a:solidFill>
                  <a:srgbClr val="FF0000"/>
                </a:solidFill>
              </a:rPr>
              <a:t>Rabbani</a:t>
            </a:r>
            <a:r>
              <a:rPr lang="en-US" dirty="0">
                <a:solidFill>
                  <a:srgbClr val="FF0000"/>
                </a:solidFill>
              </a:rPr>
              <a:t> Party</a:t>
            </a:r>
            <a:r>
              <a:rPr lang="en-US" dirty="0"/>
              <a:t>. Of the non-Muslim seats, Congress got 25, Scheduled Caste Federation 27, and the United Front of the Minorities 13</a:t>
            </a:r>
          </a:p>
          <a:p>
            <a:endParaRPr lang="en-US" dirty="0"/>
          </a:p>
          <a:p>
            <a:endParaRPr lang="en-US" dirty="0"/>
          </a:p>
        </p:txBody>
      </p:sp>
    </p:spTree>
    <p:extLst>
      <p:ext uri="{BB962C8B-B14F-4D97-AF65-F5344CB8AC3E}">
        <p14:creationId xmlns:p14="http://schemas.microsoft.com/office/powerpoint/2010/main" val="2694715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1034" y="865631"/>
            <a:ext cx="10604518" cy="4876801"/>
          </a:xfrm>
        </p:spPr>
        <p:txBody>
          <a:bodyPr>
            <a:normAutofit/>
          </a:bodyPr>
          <a:lstStyle/>
          <a:p>
            <a:pPr algn="just"/>
            <a:r>
              <a:rPr lang="en-US" dirty="0"/>
              <a:t>What were the causes of the victory of the United Front?</a:t>
            </a:r>
          </a:p>
          <a:p>
            <a:pPr algn="just"/>
            <a:r>
              <a:rPr lang="en-US" dirty="0"/>
              <a:t>What were the factors/causes/reasons behind the defeat/fall of the Muslim League? </a:t>
            </a:r>
          </a:p>
          <a:p>
            <a:pPr algn="just"/>
            <a:r>
              <a:rPr lang="en-US" dirty="0"/>
              <a:t>Crises of the Pakistani state : </a:t>
            </a:r>
            <a:r>
              <a:rPr lang="en-US" dirty="0">
                <a:solidFill>
                  <a:srgbClr val="FF0000"/>
                </a:solidFill>
              </a:rPr>
              <a:t>1) </a:t>
            </a:r>
            <a:r>
              <a:rPr lang="en-US" i="1" dirty="0">
                <a:solidFill>
                  <a:srgbClr val="FF0000"/>
                </a:solidFill>
              </a:rPr>
              <a:t>legitimacy crisis, 2)identity crisis, </a:t>
            </a:r>
          </a:p>
          <a:p>
            <a:pPr algn="just"/>
            <a:r>
              <a:rPr lang="en-US" i="1" dirty="0">
                <a:solidFill>
                  <a:srgbClr val="FF0000"/>
                </a:solidFill>
              </a:rPr>
              <a:t>3) participation crisis ,4) integration crisis, 5)penetration crisis, and 6) distribution crisis.</a:t>
            </a:r>
          </a:p>
          <a:p>
            <a:pPr algn="just"/>
            <a:r>
              <a:rPr lang="en-US" dirty="0">
                <a:solidFill>
                  <a:srgbClr val="7030A0"/>
                </a:solidFill>
              </a:rPr>
              <a:t>Civil-military relations: Objective control model-politics control guns, Subjective control of the military-guns control politics.</a:t>
            </a:r>
          </a:p>
          <a:p>
            <a:pPr algn="just"/>
            <a:r>
              <a:rPr lang="en-US" dirty="0"/>
              <a:t>Consequences: Growth of Bengali </a:t>
            </a:r>
            <a:r>
              <a:rPr lang="en-US" i="1" dirty="0"/>
              <a:t>cultural-linguistic nationalism </a:t>
            </a:r>
            <a:r>
              <a:rPr lang="en-US" dirty="0"/>
              <a:t>in lieu of religion-based nationalism, centripetal vs. centrifugal forces </a:t>
            </a:r>
          </a:p>
          <a:p>
            <a:pPr algn="just"/>
            <a:endParaRPr lang="en-US" dirty="0"/>
          </a:p>
        </p:txBody>
      </p:sp>
    </p:spTree>
    <p:extLst>
      <p:ext uri="{BB962C8B-B14F-4D97-AF65-F5344CB8AC3E}">
        <p14:creationId xmlns:p14="http://schemas.microsoft.com/office/powerpoint/2010/main" val="257732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626" y="609600"/>
            <a:ext cx="10787270" cy="587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7801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2365" y="569843"/>
            <a:ext cx="11012557" cy="5989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7394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2965174" cy="866267"/>
          </a:xfrm>
        </p:spPr>
        <p:txBody>
          <a:bodyPr/>
          <a:lstStyle/>
          <a:p>
            <a:r>
              <a:rPr lang="en-US" u="sng" dirty="0">
                <a:solidFill>
                  <a:srgbClr val="FF0000"/>
                </a:solidFill>
              </a:rPr>
              <a:t>References: </a:t>
            </a:r>
          </a:p>
        </p:txBody>
      </p:sp>
      <p:sp>
        <p:nvSpPr>
          <p:cNvPr id="9" name="Content Placeholder 8"/>
          <p:cNvSpPr>
            <a:spLocks noGrp="1"/>
          </p:cNvSpPr>
          <p:nvPr>
            <p:ph idx="1"/>
          </p:nvPr>
        </p:nvSpPr>
        <p:spPr>
          <a:xfrm>
            <a:off x="755904" y="1365505"/>
            <a:ext cx="10997184" cy="4134147"/>
          </a:xfrm>
        </p:spPr>
        <p:txBody>
          <a:bodyPr/>
          <a:lstStyle/>
          <a:p>
            <a:r>
              <a:rPr lang="en-US" dirty="0" err="1">
                <a:latin typeface="Times New Roman" pitchFamily="18" charset="0"/>
                <a:cs typeface="Times New Roman" pitchFamily="18" charset="0"/>
              </a:rPr>
              <a:t>Rehman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Sohan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Habibul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Khondker</a:t>
            </a:r>
            <a:r>
              <a:rPr lang="en-US" dirty="0">
                <a:latin typeface="Times New Roman" pitchFamily="18" charset="0"/>
                <a:cs typeface="Times New Roman" pitchFamily="18" charset="0"/>
              </a:rPr>
              <a:t>, “The Political and Economic Context Underlying the Emergence of Bangladesh” in </a:t>
            </a:r>
            <a:r>
              <a:rPr lang="en-US" dirty="0" err="1">
                <a:latin typeface="Times New Roman" pitchFamily="18" charset="0"/>
                <a:cs typeface="Times New Roman" pitchFamily="18" charset="0"/>
              </a:rPr>
              <a:t>Khondker</a:t>
            </a:r>
            <a:r>
              <a:rPr lang="en-US" dirty="0">
                <a:latin typeface="Times New Roman" pitchFamily="18" charset="0"/>
                <a:cs typeface="Times New Roman" pitchFamily="18" charset="0"/>
              </a:rPr>
              <a:t> et.al (eds.), </a:t>
            </a:r>
            <a:r>
              <a:rPr lang="en-US" i="1" dirty="0">
                <a:latin typeface="Times New Roman" pitchFamily="18" charset="0"/>
                <a:cs typeface="Times New Roman" pitchFamily="18" charset="0"/>
              </a:rPr>
              <a:t>The Emergence of Bangladesh: Interdisciplinary Perspectives </a:t>
            </a:r>
            <a:r>
              <a:rPr lang="en-US" dirty="0">
                <a:latin typeface="Times New Roman" pitchFamily="18" charset="0"/>
                <a:cs typeface="Times New Roman" pitchFamily="18" charset="0"/>
              </a:rPr>
              <a:t>, Singapore: Palgrave Macmillan , 2022 , pp.7-24.</a:t>
            </a:r>
          </a:p>
          <a:p>
            <a:r>
              <a:rPr lang="en-US" dirty="0" err="1">
                <a:latin typeface="Times New Roman" pitchFamily="18" charset="0"/>
                <a:cs typeface="Times New Roman" pitchFamily="18" charset="0"/>
              </a:rPr>
              <a:t>Rounaq</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Jahan</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Pakistan: Failure in National Integration</a:t>
            </a:r>
            <a:r>
              <a:rPr lang="en-US" dirty="0">
                <a:latin typeface="Times New Roman" pitchFamily="18" charset="0"/>
                <a:cs typeface="Times New Roman" pitchFamily="18" charset="0"/>
              </a:rPr>
              <a:t>, UPL: Dhaka, 1994. </a:t>
            </a:r>
          </a:p>
        </p:txBody>
      </p:sp>
    </p:spTree>
    <p:extLst>
      <p:ext uri="{BB962C8B-B14F-4D97-AF65-F5344CB8AC3E}">
        <p14:creationId xmlns:p14="http://schemas.microsoft.com/office/powerpoint/2010/main" val="996114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1687</Words>
  <Application>Microsoft Office PowerPoint</Application>
  <PresentationFormat>Widescreen</PresentationFormat>
  <Paragraphs>57</Paragraphs>
  <Slides>23</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Agency FB</vt:lpstr>
      <vt:lpstr>Arial</vt:lpstr>
      <vt:lpstr>Calibri</vt:lpstr>
      <vt:lpstr>Calibri Light</vt:lpstr>
      <vt:lpstr>Times New Roman</vt:lpstr>
      <vt:lpstr>Office Theme</vt:lpstr>
      <vt:lpstr>PowerPoint Presentation</vt:lpstr>
      <vt:lpstr>Lecture Outline </vt:lpstr>
      <vt:lpstr>PowerPoint Presentation</vt:lpstr>
      <vt:lpstr>PowerPoint Presentation</vt:lpstr>
      <vt:lpstr>The 1954 Election:</vt:lpstr>
      <vt:lpstr>PowerPoint Presentation</vt:lpstr>
      <vt:lpstr>PowerPoint Presentation</vt:lpstr>
      <vt:lpstr>PowerPoint Presentation</vt:lpstr>
      <vt:lpstr>PowerPoint Presentation</vt:lpstr>
      <vt:lpstr>PowerPoint Presentation</vt:lpstr>
      <vt:lpstr>PowerPoint Presentation</vt:lpstr>
      <vt:lpstr>21-Point Program: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cp:lastModifiedBy>
  <cp:revision>241</cp:revision>
  <dcterms:created xsi:type="dcterms:W3CDTF">2020-12-18T14:47:45Z</dcterms:created>
  <dcterms:modified xsi:type="dcterms:W3CDTF">2023-10-01T04:39:20Z</dcterms:modified>
</cp:coreProperties>
</file>