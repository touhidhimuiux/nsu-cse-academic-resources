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256" r:id="rId2"/>
    <p:sldId id="260" r:id="rId3"/>
    <p:sldId id="261" r:id="rId4"/>
    <p:sldId id="263" r:id="rId5"/>
    <p:sldId id="277" r:id="rId6"/>
    <p:sldId id="285" r:id="rId7"/>
    <p:sldId id="292" r:id="rId8"/>
    <p:sldId id="280" r:id="rId9"/>
    <p:sldId id="276" r:id="rId10"/>
    <p:sldId id="275" r:id="rId11"/>
    <p:sldId id="298" r:id="rId12"/>
    <p:sldId id="265" r:id="rId13"/>
    <p:sldId id="266" r:id="rId14"/>
    <p:sldId id="281" r:id="rId15"/>
    <p:sldId id="289" r:id="rId16"/>
    <p:sldId id="282" r:id="rId17"/>
    <p:sldId id="283" r:id="rId18"/>
    <p:sldId id="284" r:id="rId19"/>
    <p:sldId id="303" r:id="rId20"/>
    <p:sldId id="301" r:id="rId21"/>
    <p:sldId id="300" r:id="rId22"/>
    <p:sldId id="294" r:id="rId23"/>
    <p:sldId id="296" r:id="rId24"/>
    <p:sldId id="297" r:id="rId25"/>
    <p:sldId id="28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3EB723-45A0-4682-A7EB-19DB02A360CF}" type="doc">
      <dgm:prSet loTypeId="urn:microsoft.com/office/officeart/2005/8/layout/cycle8" loCatId="cycle" qsTypeId="urn:microsoft.com/office/officeart/2005/8/quickstyle/simple1" qsCatId="simple" csTypeId="urn:microsoft.com/office/officeart/2005/8/colors/accent1_2" csCatId="accent1" phldr="1"/>
      <dgm:spPr/>
    </dgm:pt>
    <dgm:pt modelId="{76392DF9-BCF2-4C1F-B7D6-0080A070E4C1}">
      <dgm:prSet phldrT="[Text]">
        <dgm:style>
          <a:lnRef idx="2">
            <a:schemeClr val="dk1">
              <a:shade val="50000"/>
            </a:schemeClr>
          </a:lnRef>
          <a:fillRef idx="1">
            <a:schemeClr val="dk1"/>
          </a:fillRef>
          <a:effectRef idx="0">
            <a:schemeClr val="dk1"/>
          </a:effectRef>
          <a:fontRef idx="minor">
            <a:schemeClr val="lt1"/>
          </a:fontRef>
        </dgm:style>
      </dgm:prSet>
      <dgm:spPr/>
      <dgm:t>
        <a:bodyPr/>
        <a:lstStyle/>
        <a:p>
          <a:r>
            <a:rPr lang="en-US" i="1" dirty="0"/>
            <a:t>Pluralistic</a:t>
          </a:r>
        </a:p>
        <a:p>
          <a:r>
            <a:rPr lang="en-US" i="1" dirty="0"/>
            <a:t>Power Structure </a:t>
          </a:r>
        </a:p>
      </dgm:t>
    </dgm:pt>
    <dgm:pt modelId="{1C9C1E82-E356-4F31-B76C-8ED807D75E48}" type="parTrans" cxnId="{AE2D8323-996E-4EBE-8AD1-F921A3DA271A}">
      <dgm:prSet/>
      <dgm:spPr/>
      <dgm:t>
        <a:bodyPr/>
        <a:lstStyle/>
        <a:p>
          <a:endParaRPr lang="en-US"/>
        </a:p>
      </dgm:t>
    </dgm:pt>
    <dgm:pt modelId="{71D0F237-4D60-477C-B73F-E08421F61DBB}" type="sibTrans" cxnId="{AE2D8323-996E-4EBE-8AD1-F921A3DA271A}">
      <dgm:prSet/>
      <dgm:spPr/>
      <dgm:t>
        <a:bodyPr/>
        <a:lstStyle/>
        <a:p>
          <a:endParaRPr lang="en-US"/>
        </a:p>
      </dgm:t>
    </dgm:pt>
    <dgm:pt modelId="{0C036A03-B964-411C-B37C-A014BF8FA508}">
      <dgm:prSet phldrT="[Text]"/>
      <dgm:spPr/>
      <dgm:t>
        <a:bodyPr/>
        <a:lstStyle/>
        <a:p>
          <a:r>
            <a:rPr lang="en-US" i="1" dirty="0"/>
            <a:t>Ideological</a:t>
          </a:r>
        </a:p>
        <a:p>
          <a:r>
            <a:rPr lang="en-US" i="1" dirty="0"/>
            <a:t>Power Structure  </a:t>
          </a:r>
        </a:p>
      </dgm:t>
    </dgm:pt>
    <dgm:pt modelId="{FA43AB62-7461-474A-AAE4-EFCEE434D298}" type="parTrans" cxnId="{21BB9E88-0001-485E-80E7-3DA710BF655D}">
      <dgm:prSet/>
      <dgm:spPr/>
      <dgm:t>
        <a:bodyPr/>
        <a:lstStyle/>
        <a:p>
          <a:endParaRPr lang="en-US"/>
        </a:p>
      </dgm:t>
    </dgm:pt>
    <dgm:pt modelId="{8CB9B4F1-34D8-4143-8624-64952CC1E96E}" type="sibTrans" cxnId="{21BB9E88-0001-485E-80E7-3DA710BF655D}">
      <dgm:prSet/>
      <dgm:spPr/>
      <dgm:t>
        <a:bodyPr/>
        <a:lstStyle/>
        <a:p>
          <a:endParaRPr lang="en-US"/>
        </a:p>
      </dgm:t>
    </dgm:pt>
    <dgm:pt modelId="{04E1AB44-7FA5-4806-A9CC-FA0FA55351F2}">
      <dgm:prSet phldrT="[Text]">
        <dgm:style>
          <a:lnRef idx="2">
            <a:schemeClr val="accent1"/>
          </a:lnRef>
          <a:fillRef idx="1">
            <a:schemeClr val="lt1"/>
          </a:fillRef>
          <a:effectRef idx="0">
            <a:schemeClr val="accent1"/>
          </a:effectRef>
          <a:fontRef idx="minor">
            <a:schemeClr val="dk1"/>
          </a:fontRef>
        </dgm:style>
      </dgm:prSet>
      <dgm:spPr/>
      <dgm:t>
        <a:bodyPr/>
        <a:lstStyle/>
        <a:p>
          <a:r>
            <a:rPr lang="en-US" i="1" dirty="0"/>
            <a:t>Monolithic</a:t>
          </a:r>
        </a:p>
        <a:p>
          <a:r>
            <a:rPr lang="en-US" i="1" dirty="0"/>
            <a:t>Power Structure </a:t>
          </a:r>
        </a:p>
      </dgm:t>
    </dgm:pt>
    <dgm:pt modelId="{44595AD5-BB33-4585-B540-04FF160FF1C4}" type="parTrans" cxnId="{1A50BAE1-8E2A-412D-BAA8-96D8549FFAAF}">
      <dgm:prSet/>
      <dgm:spPr/>
      <dgm:t>
        <a:bodyPr/>
        <a:lstStyle/>
        <a:p>
          <a:endParaRPr lang="en-US"/>
        </a:p>
      </dgm:t>
    </dgm:pt>
    <dgm:pt modelId="{454B1CA8-97FB-42BA-939B-EEA3BE98AD7D}" type="sibTrans" cxnId="{1A50BAE1-8E2A-412D-BAA8-96D8549FFAAF}">
      <dgm:prSet/>
      <dgm:spPr/>
      <dgm:t>
        <a:bodyPr/>
        <a:lstStyle/>
        <a:p>
          <a:endParaRPr lang="en-US"/>
        </a:p>
      </dgm:t>
    </dgm:pt>
    <dgm:pt modelId="{88E66661-E8A5-49FB-A0BA-8E5693E3204C}" type="pres">
      <dgm:prSet presAssocID="{043EB723-45A0-4682-A7EB-19DB02A360CF}" presName="compositeShape" presStyleCnt="0">
        <dgm:presLayoutVars>
          <dgm:chMax val="7"/>
          <dgm:dir/>
          <dgm:resizeHandles val="exact"/>
        </dgm:presLayoutVars>
      </dgm:prSet>
      <dgm:spPr/>
    </dgm:pt>
    <dgm:pt modelId="{668A4497-1AC2-4850-8B39-3AEC9ECEBBF6}" type="pres">
      <dgm:prSet presAssocID="{043EB723-45A0-4682-A7EB-19DB02A360CF}" presName="wedge1" presStyleLbl="node1" presStyleIdx="0" presStyleCnt="3"/>
      <dgm:spPr/>
    </dgm:pt>
    <dgm:pt modelId="{47F9AE3E-CD2D-468A-91D9-F7C51C44EC47}" type="pres">
      <dgm:prSet presAssocID="{043EB723-45A0-4682-A7EB-19DB02A360CF}" presName="dummy1a" presStyleCnt="0"/>
      <dgm:spPr/>
    </dgm:pt>
    <dgm:pt modelId="{018A750D-A8C5-461B-B864-77D873BBF1C8}" type="pres">
      <dgm:prSet presAssocID="{043EB723-45A0-4682-A7EB-19DB02A360CF}" presName="dummy1b" presStyleCnt="0"/>
      <dgm:spPr/>
    </dgm:pt>
    <dgm:pt modelId="{BD0DF8A1-4501-47AE-8449-ABEFA4D28D92}" type="pres">
      <dgm:prSet presAssocID="{043EB723-45A0-4682-A7EB-19DB02A360CF}" presName="wedge1Tx" presStyleLbl="node1" presStyleIdx="0" presStyleCnt="3">
        <dgm:presLayoutVars>
          <dgm:chMax val="0"/>
          <dgm:chPref val="0"/>
          <dgm:bulletEnabled val="1"/>
        </dgm:presLayoutVars>
      </dgm:prSet>
      <dgm:spPr/>
    </dgm:pt>
    <dgm:pt modelId="{3D950A07-95E0-4460-9188-0A93404F330F}" type="pres">
      <dgm:prSet presAssocID="{043EB723-45A0-4682-A7EB-19DB02A360CF}" presName="wedge2" presStyleLbl="node1" presStyleIdx="1" presStyleCnt="3"/>
      <dgm:spPr/>
    </dgm:pt>
    <dgm:pt modelId="{CAD14B97-6C73-4AE1-9978-253C15FB1FCE}" type="pres">
      <dgm:prSet presAssocID="{043EB723-45A0-4682-A7EB-19DB02A360CF}" presName="dummy2a" presStyleCnt="0"/>
      <dgm:spPr/>
    </dgm:pt>
    <dgm:pt modelId="{D9EF51AF-D289-46ED-979C-8103B8D85DDE}" type="pres">
      <dgm:prSet presAssocID="{043EB723-45A0-4682-A7EB-19DB02A360CF}" presName="dummy2b" presStyleCnt="0"/>
      <dgm:spPr/>
    </dgm:pt>
    <dgm:pt modelId="{56E3315F-30F1-4C7E-A465-9E99445AB4CA}" type="pres">
      <dgm:prSet presAssocID="{043EB723-45A0-4682-A7EB-19DB02A360CF}" presName="wedge2Tx" presStyleLbl="node1" presStyleIdx="1" presStyleCnt="3">
        <dgm:presLayoutVars>
          <dgm:chMax val="0"/>
          <dgm:chPref val="0"/>
          <dgm:bulletEnabled val="1"/>
        </dgm:presLayoutVars>
      </dgm:prSet>
      <dgm:spPr/>
    </dgm:pt>
    <dgm:pt modelId="{9D702B46-887D-4785-9465-08A50D9CB915}" type="pres">
      <dgm:prSet presAssocID="{043EB723-45A0-4682-A7EB-19DB02A360CF}" presName="wedge3" presStyleLbl="node1" presStyleIdx="2" presStyleCnt="3" custScaleX="93479"/>
      <dgm:spPr/>
    </dgm:pt>
    <dgm:pt modelId="{5D86F7C0-DE28-49EA-A8F2-ED510E0F2628}" type="pres">
      <dgm:prSet presAssocID="{043EB723-45A0-4682-A7EB-19DB02A360CF}" presName="dummy3a" presStyleCnt="0"/>
      <dgm:spPr/>
    </dgm:pt>
    <dgm:pt modelId="{D7CF0C87-A92E-444B-AA21-88C9CA72A93B}" type="pres">
      <dgm:prSet presAssocID="{043EB723-45A0-4682-A7EB-19DB02A360CF}" presName="dummy3b" presStyleCnt="0"/>
      <dgm:spPr/>
    </dgm:pt>
    <dgm:pt modelId="{9E48F30E-A2E6-48A3-8B0C-BE91C90A0989}" type="pres">
      <dgm:prSet presAssocID="{043EB723-45A0-4682-A7EB-19DB02A360CF}" presName="wedge3Tx" presStyleLbl="node1" presStyleIdx="2" presStyleCnt="3">
        <dgm:presLayoutVars>
          <dgm:chMax val="0"/>
          <dgm:chPref val="0"/>
          <dgm:bulletEnabled val="1"/>
        </dgm:presLayoutVars>
      </dgm:prSet>
      <dgm:spPr/>
    </dgm:pt>
    <dgm:pt modelId="{5D40F360-02FF-47D5-A9D0-C52BBB761DE4}" type="pres">
      <dgm:prSet presAssocID="{71D0F237-4D60-477C-B73F-E08421F61DBB}" presName="arrowWedge1" presStyleLbl="fgSibTrans2D1" presStyleIdx="0" presStyleCnt="3">
        <dgm:style>
          <a:lnRef idx="2">
            <a:schemeClr val="dk1">
              <a:shade val="50000"/>
            </a:schemeClr>
          </a:lnRef>
          <a:fillRef idx="1">
            <a:schemeClr val="dk1"/>
          </a:fillRef>
          <a:effectRef idx="0">
            <a:schemeClr val="dk1"/>
          </a:effectRef>
          <a:fontRef idx="minor">
            <a:schemeClr val="lt1"/>
          </a:fontRef>
        </dgm:style>
      </dgm:prSet>
      <dgm:spPr/>
    </dgm:pt>
    <dgm:pt modelId="{BDE92E16-63D4-4515-B7F8-BE36D2E15920}" type="pres">
      <dgm:prSet presAssocID="{8CB9B4F1-34D8-4143-8624-64952CC1E96E}" presName="arrowWedge2" presStyleLbl="fgSibTrans2D1" presStyleIdx="1" presStyleCnt="3"/>
      <dgm:spPr/>
    </dgm:pt>
    <dgm:pt modelId="{02712C23-AD65-45AA-B7BA-5F686DD32344}" type="pres">
      <dgm:prSet presAssocID="{454B1CA8-97FB-42BA-939B-EEA3BE98AD7D}" presName="arrowWedge3" presStyleLbl="fgSibTrans2D1" presStyleIdx="2" presStyleCnt="3">
        <dgm:style>
          <a:lnRef idx="2">
            <a:schemeClr val="dk1">
              <a:shade val="50000"/>
            </a:schemeClr>
          </a:lnRef>
          <a:fillRef idx="1">
            <a:schemeClr val="dk1"/>
          </a:fillRef>
          <a:effectRef idx="0">
            <a:schemeClr val="dk1"/>
          </a:effectRef>
          <a:fontRef idx="minor">
            <a:schemeClr val="lt1"/>
          </a:fontRef>
        </dgm:style>
      </dgm:prSet>
      <dgm:spPr/>
    </dgm:pt>
  </dgm:ptLst>
  <dgm:cxnLst>
    <dgm:cxn modelId="{18AE2C02-20D3-4379-9FCB-DAA7D8033561}" type="presOf" srcId="{76392DF9-BCF2-4C1F-B7D6-0080A070E4C1}" destId="{BD0DF8A1-4501-47AE-8449-ABEFA4D28D92}" srcOrd="1" destOrd="0" presId="urn:microsoft.com/office/officeart/2005/8/layout/cycle8"/>
    <dgm:cxn modelId="{56B52110-FF10-4D07-9305-9198D6BABDA9}" type="presOf" srcId="{0C036A03-B964-411C-B37C-A014BF8FA508}" destId="{3D950A07-95E0-4460-9188-0A93404F330F}" srcOrd="0" destOrd="0" presId="urn:microsoft.com/office/officeart/2005/8/layout/cycle8"/>
    <dgm:cxn modelId="{AE2D8323-996E-4EBE-8AD1-F921A3DA271A}" srcId="{043EB723-45A0-4682-A7EB-19DB02A360CF}" destId="{76392DF9-BCF2-4C1F-B7D6-0080A070E4C1}" srcOrd="0" destOrd="0" parTransId="{1C9C1E82-E356-4F31-B76C-8ED807D75E48}" sibTransId="{71D0F237-4D60-477C-B73F-E08421F61DBB}"/>
    <dgm:cxn modelId="{325D2027-0C02-4371-AFEB-0388729F3883}" type="presOf" srcId="{76392DF9-BCF2-4C1F-B7D6-0080A070E4C1}" destId="{668A4497-1AC2-4850-8B39-3AEC9ECEBBF6}" srcOrd="0" destOrd="0" presId="urn:microsoft.com/office/officeart/2005/8/layout/cycle8"/>
    <dgm:cxn modelId="{B537C481-23DA-4AC0-A3C7-2730C9386E7B}" type="presOf" srcId="{04E1AB44-7FA5-4806-A9CC-FA0FA55351F2}" destId="{9E48F30E-A2E6-48A3-8B0C-BE91C90A0989}" srcOrd="1" destOrd="0" presId="urn:microsoft.com/office/officeart/2005/8/layout/cycle8"/>
    <dgm:cxn modelId="{21BB9E88-0001-485E-80E7-3DA710BF655D}" srcId="{043EB723-45A0-4682-A7EB-19DB02A360CF}" destId="{0C036A03-B964-411C-B37C-A014BF8FA508}" srcOrd="1" destOrd="0" parTransId="{FA43AB62-7461-474A-AAE4-EFCEE434D298}" sibTransId="{8CB9B4F1-34D8-4143-8624-64952CC1E96E}"/>
    <dgm:cxn modelId="{7963A793-F331-4514-8331-41838C14722E}" type="presOf" srcId="{04E1AB44-7FA5-4806-A9CC-FA0FA55351F2}" destId="{9D702B46-887D-4785-9465-08A50D9CB915}" srcOrd="0" destOrd="0" presId="urn:microsoft.com/office/officeart/2005/8/layout/cycle8"/>
    <dgm:cxn modelId="{81E7A4D2-8609-43CF-81D3-5DDC49AC4331}" type="presOf" srcId="{043EB723-45A0-4682-A7EB-19DB02A360CF}" destId="{88E66661-E8A5-49FB-A0BA-8E5693E3204C}" srcOrd="0" destOrd="0" presId="urn:microsoft.com/office/officeart/2005/8/layout/cycle8"/>
    <dgm:cxn modelId="{5341B9DE-407B-4D00-8708-A860AC51EBC6}" type="presOf" srcId="{0C036A03-B964-411C-B37C-A014BF8FA508}" destId="{56E3315F-30F1-4C7E-A465-9E99445AB4CA}" srcOrd="1" destOrd="0" presId="urn:microsoft.com/office/officeart/2005/8/layout/cycle8"/>
    <dgm:cxn modelId="{1A50BAE1-8E2A-412D-BAA8-96D8549FFAAF}" srcId="{043EB723-45A0-4682-A7EB-19DB02A360CF}" destId="{04E1AB44-7FA5-4806-A9CC-FA0FA55351F2}" srcOrd="2" destOrd="0" parTransId="{44595AD5-BB33-4585-B540-04FF160FF1C4}" sibTransId="{454B1CA8-97FB-42BA-939B-EEA3BE98AD7D}"/>
    <dgm:cxn modelId="{C2CE7E08-56BA-4581-831D-653F6DEC7FEC}" type="presParOf" srcId="{88E66661-E8A5-49FB-A0BA-8E5693E3204C}" destId="{668A4497-1AC2-4850-8B39-3AEC9ECEBBF6}" srcOrd="0" destOrd="0" presId="urn:microsoft.com/office/officeart/2005/8/layout/cycle8"/>
    <dgm:cxn modelId="{5E5583C4-55C9-4E3A-9F10-B97DB68D1083}" type="presParOf" srcId="{88E66661-E8A5-49FB-A0BA-8E5693E3204C}" destId="{47F9AE3E-CD2D-468A-91D9-F7C51C44EC47}" srcOrd="1" destOrd="0" presId="urn:microsoft.com/office/officeart/2005/8/layout/cycle8"/>
    <dgm:cxn modelId="{DBF7D698-A3E6-4008-814B-180E177373C2}" type="presParOf" srcId="{88E66661-E8A5-49FB-A0BA-8E5693E3204C}" destId="{018A750D-A8C5-461B-B864-77D873BBF1C8}" srcOrd="2" destOrd="0" presId="urn:microsoft.com/office/officeart/2005/8/layout/cycle8"/>
    <dgm:cxn modelId="{3FC1814A-5189-4CEC-BCAE-904D39358E3D}" type="presParOf" srcId="{88E66661-E8A5-49FB-A0BA-8E5693E3204C}" destId="{BD0DF8A1-4501-47AE-8449-ABEFA4D28D92}" srcOrd="3" destOrd="0" presId="urn:microsoft.com/office/officeart/2005/8/layout/cycle8"/>
    <dgm:cxn modelId="{7B82C179-328D-44BC-B539-B2656C88A537}" type="presParOf" srcId="{88E66661-E8A5-49FB-A0BA-8E5693E3204C}" destId="{3D950A07-95E0-4460-9188-0A93404F330F}" srcOrd="4" destOrd="0" presId="urn:microsoft.com/office/officeart/2005/8/layout/cycle8"/>
    <dgm:cxn modelId="{398D54EB-45C4-4AAE-A351-D79FE2CE4EA6}" type="presParOf" srcId="{88E66661-E8A5-49FB-A0BA-8E5693E3204C}" destId="{CAD14B97-6C73-4AE1-9978-253C15FB1FCE}" srcOrd="5" destOrd="0" presId="urn:microsoft.com/office/officeart/2005/8/layout/cycle8"/>
    <dgm:cxn modelId="{174202FD-AD30-42EF-9D4E-99B78C2ADCEB}" type="presParOf" srcId="{88E66661-E8A5-49FB-A0BA-8E5693E3204C}" destId="{D9EF51AF-D289-46ED-979C-8103B8D85DDE}" srcOrd="6" destOrd="0" presId="urn:microsoft.com/office/officeart/2005/8/layout/cycle8"/>
    <dgm:cxn modelId="{04DA8766-9F1E-41D4-807D-40B2404CB78F}" type="presParOf" srcId="{88E66661-E8A5-49FB-A0BA-8E5693E3204C}" destId="{56E3315F-30F1-4C7E-A465-9E99445AB4CA}" srcOrd="7" destOrd="0" presId="urn:microsoft.com/office/officeart/2005/8/layout/cycle8"/>
    <dgm:cxn modelId="{A830FBBA-323C-4551-AD56-529BB79DD06B}" type="presParOf" srcId="{88E66661-E8A5-49FB-A0BA-8E5693E3204C}" destId="{9D702B46-887D-4785-9465-08A50D9CB915}" srcOrd="8" destOrd="0" presId="urn:microsoft.com/office/officeart/2005/8/layout/cycle8"/>
    <dgm:cxn modelId="{B6FB7031-C65C-49E7-BA6F-33902DD20B9B}" type="presParOf" srcId="{88E66661-E8A5-49FB-A0BA-8E5693E3204C}" destId="{5D86F7C0-DE28-49EA-A8F2-ED510E0F2628}" srcOrd="9" destOrd="0" presId="urn:microsoft.com/office/officeart/2005/8/layout/cycle8"/>
    <dgm:cxn modelId="{1442E849-2097-4816-8BC7-6E3B6787B7AC}" type="presParOf" srcId="{88E66661-E8A5-49FB-A0BA-8E5693E3204C}" destId="{D7CF0C87-A92E-444B-AA21-88C9CA72A93B}" srcOrd="10" destOrd="0" presId="urn:microsoft.com/office/officeart/2005/8/layout/cycle8"/>
    <dgm:cxn modelId="{ACC73C6B-C9CB-439B-B9A4-D6C5C8D4BAA7}" type="presParOf" srcId="{88E66661-E8A5-49FB-A0BA-8E5693E3204C}" destId="{9E48F30E-A2E6-48A3-8B0C-BE91C90A0989}" srcOrd="11" destOrd="0" presId="urn:microsoft.com/office/officeart/2005/8/layout/cycle8"/>
    <dgm:cxn modelId="{10FB7EF8-A803-4DCA-883C-D7D25B7FEDCC}" type="presParOf" srcId="{88E66661-E8A5-49FB-A0BA-8E5693E3204C}" destId="{5D40F360-02FF-47D5-A9D0-C52BBB761DE4}" srcOrd="12" destOrd="0" presId="urn:microsoft.com/office/officeart/2005/8/layout/cycle8"/>
    <dgm:cxn modelId="{52D3DF2B-86F3-470D-B9F3-3E0BC0FB6B06}" type="presParOf" srcId="{88E66661-E8A5-49FB-A0BA-8E5693E3204C}" destId="{BDE92E16-63D4-4515-B7F8-BE36D2E15920}" srcOrd="13" destOrd="0" presId="urn:microsoft.com/office/officeart/2005/8/layout/cycle8"/>
    <dgm:cxn modelId="{AF87778E-5CCE-4E8E-8565-0E753922111B}" type="presParOf" srcId="{88E66661-E8A5-49FB-A0BA-8E5693E3204C}" destId="{02712C23-AD65-45AA-B7BA-5F686DD32344}"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203EAA-F5A8-46DD-99F8-A487C3E30DF9}" type="doc">
      <dgm:prSet loTypeId="urn:microsoft.com/office/officeart/2005/8/layout/target3" loCatId="relationship" qsTypeId="urn:microsoft.com/office/officeart/2005/8/quickstyle/3d4" qsCatId="3D" csTypeId="urn:microsoft.com/office/officeart/2005/8/colors/colorful1" csCatId="colorful" phldr="1"/>
      <dgm:spPr/>
      <dgm:t>
        <a:bodyPr/>
        <a:lstStyle/>
        <a:p>
          <a:endParaRPr lang="en-US"/>
        </a:p>
      </dgm:t>
    </dgm:pt>
    <dgm:pt modelId="{6503FE09-FE15-4FC9-A967-0D468D8208BB}">
      <dgm:prSet/>
      <dgm:spPr/>
      <dgm:t>
        <a:bodyPr/>
        <a:lstStyle/>
        <a:p>
          <a:pPr rtl="0"/>
          <a:r>
            <a:rPr lang="en-US" b="1" dirty="0"/>
            <a:t>THANK YOU !</a:t>
          </a:r>
          <a:endParaRPr lang="en-US" dirty="0"/>
        </a:p>
      </dgm:t>
    </dgm:pt>
    <dgm:pt modelId="{81391946-2BD1-45EF-ABDF-6087AA4AAFC3}" type="parTrans" cxnId="{D195FCD8-FBF7-4C72-88F3-8F87229A080D}">
      <dgm:prSet/>
      <dgm:spPr/>
      <dgm:t>
        <a:bodyPr/>
        <a:lstStyle/>
        <a:p>
          <a:endParaRPr lang="en-US"/>
        </a:p>
      </dgm:t>
    </dgm:pt>
    <dgm:pt modelId="{4DFDD163-1632-4003-8694-7B31363B5696}" type="sibTrans" cxnId="{D195FCD8-FBF7-4C72-88F3-8F87229A080D}">
      <dgm:prSet/>
      <dgm:spPr/>
      <dgm:t>
        <a:bodyPr/>
        <a:lstStyle/>
        <a:p>
          <a:endParaRPr lang="en-US"/>
        </a:p>
      </dgm:t>
    </dgm:pt>
    <dgm:pt modelId="{107E4EB9-F3AF-43CD-811E-50DDE8E6AE7A}">
      <dgm:prSet/>
      <dgm:spPr/>
      <dgm:t>
        <a:bodyPr/>
        <a:lstStyle/>
        <a:p>
          <a:pPr rtl="0"/>
          <a:endParaRPr lang="en-US" dirty="0"/>
        </a:p>
      </dgm:t>
    </dgm:pt>
    <dgm:pt modelId="{0E90C7B9-D455-42AC-943F-6F9B8DDD85A1}" type="parTrans" cxnId="{D745387A-560C-4D4B-BFF9-BD354F0F826B}">
      <dgm:prSet/>
      <dgm:spPr/>
      <dgm:t>
        <a:bodyPr/>
        <a:lstStyle/>
        <a:p>
          <a:endParaRPr lang="en-US"/>
        </a:p>
      </dgm:t>
    </dgm:pt>
    <dgm:pt modelId="{2A4C1F3B-ACBC-4BA2-9308-661061AF4EE3}" type="sibTrans" cxnId="{D745387A-560C-4D4B-BFF9-BD354F0F826B}">
      <dgm:prSet/>
      <dgm:spPr/>
      <dgm:t>
        <a:bodyPr/>
        <a:lstStyle/>
        <a:p>
          <a:endParaRPr lang="en-US"/>
        </a:p>
      </dgm:t>
    </dgm:pt>
    <dgm:pt modelId="{BAE1B7AB-9330-4D41-BC56-47ED6A9030A1}">
      <dgm:prSet/>
      <dgm:spPr/>
      <dgm:t>
        <a:bodyPr/>
        <a:lstStyle/>
        <a:p>
          <a:pPr rtl="0"/>
          <a:endParaRPr lang="en-US"/>
        </a:p>
      </dgm:t>
    </dgm:pt>
    <dgm:pt modelId="{E9C6B219-DF38-4021-A1BE-EF1FC819DDAA}" type="parTrans" cxnId="{DF905FA4-77D6-4047-845B-73EC622EF075}">
      <dgm:prSet/>
      <dgm:spPr/>
      <dgm:t>
        <a:bodyPr/>
        <a:lstStyle/>
        <a:p>
          <a:endParaRPr lang="en-US"/>
        </a:p>
      </dgm:t>
    </dgm:pt>
    <dgm:pt modelId="{4FEF7538-DC1D-424B-9BEA-6839F9580199}" type="sibTrans" cxnId="{DF905FA4-77D6-4047-845B-73EC622EF075}">
      <dgm:prSet/>
      <dgm:spPr/>
      <dgm:t>
        <a:bodyPr/>
        <a:lstStyle/>
        <a:p>
          <a:endParaRPr lang="en-US"/>
        </a:p>
      </dgm:t>
    </dgm:pt>
    <dgm:pt modelId="{2CAE85FF-8F5E-482A-9C40-D42AC6E50D47}" type="pres">
      <dgm:prSet presAssocID="{21203EAA-F5A8-46DD-99F8-A487C3E30DF9}" presName="Name0" presStyleCnt="0">
        <dgm:presLayoutVars>
          <dgm:chMax val="7"/>
          <dgm:dir/>
          <dgm:animLvl val="lvl"/>
          <dgm:resizeHandles val="exact"/>
        </dgm:presLayoutVars>
      </dgm:prSet>
      <dgm:spPr/>
    </dgm:pt>
    <dgm:pt modelId="{60CFA241-CF8D-4820-AE43-9FBDC28D98A5}" type="pres">
      <dgm:prSet presAssocID="{6503FE09-FE15-4FC9-A967-0D468D8208BB}" presName="circle1" presStyleLbl="node1" presStyleIdx="0" presStyleCnt="3"/>
      <dgm:spPr/>
    </dgm:pt>
    <dgm:pt modelId="{24F63E49-E6C6-4FBE-92A9-F45413D8871F}" type="pres">
      <dgm:prSet presAssocID="{6503FE09-FE15-4FC9-A967-0D468D8208BB}" presName="space" presStyleCnt="0"/>
      <dgm:spPr/>
    </dgm:pt>
    <dgm:pt modelId="{C7D58AFF-B063-46C7-AF9D-CBCBD8D124C8}" type="pres">
      <dgm:prSet presAssocID="{6503FE09-FE15-4FC9-A967-0D468D8208BB}" presName="rect1" presStyleLbl="alignAcc1" presStyleIdx="0" presStyleCnt="3"/>
      <dgm:spPr/>
    </dgm:pt>
    <dgm:pt modelId="{76A2E290-D118-4D94-86E2-2469CC497AB7}" type="pres">
      <dgm:prSet presAssocID="{107E4EB9-F3AF-43CD-811E-50DDE8E6AE7A}" presName="vertSpace2" presStyleLbl="node1" presStyleIdx="0" presStyleCnt="3"/>
      <dgm:spPr/>
    </dgm:pt>
    <dgm:pt modelId="{DF29681B-A39D-41D0-A468-5B689F54D3CB}" type="pres">
      <dgm:prSet presAssocID="{107E4EB9-F3AF-43CD-811E-50DDE8E6AE7A}" presName="circle2" presStyleLbl="node1" presStyleIdx="1" presStyleCnt="3"/>
      <dgm:spPr/>
    </dgm:pt>
    <dgm:pt modelId="{902B445D-7B34-42DA-9303-5BD96C371056}" type="pres">
      <dgm:prSet presAssocID="{107E4EB9-F3AF-43CD-811E-50DDE8E6AE7A}" presName="rect2" presStyleLbl="alignAcc1" presStyleIdx="1" presStyleCnt="3"/>
      <dgm:spPr/>
    </dgm:pt>
    <dgm:pt modelId="{A4A65C1F-3516-4BFD-8181-0B388EB6233D}" type="pres">
      <dgm:prSet presAssocID="{BAE1B7AB-9330-4D41-BC56-47ED6A9030A1}" presName="vertSpace3" presStyleLbl="node1" presStyleIdx="1" presStyleCnt="3"/>
      <dgm:spPr/>
    </dgm:pt>
    <dgm:pt modelId="{B06A1B80-1BE5-4D0B-8850-C1F52AB9CDBA}" type="pres">
      <dgm:prSet presAssocID="{BAE1B7AB-9330-4D41-BC56-47ED6A9030A1}" presName="circle3" presStyleLbl="node1" presStyleIdx="2" presStyleCnt="3"/>
      <dgm:spPr/>
    </dgm:pt>
    <dgm:pt modelId="{48EFD673-8556-4B8B-B632-E3937C4B8FF4}" type="pres">
      <dgm:prSet presAssocID="{BAE1B7AB-9330-4D41-BC56-47ED6A9030A1}" presName="rect3" presStyleLbl="alignAcc1" presStyleIdx="2" presStyleCnt="3"/>
      <dgm:spPr/>
    </dgm:pt>
    <dgm:pt modelId="{5D2FBEA3-A953-4B2B-8DFA-B9F956269F3B}" type="pres">
      <dgm:prSet presAssocID="{6503FE09-FE15-4FC9-A967-0D468D8208BB}" presName="rect1ParTxNoCh" presStyleLbl="alignAcc1" presStyleIdx="2" presStyleCnt="3">
        <dgm:presLayoutVars>
          <dgm:chMax val="1"/>
          <dgm:bulletEnabled val="1"/>
        </dgm:presLayoutVars>
      </dgm:prSet>
      <dgm:spPr/>
    </dgm:pt>
    <dgm:pt modelId="{A3AADA89-1E29-4F98-9EDD-EC7F91E55511}" type="pres">
      <dgm:prSet presAssocID="{107E4EB9-F3AF-43CD-811E-50DDE8E6AE7A}" presName="rect2ParTxNoCh" presStyleLbl="alignAcc1" presStyleIdx="2" presStyleCnt="3">
        <dgm:presLayoutVars>
          <dgm:chMax val="1"/>
          <dgm:bulletEnabled val="1"/>
        </dgm:presLayoutVars>
      </dgm:prSet>
      <dgm:spPr/>
    </dgm:pt>
    <dgm:pt modelId="{1A5CF5E4-791C-4208-980D-FFF8B8BD2116}" type="pres">
      <dgm:prSet presAssocID="{BAE1B7AB-9330-4D41-BC56-47ED6A9030A1}" presName="rect3ParTxNoCh" presStyleLbl="alignAcc1" presStyleIdx="2" presStyleCnt="3">
        <dgm:presLayoutVars>
          <dgm:chMax val="1"/>
          <dgm:bulletEnabled val="1"/>
        </dgm:presLayoutVars>
      </dgm:prSet>
      <dgm:spPr/>
    </dgm:pt>
  </dgm:ptLst>
  <dgm:cxnLst>
    <dgm:cxn modelId="{BF90E253-151A-434C-B002-9880AA5946E1}" type="presOf" srcId="{6503FE09-FE15-4FC9-A967-0D468D8208BB}" destId="{5D2FBEA3-A953-4B2B-8DFA-B9F956269F3B}" srcOrd="1" destOrd="0" presId="urn:microsoft.com/office/officeart/2005/8/layout/target3"/>
    <dgm:cxn modelId="{83506B74-5177-46C7-98A5-E36773BE11BB}" type="presOf" srcId="{6503FE09-FE15-4FC9-A967-0D468D8208BB}" destId="{C7D58AFF-B063-46C7-AF9D-CBCBD8D124C8}" srcOrd="0" destOrd="0" presId="urn:microsoft.com/office/officeart/2005/8/layout/target3"/>
    <dgm:cxn modelId="{D745387A-560C-4D4B-BFF9-BD354F0F826B}" srcId="{21203EAA-F5A8-46DD-99F8-A487C3E30DF9}" destId="{107E4EB9-F3AF-43CD-811E-50DDE8E6AE7A}" srcOrd="1" destOrd="0" parTransId="{0E90C7B9-D455-42AC-943F-6F9B8DDD85A1}" sibTransId="{2A4C1F3B-ACBC-4BA2-9308-661061AF4EE3}"/>
    <dgm:cxn modelId="{C8A61E8B-4ECD-4B57-AC82-8B66416DEEC7}" type="presOf" srcId="{BAE1B7AB-9330-4D41-BC56-47ED6A9030A1}" destId="{1A5CF5E4-791C-4208-980D-FFF8B8BD2116}" srcOrd="1" destOrd="0" presId="urn:microsoft.com/office/officeart/2005/8/layout/target3"/>
    <dgm:cxn modelId="{C7554593-4B22-4BFB-A5E9-DB4FB21F9D16}" type="presOf" srcId="{BAE1B7AB-9330-4D41-BC56-47ED6A9030A1}" destId="{48EFD673-8556-4B8B-B632-E3937C4B8FF4}" srcOrd="0" destOrd="0" presId="urn:microsoft.com/office/officeart/2005/8/layout/target3"/>
    <dgm:cxn modelId="{DF905FA4-77D6-4047-845B-73EC622EF075}" srcId="{21203EAA-F5A8-46DD-99F8-A487C3E30DF9}" destId="{BAE1B7AB-9330-4D41-BC56-47ED6A9030A1}" srcOrd="2" destOrd="0" parTransId="{E9C6B219-DF38-4021-A1BE-EF1FC819DDAA}" sibTransId="{4FEF7538-DC1D-424B-9BEA-6839F9580199}"/>
    <dgm:cxn modelId="{5A6E3BC2-4826-4F22-AD63-7F0AD51AF284}" type="presOf" srcId="{107E4EB9-F3AF-43CD-811E-50DDE8E6AE7A}" destId="{A3AADA89-1E29-4F98-9EDD-EC7F91E55511}" srcOrd="1" destOrd="0" presId="urn:microsoft.com/office/officeart/2005/8/layout/target3"/>
    <dgm:cxn modelId="{5FCAB2D0-183E-47A7-AE84-E3AC10BDC917}" type="presOf" srcId="{21203EAA-F5A8-46DD-99F8-A487C3E30DF9}" destId="{2CAE85FF-8F5E-482A-9C40-D42AC6E50D47}" srcOrd="0" destOrd="0" presId="urn:microsoft.com/office/officeart/2005/8/layout/target3"/>
    <dgm:cxn modelId="{DA9774D6-CFAA-4DDD-AC6A-51824426CE13}" type="presOf" srcId="{107E4EB9-F3AF-43CD-811E-50DDE8E6AE7A}" destId="{902B445D-7B34-42DA-9303-5BD96C371056}" srcOrd="0" destOrd="0" presId="urn:microsoft.com/office/officeart/2005/8/layout/target3"/>
    <dgm:cxn modelId="{D195FCD8-FBF7-4C72-88F3-8F87229A080D}" srcId="{21203EAA-F5A8-46DD-99F8-A487C3E30DF9}" destId="{6503FE09-FE15-4FC9-A967-0D468D8208BB}" srcOrd="0" destOrd="0" parTransId="{81391946-2BD1-45EF-ABDF-6087AA4AAFC3}" sibTransId="{4DFDD163-1632-4003-8694-7B31363B5696}"/>
    <dgm:cxn modelId="{A74C1E1F-11E7-4DE4-9814-C65505C28F90}" type="presParOf" srcId="{2CAE85FF-8F5E-482A-9C40-D42AC6E50D47}" destId="{60CFA241-CF8D-4820-AE43-9FBDC28D98A5}" srcOrd="0" destOrd="0" presId="urn:microsoft.com/office/officeart/2005/8/layout/target3"/>
    <dgm:cxn modelId="{0E932CAF-2897-4C06-885F-2AA464ED91C0}" type="presParOf" srcId="{2CAE85FF-8F5E-482A-9C40-D42AC6E50D47}" destId="{24F63E49-E6C6-4FBE-92A9-F45413D8871F}" srcOrd="1" destOrd="0" presId="urn:microsoft.com/office/officeart/2005/8/layout/target3"/>
    <dgm:cxn modelId="{72E10770-2E41-4B5C-BEE1-8FD3466940CB}" type="presParOf" srcId="{2CAE85FF-8F5E-482A-9C40-D42AC6E50D47}" destId="{C7D58AFF-B063-46C7-AF9D-CBCBD8D124C8}" srcOrd="2" destOrd="0" presId="urn:microsoft.com/office/officeart/2005/8/layout/target3"/>
    <dgm:cxn modelId="{98C2CD40-A08D-4181-9354-B02993C1E5F9}" type="presParOf" srcId="{2CAE85FF-8F5E-482A-9C40-D42AC6E50D47}" destId="{76A2E290-D118-4D94-86E2-2469CC497AB7}" srcOrd="3" destOrd="0" presId="urn:microsoft.com/office/officeart/2005/8/layout/target3"/>
    <dgm:cxn modelId="{FDAC49B4-4B19-4CC3-AEF1-14127691FD90}" type="presParOf" srcId="{2CAE85FF-8F5E-482A-9C40-D42AC6E50D47}" destId="{DF29681B-A39D-41D0-A468-5B689F54D3CB}" srcOrd="4" destOrd="0" presId="urn:microsoft.com/office/officeart/2005/8/layout/target3"/>
    <dgm:cxn modelId="{F356B6E5-11B7-4AB5-AABB-2FB6930B60F9}" type="presParOf" srcId="{2CAE85FF-8F5E-482A-9C40-D42AC6E50D47}" destId="{902B445D-7B34-42DA-9303-5BD96C371056}" srcOrd="5" destOrd="0" presId="urn:microsoft.com/office/officeart/2005/8/layout/target3"/>
    <dgm:cxn modelId="{1999B369-9F95-4681-94E7-4263ABD399CF}" type="presParOf" srcId="{2CAE85FF-8F5E-482A-9C40-D42AC6E50D47}" destId="{A4A65C1F-3516-4BFD-8181-0B388EB6233D}" srcOrd="6" destOrd="0" presId="urn:microsoft.com/office/officeart/2005/8/layout/target3"/>
    <dgm:cxn modelId="{A7A698E6-92C4-4780-93C5-CDED8963E1DF}" type="presParOf" srcId="{2CAE85FF-8F5E-482A-9C40-D42AC6E50D47}" destId="{B06A1B80-1BE5-4D0B-8850-C1F52AB9CDBA}" srcOrd="7" destOrd="0" presId="urn:microsoft.com/office/officeart/2005/8/layout/target3"/>
    <dgm:cxn modelId="{83E7FBAF-738E-4A0C-8C02-B3ED4FE56977}" type="presParOf" srcId="{2CAE85FF-8F5E-482A-9C40-D42AC6E50D47}" destId="{48EFD673-8556-4B8B-B632-E3937C4B8FF4}" srcOrd="8" destOrd="0" presId="urn:microsoft.com/office/officeart/2005/8/layout/target3"/>
    <dgm:cxn modelId="{A968EFC4-3F9F-42A3-95C0-3DF8F8984993}" type="presParOf" srcId="{2CAE85FF-8F5E-482A-9C40-D42AC6E50D47}" destId="{5D2FBEA3-A953-4B2B-8DFA-B9F956269F3B}" srcOrd="9" destOrd="0" presId="urn:microsoft.com/office/officeart/2005/8/layout/target3"/>
    <dgm:cxn modelId="{8EB919BB-A789-42D8-A0AE-175403501F52}" type="presParOf" srcId="{2CAE85FF-8F5E-482A-9C40-D42AC6E50D47}" destId="{A3AADA89-1E29-4F98-9EDD-EC7F91E55511}" srcOrd="10" destOrd="0" presId="urn:microsoft.com/office/officeart/2005/8/layout/target3"/>
    <dgm:cxn modelId="{DCCE5555-47B6-47C7-A281-E482C45125DA}" type="presParOf" srcId="{2CAE85FF-8F5E-482A-9C40-D42AC6E50D47}" destId="{1A5CF5E4-791C-4208-980D-FFF8B8BD2116}" srcOrd="11"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8A4497-1AC2-4850-8B39-3AEC9ECEBBF6}">
      <dsp:nvSpPr>
        <dsp:cNvPr id="0" name=""/>
        <dsp:cNvSpPr/>
      </dsp:nvSpPr>
      <dsp:spPr>
        <a:xfrm>
          <a:off x="3273224" y="347172"/>
          <a:ext cx="4486542" cy="4486542"/>
        </a:xfrm>
        <a:prstGeom prst="pie">
          <a:avLst>
            <a:gd name="adj1" fmla="val 16200000"/>
            <a:gd name="adj2" fmla="val 1800000"/>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i="1" kern="1200" dirty="0"/>
            <a:t>Pluralistic</a:t>
          </a:r>
        </a:p>
        <a:p>
          <a:pPr marL="0" lvl="0" indent="0" algn="ctr" defTabSz="1111250">
            <a:lnSpc>
              <a:spcPct val="90000"/>
            </a:lnSpc>
            <a:spcBef>
              <a:spcPct val="0"/>
            </a:spcBef>
            <a:spcAft>
              <a:spcPct val="35000"/>
            </a:spcAft>
            <a:buNone/>
          </a:pPr>
          <a:r>
            <a:rPr lang="en-US" sz="2500" i="1" kern="1200" dirty="0"/>
            <a:t>Power Structure </a:t>
          </a:r>
        </a:p>
      </dsp:txBody>
      <dsp:txXfrm>
        <a:off x="5637739" y="1297892"/>
        <a:ext cx="1602336" cy="1335280"/>
      </dsp:txXfrm>
    </dsp:sp>
    <dsp:sp modelId="{3D950A07-95E0-4460-9188-0A93404F330F}">
      <dsp:nvSpPr>
        <dsp:cNvPr id="0" name=""/>
        <dsp:cNvSpPr/>
      </dsp:nvSpPr>
      <dsp:spPr>
        <a:xfrm>
          <a:off x="3180823" y="507406"/>
          <a:ext cx="4486542" cy="4486542"/>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i="1" kern="1200" dirty="0"/>
            <a:t>Ideological</a:t>
          </a:r>
        </a:p>
        <a:p>
          <a:pPr marL="0" lvl="0" indent="0" algn="ctr" defTabSz="1111250">
            <a:lnSpc>
              <a:spcPct val="90000"/>
            </a:lnSpc>
            <a:spcBef>
              <a:spcPct val="0"/>
            </a:spcBef>
            <a:spcAft>
              <a:spcPct val="35000"/>
            </a:spcAft>
            <a:buNone/>
          </a:pPr>
          <a:r>
            <a:rPr lang="en-US" sz="2500" i="1" kern="1200" dirty="0"/>
            <a:t>Power Structure  </a:t>
          </a:r>
        </a:p>
      </dsp:txBody>
      <dsp:txXfrm>
        <a:off x="4249047" y="3418318"/>
        <a:ext cx="2403504" cy="1175046"/>
      </dsp:txXfrm>
    </dsp:sp>
    <dsp:sp modelId="{9D702B46-887D-4785-9465-08A50D9CB915}">
      <dsp:nvSpPr>
        <dsp:cNvPr id="0" name=""/>
        <dsp:cNvSpPr/>
      </dsp:nvSpPr>
      <dsp:spPr>
        <a:xfrm>
          <a:off x="3234705" y="347172"/>
          <a:ext cx="4193975" cy="4486542"/>
        </a:xfrm>
        <a:prstGeom prst="pie">
          <a:avLst>
            <a:gd name="adj1" fmla="val 9000000"/>
            <a:gd name="adj2" fmla="val 1620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i="1" kern="1200" dirty="0"/>
            <a:t>Monolithic</a:t>
          </a:r>
        </a:p>
        <a:p>
          <a:pPr marL="0" lvl="0" indent="0" algn="ctr" defTabSz="1111250">
            <a:lnSpc>
              <a:spcPct val="90000"/>
            </a:lnSpc>
            <a:spcBef>
              <a:spcPct val="0"/>
            </a:spcBef>
            <a:spcAft>
              <a:spcPct val="35000"/>
            </a:spcAft>
            <a:buNone/>
          </a:pPr>
          <a:r>
            <a:rPr lang="en-US" sz="2500" i="1" kern="1200" dirty="0"/>
            <a:t>Power Structure </a:t>
          </a:r>
        </a:p>
      </dsp:txBody>
      <dsp:txXfrm>
        <a:off x="3720507" y="1297892"/>
        <a:ext cx="1497848" cy="1335280"/>
      </dsp:txXfrm>
    </dsp:sp>
    <dsp:sp modelId="{5D40F360-02FF-47D5-A9D0-C52BBB761DE4}">
      <dsp:nvSpPr>
        <dsp:cNvPr id="0" name=""/>
        <dsp:cNvSpPr/>
      </dsp:nvSpPr>
      <dsp:spPr>
        <a:xfrm>
          <a:off x="2995856" y="69434"/>
          <a:ext cx="5042019" cy="5042019"/>
        </a:xfrm>
        <a:prstGeom prst="circularArrow">
          <a:avLst>
            <a:gd name="adj1" fmla="val 5085"/>
            <a:gd name="adj2" fmla="val 327528"/>
            <a:gd name="adj3" fmla="val 1472472"/>
            <a:gd name="adj4" fmla="val 16199432"/>
            <a:gd name="adj5" fmla="val 5932"/>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sp>
    <dsp:sp modelId="{BDE92E16-63D4-4515-B7F8-BE36D2E15920}">
      <dsp:nvSpPr>
        <dsp:cNvPr id="0" name=""/>
        <dsp:cNvSpPr/>
      </dsp:nvSpPr>
      <dsp:spPr>
        <a:xfrm>
          <a:off x="2903085" y="229384"/>
          <a:ext cx="5042019" cy="5042019"/>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2712C23-AD65-45AA-B7BA-5F686DD32344}">
      <dsp:nvSpPr>
        <dsp:cNvPr id="0" name=""/>
        <dsp:cNvSpPr/>
      </dsp:nvSpPr>
      <dsp:spPr>
        <a:xfrm>
          <a:off x="2811487" y="69434"/>
          <a:ext cx="5042019" cy="5042019"/>
        </a:xfrm>
        <a:prstGeom prst="circularArrow">
          <a:avLst>
            <a:gd name="adj1" fmla="val 5085"/>
            <a:gd name="adj2" fmla="val 327528"/>
            <a:gd name="adj3" fmla="val 15873039"/>
            <a:gd name="adj4" fmla="val 9000000"/>
            <a:gd name="adj5" fmla="val 5932"/>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CFA241-CF8D-4820-AE43-9FBDC28D98A5}">
      <dsp:nvSpPr>
        <dsp:cNvPr id="0" name=""/>
        <dsp:cNvSpPr/>
      </dsp:nvSpPr>
      <dsp:spPr>
        <a:xfrm>
          <a:off x="0" y="0"/>
          <a:ext cx="4449891" cy="4449891"/>
        </a:xfrm>
        <a:prstGeom prst="pie">
          <a:avLst>
            <a:gd name="adj1" fmla="val 5400000"/>
            <a:gd name="adj2" fmla="val 1620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C7D58AFF-B063-46C7-AF9D-CBCBD8D124C8}">
      <dsp:nvSpPr>
        <dsp:cNvPr id="0" name=""/>
        <dsp:cNvSpPr/>
      </dsp:nvSpPr>
      <dsp:spPr>
        <a:xfrm>
          <a:off x="2224945" y="0"/>
          <a:ext cx="6690454" cy="4449891"/>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chilly" dir="t"/>
        </a:scene3d>
        <a:sp3d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rtl="0">
            <a:lnSpc>
              <a:spcPct val="90000"/>
            </a:lnSpc>
            <a:spcBef>
              <a:spcPct val="0"/>
            </a:spcBef>
            <a:spcAft>
              <a:spcPct val="35000"/>
            </a:spcAft>
            <a:buNone/>
          </a:pPr>
          <a:r>
            <a:rPr lang="en-US" sz="6100" b="1" kern="1200" dirty="0"/>
            <a:t>THANK YOU !</a:t>
          </a:r>
          <a:endParaRPr lang="en-US" sz="6100" kern="1200" dirty="0"/>
        </a:p>
      </dsp:txBody>
      <dsp:txXfrm>
        <a:off x="2224945" y="0"/>
        <a:ext cx="6690454" cy="1334970"/>
      </dsp:txXfrm>
    </dsp:sp>
    <dsp:sp modelId="{DF29681B-A39D-41D0-A468-5B689F54D3CB}">
      <dsp:nvSpPr>
        <dsp:cNvPr id="0" name=""/>
        <dsp:cNvSpPr/>
      </dsp:nvSpPr>
      <dsp:spPr>
        <a:xfrm>
          <a:off x="778732" y="1334970"/>
          <a:ext cx="2892426" cy="2892426"/>
        </a:xfrm>
        <a:prstGeom prst="pie">
          <a:avLst>
            <a:gd name="adj1" fmla="val 5400000"/>
            <a:gd name="adj2" fmla="val 1620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902B445D-7B34-42DA-9303-5BD96C371056}">
      <dsp:nvSpPr>
        <dsp:cNvPr id="0" name=""/>
        <dsp:cNvSpPr/>
      </dsp:nvSpPr>
      <dsp:spPr>
        <a:xfrm>
          <a:off x="2224945" y="1334970"/>
          <a:ext cx="6690454" cy="2892426"/>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rtl="0">
            <a:lnSpc>
              <a:spcPct val="90000"/>
            </a:lnSpc>
            <a:spcBef>
              <a:spcPct val="0"/>
            </a:spcBef>
            <a:spcAft>
              <a:spcPct val="35000"/>
            </a:spcAft>
            <a:buNone/>
          </a:pPr>
          <a:endParaRPr lang="en-US" sz="6100" kern="1200" dirty="0"/>
        </a:p>
      </dsp:txBody>
      <dsp:txXfrm>
        <a:off x="2224945" y="1334970"/>
        <a:ext cx="6690454" cy="1334965"/>
      </dsp:txXfrm>
    </dsp:sp>
    <dsp:sp modelId="{B06A1B80-1BE5-4D0B-8850-C1F52AB9CDBA}">
      <dsp:nvSpPr>
        <dsp:cNvPr id="0" name=""/>
        <dsp:cNvSpPr/>
      </dsp:nvSpPr>
      <dsp:spPr>
        <a:xfrm>
          <a:off x="1557462" y="2669935"/>
          <a:ext cx="1334965" cy="1334965"/>
        </a:xfrm>
        <a:prstGeom prst="pie">
          <a:avLst>
            <a:gd name="adj1" fmla="val 5400000"/>
            <a:gd name="adj2" fmla="val 16200000"/>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48EFD673-8556-4B8B-B632-E3937C4B8FF4}">
      <dsp:nvSpPr>
        <dsp:cNvPr id="0" name=""/>
        <dsp:cNvSpPr/>
      </dsp:nvSpPr>
      <dsp:spPr>
        <a:xfrm>
          <a:off x="2224945" y="2669935"/>
          <a:ext cx="6690454" cy="1334965"/>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chilly" dir="t"/>
        </a:scene3d>
        <a:sp3d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rtl="0">
            <a:lnSpc>
              <a:spcPct val="90000"/>
            </a:lnSpc>
            <a:spcBef>
              <a:spcPct val="0"/>
            </a:spcBef>
            <a:spcAft>
              <a:spcPct val="35000"/>
            </a:spcAft>
            <a:buNone/>
          </a:pPr>
          <a:endParaRPr lang="en-US" sz="6100" kern="1200"/>
        </a:p>
      </dsp:txBody>
      <dsp:txXfrm>
        <a:off x="2224945" y="2669935"/>
        <a:ext cx="6690454" cy="1334965"/>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BA79C3-98AA-4CFC-9079-E0F34ACCBF62}"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2110399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BA79C3-98AA-4CFC-9079-E0F34ACCBF62}"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71997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BA79C3-98AA-4CFC-9079-E0F34ACCBF62}"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1290951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BA79C3-98AA-4CFC-9079-E0F34ACCBF62}" type="datetimeFigureOut">
              <a:rPr lang="en-US" smtClean="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68751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BA79C3-98AA-4CFC-9079-E0F34ACCBF62}" type="datetimeFigureOut">
              <a:rPr lang="en-US" smtClean="0"/>
              <a:t>12/8/2023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3503519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BA79C3-98AA-4CFC-9079-E0F34ACCBF62}" type="datetimeFigureOut">
              <a:rPr lang="en-US" smtClean="0"/>
              <a:t>12/8/2023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3373257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BA79C3-98AA-4CFC-9079-E0F34ACCBF62}" type="datetimeFigureOut">
              <a:rPr lang="en-US" smtClean="0"/>
              <a:t>12/8/2023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381806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BA79C3-98AA-4CFC-9079-E0F34ACCBF62}" type="datetimeFigureOut">
              <a:rPr lang="en-US" smtClean="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2958954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BA79C3-98AA-4CFC-9079-E0F34ACCBF62}" type="datetimeFigureOut">
              <a:rPr lang="en-US" smtClean="0"/>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2772586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BA79C3-98AA-4CFC-9079-E0F34ACCBF62}"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43438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BA79C3-98AA-4CFC-9079-E0F34ACCBF62}" type="datetimeFigureOut">
              <a:rPr lang="en-US" smtClean="0"/>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1119FD-59AD-4D14-8198-3FFC8A7144B6}" type="slidenum">
              <a:rPr lang="en-US" smtClean="0"/>
              <a:t>‹#›</a:t>
            </a:fld>
            <a:endParaRPr lang="en-US"/>
          </a:p>
        </p:txBody>
      </p:sp>
    </p:spTree>
    <p:extLst>
      <p:ext uri="{BB962C8B-B14F-4D97-AF65-F5344CB8AC3E}">
        <p14:creationId xmlns:p14="http://schemas.microsoft.com/office/powerpoint/2010/main" val="882703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BA79C3-98AA-4CFC-9079-E0F34ACCBF62}" type="datetimeFigureOut">
              <a:rPr lang="en-US" smtClean="0"/>
              <a:t>12/8/2023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1119FD-59AD-4D14-8198-3FFC8A7144B6}" type="slidenum">
              <a:rPr lang="en-US" smtClean="0"/>
              <a:t>‹#›</a:t>
            </a:fld>
            <a:endParaRPr lang="en-US"/>
          </a:p>
        </p:txBody>
      </p:sp>
    </p:spTree>
    <p:extLst>
      <p:ext uri="{BB962C8B-B14F-4D97-AF65-F5344CB8AC3E}">
        <p14:creationId xmlns:p14="http://schemas.microsoft.com/office/powerpoint/2010/main" val="2301553508"/>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16/j.landusepol.2020.104557" TargetMode="External"/><Relationship Id="rId2" Type="http://schemas.openxmlformats.org/officeDocument/2006/relationships/hyperlink" Target="https://www.sciencedirect.com/science/journal/02648377/95/supp/C" TargetMode="External"/><Relationship Id="rId1" Type="http://schemas.openxmlformats.org/officeDocument/2006/relationships/slideLayout" Target="../slideLayouts/slideLayout2.xml"/><Relationship Id="rId4" Type="http://schemas.openxmlformats.org/officeDocument/2006/relationships/hyperlink" Target="https://journals.sagepub.com/doi/abs/10.1177/13915614211034256"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95512" y="905855"/>
            <a:ext cx="10160951" cy="4799888"/>
          </a:xfrm>
          <a:scene3d>
            <a:camera prst="isometricRightUp"/>
            <a:lightRig rig="threePt" dir="t"/>
          </a:scene3d>
        </p:spPr>
        <p:txBody>
          <a:bodyPr anchor="ctr">
            <a:normAutofit/>
          </a:bodyPr>
          <a:lstStyle/>
          <a:p>
            <a:pPr algn="ctr"/>
            <a:endParaRPr lang="en-US" sz="4800" b="1" dirty="0"/>
          </a:p>
          <a:p>
            <a:pPr algn="ctr"/>
            <a:r>
              <a:rPr lang="en-US" sz="4800" b="1" i="1" dirty="0"/>
              <a:t>Emergence of Bangladesh </a:t>
            </a:r>
            <a:endParaRPr lang="en-US" sz="4800" b="1" dirty="0"/>
          </a:p>
          <a:p>
            <a:pPr algn="ctr"/>
            <a:r>
              <a:rPr lang="en-US" sz="4800" b="1" dirty="0"/>
              <a:t>North South University</a:t>
            </a:r>
          </a:p>
          <a:p>
            <a:pPr algn="ctr"/>
            <a:r>
              <a:rPr lang="en-US" sz="4800" b="1" dirty="0"/>
              <a:t>DEPT. OF HISTORY &amp; PHILOSOPHY</a:t>
            </a:r>
          </a:p>
          <a:p>
            <a:pPr algn="ctr"/>
            <a:r>
              <a:rPr lang="en-US" sz="4800" b="1" dirty="0"/>
              <a:t>Dhaka, Bangladesh </a:t>
            </a:r>
          </a:p>
          <a:p>
            <a:pPr algn="ctr"/>
            <a:r>
              <a:rPr lang="en-US" sz="4800" b="1" dirty="0"/>
              <a:t>HIS 103</a:t>
            </a:r>
          </a:p>
        </p:txBody>
      </p:sp>
    </p:spTree>
    <p:extLst>
      <p:ext uri="{BB962C8B-B14F-4D97-AF65-F5344CB8AC3E}">
        <p14:creationId xmlns:p14="http://schemas.microsoft.com/office/powerpoint/2010/main" val="3420310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2065" y="1547447"/>
            <a:ext cx="8892074" cy="2091492"/>
          </a:xfrm>
        </p:spPr>
        <p:txBody>
          <a:bodyPr anchor="ctr">
            <a:normAutofit/>
          </a:bodyPr>
          <a:lstStyle/>
          <a:p>
            <a:r>
              <a:rPr lang="en-US" b="1" dirty="0">
                <a:solidFill>
                  <a:srgbClr val="FF0000"/>
                </a:solidFill>
              </a:rPr>
              <a:t>Permanent Settlement of 1793</a:t>
            </a:r>
          </a:p>
        </p:txBody>
      </p:sp>
    </p:spTree>
    <p:extLst>
      <p:ext uri="{BB962C8B-B14F-4D97-AF65-F5344CB8AC3E}">
        <p14:creationId xmlns:p14="http://schemas.microsoft.com/office/powerpoint/2010/main" val="1583250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562" y="188008"/>
            <a:ext cx="11733374" cy="752030"/>
          </a:xfrm>
        </p:spPr>
        <p:txBody>
          <a:bodyPr>
            <a:normAutofit/>
          </a:bodyPr>
          <a:lstStyle/>
          <a:p>
            <a:r>
              <a:rPr lang="en-US" b="1" dirty="0"/>
              <a:t>HISTORICAL BACKGROUND &amp; IMPORTANCE:</a:t>
            </a:r>
          </a:p>
        </p:txBody>
      </p:sp>
      <p:sp>
        <p:nvSpPr>
          <p:cNvPr id="3" name="Content Placeholder 2"/>
          <p:cNvSpPr>
            <a:spLocks noGrp="1"/>
          </p:cNvSpPr>
          <p:nvPr>
            <p:ph idx="1"/>
          </p:nvPr>
        </p:nvSpPr>
        <p:spPr>
          <a:xfrm>
            <a:off x="783771" y="1247685"/>
            <a:ext cx="10394302" cy="4453319"/>
          </a:xfrm>
        </p:spPr>
        <p:txBody>
          <a:bodyPr>
            <a:normAutofit/>
          </a:bodyPr>
          <a:lstStyle/>
          <a:p>
            <a:pPr algn="just"/>
            <a:r>
              <a:rPr lang="en-US" sz="2400" dirty="0"/>
              <a:t>The most momentous decision of the early colonial period was the creation of </a:t>
            </a:r>
            <a:r>
              <a:rPr lang="en-US" sz="2400" dirty="0">
                <a:solidFill>
                  <a:srgbClr val="FF0000"/>
                </a:solidFill>
              </a:rPr>
              <a:t>a new system of land taxation </a:t>
            </a:r>
            <a:r>
              <a:rPr lang="en-US" sz="2400" dirty="0"/>
              <a:t>which came to be known as the ‘permanent settlement’. Introduced in 1790 and codified in </a:t>
            </a:r>
            <a:r>
              <a:rPr lang="en-US" sz="2400" dirty="0">
                <a:solidFill>
                  <a:srgbClr val="FF0000"/>
                </a:solidFill>
              </a:rPr>
              <a:t>1793</a:t>
            </a:r>
            <a:r>
              <a:rPr lang="en-US" sz="2400" dirty="0"/>
              <a:t>, it was important because it was more than merely a tax system.</a:t>
            </a:r>
          </a:p>
          <a:p>
            <a:pPr algn="just"/>
            <a:r>
              <a:rPr lang="en-US" sz="2400" dirty="0"/>
              <a:t> It formed </a:t>
            </a:r>
            <a:r>
              <a:rPr lang="en-US" sz="2400" dirty="0">
                <a:solidFill>
                  <a:srgbClr val="FF0000"/>
                </a:solidFill>
              </a:rPr>
              <a:t>the nucleus of the colonial system of control</a:t>
            </a:r>
            <a:r>
              <a:rPr lang="en-US" sz="2400" dirty="0"/>
              <a:t>; other parts of the administration such as the executive, the judiciary and the police were geared to the desired working of the permanent settlement.</a:t>
            </a:r>
          </a:p>
          <a:p>
            <a:pPr algn="just"/>
            <a:r>
              <a:rPr lang="en-US" sz="2400" dirty="0"/>
              <a:t> It survived with modifications till the 1950s and </a:t>
            </a:r>
            <a:r>
              <a:rPr lang="en-US" sz="2400" dirty="0" err="1"/>
              <a:t>moulded</a:t>
            </a:r>
            <a:r>
              <a:rPr lang="en-US" sz="2400" dirty="0"/>
              <a:t> </a:t>
            </a:r>
            <a:r>
              <a:rPr lang="en-US" sz="2400" dirty="0">
                <a:solidFill>
                  <a:srgbClr val="FF0000"/>
                </a:solidFill>
              </a:rPr>
              <a:t>social and economic relations </a:t>
            </a:r>
            <a:r>
              <a:rPr lang="en-US" sz="2400" dirty="0"/>
              <a:t>in the Bengal delta to such an extent that </a:t>
            </a:r>
            <a:r>
              <a:rPr lang="en-US" sz="2400" dirty="0">
                <a:solidFill>
                  <a:srgbClr val="FF0000"/>
                </a:solidFill>
              </a:rPr>
              <a:t>contemporary Bangladesh society cannot be understood without reference to it </a:t>
            </a:r>
            <a:r>
              <a:rPr lang="en-US" sz="2400" dirty="0">
                <a:solidFill>
                  <a:srgbClr val="0070C0"/>
                </a:solidFill>
              </a:rPr>
              <a:t>(Schendel, 2010).</a:t>
            </a:r>
          </a:p>
        </p:txBody>
      </p:sp>
    </p:spTree>
    <p:extLst>
      <p:ext uri="{BB962C8B-B14F-4D97-AF65-F5344CB8AC3E}">
        <p14:creationId xmlns:p14="http://schemas.microsoft.com/office/powerpoint/2010/main" val="3169097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389" y="564023"/>
            <a:ext cx="10940590" cy="666572"/>
          </a:xfrm>
        </p:spPr>
        <p:txBody>
          <a:bodyPr>
            <a:noAutofit/>
          </a:bodyPr>
          <a:lstStyle/>
          <a:p>
            <a:r>
              <a:rPr lang="en-US" sz="4000" b="1" dirty="0"/>
              <a:t>PROBLEMS &amp; ISSUES: </a:t>
            </a:r>
          </a:p>
        </p:txBody>
      </p:sp>
      <p:sp>
        <p:nvSpPr>
          <p:cNvPr id="3" name="Content Placeholder 2"/>
          <p:cNvSpPr>
            <a:spLocks noGrp="1"/>
          </p:cNvSpPr>
          <p:nvPr>
            <p:ph idx="1"/>
          </p:nvPr>
        </p:nvSpPr>
        <p:spPr>
          <a:xfrm>
            <a:off x="572568" y="1350236"/>
            <a:ext cx="11536823" cy="5435125"/>
          </a:xfrm>
        </p:spPr>
        <p:txBody>
          <a:bodyPr>
            <a:normAutofit/>
          </a:bodyPr>
          <a:lstStyle/>
          <a:p>
            <a:pPr algn="just"/>
            <a:r>
              <a:rPr lang="en-US" sz="2800" dirty="0"/>
              <a:t>The BEIC introduced several measures </a:t>
            </a:r>
            <a:r>
              <a:rPr lang="en-US" sz="2800" dirty="0">
                <a:solidFill>
                  <a:srgbClr val="FF0000"/>
                </a:solidFill>
              </a:rPr>
              <a:t>to increase its share of revenue</a:t>
            </a:r>
            <a:r>
              <a:rPr lang="en-US" sz="2800" dirty="0"/>
              <a:t>. Warren Hastings initiated a temporary </a:t>
            </a:r>
            <a:r>
              <a:rPr lang="en-US" sz="2800" dirty="0">
                <a:solidFill>
                  <a:srgbClr val="FF0000"/>
                </a:solidFill>
              </a:rPr>
              <a:t>5-year term settlement </a:t>
            </a:r>
            <a:r>
              <a:rPr lang="en-US" sz="2800" dirty="0"/>
              <a:t>which was later reduced to a </a:t>
            </a:r>
            <a:r>
              <a:rPr lang="en-US" sz="2800" dirty="0">
                <a:solidFill>
                  <a:srgbClr val="FF0000"/>
                </a:solidFill>
              </a:rPr>
              <a:t>1-year term. </a:t>
            </a:r>
            <a:r>
              <a:rPr lang="en-US" sz="2800" dirty="0"/>
              <a:t>In the meantime, Lord Cornwallis was appointed as a new Governor General for Bengal in 1786.  He was in favor of a permanent settlement </a:t>
            </a:r>
            <a:r>
              <a:rPr lang="en-US" sz="2800" dirty="0">
                <a:solidFill>
                  <a:srgbClr val="FF0000"/>
                </a:solidFill>
              </a:rPr>
              <a:t>to secure a stable basis for revenue earning</a:t>
            </a:r>
            <a:r>
              <a:rPr lang="en-US" sz="2800" dirty="0"/>
              <a:t>. To this end, he introduced </a:t>
            </a:r>
            <a:r>
              <a:rPr lang="en-US" sz="2800" dirty="0">
                <a:solidFill>
                  <a:srgbClr val="FF0000"/>
                </a:solidFill>
              </a:rPr>
              <a:t>a 10-year settlement</a:t>
            </a:r>
            <a:r>
              <a:rPr lang="en-US" sz="2800" dirty="0"/>
              <a:t>. </a:t>
            </a:r>
          </a:p>
          <a:p>
            <a:pPr algn="just"/>
            <a:r>
              <a:rPr lang="en-US" sz="2800" dirty="0"/>
              <a:t>So, the Permanent Settlement was first introduced in Bengal by Lord Cornwallis </a:t>
            </a:r>
            <a:r>
              <a:rPr lang="en-US" sz="2800" dirty="0">
                <a:solidFill>
                  <a:srgbClr val="FF0000"/>
                </a:solidFill>
              </a:rPr>
              <a:t>in 1793 </a:t>
            </a:r>
            <a:r>
              <a:rPr lang="en-US" sz="2800" dirty="0"/>
              <a:t>and later extended to parts of Bihar, Orissa and Madras. It has been claimed by many (including Marxists) that by </a:t>
            </a:r>
            <a:r>
              <a:rPr lang="en-US" sz="2800" dirty="0">
                <a:solidFill>
                  <a:srgbClr val="FF0000"/>
                </a:solidFill>
              </a:rPr>
              <a:t>introducing the </a:t>
            </a:r>
            <a:r>
              <a:rPr lang="en-US" sz="2800" i="1" dirty="0" err="1">
                <a:solidFill>
                  <a:srgbClr val="FF0000"/>
                </a:solidFill>
              </a:rPr>
              <a:t>zamindari</a:t>
            </a:r>
            <a:r>
              <a:rPr lang="en-US" sz="2800" i="1" dirty="0">
                <a:solidFill>
                  <a:srgbClr val="FF0000"/>
                </a:solidFill>
              </a:rPr>
              <a:t> </a:t>
            </a:r>
            <a:r>
              <a:rPr lang="en-US" sz="2800" dirty="0">
                <a:solidFill>
                  <a:srgbClr val="FF0000"/>
                </a:solidFill>
              </a:rPr>
              <a:t>system, the British created a feudal class in India.</a:t>
            </a:r>
          </a:p>
          <a:p>
            <a:pPr algn="just"/>
            <a:endParaRPr lang="en-US" sz="2800" dirty="0"/>
          </a:p>
        </p:txBody>
      </p:sp>
    </p:spTree>
    <p:extLst>
      <p:ext uri="{BB962C8B-B14F-4D97-AF65-F5344CB8AC3E}">
        <p14:creationId xmlns:p14="http://schemas.microsoft.com/office/powerpoint/2010/main" val="1682713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840" y="1119499"/>
            <a:ext cx="11519730" cy="4882716"/>
          </a:xfrm>
        </p:spPr>
        <p:txBody>
          <a:bodyPr>
            <a:normAutofit/>
          </a:bodyPr>
          <a:lstStyle/>
          <a:p>
            <a:pPr algn="just"/>
            <a:r>
              <a:rPr lang="en-US" sz="2400" b="1" dirty="0"/>
              <a:t>The Permanent Settlement</a:t>
            </a:r>
            <a:r>
              <a:rPr lang="en-US" sz="2400" dirty="0"/>
              <a:t> (PS) was a </a:t>
            </a:r>
            <a:r>
              <a:rPr lang="en-US" sz="2400" dirty="0">
                <a:solidFill>
                  <a:srgbClr val="FF0000"/>
                </a:solidFill>
              </a:rPr>
              <a:t>grand contract </a:t>
            </a:r>
            <a:r>
              <a:rPr lang="en-US" sz="2400" dirty="0"/>
              <a:t>signed </a:t>
            </a:r>
            <a:r>
              <a:rPr lang="en-US" sz="2400" dirty="0">
                <a:solidFill>
                  <a:srgbClr val="FF0000"/>
                </a:solidFill>
              </a:rPr>
              <a:t>in 1793 </a:t>
            </a:r>
            <a:r>
              <a:rPr lang="en-US" sz="2400" dirty="0"/>
              <a:t>between the government of the East India Company in Bengal and individual landholders of Bengal- </a:t>
            </a:r>
            <a:r>
              <a:rPr lang="en-US" sz="2400" dirty="0" err="1"/>
              <a:t>zamindars</a:t>
            </a:r>
            <a:r>
              <a:rPr lang="en-US" sz="2400" dirty="0"/>
              <a:t> and </a:t>
            </a:r>
            <a:r>
              <a:rPr lang="en-US" sz="2400" dirty="0" err="1"/>
              <a:t>talukdars</a:t>
            </a:r>
            <a:r>
              <a:rPr lang="en-US" sz="2400" dirty="0"/>
              <a:t>. Under the contract, the  </a:t>
            </a:r>
            <a:r>
              <a:rPr lang="en-US" sz="2400" dirty="0" err="1"/>
              <a:t>zamindars</a:t>
            </a:r>
            <a:r>
              <a:rPr lang="en-US" sz="2400" dirty="0"/>
              <a:t>  were admitted into the </a:t>
            </a:r>
            <a:r>
              <a:rPr lang="en-US" sz="2400" dirty="0">
                <a:solidFill>
                  <a:srgbClr val="FF0000"/>
                </a:solidFill>
              </a:rPr>
              <a:t>colonial state system </a:t>
            </a:r>
            <a:r>
              <a:rPr lang="en-US" sz="2400" dirty="0"/>
              <a:t>as the absolute proprietors of landed property in Bengal. The government revenue payable to government </a:t>
            </a:r>
            <a:r>
              <a:rPr lang="en-US" sz="2400" dirty="0">
                <a:solidFill>
                  <a:srgbClr val="FF0000"/>
                </a:solidFill>
              </a:rPr>
              <a:t>was fixed permanently. </a:t>
            </a:r>
            <a:r>
              <a:rPr lang="en-US" sz="2400" dirty="0"/>
              <a:t>The rules of the permanent settlement made every individual </a:t>
            </a:r>
            <a:r>
              <a:rPr lang="en-US" sz="2400" i="1" dirty="0" err="1"/>
              <a:t>zamindar</a:t>
            </a:r>
            <a:r>
              <a:rPr lang="en-US" sz="2400" dirty="0"/>
              <a:t> and </a:t>
            </a:r>
            <a:r>
              <a:rPr lang="en-US" sz="2400" dirty="0" err="1"/>
              <a:t>talukdar</a:t>
            </a:r>
            <a:r>
              <a:rPr lang="en-US" sz="2400" dirty="0"/>
              <a:t> the permanent and absolute proprietors of the land under their control. </a:t>
            </a:r>
          </a:p>
          <a:p>
            <a:pPr algn="just"/>
            <a:r>
              <a:rPr lang="en-US" sz="2400" dirty="0"/>
              <a:t>As absolute proprietors of land, </a:t>
            </a:r>
            <a:r>
              <a:rPr lang="en-US" sz="2400" i="1" dirty="0" err="1"/>
              <a:t>zamindars</a:t>
            </a:r>
            <a:r>
              <a:rPr lang="en-US" sz="2400" dirty="0"/>
              <a:t> and </a:t>
            </a:r>
            <a:r>
              <a:rPr lang="en-US" sz="2400" i="1" dirty="0" err="1"/>
              <a:t>talukdars</a:t>
            </a:r>
            <a:r>
              <a:rPr lang="en-US" sz="2400" dirty="0"/>
              <a:t> were required to pay revenue to government at </a:t>
            </a:r>
            <a:r>
              <a:rPr lang="en-US" sz="2400" dirty="0">
                <a:solidFill>
                  <a:srgbClr val="FF0000"/>
                </a:solidFill>
              </a:rPr>
              <a:t>a rate fixed permanently</a:t>
            </a:r>
            <a:r>
              <a:rPr lang="en-US" sz="2400" dirty="0"/>
              <a:t>. But the cultivating </a:t>
            </a:r>
            <a:r>
              <a:rPr lang="en-US" sz="2400" i="1" dirty="0" err="1">
                <a:solidFill>
                  <a:srgbClr val="FF0000"/>
                </a:solidFill>
              </a:rPr>
              <a:t>raiyats</a:t>
            </a:r>
            <a:r>
              <a:rPr lang="en-US" sz="2400" dirty="0"/>
              <a:t> were denied to such a privilege. The landholders were </a:t>
            </a:r>
            <a:r>
              <a:rPr lang="en-US" sz="2400" dirty="0">
                <a:solidFill>
                  <a:srgbClr val="FF0000"/>
                </a:solidFill>
              </a:rPr>
              <a:t>free to change the rent rate of their tenants</a:t>
            </a:r>
            <a:r>
              <a:rPr lang="en-US" sz="2400" dirty="0"/>
              <a:t>. They even could evict their tenants if they wanted to. But if they defaulted, their lands proportionate to their default would be </a:t>
            </a:r>
            <a:r>
              <a:rPr lang="en-US" sz="2400" dirty="0" err="1"/>
              <a:t>realised</a:t>
            </a:r>
            <a:r>
              <a:rPr lang="en-US" sz="2400" dirty="0"/>
              <a:t> through public sale of their land. This strong law was called </a:t>
            </a:r>
            <a:r>
              <a:rPr lang="en-US" sz="2400" dirty="0">
                <a:solidFill>
                  <a:srgbClr val="FF0000"/>
                </a:solidFill>
              </a:rPr>
              <a:t>the Sun-set Law.</a:t>
            </a:r>
          </a:p>
          <a:p>
            <a:endParaRPr lang="en-US" dirty="0"/>
          </a:p>
        </p:txBody>
      </p:sp>
    </p:spTree>
    <p:extLst>
      <p:ext uri="{BB962C8B-B14F-4D97-AF65-F5344CB8AC3E}">
        <p14:creationId xmlns:p14="http://schemas.microsoft.com/office/powerpoint/2010/main" val="2809769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931" y="1606609"/>
            <a:ext cx="11330938" cy="3546505"/>
          </a:xfr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a:normAutofit/>
          </a:bodyPr>
          <a:lstStyle/>
          <a:p>
            <a:pPr marL="0" indent="0" algn="ctr">
              <a:buNone/>
            </a:pPr>
            <a:r>
              <a:rPr lang="en-US" sz="2800" u="sng" dirty="0"/>
              <a:t>Objectives/Goals:</a:t>
            </a:r>
            <a:endParaRPr lang="en-US" u="sng" dirty="0"/>
          </a:p>
          <a:p>
            <a:pPr algn="just">
              <a:buFont typeface="Wingdings" panose="05000000000000000000" pitchFamily="2" charset="2"/>
              <a:buChar char="q"/>
            </a:pPr>
            <a:r>
              <a:rPr lang="en-US" sz="2800" dirty="0"/>
              <a:t>To increase the revenue of the BEIC;</a:t>
            </a:r>
          </a:p>
          <a:p>
            <a:pPr algn="just">
              <a:buFont typeface="Wingdings" panose="05000000000000000000" pitchFamily="2" charset="2"/>
              <a:buChar char="q"/>
            </a:pPr>
            <a:r>
              <a:rPr lang="en-US" sz="2800" dirty="0"/>
              <a:t>To secure </a:t>
            </a:r>
            <a:r>
              <a:rPr lang="en-US" sz="2800" dirty="0">
                <a:solidFill>
                  <a:srgbClr val="FF0000"/>
                </a:solidFill>
              </a:rPr>
              <a:t>a permanent base </a:t>
            </a:r>
            <a:r>
              <a:rPr lang="en-US" sz="2800" dirty="0"/>
              <a:t>for revenue collection;</a:t>
            </a:r>
          </a:p>
          <a:p>
            <a:pPr algn="just">
              <a:buFont typeface="Wingdings" panose="05000000000000000000" pitchFamily="2" charset="2"/>
              <a:buChar char="q"/>
            </a:pPr>
            <a:r>
              <a:rPr lang="en-US" sz="2800" dirty="0"/>
              <a:t>To </a:t>
            </a:r>
            <a:r>
              <a:rPr lang="en-US" sz="2800" dirty="0">
                <a:solidFill>
                  <a:schemeClr val="tx1"/>
                </a:solidFill>
              </a:rPr>
              <a:t>create a </a:t>
            </a:r>
            <a:r>
              <a:rPr lang="en-US" sz="2800" dirty="0">
                <a:solidFill>
                  <a:srgbClr val="FF0000"/>
                </a:solidFill>
              </a:rPr>
              <a:t>subservient class </a:t>
            </a:r>
            <a:r>
              <a:rPr lang="en-US" sz="2800" dirty="0">
                <a:solidFill>
                  <a:schemeClr val="tx1"/>
                </a:solidFill>
              </a:rPr>
              <a:t>loyal to </a:t>
            </a:r>
            <a:r>
              <a:rPr lang="en-US" sz="2800" dirty="0"/>
              <a:t>and supportive of the British colonial rule ; and</a:t>
            </a:r>
          </a:p>
          <a:p>
            <a:pPr algn="just">
              <a:buFont typeface="Wingdings" panose="05000000000000000000" pitchFamily="2" charset="2"/>
              <a:buChar char="q"/>
            </a:pPr>
            <a:r>
              <a:rPr lang="en-US" sz="2800" dirty="0"/>
              <a:t>To create an aristocracy following the European model</a:t>
            </a:r>
          </a:p>
          <a:p>
            <a:pPr algn="just">
              <a:buFont typeface="Wingdings" panose="05000000000000000000" pitchFamily="2" charset="2"/>
              <a:buChar char="q"/>
            </a:pPr>
            <a:r>
              <a:rPr lang="en-US" dirty="0"/>
              <a:t>To apply the colonial policy of “Divide &amp; Rule”.</a:t>
            </a:r>
            <a:endParaRPr lang="en-US" sz="2800" dirty="0"/>
          </a:p>
          <a:p>
            <a:endParaRPr lang="en-US" dirty="0"/>
          </a:p>
        </p:txBody>
      </p:sp>
    </p:spTree>
    <p:extLst>
      <p:ext uri="{BB962C8B-B14F-4D97-AF65-F5344CB8AC3E}">
        <p14:creationId xmlns:p14="http://schemas.microsoft.com/office/powerpoint/2010/main" val="1115879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733"/>
          </a:xfrm>
        </p:spPr>
        <p:txBody>
          <a:bodyPr>
            <a:normAutofit fontScale="90000"/>
          </a:bodyPr>
          <a:lstStyle/>
          <a:p>
            <a:r>
              <a:rPr lang="en-US" b="1" dirty="0">
                <a:solidFill>
                  <a:srgbClr val="0070C0"/>
                </a:solidFill>
              </a:rPr>
              <a:t>Exploitative Land Management System </a:t>
            </a:r>
            <a:r>
              <a:rPr lang="en-US" dirty="0">
                <a:solidFill>
                  <a:srgbClr val="0070C0"/>
                </a:solidFill>
              </a:rPr>
              <a:t>: </a:t>
            </a:r>
          </a:p>
        </p:txBody>
      </p:sp>
      <p:sp>
        <p:nvSpPr>
          <p:cNvPr id="3" name="Content Placeholder 2"/>
          <p:cNvSpPr>
            <a:spLocks noGrp="1"/>
          </p:cNvSpPr>
          <p:nvPr>
            <p:ph idx="1"/>
          </p:nvPr>
        </p:nvSpPr>
        <p:spPr>
          <a:xfrm>
            <a:off x="838200" y="1512277"/>
            <a:ext cx="10515600" cy="3810000"/>
          </a:xfrm>
        </p:spPr>
        <p:txBody>
          <a:bodyPr/>
          <a:lstStyle/>
          <a:p>
            <a:pPr algn="just"/>
            <a:r>
              <a:rPr lang="en-US" dirty="0"/>
              <a:t>In real judgment, the Permanent Settlement was nothing but an </a:t>
            </a:r>
            <a:r>
              <a:rPr lang="en-US" dirty="0">
                <a:solidFill>
                  <a:srgbClr val="FF0000"/>
                </a:solidFill>
              </a:rPr>
              <a:t>instrument of the BEIC’s exploitative control over the land management</a:t>
            </a:r>
            <a:r>
              <a:rPr lang="en-US" dirty="0"/>
              <a:t>, and thereby, over the peasant economy of Bengal.</a:t>
            </a:r>
          </a:p>
          <a:p>
            <a:pPr algn="just"/>
            <a:r>
              <a:rPr lang="en-US" dirty="0"/>
              <a:t>Crushing changes in the agrarian structure were taking place after the Permanent Settlement</a:t>
            </a:r>
          </a:p>
          <a:p>
            <a:pPr algn="just"/>
            <a:r>
              <a:rPr lang="en-US" dirty="0"/>
              <a:t>The problem of the rise of hierarchic </a:t>
            </a:r>
            <a:r>
              <a:rPr lang="en-US" dirty="0">
                <a:solidFill>
                  <a:srgbClr val="FF0000"/>
                </a:solidFill>
              </a:rPr>
              <a:t>intermediate classes </a:t>
            </a:r>
            <a:r>
              <a:rPr lang="en-US" dirty="0"/>
              <a:t>in land control had, indeed, deep economic and social implications</a:t>
            </a:r>
            <a:endParaRPr lang="en-US" sz="3600" dirty="0"/>
          </a:p>
          <a:p>
            <a:endParaRPr lang="en-US" dirty="0"/>
          </a:p>
        </p:txBody>
      </p:sp>
    </p:spTree>
    <p:extLst>
      <p:ext uri="{BB962C8B-B14F-4D97-AF65-F5344CB8AC3E}">
        <p14:creationId xmlns:p14="http://schemas.microsoft.com/office/powerpoint/2010/main" val="962292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740" y="624110"/>
            <a:ext cx="11179873" cy="640668"/>
          </a:xfrm>
        </p:spPr>
        <p:txBody>
          <a:bodyPr>
            <a:normAutofit fontScale="90000"/>
          </a:bodyPr>
          <a:lstStyle/>
          <a:p>
            <a:r>
              <a:rPr lang="en-US" b="1" dirty="0">
                <a:solidFill>
                  <a:srgbClr val="0070C0"/>
                </a:solidFill>
              </a:rPr>
              <a:t>Emergence of a Centralized Administrative System:</a:t>
            </a:r>
          </a:p>
        </p:txBody>
      </p:sp>
      <p:sp>
        <p:nvSpPr>
          <p:cNvPr id="3" name="Content Placeholder 2"/>
          <p:cNvSpPr>
            <a:spLocks noGrp="1"/>
          </p:cNvSpPr>
          <p:nvPr>
            <p:ph idx="1"/>
          </p:nvPr>
        </p:nvSpPr>
        <p:spPr>
          <a:xfrm>
            <a:off x="564022" y="1623701"/>
            <a:ext cx="11494094" cy="3324314"/>
          </a:xfrm>
        </p:spPr>
        <p:txBody>
          <a:bodyPr>
            <a:normAutofit/>
          </a:bodyPr>
          <a:lstStyle/>
          <a:p>
            <a:pPr marL="0" indent="0" algn="just">
              <a:buNone/>
            </a:pPr>
            <a:r>
              <a:rPr lang="en-US" sz="2800" dirty="0"/>
              <a:t>The </a:t>
            </a:r>
            <a:r>
              <a:rPr lang="en-US" sz="2800" dirty="0">
                <a:solidFill>
                  <a:srgbClr val="FF0000"/>
                </a:solidFill>
              </a:rPr>
              <a:t>bureaucracy and the army </a:t>
            </a:r>
            <a:r>
              <a:rPr lang="en-US" sz="2800" dirty="0"/>
              <a:t>recruit their senior officers largely from rich rural families and therefore the </a:t>
            </a:r>
            <a:r>
              <a:rPr lang="en-US" sz="2800" dirty="0">
                <a:solidFill>
                  <a:srgbClr val="FF0000"/>
                </a:solidFill>
              </a:rPr>
              <a:t>landowning classes have a built-in position within the oligarchy</a:t>
            </a:r>
            <a:r>
              <a:rPr lang="en-US" sz="2800" dirty="0"/>
              <a:t>. The bureaucrats have a direct stake in the privileges of the landed classes. This link has been greatly reinforced by the grant of land to civilian and military officers, who have thereby become substantial l</a:t>
            </a:r>
            <a:r>
              <a:rPr lang="en-US" sz="2800" dirty="0">
                <a:solidFill>
                  <a:srgbClr val="FF0000"/>
                </a:solidFill>
              </a:rPr>
              <a:t>andowners</a:t>
            </a:r>
            <a:r>
              <a:rPr lang="en-US" sz="2800" dirty="0"/>
              <a:t> in their own right when they were not so already.</a:t>
            </a:r>
          </a:p>
        </p:txBody>
      </p:sp>
    </p:spTree>
    <p:extLst>
      <p:ext uri="{BB962C8B-B14F-4D97-AF65-F5344CB8AC3E}">
        <p14:creationId xmlns:p14="http://schemas.microsoft.com/office/powerpoint/2010/main" val="1329374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854" y="350379"/>
            <a:ext cx="9451649" cy="803304"/>
          </a:xfrm>
        </p:spPr>
        <p:txBody>
          <a:bodyPr/>
          <a:lstStyle/>
          <a:p>
            <a:r>
              <a:rPr lang="en-US" b="1" dirty="0">
                <a:solidFill>
                  <a:srgbClr val="0070C0"/>
                </a:solidFill>
              </a:rPr>
              <a:t>Growth in Agriculture: </a:t>
            </a:r>
          </a:p>
        </p:txBody>
      </p:sp>
      <p:sp>
        <p:nvSpPr>
          <p:cNvPr id="3" name="Content Placeholder 2"/>
          <p:cNvSpPr>
            <a:spLocks noGrp="1"/>
          </p:cNvSpPr>
          <p:nvPr>
            <p:ph idx="1"/>
          </p:nvPr>
        </p:nvSpPr>
        <p:spPr>
          <a:xfrm>
            <a:off x="1296954" y="1352282"/>
            <a:ext cx="10562253" cy="2865155"/>
          </a:xfrm>
        </p:spPr>
        <p:txBody>
          <a:bodyPr>
            <a:normAutofit/>
          </a:bodyPr>
          <a:lstStyle/>
          <a:p>
            <a:pPr marL="0" indent="0">
              <a:buNone/>
            </a:pPr>
            <a:r>
              <a:rPr lang="en-US" dirty="0"/>
              <a:t>Instead of improving land by means of capital and organizational input, the  strategy of  the </a:t>
            </a:r>
            <a:r>
              <a:rPr lang="en-US" i="1" dirty="0"/>
              <a:t>zamindars</a:t>
            </a:r>
            <a:r>
              <a:rPr lang="en-US" dirty="0"/>
              <a:t> was to </a:t>
            </a:r>
            <a:r>
              <a:rPr lang="en-US" dirty="0">
                <a:solidFill>
                  <a:srgbClr val="FF0000"/>
                </a:solidFill>
              </a:rPr>
              <a:t>increase income </a:t>
            </a:r>
            <a:r>
              <a:rPr lang="en-US" dirty="0"/>
              <a:t>by other </a:t>
            </a:r>
            <a:r>
              <a:rPr lang="en-US" dirty="0">
                <a:solidFill>
                  <a:srgbClr val="FF0000"/>
                </a:solidFill>
              </a:rPr>
              <a:t>more profitable means </a:t>
            </a:r>
            <a:r>
              <a:rPr lang="en-US" dirty="0"/>
              <a:t>such as </a:t>
            </a:r>
            <a:r>
              <a:rPr lang="en-US" dirty="0" err="1"/>
              <a:t>mahajani</a:t>
            </a:r>
            <a:r>
              <a:rPr lang="en-US" dirty="0"/>
              <a:t> investment, grain trade, purchase of new estates, bonds, urban properties, and enhancing rent and imposing  illegal rents on raiyats/farmers. </a:t>
            </a:r>
          </a:p>
          <a:p>
            <a:pPr marL="0" indent="0">
              <a:buNone/>
            </a:pPr>
            <a:r>
              <a:rPr lang="en-US" sz="2400" dirty="0"/>
              <a:t> </a:t>
            </a:r>
          </a:p>
        </p:txBody>
      </p:sp>
    </p:spTree>
    <p:extLst>
      <p:ext uri="{BB962C8B-B14F-4D97-AF65-F5344CB8AC3E}">
        <p14:creationId xmlns:p14="http://schemas.microsoft.com/office/powerpoint/2010/main" val="1813634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865" y="94005"/>
            <a:ext cx="8948057" cy="1136590"/>
          </a:xfrm>
        </p:spPr>
        <p:txBody>
          <a:bodyPr>
            <a:normAutofit/>
          </a:bodyPr>
          <a:lstStyle/>
          <a:p>
            <a:pPr algn="ctr"/>
            <a:r>
              <a:rPr lang="en-US" sz="3200" b="1" dirty="0">
                <a:solidFill>
                  <a:schemeClr val="accent5"/>
                </a:solidFill>
              </a:rPr>
              <a:t>POLITICS</a:t>
            </a:r>
            <a:r>
              <a:rPr lang="en-US" sz="3200" b="1" dirty="0">
                <a:solidFill>
                  <a:srgbClr val="0070C0"/>
                </a:solidFill>
              </a:rPr>
              <a:t>: WHO GETS WHAT, WHEN &amp; HOW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79869374"/>
              </p:ext>
            </p:extLst>
          </p:nvPr>
        </p:nvGraphicFramePr>
        <p:xfrm>
          <a:off x="564022" y="1358781"/>
          <a:ext cx="10940591" cy="5341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7115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035699"/>
            <a:ext cx="10059955" cy="4028670"/>
          </a:xfrm>
        </p:spPr>
        <p:txBody>
          <a:bodyPr>
            <a:normAutofit fontScale="92500" lnSpcReduction="10000"/>
          </a:bodyPr>
          <a:lstStyle/>
          <a:p>
            <a:pPr marL="0" indent="0">
              <a:buNone/>
            </a:pPr>
            <a:r>
              <a:rPr lang="en-US" sz="3200" u="sng" dirty="0"/>
              <a:t>Structural Changes :</a:t>
            </a:r>
          </a:p>
          <a:p>
            <a:r>
              <a:rPr lang="en-US" sz="3200" dirty="0"/>
              <a:t>Change in </a:t>
            </a:r>
            <a:r>
              <a:rPr lang="en-US" sz="3200" dirty="0">
                <a:solidFill>
                  <a:srgbClr val="0070C0"/>
                </a:solidFill>
              </a:rPr>
              <a:t>rural</a:t>
            </a:r>
            <a:r>
              <a:rPr lang="en-US" sz="3200" dirty="0"/>
              <a:t> power structure </a:t>
            </a:r>
          </a:p>
          <a:p>
            <a:r>
              <a:rPr lang="en-US" sz="3200" dirty="0"/>
              <a:t>Change in </a:t>
            </a:r>
            <a:r>
              <a:rPr lang="en-US" sz="3200" dirty="0">
                <a:solidFill>
                  <a:srgbClr val="7030A0"/>
                </a:solidFill>
              </a:rPr>
              <a:t>urban</a:t>
            </a:r>
            <a:r>
              <a:rPr lang="en-US" sz="3200" dirty="0"/>
              <a:t> power structure</a:t>
            </a:r>
          </a:p>
          <a:p>
            <a:r>
              <a:rPr lang="en-US" sz="3200" dirty="0"/>
              <a:t>Change in land ownership  pattern</a:t>
            </a:r>
          </a:p>
          <a:p>
            <a:r>
              <a:rPr lang="en-US" sz="3200" dirty="0"/>
              <a:t>Change in </a:t>
            </a:r>
            <a:r>
              <a:rPr lang="en-US" sz="3200" dirty="0">
                <a:solidFill>
                  <a:srgbClr val="FF0000"/>
                </a:solidFill>
              </a:rPr>
              <a:t>income </a:t>
            </a:r>
          </a:p>
          <a:p>
            <a:r>
              <a:rPr lang="en-US" sz="3200" dirty="0"/>
              <a:t>Change in </a:t>
            </a:r>
            <a:r>
              <a:rPr lang="en-US" sz="3200" dirty="0">
                <a:solidFill>
                  <a:srgbClr val="C00000"/>
                </a:solidFill>
              </a:rPr>
              <a:t>consumption</a:t>
            </a:r>
          </a:p>
          <a:p>
            <a:r>
              <a:rPr lang="en-US" sz="3200" dirty="0"/>
              <a:t>Change in </a:t>
            </a:r>
            <a:r>
              <a:rPr lang="en-US" sz="3200" dirty="0">
                <a:solidFill>
                  <a:schemeClr val="tx2"/>
                </a:solidFill>
              </a:rPr>
              <a:t>life-style </a:t>
            </a:r>
            <a:r>
              <a:rPr lang="en-US" sz="3200" dirty="0"/>
              <a:t> </a:t>
            </a:r>
          </a:p>
          <a:p>
            <a:r>
              <a:rPr lang="en-US" sz="3200" dirty="0"/>
              <a:t>Change in the pattern of </a:t>
            </a:r>
            <a:r>
              <a:rPr lang="en-US" sz="3200" dirty="0">
                <a:solidFill>
                  <a:schemeClr val="accent5"/>
                </a:solidFill>
              </a:rPr>
              <a:t>revenue collection </a:t>
            </a:r>
          </a:p>
        </p:txBody>
      </p:sp>
    </p:spTree>
    <p:extLst>
      <p:ext uri="{BB962C8B-B14F-4D97-AF65-F5344CB8AC3E}">
        <p14:creationId xmlns:p14="http://schemas.microsoft.com/office/powerpoint/2010/main" val="1691796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54" y="546931"/>
            <a:ext cx="10156459" cy="589659"/>
          </a:xfrm>
        </p:spPr>
        <p:txBody>
          <a:bodyPr>
            <a:normAutofit fontScale="90000"/>
          </a:bodyPr>
          <a:lstStyle/>
          <a:p>
            <a:r>
              <a:rPr lang="en-US" b="1" dirty="0"/>
              <a:t>EMERGENCE OF A NEW MIDDLE CLASS:</a:t>
            </a:r>
          </a:p>
        </p:txBody>
      </p:sp>
      <p:sp>
        <p:nvSpPr>
          <p:cNvPr id="3" name="Content Placeholder 2"/>
          <p:cNvSpPr>
            <a:spLocks noGrp="1"/>
          </p:cNvSpPr>
          <p:nvPr>
            <p:ph idx="1"/>
          </p:nvPr>
        </p:nvSpPr>
        <p:spPr>
          <a:xfrm>
            <a:off x="854579" y="1500556"/>
            <a:ext cx="11015529" cy="4196860"/>
          </a:xfrm>
        </p:spPr>
        <p:txBody>
          <a:bodyPr>
            <a:normAutofit/>
          </a:bodyPr>
          <a:lstStyle/>
          <a:p>
            <a:pPr marL="0" indent="0" algn="just">
              <a:buNone/>
            </a:pPr>
            <a:r>
              <a:rPr lang="en-US" dirty="0"/>
              <a:t> Professor </a:t>
            </a:r>
            <a:r>
              <a:rPr lang="en-US" dirty="0" err="1"/>
              <a:t>Amalendu</a:t>
            </a:r>
            <a:r>
              <a:rPr lang="en-US" dirty="0"/>
              <a:t> De in his article, entitled, </a:t>
            </a:r>
            <a:r>
              <a:rPr lang="en-US" i="1" dirty="0"/>
              <a:t>‘Bengali Intelligentsia’s Attitude to the Permanent Settlement’, </a:t>
            </a:r>
            <a:r>
              <a:rPr lang="en-US" dirty="0"/>
              <a:t>published in a journal named </a:t>
            </a:r>
            <a:r>
              <a:rPr lang="en-US" i="1" dirty="0"/>
              <a:t>Social Scientist ( </a:t>
            </a:r>
            <a:r>
              <a:rPr lang="en-US" dirty="0"/>
              <a:t>Vol.5, No. 8, 1977</a:t>
            </a:r>
            <a:r>
              <a:rPr lang="en-US" i="1" dirty="0"/>
              <a:t>)</a:t>
            </a:r>
            <a:r>
              <a:rPr lang="en-US" dirty="0"/>
              <a:t> commented as follows: </a:t>
            </a:r>
          </a:p>
          <a:p>
            <a:pPr marL="0" indent="0" algn="just">
              <a:buNone/>
            </a:pPr>
            <a:r>
              <a:rPr lang="en-US" i="1" dirty="0"/>
              <a:t>            “As a result of the alliance of British rule with landlordism a new 'social basis' was created in Bengal. Within a few years of its introduction the Permanent Settlement had stimulated sub-</a:t>
            </a:r>
            <a:r>
              <a:rPr lang="en-US" i="1" dirty="0" err="1"/>
              <a:t>infeudation</a:t>
            </a:r>
            <a:r>
              <a:rPr lang="en-US" i="1" dirty="0"/>
              <a:t>. It became a marked feature in the land system of Bengal by 1806-1807. One of the objectives of the Permanent Settlement was stated to be the creation of the </a:t>
            </a:r>
            <a:r>
              <a:rPr lang="en-US" i="1" dirty="0">
                <a:solidFill>
                  <a:srgbClr val="FF0000"/>
                </a:solidFill>
              </a:rPr>
              <a:t>Bengali middle class</a:t>
            </a:r>
            <a:r>
              <a:rPr lang="en-US" i="1" dirty="0"/>
              <a:t>. By 1930 its existence became distinctly visible as a </a:t>
            </a:r>
            <a:r>
              <a:rPr lang="en-US" i="1" dirty="0">
                <a:solidFill>
                  <a:srgbClr val="FF0000"/>
                </a:solidFill>
              </a:rPr>
              <a:t>social force</a:t>
            </a:r>
            <a:r>
              <a:rPr lang="en-US" i="1" dirty="0"/>
              <a:t>”.</a:t>
            </a:r>
          </a:p>
        </p:txBody>
      </p:sp>
    </p:spTree>
    <p:extLst>
      <p:ext uri="{BB962C8B-B14F-4D97-AF65-F5344CB8AC3E}">
        <p14:creationId xmlns:p14="http://schemas.microsoft.com/office/powerpoint/2010/main" val="3383351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6233" y="940038"/>
            <a:ext cx="10478568" cy="4382240"/>
          </a:xfrm>
        </p:spPr>
        <p:style>
          <a:lnRef idx="2">
            <a:schemeClr val="accent6"/>
          </a:lnRef>
          <a:fillRef idx="1">
            <a:schemeClr val="lt1"/>
          </a:fillRef>
          <a:effectRef idx="0">
            <a:schemeClr val="accent6"/>
          </a:effectRef>
          <a:fontRef idx="minor">
            <a:schemeClr val="dk1"/>
          </a:fontRef>
        </p:style>
        <p:txBody>
          <a:bodyPr>
            <a:normAutofit/>
          </a:bodyPr>
          <a:lstStyle/>
          <a:p>
            <a:pPr algn="just"/>
            <a:r>
              <a:rPr lang="en-US" sz="2800" dirty="0"/>
              <a:t>In his book, entitled, </a:t>
            </a:r>
            <a:r>
              <a:rPr lang="en-US" sz="2800" i="1" dirty="0"/>
              <a:t>The Permanent Settlement in Bengal-A Study of its Operations 1790-1819 </a:t>
            </a:r>
            <a:r>
              <a:rPr lang="en-US" sz="2800" dirty="0"/>
              <a:t>, professor </a:t>
            </a:r>
            <a:r>
              <a:rPr lang="en-US" sz="2800" dirty="0" err="1"/>
              <a:t>Serajul</a:t>
            </a:r>
            <a:r>
              <a:rPr lang="en-US" sz="2800" dirty="0"/>
              <a:t> Islam observed as follows:</a:t>
            </a:r>
          </a:p>
          <a:p>
            <a:pPr algn="just"/>
            <a:endParaRPr lang="en-US" sz="2800" dirty="0"/>
          </a:p>
          <a:p>
            <a:pPr marL="0" indent="0" algn="just">
              <a:buNone/>
            </a:pPr>
            <a:r>
              <a:rPr lang="en-US" sz="2800" i="1" dirty="0">
                <a:solidFill>
                  <a:schemeClr val="tx1"/>
                </a:solidFill>
              </a:rPr>
              <a:t>“Economically it was expected that the permanent settlement would encourage the </a:t>
            </a:r>
            <a:r>
              <a:rPr lang="en-US" sz="2800" i="1" dirty="0">
                <a:solidFill>
                  <a:srgbClr val="FF0000"/>
                </a:solidFill>
              </a:rPr>
              <a:t>investment of capital </a:t>
            </a:r>
            <a:r>
              <a:rPr lang="en-US" sz="2800" i="1" dirty="0">
                <a:solidFill>
                  <a:schemeClr val="tx1"/>
                </a:solidFill>
              </a:rPr>
              <a:t>in land and, therefore, the growth of a middle class; that it would lead to more lenient and considerate treatment of the tenants by the landlords and </a:t>
            </a:r>
            <a:r>
              <a:rPr lang="en-US" sz="2800" i="1" dirty="0">
                <a:solidFill>
                  <a:srgbClr val="FF0000"/>
                </a:solidFill>
              </a:rPr>
              <a:t>would thus promote general prosperity”.</a:t>
            </a:r>
          </a:p>
        </p:txBody>
      </p:sp>
    </p:spTree>
    <p:extLst>
      <p:ext uri="{BB962C8B-B14F-4D97-AF65-F5344CB8AC3E}">
        <p14:creationId xmlns:p14="http://schemas.microsoft.com/office/powerpoint/2010/main" val="2931051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095" y="76912"/>
            <a:ext cx="11776106" cy="1392966"/>
          </a:xfrm>
        </p:spPr>
        <p:txBody>
          <a:bodyPr>
            <a:normAutofit/>
          </a:bodyPr>
          <a:lstStyle/>
          <a:p>
            <a:r>
              <a:rPr lang="en-US" sz="2800" b="1" dirty="0">
                <a:solidFill>
                  <a:srgbClr val="0070C0"/>
                </a:solidFill>
              </a:rPr>
              <a:t>PEASENT UNREST, RENT COMISSION  &amp; BENGAL TENANCY ACT OF 1885:</a:t>
            </a:r>
          </a:p>
        </p:txBody>
      </p:sp>
      <p:sp>
        <p:nvSpPr>
          <p:cNvPr id="3" name="Content Placeholder 2"/>
          <p:cNvSpPr>
            <a:spLocks noGrp="1"/>
          </p:cNvSpPr>
          <p:nvPr>
            <p:ph idx="1"/>
          </p:nvPr>
        </p:nvSpPr>
        <p:spPr>
          <a:xfrm>
            <a:off x="205099" y="1145136"/>
            <a:ext cx="11340269" cy="5614587"/>
          </a:xfrm>
          <a:effectLst>
            <a:outerShdw blurRad="76200" dist="12700" dir="8100000" sy="-23000" kx="800400" algn="br" rotWithShape="0">
              <a:prstClr val="black">
                <a:alpha val="20000"/>
              </a:prstClr>
            </a:outerShdw>
          </a:effectLst>
        </p:spPr>
        <p:txBody>
          <a:bodyPr>
            <a:normAutofit/>
          </a:bodyPr>
          <a:lstStyle/>
          <a:p>
            <a:pPr algn="just"/>
            <a:r>
              <a:rPr lang="en-US" sz="2800" dirty="0"/>
              <a:t>Mounting peasant unrest in the 1870s </a:t>
            </a:r>
          </a:p>
          <a:p>
            <a:pPr algn="just"/>
            <a:r>
              <a:rPr lang="en-US" sz="2800" dirty="0"/>
              <a:t>A </a:t>
            </a:r>
            <a:r>
              <a:rPr lang="en-US" sz="2800" dirty="0">
                <a:solidFill>
                  <a:srgbClr val="FF0000"/>
                </a:solidFill>
              </a:rPr>
              <a:t>rent commission </a:t>
            </a:r>
            <a:r>
              <a:rPr lang="en-US" sz="2800" dirty="0"/>
              <a:t>was set up in 1879 to investigate the tense landlord-tenant relations</a:t>
            </a:r>
          </a:p>
          <a:p>
            <a:pPr algn="just"/>
            <a:r>
              <a:rPr lang="en-US" sz="2800" dirty="0"/>
              <a:t>The recommendations emerged from the rent commission were incorporated in the </a:t>
            </a:r>
            <a:r>
              <a:rPr lang="en-US" sz="2800" dirty="0">
                <a:solidFill>
                  <a:srgbClr val="FF0000"/>
                </a:solidFill>
              </a:rPr>
              <a:t>Bengal Tenancy Act of 1885 </a:t>
            </a:r>
          </a:p>
          <a:p>
            <a:pPr algn="just"/>
            <a:r>
              <a:rPr lang="en-US" sz="2800" dirty="0"/>
              <a:t>The Bengal Tenancy Act of 1885 for the first time tried to define the rights of various interests in land from the highest proprietor to the lowest cultivating </a:t>
            </a:r>
            <a:r>
              <a:rPr lang="en-US" sz="2800" dirty="0" err="1"/>
              <a:t>raiyat</a:t>
            </a:r>
            <a:r>
              <a:rPr lang="en-US" sz="2800" dirty="0"/>
              <a:t>. Indeed, the act </a:t>
            </a:r>
            <a:r>
              <a:rPr lang="en-US" sz="2800" dirty="0">
                <a:solidFill>
                  <a:srgbClr val="FF0000"/>
                </a:solidFill>
              </a:rPr>
              <a:t>considerably curtailed </a:t>
            </a:r>
            <a:r>
              <a:rPr lang="en-US" sz="2800" dirty="0" err="1">
                <a:solidFill>
                  <a:srgbClr val="FF0000"/>
                </a:solidFill>
              </a:rPr>
              <a:t>zamindari</a:t>
            </a:r>
            <a:r>
              <a:rPr lang="en-US" sz="2800" dirty="0">
                <a:solidFill>
                  <a:srgbClr val="FF0000"/>
                </a:solidFill>
              </a:rPr>
              <a:t> power and privileges.</a:t>
            </a:r>
            <a:r>
              <a:rPr lang="en-US" sz="2800" dirty="0"/>
              <a:t> This Act had successfully established peace in the countryside.</a:t>
            </a:r>
          </a:p>
        </p:txBody>
      </p:sp>
    </p:spTree>
    <p:extLst>
      <p:ext uri="{BB962C8B-B14F-4D97-AF65-F5344CB8AC3E}">
        <p14:creationId xmlns:p14="http://schemas.microsoft.com/office/powerpoint/2010/main" val="3373168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932" y="1418602"/>
            <a:ext cx="10613876" cy="2873480"/>
          </a:xfrm>
        </p:spPr>
        <p:style>
          <a:lnRef idx="2">
            <a:schemeClr val="accent4"/>
          </a:lnRef>
          <a:fillRef idx="1">
            <a:schemeClr val="lt1"/>
          </a:fillRef>
          <a:effectRef idx="0">
            <a:schemeClr val="accent4"/>
          </a:effectRef>
          <a:fontRef idx="minor">
            <a:schemeClr val="dk1"/>
          </a:fontRef>
        </p:style>
        <p:txBody>
          <a:bodyPr>
            <a:normAutofit/>
          </a:bodyPr>
          <a:lstStyle/>
          <a:p>
            <a:pPr marL="0" indent="0" algn="just">
              <a:buNone/>
            </a:pPr>
            <a:r>
              <a:rPr lang="en-US" sz="2800" dirty="0">
                <a:solidFill>
                  <a:schemeClr val="tx1"/>
                </a:solidFill>
              </a:rPr>
              <a:t>The rise of </a:t>
            </a:r>
            <a:r>
              <a:rPr lang="en-US" sz="2800" i="1" dirty="0" err="1">
                <a:solidFill>
                  <a:schemeClr val="tx1"/>
                </a:solidFill>
              </a:rPr>
              <a:t>proja</a:t>
            </a:r>
            <a:r>
              <a:rPr lang="en-US" sz="2800" i="1" dirty="0">
                <a:solidFill>
                  <a:schemeClr val="tx1"/>
                </a:solidFill>
              </a:rPr>
              <a:t> </a:t>
            </a:r>
            <a:r>
              <a:rPr lang="en-US" sz="2800" dirty="0">
                <a:solidFill>
                  <a:schemeClr val="tx1"/>
                </a:solidFill>
              </a:rPr>
              <a:t>or peasant property through the </a:t>
            </a:r>
            <a:r>
              <a:rPr lang="en-US" sz="2800" dirty="0">
                <a:solidFill>
                  <a:srgbClr val="FF0000"/>
                </a:solidFill>
              </a:rPr>
              <a:t>successive Rent Act of 1859, Bengal Tenancy Act of 1885, Tenancy Amendment Act of 1928 and the Amendment Act of 1938</a:t>
            </a:r>
            <a:r>
              <a:rPr lang="en-US" sz="2800" dirty="0">
                <a:solidFill>
                  <a:schemeClr val="tx1"/>
                </a:solidFill>
              </a:rPr>
              <a:t> introduced new elements in the organizational structure of traditional peasant farming </a:t>
            </a:r>
          </a:p>
        </p:txBody>
      </p:sp>
    </p:spTree>
    <p:extLst>
      <p:ext uri="{BB962C8B-B14F-4D97-AF65-F5344CB8AC3E}">
        <p14:creationId xmlns:p14="http://schemas.microsoft.com/office/powerpoint/2010/main" val="1843073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923" y="316194"/>
            <a:ext cx="11750468" cy="1008404"/>
          </a:xfrm>
        </p:spPr>
        <p:txBody>
          <a:bodyPr>
            <a:normAutofit/>
          </a:bodyPr>
          <a:lstStyle/>
          <a:p>
            <a:pPr algn="just"/>
            <a:r>
              <a:rPr lang="en-US" sz="2800" b="1" dirty="0">
                <a:solidFill>
                  <a:srgbClr val="0070C0"/>
                </a:solidFill>
              </a:rPr>
              <a:t>PEASANT POLITICS &amp; THE FORMATION OF THE  KRISHAK PRAJA PARTY  UNDER THE LEADERSHIP OF SHER-E-BANGLA </a:t>
            </a:r>
            <a:r>
              <a:rPr lang="en-US" sz="2800" b="1" cap="small" dirty="0">
                <a:solidFill>
                  <a:srgbClr val="0070C0"/>
                </a:solidFill>
              </a:rPr>
              <a:t>A.K. FAZLUL HUQ:</a:t>
            </a:r>
            <a:endParaRPr lang="en-US" sz="2800" b="1" dirty="0">
              <a:solidFill>
                <a:srgbClr val="0070C0"/>
              </a:solidFill>
            </a:endParaRPr>
          </a:p>
        </p:txBody>
      </p:sp>
      <p:sp>
        <p:nvSpPr>
          <p:cNvPr id="3" name="Content Placeholder 2"/>
          <p:cNvSpPr>
            <a:spLocks noGrp="1"/>
          </p:cNvSpPr>
          <p:nvPr>
            <p:ph idx="1"/>
          </p:nvPr>
        </p:nvSpPr>
        <p:spPr>
          <a:xfrm>
            <a:off x="358923" y="1486967"/>
            <a:ext cx="11647918" cy="4785645"/>
          </a:xfrm>
        </p:spPr>
        <p:style>
          <a:lnRef idx="2">
            <a:schemeClr val="accent4"/>
          </a:lnRef>
          <a:fillRef idx="1">
            <a:schemeClr val="lt1"/>
          </a:fillRef>
          <a:effectRef idx="0">
            <a:schemeClr val="accent4"/>
          </a:effectRef>
          <a:fontRef idx="minor">
            <a:schemeClr val="dk1"/>
          </a:fontRef>
        </p:style>
        <p:txBody>
          <a:bodyPr>
            <a:noAutofit/>
          </a:bodyPr>
          <a:lstStyle/>
          <a:p>
            <a:pPr algn="just"/>
            <a:r>
              <a:rPr lang="en-US" sz="2400" dirty="0" err="1"/>
              <a:t>Zamindari</a:t>
            </a:r>
            <a:r>
              <a:rPr lang="en-US" sz="2400" dirty="0"/>
              <a:t> sanction and permissions needed  to transfer lands </a:t>
            </a:r>
          </a:p>
          <a:p>
            <a:pPr algn="just"/>
            <a:r>
              <a:rPr lang="en-US" sz="2400" dirty="0"/>
              <a:t>Peasant agitation began again in the 1920s</a:t>
            </a:r>
          </a:p>
          <a:p>
            <a:pPr algn="just"/>
            <a:r>
              <a:rPr lang="en-US" sz="2400" dirty="0"/>
              <a:t>Under the </a:t>
            </a:r>
            <a:r>
              <a:rPr lang="en-US" sz="2400" dirty="0">
                <a:solidFill>
                  <a:schemeClr val="tx1"/>
                </a:solidFill>
              </a:rPr>
              <a:t>Amendment Act of 1928 the </a:t>
            </a:r>
            <a:r>
              <a:rPr lang="en-US" sz="2400" dirty="0" err="1">
                <a:solidFill>
                  <a:schemeClr val="tx1"/>
                </a:solidFill>
              </a:rPr>
              <a:t>raiyats</a:t>
            </a:r>
            <a:r>
              <a:rPr lang="en-US" sz="2400" dirty="0">
                <a:solidFill>
                  <a:schemeClr val="tx1"/>
                </a:solidFill>
              </a:rPr>
              <a:t> got the rights to transfer lands without permission of landholders but they were still subject to pay salami and landlord's had still the right to preemption. They also got the right to cut trees and dig tanks and ponds and construct </a:t>
            </a:r>
            <a:r>
              <a:rPr lang="en-US" sz="2400" dirty="0" err="1">
                <a:solidFill>
                  <a:schemeClr val="tx1"/>
                </a:solidFill>
              </a:rPr>
              <a:t>pucca</a:t>
            </a:r>
            <a:r>
              <a:rPr lang="en-US" sz="2400" dirty="0">
                <a:solidFill>
                  <a:schemeClr val="tx1"/>
                </a:solidFill>
              </a:rPr>
              <a:t> structures </a:t>
            </a:r>
            <a:r>
              <a:rPr lang="en-US" sz="2400" dirty="0">
                <a:solidFill>
                  <a:srgbClr val="FF0000"/>
                </a:solidFill>
              </a:rPr>
              <a:t>without taking </a:t>
            </a:r>
            <a:r>
              <a:rPr lang="en-US" sz="2400" dirty="0" err="1">
                <a:solidFill>
                  <a:srgbClr val="FF0000"/>
                </a:solidFill>
              </a:rPr>
              <a:t>zamindari</a:t>
            </a:r>
            <a:r>
              <a:rPr lang="en-US" sz="2400" dirty="0">
                <a:solidFill>
                  <a:srgbClr val="FF0000"/>
                </a:solidFill>
              </a:rPr>
              <a:t> permission</a:t>
            </a:r>
          </a:p>
          <a:p>
            <a:pPr algn="just"/>
            <a:r>
              <a:rPr lang="en-US" sz="2400" dirty="0">
                <a:solidFill>
                  <a:schemeClr val="tx1"/>
                </a:solidFill>
              </a:rPr>
              <a:t>With the enactment and implementation of the In</a:t>
            </a:r>
            <a:r>
              <a:rPr lang="en-US" sz="2400" dirty="0">
                <a:solidFill>
                  <a:srgbClr val="FF0000"/>
                </a:solidFill>
              </a:rPr>
              <a:t>dia Act of 1935 </a:t>
            </a:r>
            <a:r>
              <a:rPr lang="en-US" sz="2400" dirty="0">
                <a:solidFill>
                  <a:schemeClr val="tx1"/>
                </a:solidFill>
              </a:rPr>
              <a:t>the </a:t>
            </a:r>
            <a:r>
              <a:rPr lang="en-US" sz="2400" dirty="0">
                <a:solidFill>
                  <a:srgbClr val="FF0000"/>
                </a:solidFill>
              </a:rPr>
              <a:t>peasant politics </a:t>
            </a:r>
            <a:r>
              <a:rPr lang="en-US" sz="2400" dirty="0">
                <a:solidFill>
                  <a:schemeClr val="tx1"/>
                </a:solidFill>
              </a:rPr>
              <a:t>had received a fresh stimulus. Peasant grievances were articulated by the political parties. A new political </a:t>
            </a:r>
            <a:r>
              <a:rPr lang="en-US" sz="2400" dirty="0" err="1">
                <a:solidFill>
                  <a:schemeClr val="tx1"/>
                </a:solidFill>
              </a:rPr>
              <a:t>organisation</a:t>
            </a:r>
            <a:r>
              <a:rPr lang="en-US" sz="2400" dirty="0">
                <a:solidFill>
                  <a:schemeClr val="tx1"/>
                </a:solidFill>
              </a:rPr>
              <a:t>, </a:t>
            </a:r>
            <a:r>
              <a:rPr lang="en-US" sz="2400" cap="small" dirty="0" err="1">
                <a:solidFill>
                  <a:srgbClr val="FF0000"/>
                </a:solidFill>
              </a:rPr>
              <a:t>krishak</a:t>
            </a:r>
            <a:r>
              <a:rPr lang="en-US" sz="2400" cap="small" dirty="0">
                <a:solidFill>
                  <a:srgbClr val="FF0000"/>
                </a:solidFill>
              </a:rPr>
              <a:t> </a:t>
            </a:r>
            <a:r>
              <a:rPr lang="en-US" sz="2400" cap="small" dirty="0" err="1">
                <a:solidFill>
                  <a:srgbClr val="FF0000"/>
                </a:solidFill>
              </a:rPr>
              <a:t>praja</a:t>
            </a:r>
            <a:r>
              <a:rPr lang="en-US" sz="2400" cap="small" dirty="0">
                <a:solidFill>
                  <a:srgbClr val="FF0000"/>
                </a:solidFill>
              </a:rPr>
              <a:t> party</a:t>
            </a:r>
            <a:r>
              <a:rPr lang="en-US" sz="2400" dirty="0">
                <a:solidFill>
                  <a:srgbClr val="FF0000"/>
                </a:solidFill>
              </a:rPr>
              <a:t> (KPP) was formed in Bengal with the avowed objects of serving the interests of the </a:t>
            </a:r>
            <a:r>
              <a:rPr lang="en-US" sz="2400" dirty="0" err="1">
                <a:solidFill>
                  <a:srgbClr val="FF0000"/>
                </a:solidFill>
              </a:rPr>
              <a:t>praja</a:t>
            </a:r>
            <a:r>
              <a:rPr lang="en-US" sz="2400" dirty="0">
                <a:solidFill>
                  <a:srgbClr val="FF0000"/>
                </a:solidFill>
              </a:rPr>
              <a:t> class mainly and its leader </a:t>
            </a:r>
            <a:r>
              <a:rPr lang="en-US" sz="2400" dirty="0" err="1">
                <a:solidFill>
                  <a:srgbClr val="FF0000"/>
                </a:solidFill>
              </a:rPr>
              <a:t>Sher</a:t>
            </a:r>
            <a:r>
              <a:rPr lang="en-US" sz="2400" dirty="0">
                <a:solidFill>
                  <a:srgbClr val="FF0000"/>
                </a:solidFill>
              </a:rPr>
              <a:t>-e-Bangla </a:t>
            </a:r>
            <a:r>
              <a:rPr lang="en-US" sz="2400" cap="small" dirty="0" err="1">
                <a:solidFill>
                  <a:srgbClr val="FF0000"/>
                </a:solidFill>
              </a:rPr>
              <a:t>ak</a:t>
            </a:r>
            <a:r>
              <a:rPr lang="en-US" sz="2400" cap="small" dirty="0">
                <a:solidFill>
                  <a:srgbClr val="FF0000"/>
                </a:solidFill>
              </a:rPr>
              <a:t> </a:t>
            </a:r>
            <a:r>
              <a:rPr lang="en-US" sz="2400" cap="small" dirty="0" err="1">
                <a:solidFill>
                  <a:srgbClr val="FF0000"/>
                </a:solidFill>
              </a:rPr>
              <a:t>fazlul</a:t>
            </a:r>
            <a:r>
              <a:rPr lang="en-US" sz="2400" cap="small" dirty="0">
                <a:solidFill>
                  <a:srgbClr val="FF0000"/>
                </a:solidFill>
              </a:rPr>
              <a:t> </a:t>
            </a:r>
            <a:r>
              <a:rPr lang="en-US" sz="2400" cap="small" dirty="0" err="1">
                <a:solidFill>
                  <a:srgbClr val="FF0000"/>
                </a:solidFill>
              </a:rPr>
              <a:t>huq</a:t>
            </a:r>
            <a:r>
              <a:rPr lang="en-US" sz="2400" dirty="0">
                <a:solidFill>
                  <a:schemeClr val="tx1"/>
                </a:solidFill>
              </a:rPr>
              <a:t>, who politically committed himself </a:t>
            </a:r>
            <a:r>
              <a:rPr lang="en-US" sz="2400" dirty="0">
                <a:solidFill>
                  <a:srgbClr val="FF0000"/>
                </a:solidFill>
              </a:rPr>
              <a:t>to abolishing the permanent settlement </a:t>
            </a:r>
            <a:r>
              <a:rPr lang="en-US" sz="2400" dirty="0">
                <a:solidFill>
                  <a:schemeClr val="tx1"/>
                </a:solidFill>
              </a:rPr>
              <a:t>if voted to power, had actually formed the government in 1937.</a:t>
            </a:r>
          </a:p>
        </p:txBody>
      </p:sp>
    </p:spTree>
    <p:extLst>
      <p:ext uri="{BB962C8B-B14F-4D97-AF65-F5344CB8AC3E}">
        <p14:creationId xmlns:p14="http://schemas.microsoft.com/office/powerpoint/2010/main" val="3791050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2785" y="624111"/>
            <a:ext cx="10639514" cy="1008136"/>
          </a:xfrm>
        </p:spPr>
        <p:txBody>
          <a:bodyPr>
            <a:normAutofit fontScale="90000"/>
          </a:bodyPr>
          <a:lstStyle/>
          <a:p>
            <a:r>
              <a:rPr lang="en-US" b="1" dirty="0"/>
              <a:t>LAND REVENUE COMMISSION &amp; TEBHAGA AGITATION:  </a:t>
            </a:r>
          </a:p>
        </p:txBody>
      </p:sp>
      <p:sp>
        <p:nvSpPr>
          <p:cNvPr id="3" name="Content Placeholder 2"/>
          <p:cNvSpPr>
            <a:spLocks noGrp="1"/>
          </p:cNvSpPr>
          <p:nvPr>
            <p:ph idx="1"/>
          </p:nvPr>
        </p:nvSpPr>
        <p:spPr>
          <a:xfrm>
            <a:off x="1452785" y="1760433"/>
            <a:ext cx="10417323" cy="4366901"/>
          </a:xfrm>
        </p:spPr>
        <p:style>
          <a:lnRef idx="1">
            <a:schemeClr val="accent3"/>
          </a:lnRef>
          <a:fillRef idx="2">
            <a:schemeClr val="accent3"/>
          </a:fillRef>
          <a:effectRef idx="1">
            <a:schemeClr val="accent3"/>
          </a:effectRef>
          <a:fontRef idx="minor">
            <a:schemeClr val="dk1"/>
          </a:fontRef>
        </p:style>
        <p:txBody>
          <a:bodyPr>
            <a:normAutofit/>
          </a:bodyPr>
          <a:lstStyle/>
          <a:p>
            <a:r>
              <a:rPr lang="en-US" sz="2400" dirty="0"/>
              <a:t>Soon after, the </a:t>
            </a:r>
            <a:r>
              <a:rPr lang="en-US" sz="2400" dirty="0" err="1"/>
              <a:t>Huq</a:t>
            </a:r>
            <a:r>
              <a:rPr lang="en-US" sz="2400" dirty="0"/>
              <a:t> ministry formed a committee called Land Revenue Commission (generally known as FLOUD COMMISSION  after the name of its chairman Francis </a:t>
            </a:r>
            <a:r>
              <a:rPr lang="en-US" sz="2400" dirty="0" err="1"/>
              <a:t>Floud</a:t>
            </a:r>
            <a:r>
              <a:rPr lang="en-US" sz="2400" dirty="0"/>
              <a:t>) with specific terms of reference concerning the end of the permanent settlement</a:t>
            </a:r>
          </a:p>
          <a:p>
            <a:r>
              <a:rPr lang="en-US" sz="2400" dirty="0">
                <a:solidFill>
                  <a:srgbClr val="FF0000"/>
                </a:solidFill>
              </a:rPr>
              <a:t>FLOUD COMMISSION in its 1940 report recommended the abolition of the permanent settlement</a:t>
            </a:r>
          </a:p>
          <a:p>
            <a:pPr marL="0" indent="0">
              <a:buNone/>
            </a:pPr>
            <a:endParaRPr lang="en-US" sz="2400" dirty="0"/>
          </a:p>
        </p:txBody>
      </p:sp>
    </p:spTree>
    <p:extLst>
      <p:ext uri="{BB962C8B-B14F-4D97-AF65-F5344CB8AC3E}">
        <p14:creationId xmlns:p14="http://schemas.microsoft.com/office/powerpoint/2010/main" val="859984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290" y="111095"/>
            <a:ext cx="11459910" cy="1042587"/>
          </a:xfrm>
        </p:spPr>
        <p:txBody>
          <a:bodyPr>
            <a:normAutofit fontScale="90000"/>
          </a:bodyPr>
          <a:lstStyle/>
          <a:p>
            <a:r>
              <a:rPr lang="en-US" b="1" dirty="0"/>
              <a:t>ABOLITION OF THE </a:t>
            </a:r>
            <a:r>
              <a:rPr lang="en-US" b="1" dirty="0">
                <a:solidFill>
                  <a:srgbClr val="FF0000"/>
                </a:solidFill>
              </a:rPr>
              <a:t>PERMANENT SETTLEMENT </a:t>
            </a:r>
            <a:r>
              <a:rPr lang="en-US" b="1" dirty="0"/>
              <a:t>IN 1950:</a:t>
            </a:r>
          </a:p>
        </p:txBody>
      </p:sp>
      <p:sp>
        <p:nvSpPr>
          <p:cNvPr id="3" name="Content Placeholder 2"/>
          <p:cNvSpPr>
            <a:spLocks noGrp="1"/>
          </p:cNvSpPr>
          <p:nvPr>
            <p:ph idx="1"/>
          </p:nvPr>
        </p:nvSpPr>
        <p:spPr>
          <a:xfrm>
            <a:off x="495656" y="1974078"/>
            <a:ext cx="11494093" cy="3911506"/>
          </a:xfrm>
          <a:ln/>
        </p:spPr>
        <p:style>
          <a:lnRef idx="1">
            <a:schemeClr val="accent6"/>
          </a:lnRef>
          <a:fillRef idx="2">
            <a:schemeClr val="accent6"/>
          </a:fillRef>
          <a:effectRef idx="1">
            <a:schemeClr val="accent6"/>
          </a:effectRef>
          <a:fontRef idx="minor">
            <a:schemeClr val="dk1"/>
          </a:fontRef>
        </p:style>
        <p:txBody>
          <a:bodyPr/>
          <a:lstStyle/>
          <a:p>
            <a:pPr algn="just"/>
            <a:r>
              <a:rPr lang="en-US" sz="2400" dirty="0">
                <a:solidFill>
                  <a:srgbClr val="FF0000"/>
                </a:solidFill>
              </a:rPr>
              <a:t>The East Bengal State Acquisition and Tenancy Bill, 1950 </a:t>
            </a:r>
            <a:r>
              <a:rPr lang="en-US" sz="2400" dirty="0">
                <a:solidFill>
                  <a:schemeClr val="tx1"/>
                </a:solidFill>
              </a:rPr>
              <a:t>was passed in the </a:t>
            </a:r>
            <a:r>
              <a:rPr lang="en-US" sz="2400" dirty="0">
                <a:solidFill>
                  <a:srgbClr val="FF0000"/>
                </a:solidFill>
              </a:rPr>
              <a:t>East Bengal Legislative Assembly .</a:t>
            </a:r>
          </a:p>
          <a:p>
            <a:pPr marL="0" indent="0" algn="just">
              <a:buNone/>
            </a:pPr>
            <a:endParaRPr lang="en-US" sz="2400" dirty="0">
              <a:solidFill>
                <a:schemeClr val="tx1"/>
              </a:solidFill>
            </a:endParaRPr>
          </a:p>
          <a:p>
            <a:pPr algn="just"/>
            <a:r>
              <a:rPr lang="en-US" sz="2400" dirty="0">
                <a:solidFill>
                  <a:schemeClr val="tx1"/>
                </a:solidFill>
              </a:rPr>
              <a:t>On 16 December 1950, the bill became on act entitled </a:t>
            </a:r>
            <a:r>
              <a:rPr lang="en-US" sz="2400" cap="small" dirty="0">
                <a:solidFill>
                  <a:schemeClr val="tx1"/>
                </a:solidFill>
              </a:rPr>
              <a:t>east </a:t>
            </a:r>
            <a:r>
              <a:rPr lang="en-US" sz="2400" cap="small" dirty="0" err="1">
                <a:solidFill>
                  <a:schemeClr val="tx1"/>
                </a:solidFill>
              </a:rPr>
              <a:t>bengal</a:t>
            </a:r>
            <a:r>
              <a:rPr lang="en-US" sz="2400" cap="small" dirty="0">
                <a:solidFill>
                  <a:schemeClr val="tx1"/>
                </a:solidFill>
              </a:rPr>
              <a:t> state acquisition and tenancy act 1950</a:t>
            </a:r>
            <a:r>
              <a:rPr lang="en-US" sz="2400" dirty="0">
                <a:solidFill>
                  <a:schemeClr val="tx1"/>
                </a:solidFill>
              </a:rPr>
              <a:t>. Under the act, </a:t>
            </a:r>
            <a:r>
              <a:rPr lang="en-US" sz="2400" dirty="0">
                <a:solidFill>
                  <a:srgbClr val="FF0000"/>
                </a:solidFill>
              </a:rPr>
              <a:t>the permanent settlement was at last abolished</a:t>
            </a:r>
            <a:r>
              <a:rPr lang="en-US" sz="2400" dirty="0">
                <a:solidFill>
                  <a:schemeClr val="tx1"/>
                </a:solidFill>
              </a:rPr>
              <a:t>. The </a:t>
            </a:r>
            <a:r>
              <a:rPr lang="en-US" sz="2400" dirty="0" err="1">
                <a:solidFill>
                  <a:schemeClr val="tx1"/>
                </a:solidFill>
              </a:rPr>
              <a:t>raiyats</a:t>
            </a:r>
            <a:r>
              <a:rPr lang="en-US" sz="2400" dirty="0">
                <a:solidFill>
                  <a:schemeClr val="tx1"/>
                </a:solidFill>
              </a:rPr>
              <a:t>, now called </a:t>
            </a:r>
            <a:r>
              <a:rPr lang="en-US" sz="2400" dirty="0" err="1">
                <a:solidFill>
                  <a:srgbClr val="FF0000"/>
                </a:solidFill>
              </a:rPr>
              <a:t>maliks</a:t>
            </a:r>
            <a:r>
              <a:rPr lang="en-US" sz="2400" dirty="0">
                <a:solidFill>
                  <a:srgbClr val="FF0000"/>
                </a:solidFill>
              </a:rPr>
              <a:t> </a:t>
            </a:r>
            <a:r>
              <a:rPr lang="en-US" sz="2400" dirty="0">
                <a:solidFill>
                  <a:schemeClr val="tx1"/>
                </a:solidFill>
              </a:rPr>
              <a:t>or proprietors of land, became direct tenants under the government. </a:t>
            </a:r>
          </a:p>
          <a:p>
            <a:pPr marL="0" indent="0">
              <a:buNone/>
            </a:pPr>
            <a:endParaRPr lang="en-US" dirty="0"/>
          </a:p>
        </p:txBody>
      </p:sp>
    </p:spTree>
    <p:extLst>
      <p:ext uri="{BB962C8B-B14F-4D97-AF65-F5344CB8AC3E}">
        <p14:creationId xmlns:p14="http://schemas.microsoft.com/office/powerpoint/2010/main" val="3355167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431" y="351693"/>
            <a:ext cx="11534960" cy="844061"/>
          </a:xfrm>
        </p:spPr>
        <p:txBody>
          <a:bodyPr>
            <a:normAutofit fontScale="90000"/>
          </a:bodyPr>
          <a:lstStyle/>
          <a:p>
            <a:r>
              <a:rPr lang="en-US" dirty="0">
                <a:solidFill>
                  <a:srgbClr val="0070C0"/>
                </a:solidFill>
              </a:rPr>
              <a:t>Colonial Legacy of Land Disputes in Bangladesh,</a:t>
            </a:r>
            <a:br>
              <a:rPr lang="en-US" dirty="0">
                <a:solidFill>
                  <a:srgbClr val="0070C0"/>
                </a:solidFill>
              </a:rPr>
            </a:br>
            <a:r>
              <a:rPr lang="en-US" dirty="0">
                <a:solidFill>
                  <a:srgbClr val="0070C0"/>
                </a:solidFill>
              </a:rPr>
              <a:t>1971-2023:</a:t>
            </a:r>
          </a:p>
        </p:txBody>
      </p:sp>
      <p:sp>
        <p:nvSpPr>
          <p:cNvPr id="3" name="Content Placeholder 2"/>
          <p:cNvSpPr>
            <a:spLocks noGrp="1"/>
          </p:cNvSpPr>
          <p:nvPr>
            <p:ph idx="1"/>
          </p:nvPr>
        </p:nvSpPr>
        <p:spPr>
          <a:xfrm>
            <a:off x="445477" y="1817077"/>
            <a:ext cx="10908323" cy="3235569"/>
          </a:xfrm>
        </p:spPr>
        <p:txBody>
          <a:bodyPr>
            <a:normAutofit/>
          </a:bodyPr>
          <a:lstStyle/>
          <a:p>
            <a:pPr>
              <a:buFont typeface="Wingdings" panose="05000000000000000000" pitchFamily="2" charset="2"/>
              <a:buChar char="Ø"/>
            </a:pPr>
            <a:r>
              <a:rPr lang="en-US" dirty="0"/>
              <a:t>The annual number of land litigation pending with major courts are 1.4 million and 120 million people are affected by </a:t>
            </a:r>
            <a:r>
              <a:rPr lang="en-US" dirty="0">
                <a:solidFill>
                  <a:srgbClr val="FF0000"/>
                </a:solidFill>
              </a:rPr>
              <a:t>land related disputes</a:t>
            </a:r>
            <a:r>
              <a:rPr lang="en-US" dirty="0"/>
              <a:t>. It is further observed that </a:t>
            </a:r>
            <a:r>
              <a:rPr lang="en-US" dirty="0">
                <a:solidFill>
                  <a:srgbClr val="FF0000"/>
                </a:solidFill>
              </a:rPr>
              <a:t>land related cases </a:t>
            </a:r>
            <a:r>
              <a:rPr lang="en-US" dirty="0"/>
              <a:t>need an average </a:t>
            </a:r>
            <a:r>
              <a:rPr lang="en-US" dirty="0">
                <a:solidFill>
                  <a:srgbClr val="FF0000"/>
                </a:solidFill>
              </a:rPr>
              <a:t>of 9.5 years for settlement </a:t>
            </a:r>
            <a:r>
              <a:rPr lang="en-US" dirty="0"/>
              <a:t>( Rahman &amp; Hossain, 2020, p.2). </a:t>
            </a:r>
          </a:p>
          <a:p>
            <a:pPr>
              <a:buFont typeface="Wingdings" panose="05000000000000000000" pitchFamily="2" charset="2"/>
              <a:buChar char="Ø"/>
            </a:pPr>
            <a:r>
              <a:rPr lang="en-US" dirty="0"/>
              <a:t>The absence of land governance in terms of poor transparency, accountability and the rule of law </a:t>
            </a:r>
            <a:r>
              <a:rPr lang="en-US" dirty="0">
                <a:solidFill>
                  <a:srgbClr val="FF0000"/>
                </a:solidFill>
              </a:rPr>
              <a:t>encourages corruption.</a:t>
            </a:r>
          </a:p>
        </p:txBody>
      </p:sp>
    </p:spTree>
    <p:extLst>
      <p:ext uri="{BB962C8B-B14F-4D97-AF65-F5344CB8AC3E}">
        <p14:creationId xmlns:p14="http://schemas.microsoft.com/office/powerpoint/2010/main" val="775096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6251" y="418744"/>
            <a:ext cx="9118362" cy="538385"/>
          </a:xfrm>
        </p:spPr>
        <p:txBody>
          <a:bodyPr>
            <a:normAutofit fontScale="90000"/>
          </a:bodyPr>
          <a:lstStyle/>
          <a:p>
            <a:pPr algn="ctr"/>
            <a:r>
              <a:rPr lang="en-US" b="1" dirty="0">
                <a:solidFill>
                  <a:srgbClr val="FF0000"/>
                </a:solidFill>
              </a:rPr>
              <a:t>REFERENCES:</a:t>
            </a:r>
          </a:p>
        </p:txBody>
      </p:sp>
      <p:sp>
        <p:nvSpPr>
          <p:cNvPr id="3" name="Content Placeholder 2"/>
          <p:cNvSpPr>
            <a:spLocks noGrp="1"/>
          </p:cNvSpPr>
          <p:nvPr>
            <p:ph idx="1"/>
          </p:nvPr>
        </p:nvSpPr>
        <p:spPr>
          <a:xfrm>
            <a:off x="1289539" y="1312985"/>
            <a:ext cx="10245970" cy="5017477"/>
          </a:xfrm>
        </p:spPr>
        <p:txBody>
          <a:bodyPr>
            <a:normAutofit/>
          </a:bodyPr>
          <a:lstStyle/>
          <a:p>
            <a:pPr algn="just"/>
            <a:r>
              <a:rPr lang="en-US" sz="2400" dirty="0"/>
              <a:t>Willem van </a:t>
            </a:r>
            <a:r>
              <a:rPr lang="en-US" sz="2400" dirty="0" err="1"/>
              <a:t>Schendel</a:t>
            </a:r>
            <a:r>
              <a:rPr lang="en-US" sz="2400" dirty="0"/>
              <a:t>, </a:t>
            </a:r>
            <a:r>
              <a:rPr lang="en-US" sz="2400" i="1" dirty="0"/>
              <a:t>A History of Bangladesh </a:t>
            </a:r>
            <a:r>
              <a:rPr lang="en-US" sz="2400" dirty="0"/>
              <a:t>( Cambridge University Press, Cambridge, 2010)</a:t>
            </a:r>
          </a:p>
          <a:p>
            <a:pPr algn="just"/>
            <a:r>
              <a:rPr lang="en-US" sz="2400" dirty="0" err="1"/>
              <a:t>Serajul</a:t>
            </a:r>
            <a:r>
              <a:rPr lang="en-US" sz="2400" dirty="0"/>
              <a:t> Islam , </a:t>
            </a:r>
            <a:r>
              <a:rPr lang="en-US" sz="2400" i="1" dirty="0"/>
              <a:t>The Permanent Settlement in Bengal-A Study of its Operations, </a:t>
            </a:r>
            <a:r>
              <a:rPr lang="en-US" sz="2400" dirty="0"/>
              <a:t>1790-1819  ( Bangla Academy, Dhaka, 1979)</a:t>
            </a:r>
          </a:p>
          <a:p>
            <a:r>
              <a:rPr lang="en-US" sz="2400" dirty="0" err="1">
                <a:solidFill>
                  <a:srgbClr val="FF0000"/>
                </a:solidFill>
              </a:rPr>
              <a:t>Ashikur</a:t>
            </a:r>
            <a:r>
              <a:rPr lang="en-US" sz="2400" dirty="0">
                <a:solidFill>
                  <a:srgbClr val="FF0000"/>
                </a:solidFill>
              </a:rPr>
              <a:t> </a:t>
            </a:r>
            <a:r>
              <a:rPr lang="en-US" sz="2400" dirty="0" err="1">
                <a:solidFill>
                  <a:srgbClr val="FF0000"/>
                </a:solidFill>
              </a:rPr>
              <a:t>Rahmanan</a:t>
            </a:r>
            <a:r>
              <a:rPr lang="en-US" sz="2400" dirty="0">
                <a:solidFill>
                  <a:srgbClr val="FF0000"/>
                </a:solidFill>
              </a:rPr>
              <a:t> and Rafi Hossain, “The uncomfortable truth about land disputes in Bangladesh: Insights from a household survey</a:t>
            </a:r>
            <a:r>
              <a:rPr lang="en-US" sz="2400" dirty="0"/>
              <a:t>, </a:t>
            </a:r>
            <a:r>
              <a:rPr lang="en-US" sz="2400" i="1" dirty="0"/>
              <a:t>Land Use Policy, </a:t>
            </a:r>
            <a:r>
              <a:rPr lang="fr-FR" sz="2400" dirty="0">
                <a:hlinkClick r:id="rId2" tooltip="Go to table of contents for this volume/issue"/>
              </a:rPr>
              <a:t>Volume 95</a:t>
            </a:r>
            <a:r>
              <a:rPr lang="fr-FR" sz="2400" dirty="0"/>
              <a:t>, </a:t>
            </a:r>
            <a:r>
              <a:rPr lang="fr-FR" sz="2400" dirty="0" err="1"/>
              <a:t>June</a:t>
            </a:r>
            <a:r>
              <a:rPr lang="fr-FR" sz="2400" dirty="0"/>
              <a:t> 2020, </a:t>
            </a:r>
            <a:r>
              <a:rPr lang="en-US" sz="2400" dirty="0">
                <a:hlinkClick r:id="rId3"/>
              </a:rPr>
              <a:t>https://doi.org/10.1016/j.landusepol.2020.104557</a:t>
            </a:r>
            <a:endParaRPr lang="en-US" sz="2400" dirty="0"/>
          </a:p>
          <a:p>
            <a:r>
              <a:rPr lang="en-US" sz="2400" dirty="0" err="1"/>
              <a:t>Saleh</a:t>
            </a:r>
            <a:r>
              <a:rPr lang="en-US" sz="2400" dirty="0"/>
              <a:t> </a:t>
            </a:r>
            <a:r>
              <a:rPr lang="en-US" sz="2400" dirty="0" err="1"/>
              <a:t>Shahriar</a:t>
            </a:r>
            <a:r>
              <a:rPr lang="en-US" sz="2400" dirty="0"/>
              <a:t>, “</a:t>
            </a:r>
            <a:r>
              <a:rPr lang="en-US" sz="2400" dirty="0">
                <a:solidFill>
                  <a:srgbClr val="FF0000"/>
                </a:solidFill>
              </a:rPr>
              <a:t>Review of </a:t>
            </a:r>
            <a:r>
              <a:rPr lang="en-US" sz="2400" i="1" dirty="0">
                <a:solidFill>
                  <a:srgbClr val="FF0000"/>
                </a:solidFill>
              </a:rPr>
              <a:t>The Numbers and Narratives of Bangladesh’s Economic Development”</a:t>
            </a:r>
            <a:r>
              <a:rPr lang="en-US" sz="2400" i="1" dirty="0"/>
              <a:t> , South Asia Economic Journal, </a:t>
            </a:r>
            <a:r>
              <a:rPr lang="en-US" sz="2400" dirty="0"/>
              <a:t>Vol. 52, No. 2, 2021, pp. 250-253; available at </a:t>
            </a:r>
            <a:r>
              <a:rPr lang="en-US" sz="2400" dirty="0">
                <a:hlinkClick r:id="rId4"/>
              </a:rPr>
              <a:t>https://journals.sagepub.com/doi/abs/10.1177/13915614211034256</a:t>
            </a:r>
            <a:endParaRPr lang="en-US" sz="2400" dirty="0"/>
          </a:p>
          <a:p>
            <a:endParaRPr lang="en-US" sz="2400" dirty="0"/>
          </a:p>
          <a:p>
            <a:endParaRPr lang="en-US" sz="2400" i="1" dirty="0"/>
          </a:p>
          <a:p>
            <a:endParaRPr lang="en-US" dirty="0"/>
          </a:p>
          <a:p>
            <a:endParaRPr lang="en-US" dirty="0"/>
          </a:p>
          <a:p>
            <a:endParaRPr lang="en-US" b="1" dirty="0"/>
          </a:p>
          <a:p>
            <a:endParaRPr lang="en-US" dirty="0"/>
          </a:p>
        </p:txBody>
      </p:sp>
    </p:spTree>
    <p:extLst>
      <p:ext uri="{BB962C8B-B14F-4D97-AF65-F5344CB8AC3E}">
        <p14:creationId xmlns:p14="http://schemas.microsoft.com/office/powerpoint/2010/main" val="3774962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393928" y="230735"/>
            <a:ext cx="4686300" cy="6229885"/>
          </a:xfrm>
          <a:prstGeom prst="rect">
            <a:avLst/>
          </a:prstGeom>
        </p:spPr>
      </p:pic>
    </p:spTree>
    <p:extLst>
      <p:ext uri="{BB962C8B-B14F-4D97-AF65-F5344CB8AC3E}">
        <p14:creationId xmlns:p14="http://schemas.microsoft.com/office/powerpoint/2010/main" val="1330146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72541" y="427290"/>
            <a:ext cx="10029825" cy="6516435"/>
          </a:xfrm>
          <a:prstGeom prst="rect">
            <a:avLst/>
          </a:prstGeom>
        </p:spPr>
      </p:pic>
    </p:spTree>
    <p:extLst>
      <p:ext uri="{BB962C8B-B14F-4D97-AF65-F5344CB8AC3E}">
        <p14:creationId xmlns:p14="http://schemas.microsoft.com/office/powerpoint/2010/main" val="1023642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180171" y="223935"/>
            <a:ext cx="5515960" cy="6446756"/>
          </a:xfrm>
          <a:prstGeom prst="rect">
            <a:avLst/>
          </a:prstGeom>
        </p:spPr>
      </p:pic>
    </p:spTree>
    <p:extLst>
      <p:ext uri="{BB962C8B-B14F-4D97-AF65-F5344CB8AC3E}">
        <p14:creationId xmlns:p14="http://schemas.microsoft.com/office/powerpoint/2010/main" val="1860756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888479" y="324740"/>
            <a:ext cx="6212792" cy="5383851"/>
          </a:xfrm>
          <a:prstGeom prst="rect">
            <a:avLst/>
          </a:prstGeom>
        </p:spPr>
      </p:pic>
    </p:spTree>
    <p:extLst>
      <p:ext uri="{BB962C8B-B14F-4D97-AF65-F5344CB8AC3E}">
        <p14:creationId xmlns:p14="http://schemas.microsoft.com/office/powerpoint/2010/main" val="2628348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125466129"/>
              </p:ext>
            </p:extLst>
          </p:nvPr>
        </p:nvGraphicFramePr>
        <p:xfrm>
          <a:off x="2589212" y="1461331"/>
          <a:ext cx="8915400" cy="4449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76960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1906</TotalTime>
  <Words>1669</Words>
  <Application>Microsoft Office PowerPoint</Application>
  <PresentationFormat>Widescreen</PresentationFormat>
  <Paragraphs>83</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Wingdings</vt:lpstr>
      <vt:lpstr>Office Theme</vt:lpstr>
      <vt:lpstr>PowerPoint Presentation</vt:lpstr>
      <vt:lpstr>Permanent Settlement of 1793</vt:lpstr>
      <vt:lpstr>HISTORICAL BACKGROUND &amp; IMPORTANCE:</vt:lpstr>
      <vt:lpstr>PROBLEMS &amp; ISSUES: </vt:lpstr>
      <vt:lpstr>PowerPoint Presentation</vt:lpstr>
      <vt:lpstr>PowerPoint Presentation</vt:lpstr>
      <vt:lpstr>Exploitative Land Management System : </vt:lpstr>
      <vt:lpstr>Emergence of a Centralized Administrative System:</vt:lpstr>
      <vt:lpstr>Growth in Agriculture: </vt:lpstr>
      <vt:lpstr>POLITICS: WHO GETS WHAT, WHEN &amp; HOW  ?</vt:lpstr>
      <vt:lpstr>PowerPoint Presentation</vt:lpstr>
      <vt:lpstr>EMERGENCE OF A NEW MIDDLE CLASS:</vt:lpstr>
      <vt:lpstr>PowerPoint Presentation</vt:lpstr>
      <vt:lpstr>PEASENT UNREST, RENT COMISSION  &amp; BENGAL TENANCY ACT OF 1885:</vt:lpstr>
      <vt:lpstr>PowerPoint Presentation</vt:lpstr>
      <vt:lpstr>PEASANT POLITICS &amp; THE FORMATION OF THE  KRISHAK PRAJA PARTY  UNDER THE LEADERSHIP OF SHER-E-BANGLA A.K. FAZLUL HUQ:</vt:lpstr>
      <vt:lpstr>LAND REVENUE COMMISSION &amp; TEBHAGA AGITATION:  </vt:lpstr>
      <vt:lpstr>ABOLITION OF THE PERMANENT SETTLEMENT IN 1950:</vt:lpstr>
      <vt:lpstr>Colonial Legacy of Land Disputes in Bangladesh, 1971-2023:</vt:lpstr>
      <vt:lpstr>REFERENCES: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Saleh Shahriar</cp:lastModifiedBy>
  <cp:revision>928</cp:revision>
  <dcterms:created xsi:type="dcterms:W3CDTF">2020-11-08T02:36:40Z</dcterms:created>
  <dcterms:modified xsi:type="dcterms:W3CDTF">2023-12-08T16:14:24Z</dcterms:modified>
</cp:coreProperties>
</file>