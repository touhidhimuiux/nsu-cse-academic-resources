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9" r:id="rId4"/>
    <p:sldId id="260" r:id="rId5"/>
    <p:sldId id="261" r:id="rId6"/>
    <p:sldId id="262" r:id="rId7"/>
    <p:sldId id="263" r:id="rId8"/>
    <p:sldId id="264" r:id="rId9"/>
    <p:sldId id="265" r:id="rId10"/>
    <p:sldId id="266" r:id="rId11"/>
    <p:sldId id="294" r:id="rId12"/>
    <p:sldId id="289" r:id="rId13"/>
    <p:sldId id="287" r:id="rId14"/>
    <p:sldId id="288" r:id="rId15"/>
    <p:sldId id="293" r:id="rId16"/>
    <p:sldId id="284" r:id="rId17"/>
    <p:sldId id="285" r:id="rId18"/>
    <p:sldId id="286" r:id="rId19"/>
    <p:sldId id="267" r:id="rId20"/>
    <p:sldId id="281" r:id="rId21"/>
    <p:sldId id="282" r:id="rId22"/>
    <p:sldId id="283" r:id="rId23"/>
    <p:sldId id="268" r:id="rId24"/>
    <p:sldId id="274" r:id="rId25"/>
    <p:sldId id="291" r:id="rId26"/>
    <p:sldId id="279" r:id="rId27"/>
    <p:sldId id="275" r:id="rId28"/>
    <p:sldId id="276" r:id="rId29"/>
    <p:sldId id="280" r:id="rId30"/>
    <p:sldId id="277" r:id="rId31"/>
    <p:sldId id="292"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2" autoAdjust="0"/>
  </p:normalViewPr>
  <p:slideViewPr>
    <p:cSldViewPr snapToGrid="0">
      <p:cViewPr varScale="1">
        <p:scale>
          <a:sx n="80" d="100"/>
          <a:sy n="80" d="100"/>
        </p:scale>
        <p:origin x="37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233451-7A9A-4FF9-9F62-DF4C46D14DDB}" type="datetimeFigureOut">
              <a:rPr lang="en-US" smtClean="0"/>
              <a:t>3/3/2025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4D331C-4C60-48F1-86D8-0995178D96B5}" type="slidenum">
              <a:rPr lang="en-US" smtClean="0"/>
              <a:t>‹#›</a:t>
            </a:fld>
            <a:endParaRPr lang="en-US"/>
          </a:p>
        </p:txBody>
      </p:sp>
    </p:spTree>
    <p:extLst>
      <p:ext uri="{BB962C8B-B14F-4D97-AF65-F5344CB8AC3E}">
        <p14:creationId xmlns:p14="http://schemas.microsoft.com/office/powerpoint/2010/main" val="2098864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4D331C-4C60-48F1-86D8-0995178D96B5}" type="slidenum">
              <a:rPr lang="en-US" smtClean="0"/>
              <a:t>31</a:t>
            </a:fld>
            <a:endParaRPr lang="en-US"/>
          </a:p>
        </p:txBody>
      </p:sp>
    </p:spTree>
    <p:extLst>
      <p:ext uri="{BB962C8B-B14F-4D97-AF65-F5344CB8AC3E}">
        <p14:creationId xmlns:p14="http://schemas.microsoft.com/office/powerpoint/2010/main" val="2114099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971DB77-29A5-4920-A2CD-5415D8667981}"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3495014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71DB77-29A5-4920-A2CD-5415D8667981}"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202142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71DB77-29A5-4920-A2CD-5415D8667981}"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2671303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971DB77-29A5-4920-A2CD-5415D8667981}" type="datetimeFigureOut">
              <a:rPr lang="en-US" smtClean="0"/>
              <a:t>3/3/2025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3656603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971DB77-29A5-4920-A2CD-5415D8667981}" type="datetimeFigureOut">
              <a:rPr lang="en-US" smtClean="0"/>
              <a:t>3/3/2025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1331393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71DB77-29A5-4920-A2CD-5415D8667981}" type="datetimeFigureOut">
              <a:rPr lang="en-US" smtClean="0"/>
              <a:t>3/3/2025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14483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71DB77-29A5-4920-A2CD-5415D8667981}" type="datetimeFigureOut">
              <a:rPr lang="en-US" smtClean="0"/>
              <a:t>3/3/2025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2269497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71DB77-29A5-4920-A2CD-5415D8667981}" type="datetimeFigureOut">
              <a:rPr lang="en-US" smtClean="0"/>
              <a:t>3/3/2025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314953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71DB77-29A5-4920-A2CD-5415D8667981}" type="datetimeFigureOut">
              <a:rPr lang="en-US" smtClean="0"/>
              <a:t>3/3/2025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1875691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71DB77-29A5-4920-A2CD-5415D8667981}"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3206699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71DB77-29A5-4920-A2CD-5415D8667981}" type="datetimeFigureOut">
              <a:rPr lang="en-US" smtClean="0"/>
              <a:t>3/3/2025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6EC016-66B2-4C05-A2AA-3738253AB51F}" type="slidenum">
              <a:rPr lang="en-US" smtClean="0"/>
              <a:t>‹#›</a:t>
            </a:fld>
            <a:endParaRPr lang="en-US"/>
          </a:p>
        </p:txBody>
      </p:sp>
    </p:spTree>
    <p:extLst>
      <p:ext uri="{BB962C8B-B14F-4D97-AF65-F5344CB8AC3E}">
        <p14:creationId xmlns:p14="http://schemas.microsoft.com/office/powerpoint/2010/main" val="230631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71DB77-29A5-4920-A2CD-5415D8667981}" type="datetimeFigureOut">
              <a:rPr lang="en-US" smtClean="0"/>
              <a:t>3/3/2025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6EC016-66B2-4C05-A2AA-3738253AB51F}" type="slidenum">
              <a:rPr lang="en-US" smtClean="0"/>
              <a:t>‹#›</a:t>
            </a:fld>
            <a:endParaRPr lang="en-US"/>
          </a:p>
        </p:txBody>
      </p:sp>
    </p:spTree>
    <p:extLst>
      <p:ext uri="{BB962C8B-B14F-4D97-AF65-F5344CB8AC3E}">
        <p14:creationId xmlns:p14="http://schemas.microsoft.com/office/powerpoint/2010/main" val="2537506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2121877"/>
            <a:ext cx="9144000" cy="1899138"/>
          </a:xfrm>
        </p:spPr>
        <p:txBody>
          <a:bodyPr>
            <a:normAutofit/>
          </a:bodyPr>
          <a:lstStyle/>
          <a:p>
            <a:r>
              <a:rPr lang="en-US" sz="4400" dirty="0"/>
              <a:t>The Great Divide of 1947</a:t>
            </a:r>
          </a:p>
        </p:txBody>
      </p:sp>
    </p:spTree>
    <p:extLst>
      <p:ext uri="{BB962C8B-B14F-4D97-AF65-F5344CB8AC3E}">
        <p14:creationId xmlns:p14="http://schemas.microsoft.com/office/powerpoint/2010/main" val="3089637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914400"/>
            <a:ext cx="11100515" cy="4220308"/>
          </a:xfrm>
        </p:spPr>
        <p:style>
          <a:lnRef idx="1">
            <a:schemeClr val="accent1"/>
          </a:lnRef>
          <a:fillRef idx="2">
            <a:schemeClr val="accent1"/>
          </a:fillRef>
          <a:effectRef idx="1">
            <a:schemeClr val="accent1"/>
          </a:effectRef>
          <a:fontRef idx="minor">
            <a:schemeClr val="dk1"/>
          </a:fontRef>
        </p:style>
        <p:txBody>
          <a:bodyPr>
            <a:normAutofit/>
          </a:bodyPr>
          <a:lstStyle/>
          <a:p>
            <a:pPr algn="just"/>
            <a:r>
              <a:rPr lang="en-US" dirty="0"/>
              <a:t>After the </a:t>
            </a:r>
            <a:r>
              <a:rPr lang="en-US" dirty="0">
                <a:solidFill>
                  <a:srgbClr val="FF0000"/>
                </a:solidFill>
              </a:rPr>
              <a:t>Second World War</a:t>
            </a:r>
            <a:r>
              <a:rPr lang="en-US" dirty="0"/>
              <a:t>, Britain simply no longer had the resources with which to control its greatest imperial asset, and its exit from India was messy, hasty, and clumsily improvised</a:t>
            </a:r>
          </a:p>
          <a:p>
            <a:pPr algn="just"/>
            <a:r>
              <a:rPr lang="en-US" dirty="0"/>
              <a:t>The partition of India remains a traumatic pain in the collective memory, of generations born after 1947 and indeed long after 1947.</a:t>
            </a:r>
          </a:p>
          <a:p>
            <a:pPr algn="just"/>
            <a:r>
              <a:rPr lang="en-US" dirty="0"/>
              <a:t>Professor</a:t>
            </a:r>
            <a:r>
              <a:rPr lang="en-US" dirty="0">
                <a:solidFill>
                  <a:srgbClr val="FF0000"/>
                </a:solidFill>
              </a:rPr>
              <a:t> Ayesha Jalal </a:t>
            </a:r>
            <a:r>
              <a:rPr lang="en-US" dirty="0"/>
              <a:t>has called Partition “the </a:t>
            </a:r>
            <a:r>
              <a:rPr lang="en-US" dirty="0">
                <a:solidFill>
                  <a:srgbClr val="FF0000"/>
                </a:solidFill>
              </a:rPr>
              <a:t>central historical event </a:t>
            </a:r>
            <a:r>
              <a:rPr lang="en-US" dirty="0"/>
              <a:t>in twentieth century South Asia.” </a:t>
            </a:r>
          </a:p>
          <a:p>
            <a:pPr algn="just"/>
            <a:endParaRPr lang="en-US" dirty="0"/>
          </a:p>
        </p:txBody>
      </p:sp>
    </p:spTree>
    <p:extLst>
      <p:ext uri="{BB962C8B-B14F-4D97-AF65-F5344CB8AC3E}">
        <p14:creationId xmlns:p14="http://schemas.microsoft.com/office/powerpoint/2010/main" val="3132100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3305"/>
            <a:ext cx="9972230" cy="3417003"/>
          </a:xfrm>
        </p:spPr>
        <p:style>
          <a:lnRef idx="1">
            <a:schemeClr val="accent6"/>
          </a:lnRef>
          <a:fillRef idx="2">
            <a:schemeClr val="accent6"/>
          </a:fillRef>
          <a:effectRef idx="1">
            <a:schemeClr val="accent6"/>
          </a:effectRef>
          <a:fontRef idx="minor">
            <a:schemeClr val="dk1"/>
          </a:fontRef>
        </p:style>
        <p:txBody>
          <a:bodyPr/>
          <a:lstStyle/>
          <a:p>
            <a:pPr marL="0" indent="0" algn="just">
              <a:buNone/>
            </a:pPr>
            <a:r>
              <a:rPr lang="en-US" dirty="0"/>
              <a:t>  Congress intellectuals and particularly </a:t>
            </a:r>
            <a:r>
              <a:rPr lang="en-US" dirty="0">
                <a:solidFill>
                  <a:srgbClr val="FF0000"/>
                </a:solidFill>
              </a:rPr>
              <a:t>Jawaharlal Nehru</a:t>
            </a:r>
            <a:r>
              <a:rPr lang="en-US" dirty="0"/>
              <a:t> held the view that India as an historic and cultural entity had </a:t>
            </a:r>
            <a:r>
              <a:rPr lang="en-US" dirty="0">
                <a:solidFill>
                  <a:srgbClr val="FF0000"/>
                </a:solidFill>
              </a:rPr>
              <a:t>absorbed</a:t>
            </a:r>
            <a:r>
              <a:rPr lang="en-US" dirty="0"/>
              <a:t> many outside forces and thereby grown richer, and, despite its apparent diversity , there had been an </a:t>
            </a:r>
            <a:r>
              <a:rPr lang="en-US" dirty="0">
                <a:solidFill>
                  <a:srgbClr val="FF0000"/>
                </a:solidFill>
              </a:rPr>
              <a:t>inner spirit </a:t>
            </a:r>
            <a:r>
              <a:rPr lang="en-US" dirty="0"/>
              <a:t>in India which rolled through all ages. </a:t>
            </a:r>
            <a:r>
              <a:rPr lang="en-US" dirty="0">
                <a:solidFill>
                  <a:srgbClr val="FF0000"/>
                </a:solidFill>
              </a:rPr>
              <a:t>Like his father </a:t>
            </a:r>
            <a:r>
              <a:rPr lang="en-US" dirty="0" err="1">
                <a:solidFill>
                  <a:srgbClr val="FF0000"/>
                </a:solidFill>
              </a:rPr>
              <a:t>Motilal</a:t>
            </a:r>
            <a:r>
              <a:rPr lang="en-US" dirty="0">
                <a:solidFill>
                  <a:srgbClr val="FF0000"/>
                </a:solidFill>
              </a:rPr>
              <a:t> Nehru, Jawaharlal Nehru regarded the British parliamentary system as a model</a:t>
            </a:r>
            <a:r>
              <a:rPr lang="en-US" dirty="0"/>
              <a:t>. On the other hand, Jinnah was determined to create a well-organized and </a:t>
            </a:r>
            <a:r>
              <a:rPr lang="en-US" dirty="0">
                <a:solidFill>
                  <a:srgbClr val="FF0000"/>
                </a:solidFill>
              </a:rPr>
              <a:t>broad-based political movement </a:t>
            </a:r>
            <a:r>
              <a:rPr lang="en-US" dirty="0"/>
              <a:t>to face the </a:t>
            </a:r>
            <a:r>
              <a:rPr lang="en-US" dirty="0">
                <a:solidFill>
                  <a:srgbClr val="FF0000"/>
                </a:solidFill>
              </a:rPr>
              <a:t>Congress challenge.  </a:t>
            </a:r>
          </a:p>
        </p:txBody>
      </p:sp>
    </p:spTree>
    <p:extLst>
      <p:ext uri="{BB962C8B-B14F-4D97-AF65-F5344CB8AC3E}">
        <p14:creationId xmlns:p14="http://schemas.microsoft.com/office/powerpoint/2010/main" val="3470016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656492"/>
            <a:ext cx="10884877" cy="4865077"/>
          </a:xfrm>
        </p:spPr>
        <p:style>
          <a:lnRef idx="1">
            <a:schemeClr val="accent2"/>
          </a:lnRef>
          <a:fillRef idx="2">
            <a:schemeClr val="accent2"/>
          </a:fillRef>
          <a:effectRef idx="1">
            <a:schemeClr val="accent2"/>
          </a:effectRef>
          <a:fontRef idx="minor">
            <a:schemeClr val="dk1"/>
          </a:fontRef>
        </p:style>
        <p:txBody>
          <a:bodyPr>
            <a:normAutofit lnSpcReduction="10000"/>
          </a:bodyPr>
          <a:lstStyle/>
          <a:p>
            <a:pPr marL="0" indent="0" algn="just">
              <a:buNone/>
            </a:pPr>
            <a:r>
              <a:rPr lang="en-US" dirty="0">
                <a:solidFill>
                  <a:schemeClr val="tx1"/>
                </a:solidFill>
              </a:rPr>
              <a:t>The Muslim League accused the Congress government of being determined to destroy Muslim culture and impose Hindu culture  and ideology on the helpless Muslim minority. The Muslim League organization categorically alleged Congress persecution of Muslims in the Congress-ruled provinces. The allegations were as follows: </a:t>
            </a:r>
          </a:p>
          <a:p>
            <a:pPr marL="0" indent="0">
              <a:buNone/>
            </a:pPr>
            <a:endParaRPr lang="en-US" dirty="0"/>
          </a:p>
          <a:p>
            <a:r>
              <a:rPr lang="en-US" i="1" dirty="0">
                <a:solidFill>
                  <a:srgbClr val="002060"/>
                </a:solidFill>
              </a:rPr>
              <a:t>Forcing of Muslim children to sing </a:t>
            </a:r>
            <a:r>
              <a:rPr lang="en-US" i="1" dirty="0" err="1">
                <a:solidFill>
                  <a:srgbClr val="002060"/>
                </a:solidFill>
              </a:rPr>
              <a:t>Bande</a:t>
            </a:r>
            <a:r>
              <a:rPr lang="en-US" i="1" dirty="0">
                <a:solidFill>
                  <a:srgbClr val="002060"/>
                </a:solidFill>
              </a:rPr>
              <a:t> </a:t>
            </a:r>
            <a:r>
              <a:rPr lang="en-US" i="1" dirty="0" err="1">
                <a:solidFill>
                  <a:srgbClr val="002060"/>
                </a:solidFill>
              </a:rPr>
              <a:t>Matram</a:t>
            </a:r>
            <a:r>
              <a:rPr lang="en-US" i="1" dirty="0">
                <a:solidFill>
                  <a:srgbClr val="002060"/>
                </a:solidFill>
              </a:rPr>
              <a:t>;</a:t>
            </a:r>
          </a:p>
          <a:p>
            <a:r>
              <a:rPr lang="en-US" i="1" dirty="0">
                <a:solidFill>
                  <a:srgbClr val="002060"/>
                </a:solidFill>
              </a:rPr>
              <a:t>Offer revenges before Mahatma Gandhi’s portrait;</a:t>
            </a:r>
          </a:p>
          <a:p>
            <a:r>
              <a:rPr lang="en-US" i="1" dirty="0">
                <a:solidFill>
                  <a:srgbClr val="002060"/>
                </a:solidFill>
              </a:rPr>
              <a:t>The prohibition of cow slaughter;</a:t>
            </a:r>
          </a:p>
          <a:p>
            <a:r>
              <a:rPr lang="en-US" i="1" dirty="0">
                <a:solidFill>
                  <a:srgbClr val="002060"/>
                </a:solidFill>
              </a:rPr>
              <a:t>The elimination of Urdu and imposition of Hindi etc</a:t>
            </a:r>
            <a:r>
              <a:rPr lang="en-US" dirty="0">
                <a:solidFill>
                  <a:srgbClr val="002060"/>
                </a:solidFill>
              </a:rPr>
              <a:t>.( K.B. </a:t>
            </a:r>
            <a:r>
              <a:rPr lang="en-US" dirty="0" err="1">
                <a:solidFill>
                  <a:srgbClr val="002060"/>
                </a:solidFill>
              </a:rPr>
              <a:t>Sayeed</a:t>
            </a:r>
            <a:r>
              <a:rPr lang="en-US" dirty="0">
                <a:solidFill>
                  <a:srgbClr val="002060"/>
                </a:solidFill>
              </a:rPr>
              <a:t>, </a:t>
            </a:r>
            <a:r>
              <a:rPr lang="en-US" i="1" dirty="0">
                <a:solidFill>
                  <a:srgbClr val="002060"/>
                </a:solidFill>
              </a:rPr>
              <a:t>The Political System of Pakistan</a:t>
            </a:r>
            <a:r>
              <a:rPr lang="en-US" dirty="0">
                <a:solidFill>
                  <a:srgbClr val="002060"/>
                </a:solidFill>
              </a:rPr>
              <a:t>, 1967, Oxford, Page 36-37).</a:t>
            </a:r>
          </a:p>
        </p:txBody>
      </p:sp>
    </p:spTree>
    <p:extLst>
      <p:ext uri="{BB962C8B-B14F-4D97-AF65-F5344CB8AC3E}">
        <p14:creationId xmlns:p14="http://schemas.microsoft.com/office/powerpoint/2010/main" val="310515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107" y="1453662"/>
            <a:ext cx="10960693" cy="3200400"/>
          </a:xfrm>
        </p:spPr>
        <p:style>
          <a:lnRef idx="1">
            <a:schemeClr val="dk1"/>
          </a:lnRef>
          <a:fillRef idx="2">
            <a:schemeClr val="dk1"/>
          </a:fillRef>
          <a:effectRef idx="1">
            <a:schemeClr val="dk1"/>
          </a:effectRef>
          <a:fontRef idx="minor">
            <a:schemeClr val="dk1"/>
          </a:fontRef>
        </p:style>
        <p:txBody>
          <a:bodyPr>
            <a:normAutofit/>
          </a:bodyPr>
          <a:lstStyle/>
          <a:p>
            <a:r>
              <a:rPr lang="en-US" dirty="0">
                <a:solidFill>
                  <a:srgbClr val="FF0000"/>
                </a:solidFill>
              </a:rPr>
              <a:t>Choudhury </a:t>
            </a:r>
            <a:r>
              <a:rPr lang="en-US" dirty="0" err="1">
                <a:solidFill>
                  <a:srgbClr val="FF0000"/>
                </a:solidFill>
              </a:rPr>
              <a:t>Rahmat</a:t>
            </a:r>
            <a:r>
              <a:rPr lang="en-US" dirty="0">
                <a:solidFill>
                  <a:srgbClr val="FF0000"/>
                </a:solidFill>
              </a:rPr>
              <a:t> Ali </a:t>
            </a:r>
            <a:r>
              <a:rPr lang="en-US" dirty="0"/>
              <a:t>suggested the word </a:t>
            </a:r>
            <a:r>
              <a:rPr lang="en-US" dirty="0">
                <a:solidFill>
                  <a:srgbClr val="FF0000"/>
                </a:solidFill>
              </a:rPr>
              <a:t>PAKISTAN</a:t>
            </a:r>
            <a:r>
              <a:rPr lang="en-US" dirty="0"/>
              <a:t> in a Pamphlet published in January 1933. He pointed out that Pakistan was both Persian and an Urdu word and that he had composed it by taking certain letters from the names of Muslim homelands in India and Asia. </a:t>
            </a:r>
          </a:p>
          <a:p>
            <a:r>
              <a:rPr lang="en-US" dirty="0">
                <a:solidFill>
                  <a:srgbClr val="FF0000"/>
                </a:solidFill>
              </a:rPr>
              <a:t>Pakistan</a:t>
            </a:r>
            <a:r>
              <a:rPr lang="en-US" dirty="0"/>
              <a:t> =Punjab, </a:t>
            </a:r>
            <a:r>
              <a:rPr lang="en-US" dirty="0" err="1"/>
              <a:t>Afghania</a:t>
            </a:r>
            <a:r>
              <a:rPr lang="en-US" dirty="0"/>
              <a:t>( North-West Frontier Province/NWFP), Kashmir, Iran, Sindh, Turkistan, Afghanistan, and Baluchistan</a:t>
            </a:r>
          </a:p>
        </p:txBody>
      </p:sp>
    </p:spTree>
    <p:extLst>
      <p:ext uri="{BB962C8B-B14F-4D97-AF65-F5344CB8AC3E}">
        <p14:creationId xmlns:p14="http://schemas.microsoft.com/office/powerpoint/2010/main" val="450323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7309"/>
          </a:xfrm>
        </p:spPr>
        <p:txBody>
          <a:bodyPr/>
          <a:lstStyle/>
          <a:p>
            <a:r>
              <a:rPr lang="en-US" u="sng" dirty="0"/>
              <a:t>Cabinet Mission Plan:</a:t>
            </a:r>
          </a:p>
        </p:txBody>
      </p:sp>
      <p:sp>
        <p:nvSpPr>
          <p:cNvPr id="3" name="Content Placeholder 2"/>
          <p:cNvSpPr>
            <a:spLocks noGrp="1"/>
          </p:cNvSpPr>
          <p:nvPr>
            <p:ph idx="1"/>
          </p:nvPr>
        </p:nvSpPr>
        <p:spPr/>
        <p:txBody>
          <a:bodyPr/>
          <a:lstStyle/>
          <a:p>
            <a:r>
              <a:rPr lang="en-US" dirty="0"/>
              <a:t>Cabinet Mission Plan: Three cabinet ministers including the secretary of state for India and Sir Stafford Cripps. The Cabinet Mission arrived in New Delhi on March 24, 1946 and held a series of discussions with Indian leaders regarding the </a:t>
            </a:r>
            <a:r>
              <a:rPr lang="en-US" dirty="0">
                <a:solidFill>
                  <a:srgbClr val="FF0000"/>
                </a:solidFill>
              </a:rPr>
              <a:t>future constitutional setup</a:t>
            </a:r>
            <a:r>
              <a:rPr lang="en-US" dirty="0"/>
              <a:t>. But the differences between the Congress and the Muslim League could not be bridges. The Cabinet Mission announced their plan on May 16, 1946.They turned down the demand for a sovereign state of Pakistan as impracticable and unworkable. </a:t>
            </a:r>
          </a:p>
        </p:txBody>
      </p:sp>
    </p:spTree>
    <p:extLst>
      <p:ext uri="{BB962C8B-B14F-4D97-AF65-F5344CB8AC3E}">
        <p14:creationId xmlns:p14="http://schemas.microsoft.com/office/powerpoint/2010/main" val="3809646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924" y="365125"/>
            <a:ext cx="10994876" cy="690943"/>
          </a:xfrm>
        </p:spPr>
        <p:txBody>
          <a:bodyPr>
            <a:normAutofit fontScale="90000"/>
          </a:bodyPr>
          <a:lstStyle/>
          <a:p>
            <a:r>
              <a:rPr lang="en-US" dirty="0"/>
              <a:t>Proposals outlined in the Cabinet Mission Plan:</a:t>
            </a:r>
          </a:p>
        </p:txBody>
      </p:sp>
      <p:pic>
        <p:nvPicPr>
          <p:cNvPr id="6" name="Picture 5"/>
          <p:cNvPicPr>
            <a:picLocks noChangeAspect="1"/>
          </p:cNvPicPr>
          <p:nvPr/>
        </p:nvPicPr>
        <p:blipFill>
          <a:blip r:embed="rId2"/>
          <a:stretch>
            <a:fillRect/>
          </a:stretch>
        </p:blipFill>
        <p:spPr>
          <a:xfrm>
            <a:off x="6614446" y="1316052"/>
            <a:ext cx="5324384" cy="5324029"/>
          </a:xfrm>
          <a:prstGeom prst="rect">
            <a:avLst/>
          </a:prstGeom>
        </p:spPr>
      </p:pic>
      <p:pic>
        <p:nvPicPr>
          <p:cNvPr id="8" name="Content Placeholder 7"/>
          <p:cNvPicPr>
            <a:picLocks noGrp="1" noChangeAspect="1"/>
          </p:cNvPicPr>
          <p:nvPr>
            <p:ph idx="1"/>
          </p:nvPr>
        </p:nvPicPr>
        <p:blipFill>
          <a:blip r:embed="rId3"/>
          <a:stretch>
            <a:fillRect/>
          </a:stretch>
        </p:blipFill>
        <p:spPr>
          <a:xfrm>
            <a:off x="592428" y="1316053"/>
            <a:ext cx="6022018" cy="5392396"/>
          </a:xfrm>
          <a:prstGeom prst="rect">
            <a:avLst/>
          </a:prstGeom>
        </p:spPr>
      </p:pic>
    </p:spTree>
    <p:extLst>
      <p:ext uri="{BB962C8B-B14F-4D97-AF65-F5344CB8AC3E}">
        <p14:creationId xmlns:p14="http://schemas.microsoft.com/office/powerpoint/2010/main" val="142328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610"/>
          </a:xfrm>
        </p:spPr>
        <p:txBody>
          <a:bodyPr/>
          <a:lstStyle/>
          <a:p>
            <a:r>
              <a:rPr lang="en-US" dirty="0"/>
              <a:t> Reactions :</a:t>
            </a:r>
          </a:p>
        </p:txBody>
      </p:sp>
      <p:sp>
        <p:nvSpPr>
          <p:cNvPr id="3" name="Content Placeholder 2"/>
          <p:cNvSpPr>
            <a:spLocks noGrp="1"/>
          </p:cNvSpPr>
          <p:nvPr>
            <p:ph idx="1"/>
          </p:nvPr>
        </p:nvSpPr>
        <p:spPr>
          <a:xfrm>
            <a:off x="1687132" y="1429555"/>
            <a:ext cx="9666668" cy="3232597"/>
          </a:xfrm>
        </p:spPr>
        <p:style>
          <a:lnRef idx="1">
            <a:schemeClr val="accent3"/>
          </a:lnRef>
          <a:fillRef idx="2">
            <a:schemeClr val="accent3"/>
          </a:fillRef>
          <a:effectRef idx="1">
            <a:schemeClr val="accent3"/>
          </a:effectRef>
          <a:fontRef idx="minor">
            <a:schemeClr val="dk1"/>
          </a:fontRef>
        </p:style>
        <p:txBody>
          <a:bodyPr>
            <a:normAutofit/>
          </a:bodyPr>
          <a:lstStyle/>
          <a:p>
            <a:pPr algn="just"/>
            <a:r>
              <a:rPr lang="en-US" dirty="0"/>
              <a:t>Even though the Cabinet Mission had rejected Pakistan, the Muslim League accepted the plan. The Muslim League thought that the battle for Pakistan could not be won immediately. The Cabinet Mission had offered the Muslim League </a:t>
            </a:r>
            <a:r>
              <a:rPr lang="en-US" dirty="0">
                <a:solidFill>
                  <a:srgbClr val="FF0000"/>
                </a:solidFill>
              </a:rPr>
              <a:t>a great tactical advantage </a:t>
            </a:r>
            <a:r>
              <a:rPr lang="en-US" dirty="0"/>
              <a:t>in the form of compulsory </a:t>
            </a:r>
            <a:r>
              <a:rPr lang="en-US" dirty="0">
                <a:solidFill>
                  <a:srgbClr val="FF0000"/>
                </a:solidFill>
              </a:rPr>
              <a:t>grouping</a:t>
            </a:r>
            <a:r>
              <a:rPr lang="en-US" dirty="0"/>
              <a:t> of the six Muslim provinces in Section B and C. </a:t>
            </a:r>
          </a:p>
        </p:txBody>
      </p:sp>
    </p:spTree>
    <p:extLst>
      <p:ext uri="{BB962C8B-B14F-4D97-AF65-F5344CB8AC3E}">
        <p14:creationId xmlns:p14="http://schemas.microsoft.com/office/powerpoint/2010/main" val="1830311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06062"/>
            <a:ext cx="10943492" cy="3305907"/>
          </a:xfrm>
        </p:spPr>
        <p:style>
          <a:lnRef idx="1">
            <a:schemeClr val="accent6"/>
          </a:lnRef>
          <a:fillRef idx="2">
            <a:schemeClr val="accent6"/>
          </a:fillRef>
          <a:effectRef idx="1">
            <a:schemeClr val="accent6"/>
          </a:effectRef>
          <a:fontRef idx="minor">
            <a:schemeClr val="dk1"/>
          </a:fontRef>
        </p:style>
        <p:txBody>
          <a:bodyPr>
            <a:normAutofit/>
          </a:bodyPr>
          <a:lstStyle/>
          <a:p>
            <a:r>
              <a:rPr lang="en-US" dirty="0"/>
              <a:t>The Congress, on the other hand, </a:t>
            </a:r>
            <a:r>
              <a:rPr lang="en-US" dirty="0">
                <a:solidFill>
                  <a:srgbClr val="FF0000"/>
                </a:solidFill>
              </a:rPr>
              <a:t>was not happy </a:t>
            </a:r>
            <a:r>
              <a:rPr lang="en-US" dirty="0"/>
              <a:t>regarding the compulsory grouping of provinces, but they were confident that it would not work. </a:t>
            </a:r>
          </a:p>
          <a:p>
            <a:r>
              <a:rPr lang="en-US" dirty="0"/>
              <a:t>Section A:</a:t>
            </a:r>
            <a:r>
              <a:rPr lang="en-US" dirty="0">
                <a:solidFill>
                  <a:srgbClr val="FF0000"/>
                </a:solidFill>
              </a:rPr>
              <a:t>Hindu majority provinces</a:t>
            </a:r>
          </a:p>
          <a:p>
            <a:r>
              <a:rPr lang="en-US" dirty="0"/>
              <a:t>Section B &amp; C: </a:t>
            </a:r>
            <a:r>
              <a:rPr lang="en-US" dirty="0">
                <a:solidFill>
                  <a:srgbClr val="FF0000"/>
                </a:solidFill>
              </a:rPr>
              <a:t>Muslim majority provinces</a:t>
            </a:r>
          </a:p>
          <a:p>
            <a:r>
              <a:rPr lang="en-US" dirty="0"/>
              <a:t>Proposal to form an </a:t>
            </a:r>
            <a:r>
              <a:rPr lang="en-US" dirty="0">
                <a:solidFill>
                  <a:srgbClr val="FF0000"/>
                </a:solidFill>
              </a:rPr>
              <a:t>interim government </a:t>
            </a:r>
            <a:r>
              <a:rPr lang="en-US" dirty="0"/>
              <a:t>to carry on the administration until a </a:t>
            </a:r>
            <a:r>
              <a:rPr lang="en-US" dirty="0">
                <a:solidFill>
                  <a:srgbClr val="FF0000"/>
                </a:solidFill>
              </a:rPr>
              <a:t>new constitution was framed. </a:t>
            </a:r>
          </a:p>
        </p:txBody>
      </p:sp>
    </p:spTree>
    <p:extLst>
      <p:ext uri="{BB962C8B-B14F-4D97-AF65-F5344CB8AC3E}">
        <p14:creationId xmlns:p14="http://schemas.microsoft.com/office/powerpoint/2010/main" val="2270696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91308" y="316523"/>
            <a:ext cx="10720754" cy="562708"/>
          </a:xfrm>
        </p:spPr>
        <p:txBody>
          <a:bodyPr>
            <a:normAutofit fontScale="90000"/>
          </a:bodyPr>
          <a:lstStyle/>
          <a:p>
            <a:r>
              <a:rPr lang="en-US" dirty="0"/>
              <a:t>Political Economy of Riots: </a:t>
            </a:r>
          </a:p>
        </p:txBody>
      </p:sp>
      <p:sp>
        <p:nvSpPr>
          <p:cNvPr id="3" name="Content Placeholder 2"/>
          <p:cNvSpPr>
            <a:spLocks noGrp="1"/>
          </p:cNvSpPr>
          <p:nvPr>
            <p:ph idx="1"/>
          </p:nvPr>
        </p:nvSpPr>
        <p:spPr>
          <a:xfrm>
            <a:off x="838199" y="1019908"/>
            <a:ext cx="11177955" cy="5157055"/>
          </a:xfrm>
        </p:spPr>
        <p:style>
          <a:lnRef idx="1">
            <a:schemeClr val="accent2"/>
          </a:lnRef>
          <a:fillRef idx="2">
            <a:schemeClr val="accent2"/>
          </a:fillRef>
          <a:effectRef idx="1">
            <a:schemeClr val="accent2"/>
          </a:effectRef>
          <a:fontRef idx="minor">
            <a:schemeClr val="dk1"/>
          </a:fontRef>
        </p:style>
        <p:txBody>
          <a:bodyPr>
            <a:normAutofit/>
          </a:bodyPr>
          <a:lstStyle/>
          <a:p>
            <a:r>
              <a:rPr lang="en-US" dirty="0"/>
              <a:t>The riots of the 1940s were explosive by nature</a:t>
            </a:r>
          </a:p>
          <a:p>
            <a:r>
              <a:rPr lang="en-US" dirty="0"/>
              <a:t>The Muslim League called on Muslims throughout India to celebrate August 16,1946 as Direct Action Day.  Calcutta riots took place on the Direct Action Day. </a:t>
            </a:r>
          </a:p>
          <a:p>
            <a:r>
              <a:rPr lang="en-US" dirty="0" err="1"/>
              <a:t>Noakhali</a:t>
            </a:r>
            <a:r>
              <a:rPr lang="en-US" dirty="0"/>
              <a:t> riots and communal conflicts </a:t>
            </a:r>
          </a:p>
          <a:p>
            <a:r>
              <a:rPr lang="en-US" dirty="0"/>
              <a:t>Jinnah said that he was bidding good-bye to constitutional methods , pointing out that the British government , faced with the prospect of Congress launching a civil disobedience movement , had decided to appease the Congress.</a:t>
            </a:r>
          </a:p>
          <a:p>
            <a:r>
              <a:rPr lang="en-US" dirty="0"/>
              <a:t>Lord Mountbatten </a:t>
            </a:r>
          </a:p>
          <a:p>
            <a:endParaRPr lang="en-US" dirty="0"/>
          </a:p>
        </p:txBody>
      </p:sp>
    </p:spTree>
    <p:extLst>
      <p:ext uri="{BB962C8B-B14F-4D97-AF65-F5344CB8AC3E}">
        <p14:creationId xmlns:p14="http://schemas.microsoft.com/office/powerpoint/2010/main" val="967836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9816" y="722068"/>
            <a:ext cx="2836983" cy="4478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7529" y="785445"/>
            <a:ext cx="2980226" cy="4309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5771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6491" y="980002"/>
            <a:ext cx="5291272" cy="2329868"/>
          </a:xfrm>
          <a:prstGeom prst="rect">
            <a:avLst/>
          </a:prstGeom>
        </p:spPr>
      </p:pic>
      <p:pic>
        <p:nvPicPr>
          <p:cNvPr id="5" name="Picture 4"/>
          <p:cNvPicPr>
            <a:picLocks noChangeAspect="1"/>
          </p:cNvPicPr>
          <p:nvPr/>
        </p:nvPicPr>
        <p:blipFill rotWithShape="1">
          <a:blip r:embed="rId3"/>
          <a:srcRect l="21798"/>
          <a:stretch/>
        </p:blipFill>
        <p:spPr>
          <a:xfrm>
            <a:off x="5447763" y="270456"/>
            <a:ext cx="6272012" cy="6336406"/>
          </a:xfrm>
          <a:prstGeom prst="rect">
            <a:avLst/>
          </a:prstGeom>
        </p:spPr>
      </p:pic>
    </p:spTree>
    <p:extLst>
      <p:ext uri="{BB962C8B-B14F-4D97-AF65-F5344CB8AC3E}">
        <p14:creationId xmlns:p14="http://schemas.microsoft.com/office/powerpoint/2010/main" val="36411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55477" y="256374"/>
            <a:ext cx="10220770" cy="5920589"/>
          </a:xfrm>
          <a:prstGeom prst="rect">
            <a:avLst/>
          </a:prstGeom>
        </p:spPr>
      </p:pic>
    </p:spTree>
    <p:extLst>
      <p:ext uri="{BB962C8B-B14F-4D97-AF65-F5344CB8AC3E}">
        <p14:creationId xmlns:p14="http://schemas.microsoft.com/office/powerpoint/2010/main" val="3428240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79549" y="205099"/>
            <a:ext cx="10689465" cy="6440400"/>
          </a:xfrm>
          <a:prstGeom prst="rect">
            <a:avLst/>
          </a:prstGeom>
        </p:spPr>
      </p:pic>
    </p:spTree>
    <p:extLst>
      <p:ext uri="{BB962C8B-B14F-4D97-AF65-F5344CB8AC3E}">
        <p14:creationId xmlns:p14="http://schemas.microsoft.com/office/powerpoint/2010/main" val="1384735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6815" y="1430216"/>
            <a:ext cx="10896599" cy="1688121"/>
          </a:xfrm>
        </p:spPr>
        <p:style>
          <a:lnRef idx="1">
            <a:schemeClr val="accent4"/>
          </a:lnRef>
          <a:fillRef idx="2">
            <a:schemeClr val="accent4"/>
          </a:fillRef>
          <a:effectRef idx="1">
            <a:schemeClr val="accent4"/>
          </a:effectRef>
          <a:fontRef idx="minor">
            <a:schemeClr val="dk1"/>
          </a:fontRef>
        </p:style>
        <p:txBody>
          <a:bodyPr/>
          <a:lstStyle/>
          <a:p>
            <a:r>
              <a:rPr lang="en-US" dirty="0"/>
              <a:t>In the very first day, at least 5,000–6,000 people were murdered in Calcutta ( </a:t>
            </a:r>
            <a:r>
              <a:rPr lang="en-US" dirty="0" err="1"/>
              <a:t>Anindita</a:t>
            </a:r>
            <a:r>
              <a:rPr lang="en-US" dirty="0"/>
              <a:t> Ghoshal, page 26)</a:t>
            </a:r>
          </a:p>
          <a:p>
            <a:endParaRPr lang="en-US" dirty="0"/>
          </a:p>
        </p:txBody>
      </p:sp>
    </p:spTree>
    <p:extLst>
      <p:ext uri="{BB962C8B-B14F-4D97-AF65-F5344CB8AC3E}">
        <p14:creationId xmlns:p14="http://schemas.microsoft.com/office/powerpoint/2010/main" val="1695445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87110" y="76912"/>
            <a:ext cx="10810430" cy="6699903"/>
          </a:xfrm>
          <a:prstGeom prst="rect">
            <a:avLst/>
          </a:prstGeom>
        </p:spPr>
      </p:pic>
    </p:spTree>
    <p:extLst>
      <p:ext uri="{BB962C8B-B14F-4D97-AF65-F5344CB8AC3E}">
        <p14:creationId xmlns:p14="http://schemas.microsoft.com/office/powerpoint/2010/main" val="3974109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27148" y="333286"/>
            <a:ext cx="8767985" cy="5835131"/>
          </a:xfrm>
          <a:prstGeom prst="rect">
            <a:avLst/>
          </a:prstGeom>
        </p:spPr>
      </p:pic>
    </p:spTree>
    <p:extLst>
      <p:ext uri="{BB962C8B-B14F-4D97-AF65-F5344CB8AC3E}">
        <p14:creationId xmlns:p14="http://schemas.microsoft.com/office/powerpoint/2010/main" val="3867439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17847" y="282010"/>
            <a:ext cx="9930213" cy="6298251"/>
          </a:xfrm>
          <a:prstGeom prst="rect">
            <a:avLst/>
          </a:prstGeom>
        </p:spPr>
      </p:pic>
    </p:spTree>
    <p:extLst>
      <p:ext uri="{BB962C8B-B14F-4D97-AF65-F5344CB8AC3E}">
        <p14:creationId xmlns:p14="http://schemas.microsoft.com/office/powerpoint/2010/main" val="254513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3029"/>
          </a:xfrm>
        </p:spPr>
        <p:txBody>
          <a:bodyPr/>
          <a:lstStyle/>
          <a:p>
            <a:r>
              <a:rPr lang="en-US" dirty="0"/>
              <a:t>Indian Independence Act, 1947</a:t>
            </a:r>
          </a:p>
        </p:txBody>
      </p:sp>
      <p:sp>
        <p:nvSpPr>
          <p:cNvPr id="3" name="Content Placeholder 2"/>
          <p:cNvSpPr>
            <a:spLocks noGrp="1"/>
          </p:cNvSpPr>
          <p:nvPr>
            <p:ph idx="1"/>
          </p:nvPr>
        </p:nvSpPr>
        <p:spPr>
          <a:xfrm>
            <a:off x="786925" y="1488832"/>
            <a:ext cx="10947875" cy="4056184"/>
          </a:xfrm>
        </p:spPr>
        <p:style>
          <a:lnRef idx="1">
            <a:schemeClr val="accent4"/>
          </a:lnRef>
          <a:fillRef idx="2">
            <a:schemeClr val="accent4"/>
          </a:fillRef>
          <a:effectRef idx="1">
            <a:schemeClr val="accent4"/>
          </a:effectRef>
          <a:fontRef idx="minor">
            <a:schemeClr val="dk1"/>
          </a:fontRef>
        </p:style>
        <p:txBody>
          <a:bodyPr>
            <a:normAutofit/>
          </a:bodyPr>
          <a:lstStyle/>
          <a:p>
            <a:pPr marL="0" indent="0" algn="just">
              <a:buNone/>
            </a:pPr>
            <a:r>
              <a:rPr lang="en-US" dirty="0"/>
              <a:t>The Indian Independence Act was passed in 1947. The act created </a:t>
            </a:r>
            <a:r>
              <a:rPr lang="en-US" dirty="0">
                <a:solidFill>
                  <a:srgbClr val="FF0000"/>
                </a:solidFill>
              </a:rPr>
              <a:t>two new independent dominions</a:t>
            </a:r>
            <a:r>
              <a:rPr lang="en-US" dirty="0"/>
              <a:t>; India and Pakistan. Pakistan was split into Pakistan and East Pakistan which is now Bangladesh. The Bengal and Punjab provinces were partitioned between the two new countries. These </a:t>
            </a:r>
            <a:r>
              <a:rPr lang="en-US" dirty="0">
                <a:solidFill>
                  <a:srgbClr val="FF0000"/>
                </a:solidFill>
              </a:rPr>
              <a:t>dominions</a:t>
            </a:r>
            <a:r>
              <a:rPr lang="en-US" dirty="0"/>
              <a:t> separated the Muslim, Hindu and Sikh population and caused the </a:t>
            </a:r>
            <a:r>
              <a:rPr lang="en-US" dirty="0">
                <a:solidFill>
                  <a:srgbClr val="FF0000"/>
                </a:solidFill>
              </a:rPr>
              <a:t>biggest forced migration </a:t>
            </a:r>
            <a:r>
              <a:rPr lang="en-US" dirty="0"/>
              <a:t>which has ever happened that was not the </a:t>
            </a:r>
            <a:r>
              <a:rPr lang="en-US" dirty="0">
                <a:solidFill>
                  <a:srgbClr val="FF0000"/>
                </a:solidFill>
              </a:rPr>
              <a:t>result of war or famine</a:t>
            </a:r>
            <a:r>
              <a:rPr lang="en-US" dirty="0"/>
              <a:t>. </a:t>
            </a:r>
            <a:r>
              <a:rPr lang="en-US" dirty="0">
                <a:solidFill>
                  <a:srgbClr val="FF0000"/>
                </a:solidFill>
              </a:rPr>
              <a:t>Lord Mountbatten continued as Governor-General and Jawaharlal Nehru was appointed India's first Prime Minister, </a:t>
            </a:r>
            <a:r>
              <a:rPr lang="en-US" dirty="0"/>
              <a:t>Muhammad Ali Jinnah became Pakistan's Governor-General and </a:t>
            </a:r>
            <a:r>
              <a:rPr lang="en-US" dirty="0" err="1"/>
              <a:t>Liaquat</a:t>
            </a:r>
            <a:r>
              <a:rPr lang="en-US" dirty="0"/>
              <a:t> Ali Khan its Prime Minster. </a:t>
            </a:r>
          </a:p>
        </p:txBody>
      </p:sp>
    </p:spTree>
    <p:extLst>
      <p:ext uri="{BB962C8B-B14F-4D97-AF65-F5344CB8AC3E}">
        <p14:creationId xmlns:p14="http://schemas.microsoft.com/office/powerpoint/2010/main" val="100758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756079" y="321972"/>
            <a:ext cx="5402799" cy="6143222"/>
          </a:xfrm>
          <a:prstGeom prst="rect">
            <a:avLst/>
          </a:prstGeom>
        </p:spPr>
      </p:pic>
    </p:spTree>
    <p:extLst>
      <p:ext uri="{BB962C8B-B14F-4D97-AF65-F5344CB8AC3E}">
        <p14:creationId xmlns:p14="http://schemas.microsoft.com/office/powerpoint/2010/main" val="2544666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10056" y="136733"/>
            <a:ext cx="8537250" cy="6631536"/>
          </a:xfrm>
          <a:prstGeom prst="rect">
            <a:avLst/>
          </a:prstGeom>
        </p:spPr>
      </p:pic>
    </p:spTree>
    <p:extLst>
      <p:ext uri="{BB962C8B-B14F-4D97-AF65-F5344CB8AC3E}">
        <p14:creationId xmlns:p14="http://schemas.microsoft.com/office/powerpoint/2010/main" val="668478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76015" y="632390"/>
            <a:ext cx="5057107" cy="5587302"/>
          </a:xfrm>
          <a:prstGeom prst="rect">
            <a:avLst/>
          </a:prstGeom>
        </p:spPr>
      </p:pic>
      <p:pic>
        <p:nvPicPr>
          <p:cNvPr id="5" name="Picture 4"/>
          <p:cNvPicPr>
            <a:picLocks noChangeAspect="1"/>
          </p:cNvPicPr>
          <p:nvPr/>
        </p:nvPicPr>
        <p:blipFill>
          <a:blip r:embed="rId3"/>
          <a:stretch>
            <a:fillRect/>
          </a:stretch>
        </p:blipFill>
        <p:spPr>
          <a:xfrm>
            <a:off x="5569855" y="632391"/>
            <a:ext cx="6162675" cy="5587302"/>
          </a:xfrm>
          <a:prstGeom prst="rect">
            <a:avLst/>
          </a:prstGeom>
        </p:spPr>
      </p:pic>
    </p:spTree>
    <p:extLst>
      <p:ext uri="{BB962C8B-B14F-4D97-AF65-F5344CB8AC3E}">
        <p14:creationId xmlns:p14="http://schemas.microsoft.com/office/powerpoint/2010/main" val="627817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5092"/>
          </a:xfrm>
        </p:spPr>
        <p:txBody>
          <a:bodyPr>
            <a:normAutofit fontScale="90000"/>
          </a:bodyPr>
          <a:lstStyle/>
          <a:p>
            <a:r>
              <a:rPr lang="en-US" dirty="0">
                <a:solidFill>
                  <a:srgbClr val="FF0000"/>
                </a:solidFill>
              </a:rPr>
              <a:t>Features  of the Indian Independence Act, 1947</a:t>
            </a:r>
          </a:p>
        </p:txBody>
      </p:sp>
      <p:sp>
        <p:nvSpPr>
          <p:cNvPr id="3" name="Content Placeholder 2"/>
          <p:cNvSpPr>
            <a:spLocks noGrp="1"/>
          </p:cNvSpPr>
          <p:nvPr>
            <p:ph idx="1"/>
          </p:nvPr>
        </p:nvSpPr>
        <p:spPr>
          <a:xfrm>
            <a:off x="838200" y="1093862"/>
            <a:ext cx="10515600" cy="4943523"/>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dirty="0"/>
              <a:t>Partition of the British India into two new and fully sovereign dominions-India and Pakistan with effect from August 15, 1947;</a:t>
            </a:r>
          </a:p>
          <a:p>
            <a:r>
              <a:rPr lang="en-US" dirty="0"/>
              <a:t>Division of the provinces of Bengal &amp; Punjab among the two newly formed countries;</a:t>
            </a:r>
          </a:p>
          <a:p>
            <a:r>
              <a:rPr lang="en-US" dirty="0"/>
              <a:t>The offices of Governor-General in both the countries would be set up. These Governor-General would be representing the Crown;</a:t>
            </a:r>
          </a:p>
          <a:p>
            <a:r>
              <a:rPr lang="en-US" dirty="0"/>
              <a:t>The complete legislative authority would be conferred in the hands of the Constituent Assemblies of the two new countries;</a:t>
            </a:r>
          </a:p>
          <a:p>
            <a:r>
              <a:rPr lang="en-US" dirty="0"/>
              <a:t>The British rule over the </a:t>
            </a:r>
            <a:r>
              <a:rPr lang="en-US" dirty="0">
                <a:solidFill>
                  <a:srgbClr val="FF0000"/>
                </a:solidFill>
              </a:rPr>
              <a:t>princely states </a:t>
            </a:r>
            <a:r>
              <a:rPr lang="en-US" dirty="0"/>
              <a:t>would be terminated from August 15, 1947;</a:t>
            </a:r>
          </a:p>
          <a:p>
            <a:r>
              <a:rPr lang="en-US" dirty="0"/>
              <a:t>Abolishing the use of title “Emperor of India” by the British monarch;</a:t>
            </a:r>
          </a:p>
          <a:p>
            <a:r>
              <a:rPr lang="en-US" dirty="0"/>
              <a:t>The Act includes the division of the armed forces between the two countries.</a:t>
            </a:r>
          </a:p>
          <a:p>
            <a:endParaRPr lang="en-US" dirty="0"/>
          </a:p>
        </p:txBody>
      </p:sp>
    </p:spTree>
    <p:extLst>
      <p:ext uri="{BB962C8B-B14F-4D97-AF65-F5344CB8AC3E}">
        <p14:creationId xmlns:p14="http://schemas.microsoft.com/office/powerpoint/2010/main" val="3649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12690"/>
          </a:xfrm>
        </p:spPr>
        <p:txBody>
          <a:bodyPr>
            <a:normAutofit/>
          </a:bodyPr>
          <a:lstStyle/>
          <a:p>
            <a:r>
              <a:rPr lang="en-US" sz="2800" b="1" dirty="0"/>
              <a:t>The second partition of Bengal, 1945-47</a:t>
            </a:r>
          </a:p>
        </p:txBody>
      </p:sp>
      <p:sp>
        <p:nvSpPr>
          <p:cNvPr id="3" name="Content Placeholder 2"/>
          <p:cNvSpPr>
            <a:spLocks noGrp="1"/>
          </p:cNvSpPr>
          <p:nvPr>
            <p:ph idx="1"/>
          </p:nvPr>
        </p:nvSpPr>
        <p:spPr>
          <a:xfrm>
            <a:off x="1641232" y="1876926"/>
            <a:ext cx="10185810" cy="4415590"/>
          </a:xfrm>
        </p:spPr>
        <p:txBody>
          <a:bodyPr>
            <a:normAutofit/>
          </a:bodyPr>
          <a:lstStyle/>
          <a:p>
            <a:pPr algn="just"/>
            <a:r>
              <a:rPr lang="en-US" dirty="0">
                <a:solidFill>
                  <a:srgbClr val="0070C0"/>
                </a:solidFill>
              </a:rPr>
              <a:t>Since the Lahore Resolution of 1940, the demand for Pakistan, unspecific though it was from start to finish, had proved to be extremely useful from the British point of view.</a:t>
            </a:r>
          </a:p>
          <a:p>
            <a:pPr algn="just"/>
            <a:r>
              <a:rPr lang="en-US" dirty="0">
                <a:solidFill>
                  <a:srgbClr val="0070C0"/>
                </a:solidFill>
              </a:rPr>
              <a:t>The results of the elections of 1945-46, and the mandate given to the League by Muslim voters, made it impossible for London and Delhi to ignore Jinnah and the League in their negotiations at the center about the transfer of power</a:t>
            </a:r>
          </a:p>
          <a:p>
            <a:pPr algn="just"/>
            <a:r>
              <a:rPr lang="en-US" dirty="0">
                <a:solidFill>
                  <a:srgbClr val="0070C0"/>
                </a:solidFill>
              </a:rPr>
              <a:t>Quit India Movement </a:t>
            </a:r>
          </a:p>
          <a:p>
            <a:r>
              <a:rPr lang="en-US" dirty="0"/>
              <a:t>1947 Sylhet referendum: </a:t>
            </a:r>
            <a:r>
              <a:rPr lang="en-US" dirty="0" err="1"/>
              <a:t>Karimganj</a:t>
            </a:r>
            <a:r>
              <a:rPr lang="en-US" dirty="0"/>
              <a:t> subdivision remains in the India, the rest of Sylhet District joins the Pakistan</a:t>
            </a:r>
          </a:p>
          <a:p>
            <a:endParaRPr lang="en-US" dirty="0">
              <a:solidFill>
                <a:srgbClr val="0070C0"/>
              </a:solidFill>
            </a:endParaRPr>
          </a:p>
        </p:txBody>
      </p:sp>
    </p:spTree>
    <p:extLst>
      <p:ext uri="{BB962C8B-B14F-4D97-AF65-F5344CB8AC3E}">
        <p14:creationId xmlns:p14="http://schemas.microsoft.com/office/powerpoint/2010/main" val="2027392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02275" y="247415"/>
            <a:ext cx="3490375" cy="4092764"/>
          </a:xfrm>
          <a:prstGeom prst="rect">
            <a:avLst/>
          </a:prstGeom>
        </p:spPr>
      </p:pic>
      <p:pic>
        <p:nvPicPr>
          <p:cNvPr id="5" name="Picture 4"/>
          <p:cNvPicPr>
            <a:picLocks noChangeAspect="1"/>
          </p:cNvPicPr>
          <p:nvPr/>
        </p:nvPicPr>
        <p:blipFill>
          <a:blip r:embed="rId3"/>
          <a:stretch>
            <a:fillRect/>
          </a:stretch>
        </p:blipFill>
        <p:spPr>
          <a:xfrm>
            <a:off x="4399811" y="185736"/>
            <a:ext cx="3829788" cy="4154443"/>
          </a:xfrm>
          <a:prstGeom prst="rect">
            <a:avLst/>
          </a:prstGeom>
        </p:spPr>
      </p:pic>
      <p:pic>
        <p:nvPicPr>
          <p:cNvPr id="6" name="Picture 5"/>
          <p:cNvPicPr>
            <a:picLocks noChangeAspect="1"/>
          </p:cNvPicPr>
          <p:nvPr/>
        </p:nvPicPr>
        <p:blipFill>
          <a:blip r:embed="rId4"/>
          <a:stretch>
            <a:fillRect/>
          </a:stretch>
        </p:blipFill>
        <p:spPr>
          <a:xfrm>
            <a:off x="8636760" y="247415"/>
            <a:ext cx="2819400" cy="4092764"/>
          </a:xfrm>
          <a:prstGeom prst="rect">
            <a:avLst/>
          </a:prstGeom>
        </p:spPr>
      </p:pic>
    </p:spTree>
    <p:extLst>
      <p:ext uri="{BB962C8B-B14F-4D97-AF65-F5344CB8AC3E}">
        <p14:creationId xmlns:p14="http://schemas.microsoft.com/office/powerpoint/2010/main" val="2049748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12747" y="752030"/>
            <a:ext cx="10627477" cy="5424933"/>
          </a:xfrm>
          <a:prstGeom prst="rect">
            <a:avLst/>
          </a:prstGeom>
        </p:spPr>
      </p:pic>
    </p:spTree>
    <p:extLst>
      <p:ext uri="{BB962C8B-B14F-4D97-AF65-F5344CB8AC3E}">
        <p14:creationId xmlns:p14="http://schemas.microsoft.com/office/powerpoint/2010/main" val="2298778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3029"/>
          </a:xfrm>
        </p:spPr>
        <p:txBody>
          <a:bodyPr>
            <a:normAutofit/>
          </a:bodyPr>
          <a:lstStyle/>
          <a:p>
            <a:r>
              <a:rPr lang="en-US" b="1" dirty="0"/>
              <a:t>The partition campaign, 1946-47</a:t>
            </a:r>
            <a:endParaRPr lang="en-US" dirty="0"/>
          </a:p>
        </p:txBody>
      </p:sp>
      <p:sp>
        <p:nvSpPr>
          <p:cNvPr id="3" name="Content Placeholder 2"/>
          <p:cNvSpPr>
            <a:spLocks noGrp="1"/>
          </p:cNvSpPr>
          <p:nvPr>
            <p:ph idx="1"/>
          </p:nvPr>
        </p:nvSpPr>
        <p:spPr>
          <a:xfrm>
            <a:off x="1547446" y="1348155"/>
            <a:ext cx="10070122" cy="4138246"/>
          </a:xfrm>
        </p:spPr>
        <p:style>
          <a:lnRef idx="1">
            <a:schemeClr val="accent4"/>
          </a:lnRef>
          <a:fillRef idx="2">
            <a:schemeClr val="accent4"/>
          </a:fillRef>
          <a:effectRef idx="1">
            <a:schemeClr val="accent4"/>
          </a:effectRef>
          <a:fontRef idx="minor">
            <a:schemeClr val="dk1"/>
          </a:fontRef>
        </p:style>
        <p:txBody>
          <a:bodyPr>
            <a:normAutofit/>
          </a:bodyPr>
          <a:lstStyle/>
          <a:p>
            <a:pPr algn="just"/>
            <a:r>
              <a:rPr lang="en-US" dirty="0"/>
              <a:t>In the last months of 1946 and early in 1947 these</a:t>
            </a:r>
            <a:r>
              <a:rPr lang="en-US" dirty="0">
                <a:solidFill>
                  <a:srgbClr val="FF0000"/>
                </a:solidFill>
              </a:rPr>
              <a:t> fears </a:t>
            </a:r>
            <a:r>
              <a:rPr lang="en-US" dirty="0"/>
              <a:t>fuelled an organized and </a:t>
            </a:r>
            <a:r>
              <a:rPr lang="en-US" dirty="0">
                <a:solidFill>
                  <a:srgbClr val="FF0000"/>
                </a:solidFill>
              </a:rPr>
              <a:t>well-supported campaign among the Hindus </a:t>
            </a:r>
            <a:r>
              <a:rPr lang="en-US" dirty="0"/>
              <a:t>for the partition of the province. The campaign for partition was inaugurated officially only in March 1947, when the </a:t>
            </a:r>
            <a:r>
              <a:rPr lang="en-US" i="1" dirty="0"/>
              <a:t>Amrita Bazar </a:t>
            </a:r>
            <a:r>
              <a:rPr lang="en-US" i="1" dirty="0" err="1"/>
              <a:t>Patrika</a:t>
            </a:r>
            <a:r>
              <a:rPr lang="en-US" i="1" dirty="0"/>
              <a:t> </a:t>
            </a:r>
            <a:r>
              <a:rPr lang="en-US" dirty="0"/>
              <a:t>announced that it was holding a poll to 'make a correct estimate of public opinion' on the question.</a:t>
            </a:r>
          </a:p>
          <a:p>
            <a:pPr algn="just"/>
            <a:r>
              <a:rPr lang="en-US" dirty="0"/>
              <a:t>Establishment of the </a:t>
            </a:r>
            <a:r>
              <a:rPr lang="en-US" dirty="0">
                <a:solidFill>
                  <a:srgbClr val="FF0000"/>
                </a:solidFill>
              </a:rPr>
              <a:t>'Bengal Partition League', </a:t>
            </a:r>
            <a:r>
              <a:rPr lang="en-US" dirty="0"/>
              <a:t>the declared object of which was 'to demand a separate province in the district of West Bengal to safeguard </a:t>
            </a:r>
            <a:r>
              <a:rPr lang="en-US" dirty="0">
                <a:solidFill>
                  <a:srgbClr val="FF0000"/>
                </a:solidFill>
              </a:rPr>
              <a:t>the Hindu interest in West Bengal </a:t>
            </a:r>
            <a:r>
              <a:rPr lang="en-US" dirty="0"/>
              <a:t>where they are in a majority'</a:t>
            </a:r>
          </a:p>
        </p:txBody>
      </p:sp>
    </p:spTree>
    <p:extLst>
      <p:ext uri="{BB962C8B-B14F-4D97-AF65-F5344CB8AC3E}">
        <p14:creationId xmlns:p14="http://schemas.microsoft.com/office/powerpoint/2010/main" val="1633377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4" y="365126"/>
            <a:ext cx="10825766" cy="781094"/>
          </a:xfrm>
        </p:spPr>
        <p:txBody>
          <a:bodyPr/>
          <a:lstStyle/>
          <a:p>
            <a:r>
              <a:rPr lang="en-US" dirty="0"/>
              <a:t>Example of communal bitterness </a:t>
            </a:r>
          </a:p>
        </p:txBody>
      </p:sp>
      <p:sp>
        <p:nvSpPr>
          <p:cNvPr id="5" name="Content Placeholder 4"/>
          <p:cNvSpPr>
            <a:spLocks noGrp="1"/>
          </p:cNvSpPr>
          <p:nvPr>
            <p:ph idx="1"/>
          </p:nvPr>
        </p:nvSpPr>
        <p:spPr>
          <a:xfrm>
            <a:off x="838200" y="1504060"/>
            <a:ext cx="10515600" cy="4672903"/>
          </a:xfrm>
        </p:spPr>
        <p:style>
          <a:lnRef idx="1">
            <a:schemeClr val="accent6"/>
          </a:lnRef>
          <a:fillRef idx="2">
            <a:schemeClr val="accent6"/>
          </a:fillRef>
          <a:effectRef idx="1">
            <a:schemeClr val="accent6"/>
          </a:effectRef>
          <a:fontRef idx="minor">
            <a:schemeClr val="dk1"/>
          </a:fontRef>
        </p:style>
        <p:txBody>
          <a:bodyPr>
            <a:normAutofit lnSpcReduction="10000"/>
          </a:bodyPr>
          <a:lstStyle/>
          <a:p>
            <a:pPr algn="just"/>
            <a:r>
              <a:rPr lang="en-US" dirty="0"/>
              <a:t>The title of the pamphlet, </a:t>
            </a:r>
            <a:r>
              <a:rPr lang="en-US" i="1" dirty="0">
                <a:solidFill>
                  <a:srgbClr val="FF0000"/>
                </a:solidFill>
              </a:rPr>
              <a:t>'</a:t>
            </a:r>
            <a:r>
              <a:rPr lang="en-US" i="1" dirty="0" err="1">
                <a:solidFill>
                  <a:srgbClr val="FF0000"/>
                </a:solidFill>
              </a:rPr>
              <a:t>Sangram</a:t>
            </a:r>
            <a:r>
              <a:rPr lang="en-US" i="1" dirty="0">
                <a:solidFill>
                  <a:srgbClr val="FF0000"/>
                </a:solidFill>
              </a:rPr>
              <a:t>', </a:t>
            </a:r>
            <a:r>
              <a:rPr lang="en-US" dirty="0"/>
              <a:t>was a term borrowed from the nationalist vocabulary, except that now the 'struggle' was not against the British but against 'Muslim tyranny'. The British were now regarded as mere accomplices in Muslim crimes and the Governor and Viceroy took second place to </a:t>
            </a:r>
            <a:r>
              <a:rPr lang="en-US" dirty="0" err="1"/>
              <a:t>Suhrawardy</a:t>
            </a:r>
            <a:r>
              <a:rPr lang="en-US" dirty="0"/>
              <a:t> in the new demonology of Hindu communalists. In October 1946, for instance, </a:t>
            </a:r>
            <a:r>
              <a:rPr lang="en-US" dirty="0">
                <a:solidFill>
                  <a:srgbClr val="FF0000"/>
                </a:solidFill>
              </a:rPr>
              <a:t>a poster </a:t>
            </a:r>
            <a:r>
              <a:rPr lang="en-US" dirty="0"/>
              <a:t>was prominently displayed on Rash </a:t>
            </a:r>
            <a:r>
              <a:rPr lang="en-US" dirty="0" err="1"/>
              <a:t>Behari</a:t>
            </a:r>
            <a:r>
              <a:rPr lang="en-US" dirty="0"/>
              <a:t> Avenue which declared:</a:t>
            </a:r>
          </a:p>
          <a:p>
            <a:pPr marL="0" indent="0" algn="ctr">
              <a:buNone/>
            </a:pPr>
            <a:r>
              <a:rPr lang="en-US" dirty="0">
                <a:solidFill>
                  <a:srgbClr val="FF0000"/>
                </a:solidFill>
              </a:rPr>
              <a:t>We want the head of that dog </a:t>
            </a:r>
            <a:r>
              <a:rPr lang="en-US" dirty="0" err="1">
                <a:solidFill>
                  <a:srgbClr val="FF0000"/>
                </a:solidFill>
              </a:rPr>
              <a:t>Suhrawardy</a:t>
            </a:r>
            <a:endParaRPr lang="en-US" dirty="0">
              <a:solidFill>
                <a:srgbClr val="FF0000"/>
              </a:solidFill>
            </a:endParaRPr>
          </a:p>
          <a:p>
            <a:pPr marL="0" indent="0" algn="ctr">
              <a:buNone/>
            </a:pPr>
            <a:r>
              <a:rPr lang="en-US" dirty="0">
                <a:solidFill>
                  <a:srgbClr val="FF0000"/>
                </a:solidFill>
              </a:rPr>
              <a:t>We want the blood of the white skins!</a:t>
            </a:r>
          </a:p>
          <a:p>
            <a:pPr marL="0" indent="0" algn="ctr">
              <a:buNone/>
            </a:pPr>
            <a:r>
              <a:rPr lang="en-US" i="1" dirty="0">
                <a:solidFill>
                  <a:schemeClr val="tx1"/>
                </a:solidFill>
              </a:rPr>
              <a:t>(</a:t>
            </a:r>
            <a:r>
              <a:rPr lang="en-US" i="1" dirty="0" err="1">
                <a:solidFill>
                  <a:schemeClr val="tx1"/>
                </a:solidFill>
              </a:rPr>
              <a:t>Kukur</a:t>
            </a:r>
            <a:r>
              <a:rPr lang="en-US" i="1" dirty="0">
                <a:solidFill>
                  <a:schemeClr val="tx1"/>
                </a:solidFill>
              </a:rPr>
              <a:t> </a:t>
            </a:r>
            <a:r>
              <a:rPr lang="en-US" i="1" dirty="0" err="1">
                <a:solidFill>
                  <a:schemeClr val="tx1"/>
                </a:solidFill>
              </a:rPr>
              <a:t>Suhrawardyr</a:t>
            </a:r>
            <a:r>
              <a:rPr lang="en-US" i="1" dirty="0">
                <a:solidFill>
                  <a:schemeClr val="tx1"/>
                </a:solidFill>
              </a:rPr>
              <a:t> </a:t>
            </a:r>
            <a:r>
              <a:rPr lang="en-US" i="1" dirty="0" err="1">
                <a:solidFill>
                  <a:schemeClr val="tx1"/>
                </a:solidFill>
              </a:rPr>
              <a:t>mundu</a:t>
            </a:r>
            <a:r>
              <a:rPr lang="en-US" i="1" dirty="0">
                <a:solidFill>
                  <a:schemeClr val="tx1"/>
                </a:solidFill>
              </a:rPr>
              <a:t> chai,  </a:t>
            </a:r>
            <a:r>
              <a:rPr lang="en-US" i="1" dirty="0" err="1">
                <a:solidFill>
                  <a:schemeClr val="tx1"/>
                </a:solidFill>
              </a:rPr>
              <a:t>Sada</a:t>
            </a:r>
            <a:r>
              <a:rPr lang="en-US" i="1" dirty="0">
                <a:solidFill>
                  <a:schemeClr val="tx1"/>
                </a:solidFill>
              </a:rPr>
              <a:t> </a:t>
            </a:r>
            <a:r>
              <a:rPr lang="en-US" i="1" dirty="0" err="1">
                <a:solidFill>
                  <a:schemeClr val="tx1"/>
                </a:solidFill>
              </a:rPr>
              <a:t>chamrar</a:t>
            </a:r>
            <a:r>
              <a:rPr lang="en-US" i="1" dirty="0">
                <a:solidFill>
                  <a:schemeClr val="tx1"/>
                </a:solidFill>
              </a:rPr>
              <a:t> </a:t>
            </a:r>
            <a:r>
              <a:rPr lang="en-US" i="1" dirty="0" err="1">
                <a:solidFill>
                  <a:schemeClr val="tx1"/>
                </a:solidFill>
              </a:rPr>
              <a:t>rakta</a:t>
            </a:r>
            <a:r>
              <a:rPr lang="en-US" i="1" dirty="0">
                <a:solidFill>
                  <a:schemeClr val="tx1"/>
                </a:solidFill>
              </a:rPr>
              <a:t> chai).</a:t>
            </a:r>
          </a:p>
          <a:p>
            <a:pPr marL="0" indent="0" algn="ctr">
              <a:buNone/>
            </a:pPr>
            <a:r>
              <a:rPr lang="en-US" i="1" dirty="0">
                <a:solidFill>
                  <a:schemeClr val="tx1"/>
                </a:solidFill>
              </a:rPr>
              <a:t>Source: Bengal Divided </a:t>
            </a:r>
            <a:r>
              <a:rPr lang="en-US" dirty="0">
                <a:solidFill>
                  <a:schemeClr val="tx1"/>
                </a:solidFill>
              </a:rPr>
              <a:t>by Joya </a:t>
            </a:r>
            <a:r>
              <a:rPr lang="en-US" dirty="0" err="1">
                <a:solidFill>
                  <a:schemeClr val="tx1"/>
                </a:solidFill>
              </a:rPr>
              <a:t>Chatterji</a:t>
            </a:r>
            <a:r>
              <a:rPr lang="en-US">
                <a:solidFill>
                  <a:schemeClr val="tx1"/>
                </a:solidFill>
              </a:rPr>
              <a:t>.</a:t>
            </a:r>
            <a:endParaRPr lang="en-US" dirty="0">
              <a:solidFill>
                <a:schemeClr val="tx1"/>
              </a:solidFill>
            </a:endParaRPr>
          </a:p>
        </p:txBody>
      </p:sp>
    </p:spTree>
    <p:extLst>
      <p:ext uri="{BB962C8B-B14F-4D97-AF65-F5344CB8AC3E}">
        <p14:creationId xmlns:p14="http://schemas.microsoft.com/office/powerpoint/2010/main" val="3621084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50378" y="649481"/>
            <a:ext cx="10918636" cy="5510391"/>
          </a:xfrm>
          <a:prstGeom prst="rect">
            <a:avLst/>
          </a:prstGeom>
        </p:spPr>
      </p:pic>
    </p:spTree>
    <p:extLst>
      <p:ext uri="{BB962C8B-B14F-4D97-AF65-F5344CB8AC3E}">
        <p14:creationId xmlns:p14="http://schemas.microsoft.com/office/powerpoint/2010/main" val="3760672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8557"/>
          </a:xfrm>
        </p:spPr>
        <p:txBody>
          <a:bodyPr/>
          <a:lstStyle/>
          <a:p>
            <a:r>
              <a:rPr lang="en-US" dirty="0"/>
              <a:t>The Redcliff boundary line </a:t>
            </a:r>
          </a:p>
        </p:txBody>
      </p:sp>
      <p:pic>
        <p:nvPicPr>
          <p:cNvPr id="4" name="Content Placeholder 3"/>
          <p:cNvPicPr>
            <a:picLocks noGrp="1" noChangeAspect="1"/>
          </p:cNvPicPr>
          <p:nvPr>
            <p:ph idx="1"/>
          </p:nvPr>
        </p:nvPicPr>
        <p:blipFill>
          <a:blip r:embed="rId2"/>
          <a:stretch>
            <a:fillRect/>
          </a:stretch>
        </p:blipFill>
        <p:spPr>
          <a:xfrm>
            <a:off x="1760435" y="1153682"/>
            <a:ext cx="6727074" cy="5142923"/>
          </a:xfrm>
          <a:prstGeom prst="rect">
            <a:avLst/>
          </a:prstGeom>
        </p:spPr>
      </p:pic>
    </p:spTree>
    <p:extLst>
      <p:ext uri="{BB962C8B-B14F-4D97-AF65-F5344CB8AC3E}">
        <p14:creationId xmlns:p14="http://schemas.microsoft.com/office/powerpoint/2010/main" val="1323201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938" y="1277816"/>
            <a:ext cx="11160370" cy="3563816"/>
          </a:xfrm>
        </p:spPr>
        <p:style>
          <a:lnRef idx="1">
            <a:schemeClr val="dk1"/>
          </a:lnRef>
          <a:fillRef idx="2">
            <a:schemeClr val="dk1"/>
          </a:fillRef>
          <a:effectRef idx="1">
            <a:schemeClr val="dk1"/>
          </a:effectRef>
          <a:fontRef idx="minor">
            <a:schemeClr val="dk1"/>
          </a:fontRef>
        </p:style>
        <p:txBody>
          <a:bodyPr/>
          <a:lstStyle/>
          <a:p>
            <a:pPr algn="just"/>
            <a:r>
              <a:rPr lang="en-US" dirty="0"/>
              <a:t>The emergence of two nation-states out of one and making separate homelands for Hindus-Muslims, and their consequent displacement, resulted in a human </a:t>
            </a:r>
            <a:r>
              <a:rPr lang="en-US" dirty="0">
                <a:solidFill>
                  <a:srgbClr val="FF0000"/>
                </a:solidFill>
              </a:rPr>
              <a:t>tragedy </a:t>
            </a:r>
            <a:r>
              <a:rPr lang="en-US" dirty="0"/>
              <a:t>of refugee-hood. Before the division, both the Hindus and Muslims dreamt of living in their own promised utopia, India or Pakistan. But within the utopia, the nation-seekers unfortunately did not plan anything concrete for them, especially on how to resettle and rehabilitate them properly. ( </a:t>
            </a:r>
            <a:r>
              <a:rPr lang="en-US" dirty="0" err="1"/>
              <a:t>Anindita</a:t>
            </a:r>
            <a:r>
              <a:rPr lang="en-US" dirty="0"/>
              <a:t> Ghoshal, page 37)</a:t>
            </a:r>
          </a:p>
        </p:txBody>
      </p:sp>
    </p:spTree>
    <p:extLst>
      <p:ext uri="{BB962C8B-B14F-4D97-AF65-F5344CB8AC3E}">
        <p14:creationId xmlns:p14="http://schemas.microsoft.com/office/powerpoint/2010/main" val="8208490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4892" y="257908"/>
            <a:ext cx="5322277" cy="738554"/>
          </a:xfrm>
        </p:spPr>
        <p:txBody>
          <a:bodyPr/>
          <a:lstStyle/>
          <a:p>
            <a:pPr algn="ctr"/>
            <a:r>
              <a:rPr lang="en-US" b="1" dirty="0">
                <a:solidFill>
                  <a:srgbClr val="7030A0"/>
                </a:solidFill>
              </a:rPr>
              <a:t>Suggested  Books: </a:t>
            </a:r>
          </a:p>
        </p:txBody>
      </p:sp>
      <p:sp>
        <p:nvSpPr>
          <p:cNvPr id="6" name="Content Placeholder 5"/>
          <p:cNvSpPr>
            <a:spLocks noGrp="1"/>
          </p:cNvSpPr>
          <p:nvPr>
            <p:ph idx="1"/>
          </p:nvPr>
        </p:nvSpPr>
        <p:spPr>
          <a:xfrm>
            <a:off x="339970" y="1289537"/>
            <a:ext cx="10957684" cy="3985847"/>
          </a:xfrm>
        </p:spPr>
        <p:style>
          <a:lnRef idx="1">
            <a:schemeClr val="accent6"/>
          </a:lnRef>
          <a:fillRef idx="2">
            <a:schemeClr val="accent6"/>
          </a:fillRef>
          <a:effectRef idx="1">
            <a:schemeClr val="accent6"/>
          </a:effectRef>
          <a:fontRef idx="minor">
            <a:schemeClr val="dk1"/>
          </a:fontRef>
        </p:style>
        <p:txBody>
          <a:bodyPr>
            <a:normAutofit/>
          </a:bodyPr>
          <a:lstStyle/>
          <a:p>
            <a:pPr marL="0" indent="0" algn="just">
              <a:buNone/>
            </a:pPr>
            <a:r>
              <a:rPr lang="en-US" dirty="0"/>
              <a:t>1. </a:t>
            </a:r>
            <a:r>
              <a:rPr lang="en-US" i="1" dirty="0"/>
              <a:t> Abul Mansur Ahmed, Fifty Years of Politics as I saw It.</a:t>
            </a:r>
            <a:endParaRPr lang="en-US" dirty="0"/>
          </a:p>
          <a:p>
            <a:pPr marL="0" indent="0" algn="just">
              <a:buNone/>
            </a:pPr>
            <a:r>
              <a:rPr lang="en-US" dirty="0"/>
              <a:t>2. </a:t>
            </a:r>
            <a:r>
              <a:rPr lang="en-US" dirty="0" err="1"/>
              <a:t>Anindita</a:t>
            </a:r>
            <a:r>
              <a:rPr lang="en-US" dirty="0"/>
              <a:t> Ghoshal, </a:t>
            </a:r>
            <a:r>
              <a:rPr lang="en-US" i="1" dirty="0"/>
              <a:t>Refugees, Borders and Identities: Rights and Habitat in East and Northeast India.</a:t>
            </a:r>
          </a:p>
          <a:p>
            <a:pPr marL="0" indent="0" algn="just" fontAlgn="base">
              <a:buNone/>
            </a:pPr>
            <a:r>
              <a:rPr lang="en-US" dirty="0"/>
              <a:t>3. </a:t>
            </a:r>
            <a:r>
              <a:rPr lang="en-US" dirty="0">
                <a:solidFill>
                  <a:srgbClr val="FF0000"/>
                </a:solidFill>
              </a:rPr>
              <a:t>Joya </a:t>
            </a:r>
            <a:r>
              <a:rPr lang="en-US" dirty="0" err="1">
                <a:solidFill>
                  <a:srgbClr val="FF0000"/>
                </a:solidFill>
              </a:rPr>
              <a:t>Chatterji</a:t>
            </a:r>
            <a:r>
              <a:rPr lang="en-US" dirty="0">
                <a:solidFill>
                  <a:srgbClr val="FF0000"/>
                </a:solidFill>
              </a:rPr>
              <a:t>, </a:t>
            </a:r>
            <a:r>
              <a:rPr lang="en-US" i="1" dirty="0">
                <a:solidFill>
                  <a:srgbClr val="FF0000"/>
                </a:solidFill>
              </a:rPr>
              <a:t>Bengal Divided: Hindu Communalism and Partition</a:t>
            </a:r>
            <a:r>
              <a:rPr lang="en-US" dirty="0">
                <a:solidFill>
                  <a:srgbClr val="FF0000"/>
                </a:solidFill>
              </a:rPr>
              <a:t>, 1932–1947.</a:t>
            </a:r>
          </a:p>
          <a:p>
            <a:pPr marL="0" indent="0" algn="just">
              <a:buNone/>
            </a:pPr>
            <a:r>
              <a:rPr lang="en-US" dirty="0"/>
              <a:t>4. K. B. Sayeed, </a:t>
            </a:r>
            <a:r>
              <a:rPr lang="en-US" i="1" dirty="0"/>
              <a:t>Pakistan : The Formative Phase, </a:t>
            </a:r>
            <a:r>
              <a:rPr lang="en-US" dirty="0"/>
              <a:t>1857—1948.</a:t>
            </a:r>
          </a:p>
          <a:p>
            <a:pPr marL="0" indent="0" algn="just">
              <a:buNone/>
            </a:pPr>
            <a:r>
              <a:rPr lang="en-US" dirty="0"/>
              <a:t>5. K. B. Sayeed, </a:t>
            </a:r>
            <a:r>
              <a:rPr lang="en-US" i="1" dirty="0"/>
              <a:t>The Political System of Pakistan.</a:t>
            </a:r>
          </a:p>
          <a:p>
            <a:pPr marL="0" indent="0" algn="just" fontAlgn="base">
              <a:buNone/>
            </a:pPr>
            <a:endParaRPr lang="en-US" dirty="0"/>
          </a:p>
          <a:p>
            <a:pPr marL="0" indent="0" algn="just">
              <a:buNone/>
            </a:pPr>
            <a:endParaRPr lang="en-US" i="1" dirty="0"/>
          </a:p>
        </p:txBody>
      </p:sp>
    </p:spTree>
    <p:extLst>
      <p:ext uri="{BB962C8B-B14F-4D97-AF65-F5344CB8AC3E}">
        <p14:creationId xmlns:p14="http://schemas.microsoft.com/office/powerpoint/2010/main" val="1402984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743</TotalTime>
  <Words>1331</Words>
  <Application>Microsoft Office PowerPoint</Application>
  <PresentationFormat>Widescreen</PresentationFormat>
  <Paragraphs>62</Paragraphs>
  <Slides>32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Cabinet Mission Plan:</vt:lpstr>
      <vt:lpstr>Proposals outlined in the Cabinet Mission Plan:</vt:lpstr>
      <vt:lpstr> Reactions :</vt:lpstr>
      <vt:lpstr>PowerPoint Presentation</vt:lpstr>
      <vt:lpstr>Political Economy of Riots: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Indian Independence Act, 1947</vt:lpstr>
      <vt:lpstr>PowerPoint Presentation</vt:lpstr>
      <vt:lpstr>PowerPoint Presentation</vt:lpstr>
      <vt:lpstr>PowerPoint Presentation</vt:lpstr>
      <vt:lpstr>Features  of the Indian Independence Act, 1947</vt:lpstr>
      <vt:lpstr>The second partition of Bengal, 1945-47</vt:lpstr>
      <vt:lpstr>PowerPoint Presentation</vt:lpstr>
      <vt:lpstr>PowerPoint Presentation</vt:lpstr>
      <vt:lpstr>The partition campaign, 1946-47</vt:lpstr>
      <vt:lpstr>Example of communal bitterness </vt:lpstr>
      <vt:lpstr>PowerPoint Presentation</vt:lpstr>
      <vt:lpstr>The Redcliff boundary line </vt:lpstr>
      <vt:lpstr>PowerPoint Presentation</vt:lpstr>
      <vt:lpstr>Suggested  Books: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NSU</cp:lastModifiedBy>
  <cp:revision>330</cp:revision>
  <dcterms:created xsi:type="dcterms:W3CDTF">2020-12-11T12:10:55Z</dcterms:created>
  <dcterms:modified xsi:type="dcterms:W3CDTF">2025-03-03T03:32:06Z</dcterms:modified>
</cp:coreProperties>
</file>