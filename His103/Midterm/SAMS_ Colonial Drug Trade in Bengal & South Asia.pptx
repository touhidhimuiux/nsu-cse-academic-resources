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4" r:id="rId1"/>
  </p:sldMasterIdLst>
  <p:sldIdLst>
    <p:sldId id="256" r:id="rId2"/>
    <p:sldId id="257" r:id="rId3"/>
    <p:sldId id="283" r:id="rId4"/>
    <p:sldId id="265" r:id="rId5"/>
    <p:sldId id="313" r:id="rId6"/>
    <p:sldId id="315" r:id="rId7"/>
    <p:sldId id="289" r:id="rId8"/>
    <p:sldId id="267" r:id="rId9"/>
    <p:sldId id="291" r:id="rId10"/>
    <p:sldId id="305" r:id="rId11"/>
    <p:sldId id="308" r:id="rId12"/>
    <p:sldId id="293" r:id="rId13"/>
    <p:sldId id="306" r:id="rId14"/>
    <p:sldId id="294" r:id="rId15"/>
    <p:sldId id="292" r:id="rId16"/>
    <p:sldId id="290" r:id="rId17"/>
    <p:sldId id="288" r:id="rId18"/>
    <p:sldId id="270" r:id="rId19"/>
    <p:sldId id="295" r:id="rId20"/>
    <p:sldId id="299" r:id="rId21"/>
    <p:sldId id="296" r:id="rId22"/>
    <p:sldId id="301" r:id="rId23"/>
    <p:sldId id="300" r:id="rId24"/>
    <p:sldId id="297" r:id="rId25"/>
    <p:sldId id="298" r:id="rId26"/>
    <p:sldId id="314" r:id="rId27"/>
    <p:sldId id="302" r:id="rId28"/>
    <p:sldId id="304" r:id="rId29"/>
    <p:sldId id="316" r:id="rId30"/>
    <p:sldId id="307" r:id="rId31"/>
    <p:sldId id="309" r:id="rId32"/>
    <p:sldId id="31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5000" autoAdjust="0"/>
  </p:normalViewPr>
  <p:slideViewPr>
    <p:cSldViewPr snapToGrid="0">
      <p:cViewPr varScale="1">
        <p:scale>
          <a:sx n="64" d="100"/>
          <a:sy n="64" d="100"/>
        </p:scale>
        <p:origin x="978"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93CD914-F637-4F06-9523-554F430B2D0E}" type="datetimeFigureOut">
              <a:rPr lang="en-US" smtClean="0"/>
              <a:t>7/26/2023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8CABD5-4FAA-4535-BF97-9C789BDFE430}" type="slidenum">
              <a:rPr lang="en-US" smtClean="0"/>
              <a:t>‹#›</a:t>
            </a:fld>
            <a:endParaRPr lang="en-US"/>
          </a:p>
        </p:txBody>
      </p:sp>
    </p:spTree>
    <p:extLst>
      <p:ext uri="{BB962C8B-B14F-4D97-AF65-F5344CB8AC3E}">
        <p14:creationId xmlns:p14="http://schemas.microsoft.com/office/powerpoint/2010/main" val="4116155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3CD914-F637-4F06-9523-554F430B2D0E}" type="datetimeFigureOut">
              <a:rPr lang="en-US" smtClean="0"/>
              <a:t>7/26/2023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8CABD5-4FAA-4535-BF97-9C789BDFE430}" type="slidenum">
              <a:rPr lang="en-US" smtClean="0"/>
              <a:t>‹#›</a:t>
            </a:fld>
            <a:endParaRPr lang="en-US"/>
          </a:p>
        </p:txBody>
      </p:sp>
    </p:spTree>
    <p:extLst>
      <p:ext uri="{BB962C8B-B14F-4D97-AF65-F5344CB8AC3E}">
        <p14:creationId xmlns:p14="http://schemas.microsoft.com/office/powerpoint/2010/main" val="3275907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3CD914-F637-4F06-9523-554F430B2D0E}" type="datetimeFigureOut">
              <a:rPr lang="en-US" smtClean="0"/>
              <a:t>7/26/2023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8CABD5-4FAA-4535-BF97-9C789BDFE430}" type="slidenum">
              <a:rPr lang="en-US" smtClean="0"/>
              <a:t>‹#›</a:t>
            </a:fld>
            <a:endParaRPr lang="en-US"/>
          </a:p>
        </p:txBody>
      </p:sp>
    </p:spTree>
    <p:extLst>
      <p:ext uri="{BB962C8B-B14F-4D97-AF65-F5344CB8AC3E}">
        <p14:creationId xmlns:p14="http://schemas.microsoft.com/office/powerpoint/2010/main" val="1732347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93CD914-F637-4F06-9523-554F430B2D0E}" type="datetimeFigureOut">
              <a:rPr lang="en-US" smtClean="0"/>
              <a:t>7/26/2023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8CABD5-4FAA-4535-BF97-9C789BDFE430}" type="slidenum">
              <a:rPr lang="en-US" smtClean="0"/>
              <a:t>‹#›</a:t>
            </a:fld>
            <a:endParaRPr lang="en-US"/>
          </a:p>
        </p:txBody>
      </p:sp>
    </p:spTree>
    <p:extLst>
      <p:ext uri="{BB962C8B-B14F-4D97-AF65-F5344CB8AC3E}">
        <p14:creationId xmlns:p14="http://schemas.microsoft.com/office/powerpoint/2010/main" val="1099833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93CD914-F637-4F06-9523-554F430B2D0E}" type="datetimeFigureOut">
              <a:rPr lang="en-US" smtClean="0"/>
              <a:t>7/26/2023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98CABD5-4FAA-4535-BF97-9C789BDFE430}" type="slidenum">
              <a:rPr lang="en-US" smtClean="0"/>
              <a:t>‹#›</a:t>
            </a:fld>
            <a:endParaRPr lang="en-US"/>
          </a:p>
        </p:txBody>
      </p:sp>
    </p:spTree>
    <p:extLst>
      <p:ext uri="{BB962C8B-B14F-4D97-AF65-F5344CB8AC3E}">
        <p14:creationId xmlns:p14="http://schemas.microsoft.com/office/powerpoint/2010/main" val="4012550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93CD914-F637-4F06-9523-554F430B2D0E}" type="datetimeFigureOut">
              <a:rPr lang="en-US" smtClean="0"/>
              <a:t>7/26/2023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98CABD5-4FAA-4535-BF97-9C789BDFE430}" type="slidenum">
              <a:rPr lang="en-US" smtClean="0"/>
              <a:t>‹#›</a:t>
            </a:fld>
            <a:endParaRPr lang="en-US"/>
          </a:p>
        </p:txBody>
      </p:sp>
    </p:spTree>
    <p:extLst>
      <p:ext uri="{BB962C8B-B14F-4D97-AF65-F5344CB8AC3E}">
        <p14:creationId xmlns:p14="http://schemas.microsoft.com/office/powerpoint/2010/main" val="3415116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3CD914-F637-4F06-9523-554F430B2D0E}" type="datetimeFigureOut">
              <a:rPr lang="en-US" smtClean="0"/>
              <a:t>7/26/2023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98CABD5-4FAA-4535-BF97-9C789BDFE430}" type="slidenum">
              <a:rPr lang="en-US" smtClean="0"/>
              <a:t>‹#›</a:t>
            </a:fld>
            <a:endParaRPr lang="en-US"/>
          </a:p>
        </p:txBody>
      </p:sp>
    </p:spTree>
    <p:extLst>
      <p:ext uri="{BB962C8B-B14F-4D97-AF65-F5344CB8AC3E}">
        <p14:creationId xmlns:p14="http://schemas.microsoft.com/office/powerpoint/2010/main" val="499061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3CD914-F637-4F06-9523-554F430B2D0E}" type="datetimeFigureOut">
              <a:rPr lang="en-US" smtClean="0"/>
              <a:t>7/26/2023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8CABD5-4FAA-4535-BF97-9C789BDFE430}" type="slidenum">
              <a:rPr lang="en-US" smtClean="0"/>
              <a:t>‹#›</a:t>
            </a:fld>
            <a:endParaRPr lang="en-US"/>
          </a:p>
        </p:txBody>
      </p:sp>
    </p:spTree>
    <p:extLst>
      <p:ext uri="{BB962C8B-B14F-4D97-AF65-F5344CB8AC3E}">
        <p14:creationId xmlns:p14="http://schemas.microsoft.com/office/powerpoint/2010/main" val="2757493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3CD914-F637-4F06-9523-554F430B2D0E}" type="datetimeFigureOut">
              <a:rPr lang="en-US" smtClean="0"/>
              <a:t>7/26/2023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8CABD5-4FAA-4535-BF97-9C789BDFE430}" type="slidenum">
              <a:rPr lang="en-US" smtClean="0"/>
              <a:t>‹#›</a:t>
            </a:fld>
            <a:endParaRPr lang="en-US"/>
          </a:p>
        </p:txBody>
      </p:sp>
    </p:spTree>
    <p:extLst>
      <p:ext uri="{BB962C8B-B14F-4D97-AF65-F5344CB8AC3E}">
        <p14:creationId xmlns:p14="http://schemas.microsoft.com/office/powerpoint/2010/main" val="2502193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3CD914-F637-4F06-9523-554F430B2D0E}" type="datetimeFigureOut">
              <a:rPr lang="en-US" smtClean="0"/>
              <a:t>7/26/2023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8CABD5-4FAA-4535-BF97-9C789BDFE430}" type="slidenum">
              <a:rPr lang="en-US" smtClean="0"/>
              <a:t>‹#›</a:t>
            </a:fld>
            <a:endParaRPr lang="en-US"/>
          </a:p>
        </p:txBody>
      </p:sp>
    </p:spTree>
    <p:extLst>
      <p:ext uri="{BB962C8B-B14F-4D97-AF65-F5344CB8AC3E}">
        <p14:creationId xmlns:p14="http://schemas.microsoft.com/office/powerpoint/2010/main" val="3642161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3CD914-F637-4F06-9523-554F430B2D0E}" type="datetimeFigureOut">
              <a:rPr lang="en-US" smtClean="0"/>
              <a:t>7/26/2023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8CABD5-4FAA-4535-BF97-9C789BDFE430}" type="slidenum">
              <a:rPr lang="en-US" smtClean="0"/>
              <a:t>‹#›</a:t>
            </a:fld>
            <a:endParaRPr lang="en-US"/>
          </a:p>
        </p:txBody>
      </p:sp>
    </p:spTree>
    <p:extLst>
      <p:ext uri="{BB962C8B-B14F-4D97-AF65-F5344CB8AC3E}">
        <p14:creationId xmlns:p14="http://schemas.microsoft.com/office/powerpoint/2010/main" val="4281512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3CD914-F637-4F06-9523-554F430B2D0E}" type="datetimeFigureOut">
              <a:rPr lang="en-US" smtClean="0"/>
              <a:t>7/26/2023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8CABD5-4FAA-4535-BF97-9C789BDFE430}" type="slidenum">
              <a:rPr lang="en-US" smtClean="0"/>
              <a:t>‹#›</a:t>
            </a:fld>
            <a:endParaRPr lang="en-US"/>
          </a:p>
        </p:txBody>
      </p:sp>
    </p:spTree>
    <p:extLst>
      <p:ext uri="{BB962C8B-B14F-4D97-AF65-F5344CB8AC3E}">
        <p14:creationId xmlns:p14="http://schemas.microsoft.com/office/powerpoint/2010/main" val="1374639001"/>
      </p:ext>
    </p:extLst>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1.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en.prothomalo.com/bangladesh/AL-MP-patronising-drug-trade"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73466" y="350378"/>
            <a:ext cx="10810430" cy="5136022"/>
          </a:xfrm>
        </p:spPr>
        <p:txBody>
          <a:bodyPr>
            <a:normAutofit/>
          </a:bodyPr>
          <a:lstStyle/>
          <a:p>
            <a:endParaRPr lang="en-US" sz="4400" i="1" dirty="0"/>
          </a:p>
          <a:p>
            <a:r>
              <a:rPr lang="en-US" sz="4400" i="1" dirty="0"/>
              <a:t>Emergence of Bangladesh </a:t>
            </a:r>
            <a:endParaRPr lang="en-US" sz="4400" dirty="0"/>
          </a:p>
          <a:p>
            <a:r>
              <a:rPr lang="en-US" sz="4400" dirty="0"/>
              <a:t>North South University</a:t>
            </a:r>
          </a:p>
          <a:p>
            <a:r>
              <a:rPr lang="en-US" sz="4400" dirty="0"/>
              <a:t>Dhaka, Bangladesh </a:t>
            </a:r>
          </a:p>
          <a:p>
            <a:r>
              <a:rPr lang="en-US" sz="4400" dirty="0"/>
              <a:t>HIS 103</a:t>
            </a:r>
          </a:p>
          <a:p>
            <a:endParaRPr lang="en-US" sz="4400" dirty="0"/>
          </a:p>
          <a:p>
            <a:endParaRPr lang="en-US" sz="4400" dirty="0"/>
          </a:p>
          <a:p>
            <a:endParaRPr lang="en-US" dirty="0"/>
          </a:p>
        </p:txBody>
      </p:sp>
    </p:spTree>
    <p:extLst>
      <p:ext uri="{BB962C8B-B14F-4D97-AF65-F5344CB8AC3E}">
        <p14:creationId xmlns:p14="http://schemas.microsoft.com/office/powerpoint/2010/main" val="356821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668" y="855023"/>
            <a:ext cx="9464633" cy="5047013"/>
          </a:xfrm>
        </p:spPr>
        <p:txBody>
          <a:bodyPr>
            <a:normAutofit fontScale="90000"/>
          </a:bodyPr>
          <a:lstStyle/>
          <a:p>
            <a:pPr algn="ctr"/>
            <a:r>
              <a:rPr lang="en-US" b="1" i="1" dirty="0"/>
              <a:t> </a:t>
            </a:r>
            <a:r>
              <a:rPr lang="en-US" b="1" i="1" u="sng" dirty="0"/>
              <a:t>Welcome</a:t>
            </a:r>
            <a:br>
              <a:rPr lang="en-US" b="1" i="1" dirty="0"/>
            </a:br>
            <a:br>
              <a:rPr lang="en-US" b="1" i="1" dirty="0"/>
            </a:br>
            <a:r>
              <a:rPr lang="en-US" sz="3600" b="1" i="1" dirty="0">
                <a:solidFill>
                  <a:srgbClr val="7030A0"/>
                </a:solidFill>
              </a:rPr>
              <a:t>Colonial Drug Trade in Bengal &amp;  South Asia</a:t>
            </a:r>
            <a:br>
              <a:rPr lang="en-US" sz="3600" b="1" dirty="0"/>
            </a:br>
            <a:br>
              <a:rPr lang="en-US" sz="3600" b="1" dirty="0"/>
            </a:br>
            <a:r>
              <a:rPr lang="en-US" sz="3600" b="1" dirty="0"/>
              <a:t>By    </a:t>
            </a:r>
            <a:br>
              <a:rPr lang="en-US" sz="3600" b="1" dirty="0"/>
            </a:br>
            <a:br>
              <a:rPr lang="en-US" sz="3600" b="1" dirty="0"/>
            </a:br>
            <a:r>
              <a:rPr lang="en-US" sz="3600" b="1" dirty="0"/>
              <a:t> Dr. Saleh Md. Shahriar </a:t>
            </a:r>
            <a:br>
              <a:rPr lang="en-US" sz="3600" b="1" dirty="0"/>
            </a:br>
            <a:r>
              <a:rPr lang="en-US" sz="3600" b="1" dirty="0"/>
              <a:t>Assistant Professor (Full-Time)</a:t>
            </a:r>
            <a:br>
              <a:rPr lang="en-US" sz="3600" b="1" dirty="0"/>
            </a:br>
            <a:r>
              <a:rPr lang="en-US" sz="3600" b="1" dirty="0"/>
              <a:t>Initial: SAMS</a:t>
            </a:r>
            <a:br>
              <a:rPr lang="en-US" sz="3600" b="1" dirty="0"/>
            </a:br>
            <a:r>
              <a:rPr lang="en-US" sz="3600" b="1" dirty="0"/>
              <a:t>DHP, NSU</a:t>
            </a:r>
            <a:br>
              <a:rPr lang="en-US" dirty="0"/>
            </a:br>
            <a:endParaRPr lang="en-US" dirty="0"/>
          </a:p>
        </p:txBody>
      </p:sp>
    </p:spTree>
    <p:extLst>
      <p:ext uri="{BB962C8B-B14F-4D97-AF65-F5344CB8AC3E}">
        <p14:creationId xmlns:p14="http://schemas.microsoft.com/office/powerpoint/2010/main" val="3577569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orient="vert"/>
          </p:nvPr>
        </p:nvSpPr>
        <p:spPr/>
        <p:txBody>
          <a:bodyPr/>
          <a:lstStyle/>
          <a:p>
            <a:pPr algn="ctr"/>
            <a:r>
              <a:rPr lang="en-US" dirty="0"/>
              <a:t> </a:t>
            </a:r>
          </a:p>
        </p:txBody>
      </p:sp>
      <p:sp>
        <p:nvSpPr>
          <p:cNvPr id="10" name="Vertical Text Placeholder 9"/>
          <p:cNvSpPr>
            <a:spLocks noGrp="1"/>
          </p:cNvSpPr>
          <p:nvPr>
            <p:ph type="body" orient="vert" idx="1"/>
          </p:nvPr>
        </p:nvSpPr>
        <p:spPr>
          <a:xfrm>
            <a:off x="-3799" y="333286"/>
            <a:ext cx="11523529" cy="6524714"/>
          </a:xfrm>
        </p:spPr>
        <p:txBody>
          <a:bodyPr/>
          <a:lstStyle/>
          <a:p>
            <a:r>
              <a:rPr lang="en-US" dirty="0"/>
              <a:t>Poppy cultivation </a:t>
            </a:r>
          </a:p>
        </p:txBody>
      </p:sp>
      <p:pic>
        <p:nvPicPr>
          <p:cNvPr id="5" name="Picture 4"/>
          <p:cNvPicPr>
            <a:picLocks noChangeAspect="1"/>
          </p:cNvPicPr>
          <p:nvPr/>
        </p:nvPicPr>
        <p:blipFill>
          <a:blip r:embed="rId2"/>
          <a:stretch>
            <a:fillRect/>
          </a:stretch>
        </p:blipFill>
        <p:spPr>
          <a:xfrm>
            <a:off x="4978252" y="405859"/>
            <a:ext cx="4563313" cy="2920437"/>
          </a:xfrm>
          <a:prstGeom prst="rect">
            <a:avLst/>
          </a:prstGeom>
        </p:spPr>
      </p:pic>
      <p:pic>
        <p:nvPicPr>
          <p:cNvPr id="3074" name="Picture 2" descr="Opium poppy flower and seed heads - Stock Image - B640/0963 - Science Photo  Librar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5620" y="609600"/>
            <a:ext cx="3424832" cy="2640309"/>
          </a:xfrm>
          <a:prstGeom prst="rect">
            <a:avLst/>
          </a:prstGeom>
          <a:noFill/>
          <a:extLst>
            <a:ext uri="{909E8E84-426E-40DD-AFC4-6F175D3DCCD1}">
              <a14:hiddenFill xmlns:a14="http://schemas.microsoft.com/office/drawing/2010/main">
                <a:solidFill>
                  <a:srgbClr val="FFFFFF"/>
                </a:solidFill>
              </a14:hiddenFill>
            </a:ext>
          </a:extLst>
        </p:spPr>
      </p:pic>
      <p:sp>
        <p:nvSpPr>
          <p:cNvPr id="3" name="AutoShape 4" descr="Andhra Pradesh: SEB intensifies probe on cultivation of Opium Poppy Seeds,  deploys special team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6" descr="Andhra Pradesh: SEB intensifies probe on cultivation of Opium Poppy Seeds,  deploys special team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8" descr="Andhra Pradesh: SEB intensifies probe on cultivation of Opium Poppy Seeds,  deploys special teams"/>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82" name="Picture 10" descr="Opium Poppy Pictures | Download Free Images on Unsplas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9680" y="3419061"/>
            <a:ext cx="4873596" cy="27758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2533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0639" y="269824"/>
            <a:ext cx="10851906" cy="5891134"/>
          </a:xfrm>
        </p:spPr>
        <p:txBody>
          <a:bodyPr anchor="t"/>
          <a:lstStyle/>
          <a:p>
            <a:br>
              <a:rPr lang="en-US" dirty="0"/>
            </a:br>
            <a:br>
              <a:rPr lang="en-US" dirty="0"/>
            </a:br>
            <a:r>
              <a:rPr lang="en-US" sz="2800" dirty="0"/>
              <a:t>1. </a:t>
            </a:r>
            <a:r>
              <a:rPr lang="en-US" sz="2800" dirty="0">
                <a:solidFill>
                  <a:srgbClr val="FF0000"/>
                </a:solidFill>
                <a:latin typeface="AdvOT1ef757c0"/>
              </a:rPr>
              <a:t>The Golden Triangle</a:t>
            </a:r>
            <a:r>
              <a:rPr lang="en-US" sz="2800" dirty="0">
                <a:latin typeface="AdvOT1ef757c0"/>
              </a:rPr>
              <a:t>: </a:t>
            </a:r>
            <a:br>
              <a:rPr lang="en-US" sz="2800" dirty="0">
                <a:latin typeface="AdvOT1ef757c0"/>
              </a:rPr>
            </a:br>
            <a:r>
              <a:rPr lang="en-US" sz="2800" dirty="0"/>
              <a:t>Eastern part of Myanmar’s Shan state, areas of northern Thailand and northern Laos, bordering southwest China</a:t>
            </a:r>
            <a:br>
              <a:rPr lang="en-US" sz="2800" dirty="0"/>
            </a:br>
            <a:br>
              <a:rPr lang="en-US" sz="2800" dirty="0"/>
            </a:br>
            <a:r>
              <a:rPr lang="en-US" sz="2800" b="1" dirty="0"/>
              <a:t>2. </a:t>
            </a:r>
            <a:r>
              <a:rPr lang="en-US" sz="2800" b="1" dirty="0">
                <a:solidFill>
                  <a:srgbClr val="FF0000"/>
                </a:solidFill>
              </a:rPr>
              <a:t>The Golden Crescent:  </a:t>
            </a:r>
            <a:r>
              <a:rPr lang="en-US" sz="2800" b="1" dirty="0"/>
              <a:t>consists of northeastern and southern Afghanistan, NWFP of Pakistan and </a:t>
            </a:r>
            <a:r>
              <a:rPr lang="en-US" sz="2800" b="1" dirty="0" err="1"/>
              <a:t>Shistan</a:t>
            </a:r>
            <a:r>
              <a:rPr lang="en-US" sz="2800" b="1" dirty="0"/>
              <a:t> Baluchistan of Iran.</a:t>
            </a:r>
            <a:br>
              <a:rPr lang="en-US" sz="2800" b="1" dirty="0"/>
            </a:br>
            <a:br>
              <a:rPr lang="en-US" sz="2800" b="1" dirty="0"/>
            </a:br>
            <a:r>
              <a:rPr lang="en-US" sz="2800" dirty="0"/>
              <a:t>3. </a:t>
            </a:r>
            <a:r>
              <a:rPr lang="en-US" sz="2800" b="1" dirty="0">
                <a:solidFill>
                  <a:srgbClr val="FF0000"/>
                </a:solidFill>
              </a:rPr>
              <a:t>The Golden Wedge </a:t>
            </a:r>
            <a:r>
              <a:rPr lang="en-US" sz="2800" dirty="0"/>
              <a:t>:consists of northern India (Himachal Pradesh, Uttar Pradesh &amp; Arunachal Pradesh), parts of Nepal and Bhutan</a:t>
            </a:r>
          </a:p>
        </p:txBody>
      </p:sp>
      <p:sp>
        <p:nvSpPr>
          <p:cNvPr id="3" name="Content Placeholder 2"/>
          <p:cNvSpPr>
            <a:spLocks noGrp="1"/>
          </p:cNvSpPr>
          <p:nvPr>
            <p:ph idx="1"/>
          </p:nvPr>
        </p:nvSpPr>
        <p:spPr>
          <a:xfrm>
            <a:off x="1" y="-1166191"/>
            <a:ext cx="8719930" cy="993913"/>
          </a:xfrm>
        </p:spPr>
        <p:txBody>
          <a:bodyPr>
            <a:normAutofit/>
          </a:bodyPr>
          <a:lstStyle/>
          <a:p>
            <a:pPr marL="0" indent="0">
              <a:buNone/>
            </a:pPr>
            <a:r>
              <a:rPr lang="en-US" sz="2800" dirty="0">
                <a:solidFill>
                  <a:srgbClr val="FF0000"/>
                </a:solidFill>
              </a:rPr>
              <a:t>THREE MAJOR DRUG-PRODUCING REGIONS:</a:t>
            </a:r>
            <a:endParaRPr lang="en-US" sz="1600" dirty="0">
              <a:solidFill>
                <a:srgbClr val="FF0000"/>
              </a:solidFill>
            </a:endParaRPr>
          </a:p>
        </p:txBody>
      </p:sp>
    </p:spTree>
    <p:extLst>
      <p:ext uri="{BB962C8B-B14F-4D97-AF65-F5344CB8AC3E}">
        <p14:creationId xmlns:p14="http://schemas.microsoft.com/office/powerpoint/2010/main" val="962671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61323" y="940904"/>
            <a:ext cx="8189842" cy="4982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3535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FF1312-53CE-4C1D-AAEA-4037F0EE1B69}"/>
              </a:ext>
            </a:extLst>
          </p:cNvPr>
          <p:cNvSpPr>
            <a:spLocks noGrp="1"/>
          </p:cNvSpPr>
          <p:nvPr>
            <p:ph idx="1"/>
          </p:nvPr>
        </p:nvSpPr>
        <p:spPr>
          <a:xfrm>
            <a:off x="838200" y="1825625"/>
            <a:ext cx="10515600" cy="1888246"/>
          </a:xfrm>
        </p:spPr>
        <p:txBody>
          <a:bodyPr/>
          <a:lstStyle/>
          <a:p>
            <a:r>
              <a:rPr lang="en-US" dirty="0"/>
              <a:t>  </a:t>
            </a:r>
            <a:r>
              <a:rPr lang="en-US" b="1" dirty="0"/>
              <a:t>Channel I </a:t>
            </a:r>
            <a:r>
              <a:rPr lang="en-US" b="1" i="1" dirty="0" err="1"/>
              <a:t>Tritio</a:t>
            </a:r>
            <a:r>
              <a:rPr lang="en-US" b="1" i="1" dirty="0"/>
              <a:t> </a:t>
            </a:r>
            <a:r>
              <a:rPr lang="en-US" b="1" i="1" dirty="0" err="1"/>
              <a:t>Matra</a:t>
            </a:r>
            <a:r>
              <a:rPr lang="en-US" b="1" dirty="0"/>
              <a:t> -Interview of NSU professor M. </a:t>
            </a:r>
            <a:r>
              <a:rPr lang="en-US" b="1" dirty="0" err="1"/>
              <a:t>Emdadul</a:t>
            </a:r>
            <a:r>
              <a:rPr lang="en-US" b="1" dirty="0"/>
              <a:t> </a:t>
            </a:r>
            <a:r>
              <a:rPr lang="en-US" b="1" dirty="0" err="1"/>
              <a:t>Haq</a:t>
            </a:r>
            <a:r>
              <a:rPr lang="en-US" b="1" dirty="0"/>
              <a:t>: </a:t>
            </a:r>
          </a:p>
          <a:p>
            <a:pPr marL="0" indent="0">
              <a:buNone/>
            </a:pPr>
            <a:r>
              <a:rPr lang="en-US" dirty="0"/>
              <a:t>            https://m.youtube.com/watch?v=qJrY0YpcPTE</a:t>
            </a:r>
          </a:p>
        </p:txBody>
      </p:sp>
    </p:spTree>
    <p:extLst>
      <p:ext uri="{BB962C8B-B14F-4D97-AF65-F5344CB8AC3E}">
        <p14:creationId xmlns:p14="http://schemas.microsoft.com/office/powerpoint/2010/main" val="3662812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6931" y="435836"/>
            <a:ext cx="11186445" cy="5741127"/>
          </a:xfrm>
        </p:spPr>
        <p:txBody>
          <a:bodyPr>
            <a:normAutofit/>
          </a:bodyPr>
          <a:lstStyle/>
          <a:p>
            <a:pPr algn="just"/>
            <a:r>
              <a:rPr lang="en-US" dirty="0"/>
              <a:t>Poppy has been extensively cultivated in the mountainous areas of Myanmar, Laos, Southern China, and Vietnam since the nineteenth century. By the late 1980s and early 1990s, </a:t>
            </a:r>
            <a:r>
              <a:rPr lang="en-US" dirty="0">
                <a:solidFill>
                  <a:srgbClr val="FF0000"/>
                </a:solidFill>
              </a:rPr>
              <a:t>Southeast Asia </a:t>
            </a:r>
            <a:r>
              <a:rPr lang="en-US" dirty="0"/>
              <a:t>had become one of the most significant opium and </a:t>
            </a:r>
            <a:r>
              <a:rPr lang="en-US" dirty="0">
                <a:solidFill>
                  <a:srgbClr val="FF0000"/>
                </a:solidFill>
              </a:rPr>
              <a:t>heroin producing </a:t>
            </a:r>
            <a:r>
              <a:rPr lang="en-US" dirty="0"/>
              <a:t>and trafficking regions in the world. </a:t>
            </a:r>
          </a:p>
          <a:p>
            <a:pPr algn="just"/>
            <a:r>
              <a:rPr lang="en-US" dirty="0"/>
              <a:t>Six countries—Cambodia, China, Laos, Myanmar, Thailand, and Vietnam—are part of a geographical region known as the </a:t>
            </a:r>
            <a:r>
              <a:rPr lang="en-US" i="1" dirty="0"/>
              <a:t>Greater Mekong Sub-region (GMS</a:t>
            </a:r>
            <a:r>
              <a:rPr lang="en-US" dirty="0"/>
              <a:t>), approximately 12,000 km2, which is acknowledged as one of the </a:t>
            </a:r>
            <a:r>
              <a:rPr lang="en-US" dirty="0">
                <a:solidFill>
                  <a:srgbClr val="FF0000"/>
                </a:solidFill>
              </a:rPr>
              <a:t>world’s major locations for production of illicit drugs, </a:t>
            </a:r>
            <a:r>
              <a:rPr lang="en-US" dirty="0"/>
              <a:t>including heroin and ATS. </a:t>
            </a:r>
          </a:p>
          <a:p>
            <a:pPr algn="just"/>
            <a:r>
              <a:rPr lang="en-US" dirty="0"/>
              <a:t>Drug trade for profit-making </a:t>
            </a:r>
          </a:p>
          <a:p>
            <a:pPr marL="0" indent="0">
              <a:buNone/>
            </a:pPr>
            <a:endParaRPr lang="en-US" dirty="0"/>
          </a:p>
        </p:txBody>
      </p:sp>
    </p:spTree>
    <p:extLst>
      <p:ext uri="{BB962C8B-B14F-4D97-AF65-F5344CB8AC3E}">
        <p14:creationId xmlns:p14="http://schemas.microsoft.com/office/powerpoint/2010/main" val="3018854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9686" y="887897"/>
            <a:ext cx="10455965" cy="4134677"/>
          </a:xfrm>
        </p:spPr>
        <p:txBody>
          <a:bodyPr anchor="t">
            <a:normAutofit fontScale="90000"/>
          </a:bodyPr>
          <a:lstStyle/>
          <a:p>
            <a:r>
              <a:rPr lang="en-US" sz="3100" dirty="0">
                <a:latin typeface="Arial" pitchFamily="34" charset="0"/>
                <a:cs typeface="Arial" pitchFamily="34" charset="0"/>
              </a:rPr>
              <a:t>1. Through the dealings of the British East India Company,</a:t>
            </a:r>
            <a:br>
              <a:rPr lang="en-US" sz="3100" dirty="0">
                <a:latin typeface="Arial" pitchFamily="34" charset="0"/>
                <a:cs typeface="Arial" pitchFamily="34" charset="0"/>
              </a:rPr>
            </a:br>
            <a:r>
              <a:rPr lang="en-US" sz="3100" dirty="0">
                <a:latin typeface="Arial" pitchFamily="34" charset="0"/>
                <a:cs typeface="Arial" pitchFamily="34" charset="0"/>
              </a:rPr>
              <a:t>opium, traditionally used medicinally, became </a:t>
            </a:r>
            <a:r>
              <a:rPr lang="en-US" sz="3100" dirty="0">
                <a:solidFill>
                  <a:srgbClr val="FF0000"/>
                </a:solidFill>
                <a:latin typeface="Arial" pitchFamily="34" charset="0"/>
                <a:cs typeface="Arial" pitchFamily="34" charset="0"/>
              </a:rPr>
              <a:t>a non-medicinal</a:t>
            </a:r>
            <a:br>
              <a:rPr lang="en-US" sz="3100" dirty="0">
                <a:solidFill>
                  <a:srgbClr val="FF0000"/>
                </a:solidFill>
                <a:latin typeface="Arial" pitchFamily="34" charset="0"/>
                <a:cs typeface="Arial" pitchFamily="34" charset="0"/>
              </a:rPr>
            </a:br>
            <a:r>
              <a:rPr lang="en-US" sz="3100" dirty="0">
                <a:solidFill>
                  <a:srgbClr val="FF0000"/>
                </a:solidFill>
                <a:latin typeface="Arial" pitchFamily="34" charset="0"/>
                <a:cs typeface="Arial" pitchFamily="34" charset="0"/>
              </a:rPr>
              <a:t>business commodity</a:t>
            </a:r>
            <a:r>
              <a:rPr lang="en-US" sz="3100" dirty="0">
                <a:latin typeface="Arial" pitchFamily="34" charset="0"/>
                <a:cs typeface="Arial" pitchFamily="34" charset="0"/>
              </a:rPr>
              <a:t> during the late eighteenth and throughout</a:t>
            </a:r>
            <a:br>
              <a:rPr lang="en-US" sz="3100" dirty="0">
                <a:latin typeface="Arial" pitchFamily="34" charset="0"/>
                <a:cs typeface="Arial" pitchFamily="34" charset="0"/>
              </a:rPr>
            </a:br>
            <a:r>
              <a:rPr lang="en-US" sz="3100" dirty="0">
                <a:latin typeface="Arial" pitchFamily="34" charset="0"/>
                <a:cs typeface="Arial" pitchFamily="34" charset="0"/>
              </a:rPr>
              <a:t>the nineteenth centuries.</a:t>
            </a:r>
            <a:br>
              <a:rPr lang="en-US" sz="3100" dirty="0">
                <a:latin typeface="Arial" pitchFamily="34" charset="0"/>
                <a:cs typeface="Arial" pitchFamily="34" charset="0"/>
              </a:rPr>
            </a:br>
            <a:br>
              <a:rPr lang="en-US" sz="3100" dirty="0">
                <a:latin typeface="Arial" pitchFamily="34" charset="0"/>
                <a:cs typeface="Arial" pitchFamily="34" charset="0"/>
              </a:rPr>
            </a:br>
            <a:br>
              <a:rPr lang="en-US" sz="3100" dirty="0">
                <a:latin typeface="Arial" pitchFamily="34" charset="0"/>
                <a:cs typeface="Arial" pitchFamily="34" charset="0"/>
              </a:rPr>
            </a:br>
            <a:r>
              <a:rPr lang="en-US" sz="3100" dirty="0">
                <a:latin typeface="Arial" pitchFamily="34" charset="0"/>
                <a:cs typeface="Arial" pitchFamily="34" charset="0"/>
              </a:rPr>
              <a:t>2. For capital formation, as well as to run the administration, the colonial government in India continued the supply of opium to </a:t>
            </a:r>
            <a:r>
              <a:rPr lang="en-US" sz="3100" dirty="0">
                <a:solidFill>
                  <a:srgbClr val="FF0000"/>
                </a:solidFill>
                <a:latin typeface="Arial" pitchFamily="34" charset="0"/>
                <a:cs typeface="Arial" pitchFamily="34" charset="0"/>
              </a:rPr>
              <a:t>China </a:t>
            </a:r>
            <a:r>
              <a:rPr lang="en-US" sz="3100" dirty="0">
                <a:latin typeface="Arial" pitchFamily="34" charset="0"/>
                <a:cs typeface="Arial" pitchFamily="34" charset="0"/>
              </a:rPr>
              <a:t>throughout the nineteenth century.</a:t>
            </a:r>
            <a:br>
              <a:rPr lang="en-US" sz="3100" dirty="0">
                <a:latin typeface="Sitka Banner" pitchFamily="2" charset="0"/>
                <a:cs typeface="Times New Roman" panose="02020603050405020304" pitchFamily="18" charset="0"/>
              </a:rPr>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endParaRPr lang="en-US" sz="2000" dirty="0"/>
          </a:p>
        </p:txBody>
      </p:sp>
    </p:spTree>
    <p:extLst>
      <p:ext uri="{BB962C8B-B14F-4D97-AF65-F5344CB8AC3E}">
        <p14:creationId xmlns:p14="http://schemas.microsoft.com/office/powerpoint/2010/main" val="21417144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94410"/>
            <a:ext cx="10515600" cy="3859481"/>
          </a:xfrm>
        </p:spPr>
        <p:txBody>
          <a:bodyPr>
            <a:normAutofit/>
          </a:bodyPr>
          <a:lstStyle/>
          <a:p>
            <a:pPr algn="just"/>
            <a:r>
              <a:rPr lang="en-US" dirty="0"/>
              <a:t>The land under poppy cultivation was increased from 283,000 hectares in 1765-6, to 303,500 hectares in the following year.</a:t>
            </a:r>
          </a:p>
          <a:p>
            <a:pPr algn="just"/>
            <a:r>
              <a:rPr lang="en-US" dirty="0"/>
              <a:t> This </a:t>
            </a:r>
            <a:r>
              <a:rPr lang="en-US" dirty="0">
                <a:solidFill>
                  <a:srgbClr val="FF0000"/>
                </a:solidFill>
              </a:rPr>
              <a:t>large-scale conversion of paddy fields </a:t>
            </a:r>
            <a:r>
              <a:rPr lang="en-US" dirty="0"/>
              <a:t>into poppy cultivation contributed to a famine in Bengal in 1770. </a:t>
            </a:r>
          </a:p>
          <a:p>
            <a:pPr algn="just"/>
            <a:r>
              <a:rPr lang="en-US" dirty="0"/>
              <a:t>This famine caused the death of </a:t>
            </a:r>
            <a:r>
              <a:rPr lang="en-US" dirty="0">
                <a:solidFill>
                  <a:srgbClr val="FF0000"/>
                </a:solidFill>
              </a:rPr>
              <a:t>10 million in an area that had been traditionally </a:t>
            </a:r>
            <a:r>
              <a:rPr lang="en-US" dirty="0"/>
              <a:t>known as the </a:t>
            </a:r>
            <a:r>
              <a:rPr lang="en-US" dirty="0">
                <a:solidFill>
                  <a:srgbClr val="FF0000"/>
                </a:solidFill>
              </a:rPr>
              <a:t>'Golden Bengal' </a:t>
            </a:r>
            <a:r>
              <a:rPr lang="en-US" dirty="0"/>
              <a:t>due to its natural resources.  </a:t>
            </a:r>
          </a:p>
        </p:txBody>
      </p:sp>
    </p:spTree>
    <p:extLst>
      <p:ext uri="{BB962C8B-B14F-4D97-AF65-F5344CB8AC3E}">
        <p14:creationId xmlns:p14="http://schemas.microsoft.com/office/powerpoint/2010/main" val="3533197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engal-famine-177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3826" y="477077"/>
            <a:ext cx="6487437" cy="392545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hekhar Kapur on Twitter: &amp;quot;The great Bengal famine of 1770- caused  primarily by the British forcibly turning huge tracts of land to Poppy  cultivation. To make Opium to sell to China. An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5443" y="198831"/>
            <a:ext cx="4295445" cy="42037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reat Bengal famine - Man -made famine - YouTub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8813" y="4545497"/>
            <a:ext cx="4288238"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2703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1066092" cy="1281869"/>
          </a:xfrm>
        </p:spPr>
        <p:txBody>
          <a:bodyPr>
            <a:normAutofit/>
          </a:bodyPr>
          <a:lstStyle/>
          <a:p>
            <a:r>
              <a:rPr lang="en-US" sz="2800" dirty="0"/>
              <a:t>People in the famine stricken Bengal in 1770 after their paddy fields were converted by the BEIC for poppy cultivation </a:t>
            </a:r>
          </a:p>
        </p:txBody>
      </p:sp>
      <p:pic>
        <p:nvPicPr>
          <p:cNvPr id="6148" name="Picture 4" descr="Famine - Wikiwand"/>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80591" y="1388124"/>
            <a:ext cx="9498740" cy="4854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8611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842052" y="424070"/>
            <a:ext cx="9621636" cy="4876799"/>
          </a:xfrm>
          <a:prstGeom prst="rect">
            <a:avLst/>
          </a:prstGeom>
        </p:spPr>
      </p:pic>
    </p:spTree>
    <p:extLst>
      <p:ext uri="{BB962C8B-B14F-4D97-AF65-F5344CB8AC3E}">
        <p14:creationId xmlns:p14="http://schemas.microsoft.com/office/powerpoint/2010/main" val="2714734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6"/>
            <a:ext cx="10515600" cy="1002202"/>
          </a:xfrm>
        </p:spPr>
        <p:txBody>
          <a:bodyPr>
            <a:normAutofit fontScale="90000"/>
          </a:bodyPr>
          <a:lstStyle/>
          <a:p>
            <a:r>
              <a:rPr lang="en-US" dirty="0"/>
              <a:t>The process of monopoly opium in colonial India</a:t>
            </a:r>
          </a:p>
        </p:txBody>
      </p:sp>
      <p:pic>
        <p:nvPicPr>
          <p:cNvPr id="4098" name="Picture 2" descr="How Britain&amp;#39;s opium trade impoverished Indians - BBC New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252870" y="1510748"/>
            <a:ext cx="7948034" cy="4236909"/>
          </a:xfrm>
        </p:spPr>
      </p:pic>
    </p:spTree>
    <p:extLst>
      <p:ext uri="{BB962C8B-B14F-4D97-AF65-F5344CB8AC3E}">
        <p14:creationId xmlns:p14="http://schemas.microsoft.com/office/powerpoint/2010/main" val="3550645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674421" y="712519"/>
            <a:ext cx="9324015" cy="4690753"/>
          </a:xfrm>
          <a:prstGeom prst="rect">
            <a:avLst/>
          </a:prstGeom>
        </p:spPr>
      </p:pic>
    </p:spTree>
    <p:extLst>
      <p:ext uri="{BB962C8B-B14F-4D97-AF65-F5344CB8AC3E}">
        <p14:creationId xmlns:p14="http://schemas.microsoft.com/office/powerpoint/2010/main" val="17236521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05854"/>
            <a:ext cx="10515600" cy="3963029"/>
          </a:xfrm>
        </p:spPr>
        <p:txBody>
          <a:bodyPr>
            <a:normAutofit/>
          </a:bodyPr>
          <a:lstStyle/>
          <a:p>
            <a:pPr algn="just"/>
            <a:r>
              <a:rPr lang="en-US" dirty="0"/>
              <a:t>Under the </a:t>
            </a:r>
            <a:r>
              <a:rPr lang="en-US" dirty="0">
                <a:solidFill>
                  <a:srgbClr val="FF0000"/>
                </a:solidFill>
              </a:rPr>
              <a:t>Opium Act of 1857</a:t>
            </a:r>
            <a:r>
              <a:rPr lang="en-US" dirty="0"/>
              <a:t>, the cultivation of poppy and manufacture of opium went under </a:t>
            </a:r>
            <a:r>
              <a:rPr lang="en-US" dirty="0">
                <a:solidFill>
                  <a:srgbClr val="FF0000"/>
                </a:solidFill>
              </a:rPr>
              <a:t>the direct control </a:t>
            </a:r>
            <a:r>
              <a:rPr lang="en-US" dirty="0"/>
              <a:t>of the Bengal administration and the Board of Revenue at Calcutta. </a:t>
            </a:r>
          </a:p>
          <a:p>
            <a:pPr algn="just"/>
            <a:r>
              <a:rPr lang="en-US" dirty="0"/>
              <a:t>Subsequent to the </a:t>
            </a:r>
            <a:r>
              <a:rPr lang="en-US" dirty="0">
                <a:solidFill>
                  <a:srgbClr val="FF0000"/>
                </a:solidFill>
              </a:rPr>
              <a:t>initial battles for Opium</a:t>
            </a:r>
            <a:r>
              <a:rPr lang="en-US" dirty="0"/>
              <a:t>, Bengal became springboard for </a:t>
            </a:r>
            <a:r>
              <a:rPr lang="en-US" dirty="0">
                <a:solidFill>
                  <a:srgbClr val="FF0000"/>
                </a:solidFill>
              </a:rPr>
              <a:t>British colonial expansion </a:t>
            </a:r>
            <a:r>
              <a:rPr lang="en-US" dirty="0"/>
              <a:t>in different directions. </a:t>
            </a:r>
          </a:p>
          <a:p>
            <a:pPr algn="just"/>
            <a:r>
              <a:rPr lang="en-US" dirty="0"/>
              <a:t>After the Boxer war </a:t>
            </a:r>
            <a:r>
              <a:rPr lang="en-US" dirty="0">
                <a:solidFill>
                  <a:srgbClr val="FF0000"/>
                </a:solidFill>
              </a:rPr>
              <a:t>in 1764</a:t>
            </a:r>
            <a:r>
              <a:rPr lang="en-US" dirty="0"/>
              <a:t>, the BEIC </a:t>
            </a:r>
            <a:r>
              <a:rPr lang="en-US" dirty="0">
                <a:solidFill>
                  <a:srgbClr val="FF0000"/>
                </a:solidFill>
              </a:rPr>
              <a:t>annexed</a:t>
            </a:r>
            <a:r>
              <a:rPr lang="en-US" dirty="0"/>
              <a:t> </a:t>
            </a:r>
            <a:r>
              <a:rPr lang="en-US" dirty="0">
                <a:solidFill>
                  <a:srgbClr val="FF0000"/>
                </a:solidFill>
              </a:rPr>
              <a:t>areas one after another </a:t>
            </a:r>
            <a:r>
              <a:rPr lang="en-US" dirty="0"/>
              <a:t>which became strategically important to them to maintain their supremacy in the </a:t>
            </a:r>
            <a:r>
              <a:rPr lang="en-US" dirty="0">
                <a:solidFill>
                  <a:srgbClr val="FF0000"/>
                </a:solidFill>
              </a:rPr>
              <a:t>regional opium traffic</a:t>
            </a:r>
            <a:r>
              <a:rPr lang="en-US" dirty="0"/>
              <a:t>.</a:t>
            </a:r>
          </a:p>
        </p:txBody>
      </p:sp>
    </p:spTree>
    <p:extLst>
      <p:ext uri="{BB962C8B-B14F-4D97-AF65-F5344CB8AC3E}">
        <p14:creationId xmlns:p14="http://schemas.microsoft.com/office/powerpoint/2010/main" val="12745263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2519" y="1876301"/>
            <a:ext cx="11225955" cy="3443844"/>
          </a:xfrm>
        </p:spPr>
        <p:txBody>
          <a:bodyPr>
            <a:normAutofit/>
          </a:bodyPr>
          <a:lstStyle/>
          <a:p>
            <a:pPr marL="0" indent="0" algn="just">
              <a:buNone/>
            </a:pPr>
            <a:endParaRPr lang="en-US" dirty="0"/>
          </a:p>
          <a:p>
            <a:pPr algn="just"/>
            <a:r>
              <a:rPr lang="en-US" dirty="0"/>
              <a:t>As a result of the US's </a:t>
            </a:r>
            <a:r>
              <a:rPr lang="en-US" i="1" dirty="0">
                <a:solidFill>
                  <a:srgbClr val="FF0000"/>
                </a:solidFill>
              </a:rPr>
              <a:t>Cold War </a:t>
            </a:r>
            <a:r>
              <a:rPr lang="en-US" dirty="0"/>
              <a:t>in Afghanistan, combined with the Pakistani perception of a threat to its territorial integrity in NWFP and Baluchistan, the </a:t>
            </a:r>
            <a:r>
              <a:rPr lang="en-US" i="1" dirty="0"/>
              <a:t>Pathan </a:t>
            </a:r>
            <a:r>
              <a:rPr lang="en-US" dirty="0"/>
              <a:t>cultivators produced record-breaking illicit opium in 1979. </a:t>
            </a:r>
          </a:p>
          <a:p>
            <a:pPr algn="just"/>
            <a:r>
              <a:rPr lang="en-US" dirty="0"/>
              <a:t>The tunneling of </a:t>
            </a:r>
            <a:r>
              <a:rPr lang="en-US" dirty="0">
                <a:solidFill>
                  <a:srgbClr val="FF0000"/>
                </a:solidFill>
              </a:rPr>
              <a:t>drug money into the politics of insurgency </a:t>
            </a:r>
            <a:r>
              <a:rPr lang="en-US" dirty="0"/>
              <a:t>has to institutionalize the drug trade in Pakistan. </a:t>
            </a:r>
          </a:p>
        </p:txBody>
      </p:sp>
    </p:spTree>
    <p:extLst>
      <p:ext uri="{BB962C8B-B14F-4D97-AF65-F5344CB8AC3E}">
        <p14:creationId xmlns:p14="http://schemas.microsoft.com/office/powerpoint/2010/main" val="36560635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dirty="0"/>
              <a:t>The relationship between demand and supply is not entirely linear, but demand for heroin may be linked in part to the resurgence of opium production. </a:t>
            </a:r>
          </a:p>
          <a:p>
            <a:pPr marL="0" indent="0" algn="just">
              <a:buNone/>
            </a:pPr>
            <a:endParaRPr lang="en-US" dirty="0"/>
          </a:p>
          <a:p>
            <a:pPr algn="just"/>
            <a:r>
              <a:rPr lang="en-US" dirty="0"/>
              <a:t>Among people using heroin, those who </a:t>
            </a:r>
            <a:r>
              <a:rPr lang="en-US" dirty="0">
                <a:solidFill>
                  <a:srgbClr val="FF0000"/>
                </a:solidFill>
              </a:rPr>
              <a:t>inject drugs </a:t>
            </a:r>
            <a:r>
              <a:rPr lang="en-US" dirty="0"/>
              <a:t>are one of the </a:t>
            </a:r>
            <a:r>
              <a:rPr lang="en-US" dirty="0">
                <a:solidFill>
                  <a:srgbClr val="FF0000"/>
                </a:solidFill>
              </a:rPr>
              <a:t>most vulnerable and marginalized groups</a:t>
            </a:r>
            <a:r>
              <a:rPr lang="en-US" dirty="0"/>
              <a:t>, a substantial cause of disease </a:t>
            </a:r>
            <a:r>
              <a:rPr lang="en-US" dirty="0">
                <a:solidFill>
                  <a:srgbClr val="FF0000"/>
                </a:solidFill>
              </a:rPr>
              <a:t>burden</a:t>
            </a:r>
            <a:r>
              <a:rPr lang="en-US" dirty="0"/>
              <a:t>, and a contributor to blood-borne virus transmission</a:t>
            </a:r>
          </a:p>
        </p:txBody>
      </p:sp>
    </p:spTree>
    <p:extLst>
      <p:ext uri="{BB962C8B-B14F-4D97-AF65-F5344CB8AC3E}">
        <p14:creationId xmlns:p14="http://schemas.microsoft.com/office/powerpoint/2010/main" val="1975081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993913"/>
            <a:ext cx="10717696" cy="5183050"/>
          </a:xfrm>
        </p:spPr>
        <p:txBody>
          <a:bodyPr>
            <a:normAutofit/>
          </a:bodyPr>
          <a:lstStyle/>
          <a:p>
            <a:pPr algn="just"/>
            <a:r>
              <a:rPr lang="en-US" dirty="0">
                <a:solidFill>
                  <a:srgbClr val="FF0000"/>
                </a:solidFill>
              </a:rPr>
              <a:t>Narcotics trafficking </a:t>
            </a:r>
            <a:r>
              <a:rPr lang="en-US" dirty="0"/>
              <a:t>is more than transnational, it is global. Trafficking in opium, cannabis, and cocaine has been </a:t>
            </a:r>
            <a:r>
              <a:rPr lang="en-US" dirty="0">
                <a:solidFill>
                  <a:srgbClr val="FF0000"/>
                </a:solidFill>
              </a:rPr>
              <a:t>shifting and diversifying</a:t>
            </a:r>
            <a:r>
              <a:rPr lang="en-US" dirty="0"/>
              <a:t>, and to these have been added </a:t>
            </a:r>
            <a:r>
              <a:rPr lang="en-US" dirty="0">
                <a:solidFill>
                  <a:srgbClr val="FF0000"/>
                </a:solidFill>
              </a:rPr>
              <a:t>amphetamine-type stimulants </a:t>
            </a:r>
            <a:r>
              <a:rPr lang="en-US" dirty="0"/>
              <a:t>(ATS) and new psychotropic substances (NPS</a:t>
            </a:r>
            <a:r>
              <a:rPr lang="en-US" dirty="0">
                <a:solidFill>
                  <a:srgbClr val="FF0000"/>
                </a:solidFill>
              </a:rPr>
              <a:t>). </a:t>
            </a:r>
          </a:p>
          <a:p>
            <a:pPr algn="just"/>
            <a:r>
              <a:rPr lang="en-US" dirty="0">
                <a:solidFill>
                  <a:srgbClr val="00B050"/>
                </a:solidFill>
              </a:rPr>
              <a:t>Statistics show that approximately 10.6 million people injected drugs worldwide in 2016, or 0.22% of the global population aged </a:t>
            </a:r>
            <a:r>
              <a:rPr lang="en-US" dirty="0">
                <a:solidFill>
                  <a:srgbClr val="FF0000"/>
                </a:solidFill>
              </a:rPr>
              <a:t>15–64. </a:t>
            </a:r>
          </a:p>
          <a:p>
            <a:r>
              <a:rPr lang="en-US" dirty="0"/>
              <a:t>Around 7.5 million people addicted to drugs in Bangladesh.</a:t>
            </a:r>
          </a:p>
          <a:p>
            <a:r>
              <a:rPr lang="en-US" dirty="0"/>
              <a:t>Around 43% of the unemployed population of the country are addicted to drugs.</a:t>
            </a:r>
            <a:br>
              <a:rPr lang="en-US" dirty="0"/>
            </a:br>
            <a:endParaRPr lang="en-US" dirty="0">
              <a:solidFill>
                <a:srgbClr val="FF0000"/>
              </a:solidFill>
            </a:endParaRPr>
          </a:p>
        </p:txBody>
      </p:sp>
    </p:spTree>
    <p:extLst>
      <p:ext uri="{BB962C8B-B14F-4D97-AF65-F5344CB8AC3E}">
        <p14:creationId xmlns:p14="http://schemas.microsoft.com/office/powerpoint/2010/main" val="3045811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23843"/>
            <a:ext cx="10869538" cy="5553120"/>
          </a:xfrm>
        </p:spPr>
        <p:txBody>
          <a:bodyPr/>
          <a:lstStyle/>
          <a:p>
            <a:pPr algn="just">
              <a:buFont typeface="Wingdings" panose="05000000000000000000" pitchFamily="2" charset="2"/>
              <a:buChar char="§"/>
            </a:pPr>
            <a:r>
              <a:rPr lang="en-US" dirty="0"/>
              <a:t>Indian official reports claimed that the obstacles in the Iranian and </a:t>
            </a:r>
            <a:r>
              <a:rPr lang="en-US" dirty="0">
                <a:solidFill>
                  <a:srgbClr val="00B050"/>
                </a:solidFill>
              </a:rPr>
              <a:t>Central Asian </a:t>
            </a:r>
            <a:r>
              <a:rPr lang="en-US" dirty="0"/>
              <a:t>routes in the early 1980s saw Pakistani traffickers increasingly use </a:t>
            </a:r>
            <a:r>
              <a:rPr lang="en-US" dirty="0">
                <a:solidFill>
                  <a:srgbClr val="00B050"/>
                </a:solidFill>
              </a:rPr>
              <a:t>India as a transit route for overseas destinations</a:t>
            </a:r>
            <a:r>
              <a:rPr lang="en-US" dirty="0"/>
              <a:t>.</a:t>
            </a:r>
          </a:p>
          <a:p>
            <a:pPr algn="just">
              <a:buFont typeface="Wingdings" panose="05000000000000000000" pitchFamily="2" charset="2"/>
              <a:buChar char="§"/>
            </a:pPr>
            <a:r>
              <a:rPr lang="en-US" dirty="0">
                <a:solidFill>
                  <a:srgbClr val="FF0000"/>
                </a:solidFill>
              </a:rPr>
              <a:t>Bangladesh is used a transit route for illicit drug trafficking</a:t>
            </a:r>
          </a:p>
          <a:p>
            <a:pPr algn="just">
              <a:buFont typeface="Wingdings" panose="05000000000000000000" pitchFamily="2" charset="2"/>
              <a:buChar char="§"/>
            </a:pPr>
            <a:r>
              <a:rPr lang="en-US" dirty="0"/>
              <a:t>Drug gangs use </a:t>
            </a:r>
            <a:r>
              <a:rPr lang="en-US" i="1" dirty="0" err="1"/>
              <a:t>Rohingya</a:t>
            </a:r>
            <a:r>
              <a:rPr lang="en-US" dirty="0"/>
              <a:t> to get the </a:t>
            </a:r>
            <a:r>
              <a:rPr lang="en-US" i="1" dirty="0" err="1"/>
              <a:t>Yaba</a:t>
            </a:r>
            <a:r>
              <a:rPr lang="en-US" dirty="0"/>
              <a:t> into southern Bangladesh</a:t>
            </a:r>
          </a:p>
          <a:p>
            <a:pPr algn="just">
              <a:buFont typeface="Wingdings" panose="05000000000000000000" pitchFamily="2" charset="2"/>
              <a:buChar char="§"/>
            </a:pPr>
            <a:r>
              <a:rPr lang="en-US" dirty="0"/>
              <a:t>The rise of organized drug cartels in Bangladesh. </a:t>
            </a:r>
            <a:r>
              <a:rPr lang="en-US" dirty="0">
                <a:solidFill>
                  <a:srgbClr val="FF0000"/>
                </a:solidFill>
              </a:rPr>
              <a:t>It has larger security and geopolitical implications </a:t>
            </a:r>
          </a:p>
          <a:p>
            <a:pPr algn="just">
              <a:buFont typeface="Wingdings" panose="05000000000000000000" pitchFamily="2" charset="2"/>
              <a:buChar char="§"/>
            </a:pPr>
            <a:r>
              <a:rPr lang="en-US" dirty="0"/>
              <a:t> Drug money is used for running insurgent movements in the Chittagong Hill Tracts (CHT) as the region has geo-strategic importance. </a:t>
            </a:r>
          </a:p>
        </p:txBody>
      </p:sp>
    </p:spTree>
    <p:extLst>
      <p:ext uri="{BB962C8B-B14F-4D97-AF65-F5344CB8AC3E}">
        <p14:creationId xmlns:p14="http://schemas.microsoft.com/office/powerpoint/2010/main" val="19182446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7015" y="1163360"/>
            <a:ext cx="11066092" cy="4980552"/>
          </a:xfrm>
        </p:spPr>
        <p:txBody>
          <a:bodyPr/>
          <a:lstStyle/>
          <a:p>
            <a:pPr algn="just"/>
            <a:r>
              <a:rPr lang="en-US" dirty="0"/>
              <a:t>The increasing demand for </a:t>
            </a:r>
            <a:r>
              <a:rPr lang="en-US" dirty="0" err="1"/>
              <a:t>yaba</a:t>
            </a:r>
            <a:r>
              <a:rPr lang="en-US" dirty="0"/>
              <a:t> has been a </a:t>
            </a:r>
            <a:r>
              <a:rPr lang="en-US" dirty="0">
                <a:solidFill>
                  <a:srgbClr val="00B050"/>
                </a:solidFill>
              </a:rPr>
              <a:t>matter of grave concerns </a:t>
            </a:r>
            <a:r>
              <a:rPr lang="en-US" dirty="0"/>
              <a:t>to the social scientists and policy makers of Bangladesh. In 2018, Bangladeshi authorities seized </a:t>
            </a:r>
            <a:r>
              <a:rPr lang="en-US" dirty="0">
                <a:solidFill>
                  <a:srgbClr val="FF0000"/>
                </a:solidFill>
              </a:rPr>
              <a:t>53 million </a:t>
            </a:r>
            <a:r>
              <a:rPr lang="en-US" dirty="0" err="1">
                <a:solidFill>
                  <a:srgbClr val="FF0000"/>
                </a:solidFill>
              </a:rPr>
              <a:t>yaba</a:t>
            </a:r>
            <a:r>
              <a:rPr lang="en-US" dirty="0">
                <a:solidFill>
                  <a:srgbClr val="FF0000"/>
                </a:solidFill>
              </a:rPr>
              <a:t> </a:t>
            </a:r>
            <a:r>
              <a:rPr lang="en-US" dirty="0"/>
              <a:t>tablets nationally. The total value of this illicit business is estimated to be worth upwards of </a:t>
            </a:r>
            <a:r>
              <a:rPr lang="en-US" dirty="0">
                <a:solidFill>
                  <a:srgbClr val="FF0000"/>
                </a:solidFill>
              </a:rPr>
              <a:t>$1bn a </a:t>
            </a:r>
            <a:r>
              <a:rPr lang="en-US" dirty="0"/>
              <a:t>year</a:t>
            </a:r>
          </a:p>
          <a:p>
            <a:pPr algn="just"/>
            <a:r>
              <a:rPr lang="en-US" dirty="0">
                <a:solidFill>
                  <a:srgbClr val="FF0000"/>
                </a:solidFill>
              </a:rPr>
              <a:t>Some fishermen, farmers and traders in Cox’s Bazar and </a:t>
            </a:r>
            <a:r>
              <a:rPr lang="en-US" dirty="0" err="1">
                <a:solidFill>
                  <a:srgbClr val="FF0000"/>
                </a:solidFill>
              </a:rPr>
              <a:t>Teknaf</a:t>
            </a:r>
            <a:r>
              <a:rPr lang="en-US" dirty="0">
                <a:solidFill>
                  <a:srgbClr val="FF0000"/>
                </a:solidFill>
              </a:rPr>
              <a:t> were consequently drawn into a </a:t>
            </a:r>
            <a:r>
              <a:rPr lang="en-US" dirty="0"/>
              <a:t>corrupt network </a:t>
            </a:r>
            <a:r>
              <a:rPr lang="en-US" dirty="0">
                <a:solidFill>
                  <a:srgbClr val="FF0000"/>
                </a:solidFill>
              </a:rPr>
              <a:t>of </a:t>
            </a:r>
            <a:r>
              <a:rPr lang="en-US" dirty="0" err="1">
                <a:solidFill>
                  <a:srgbClr val="FF0000"/>
                </a:solidFill>
              </a:rPr>
              <a:t>yaba</a:t>
            </a:r>
            <a:r>
              <a:rPr lang="en-US" dirty="0">
                <a:solidFill>
                  <a:srgbClr val="FF0000"/>
                </a:solidFill>
              </a:rPr>
              <a:t> smuggling, involving also </a:t>
            </a:r>
            <a:r>
              <a:rPr lang="en-US" dirty="0" err="1">
                <a:solidFill>
                  <a:srgbClr val="FF0000"/>
                </a:solidFill>
              </a:rPr>
              <a:t>Rohingyas</a:t>
            </a:r>
            <a:r>
              <a:rPr lang="en-US" dirty="0">
                <a:solidFill>
                  <a:srgbClr val="FF0000"/>
                </a:solidFill>
              </a:rPr>
              <a:t> (</a:t>
            </a:r>
            <a:r>
              <a:rPr lang="en-US" dirty="0" err="1">
                <a:solidFill>
                  <a:srgbClr val="FF0000"/>
                </a:solidFill>
              </a:rPr>
              <a:t>Hasan</a:t>
            </a:r>
            <a:r>
              <a:rPr lang="en-US" dirty="0">
                <a:solidFill>
                  <a:srgbClr val="FF0000"/>
                </a:solidFill>
              </a:rPr>
              <a:t>, 2019). </a:t>
            </a:r>
          </a:p>
        </p:txBody>
      </p:sp>
    </p:spTree>
    <p:extLst>
      <p:ext uri="{BB962C8B-B14F-4D97-AF65-F5344CB8AC3E}">
        <p14:creationId xmlns:p14="http://schemas.microsoft.com/office/powerpoint/2010/main" val="7444678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stretch>
            <a:fillRect/>
          </a:stretch>
        </p:blipFill>
        <p:spPr>
          <a:xfrm>
            <a:off x="2427502" y="1825625"/>
            <a:ext cx="7336996" cy="4351338"/>
          </a:xfrm>
          <a:prstGeom prst="rect">
            <a:avLst/>
          </a:prstGeom>
        </p:spPr>
      </p:pic>
    </p:spTree>
    <p:extLst>
      <p:ext uri="{BB962C8B-B14F-4D97-AF65-F5344CB8AC3E}">
        <p14:creationId xmlns:p14="http://schemas.microsoft.com/office/powerpoint/2010/main" val="3684634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16925"/>
            <a:ext cx="10515600" cy="3408218"/>
          </a:xfrm>
        </p:spPr>
        <p:txBody>
          <a:bodyPr/>
          <a:lstStyle/>
          <a:p>
            <a:r>
              <a:rPr lang="en-US" dirty="0"/>
              <a:t> According to a report, at least 15 influential persons of </a:t>
            </a:r>
            <a:r>
              <a:rPr lang="en-US" dirty="0" err="1"/>
              <a:t>Rajshahi</a:t>
            </a:r>
            <a:r>
              <a:rPr lang="en-US" dirty="0"/>
              <a:t> are engaged in trading and smuggling drugs into the country, says a home ministry report ( Source: </a:t>
            </a:r>
            <a:r>
              <a:rPr lang="en-US" dirty="0">
                <a:hlinkClick r:id="rId2"/>
              </a:rPr>
              <a:t>https://en.prothomalo.com/bangladesh/AL-MP-patronising-drug-trade</a:t>
            </a:r>
            <a:r>
              <a:rPr lang="en-US" dirty="0"/>
              <a:t>).</a:t>
            </a:r>
          </a:p>
          <a:p>
            <a:endParaRPr lang="en-US" dirty="0"/>
          </a:p>
        </p:txBody>
      </p:sp>
    </p:spTree>
    <p:extLst>
      <p:ext uri="{BB962C8B-B14F-4D97-AF65-F5344CB8AC3E}">
        <p14:creationId xmlns:p14="http://schemas.microsoft.com/office/powerpoint/2010/main" val="19570345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46931"/>
            <a:ext cx="10515600" cy="5630032"/>
          </a:xfrm>
        </p:spPr>
        <p:txBody>
          <a:bodyPr/>
          <a:lstStyle/>
          <a:p>
            <a:pPr algn="just"/>
            <a:r>
              <a:rPr lang="en-US" dirty="0"/>
              <a:t>The government of Bangladesh has adopted </a:t>
            </a:r>
            <a:r>
              <a:rPr lang="en-US" dirty="0">
                <a:solidFill>
                  <a:srgbClr val="FF0000"/>
                </a:solidFill>
              </a:rPr>
              <a:t>a zero-tolerance policy </a:t>
            </a:r>
            <a:r>
              <a:rPr lang="en-US" dirty="0"/>
              <a:t>towards drug use, which law enforcement agencies have striven to reinforce. </a:t>
            </a:r>
          </a:p>
          <a:p>
            <a:pPr algn="just"/>
            <a:r>
              <a:rPr lang="en-US" dirty="0"/>
              <a:t>  </a:t>
            </a:r>
            <a:r>
              <a:rPr lang="en-US" dirty="0">
                <a:solidFill>
                  <a:srgbClr val="FF0000"/>
                </a:solidFill>
              </a:rPr>
              <a:t>Bangladeshi Narcotics Control Act of 2018 </a:t>
            </a:r>
            <a:r>
              <a:rPr lang="en-US" dirty="0"/>
              <a:t>mandated </a:t>
            </a:r>
            <a:r>
              <a:rPr lang="en-US" dirty="0">
                <a:solidFill>
                  <a:srgbClr val="00B050"/>
                </a:solidFill>
              </a:rPr>
              <a:t>the death sentence or life imprisonment </a:t>
            </a:r>
            <a:r>
              <a:rPr lang="en-US" dirty="0"/>
              <a:t>for individuals carrying </a:t>
            </a:r>
            <a:r>
              <a:rPr lang="en-US" dirty="0">
                <a:solidFill>
                  <a:srgbClr val="FF0000"/>
                </a:solidFill>
              </a:rPr>
              <a:t>methamphetamine</a:t>
            </a:r>
            <a:r>
              <a:rPr lang="en-US" dirty="0"/>
              <a:t> for illicit use (S. I. Khan et al., 2019).</a:t>
            </a:r>
          </a:p>
          <a:p>
            <a:pPr algn="just"/>
            <a:r>
              <a:rPr lang="en-US" dirty="0"/>
              <a:t> In May 2018, </a:t>
            </a:r>
            <a:r>
              <a:rPr lang="en-US" dirty="0">
                <a:solidFill>
                  <a:srgbClr val="FF0000"/>
                </a:solidFill>
              </a:rPr>
              <a:t>Bangladesh Prime Minister Sheikh Hasina announced a drug war, leading to over 300 killings and 25,000 arrests</a:t>
            </a:r>
            <a:r>
              <a:rPr lang="en-US" dirty="0"/>
              <a:t>. In justifying her campaign, </a:t>
            </a:r>
            <a:r>
              <a:rPr lang="en-US" dirty="0" err="1"/>
              <a:t>Hasina</a:t>
            </a:r>
            <a:r>
              <a:rPr lang="en-US" dirty="0"/>
              <a:t> spoke of drugs as a </a:t>
            </a:r>
            <a:r>
              <a:rPr lang="en-US" dirty="0">
                <a:solidFill>
                  <a:srgbClr val="FF0000"/>
                </a:solidFill>
              </a:rPr>
              <a:t>“deadly disease” </a:t>
            </a:r>
            <a:r>
              <a:rPr lang="en-US" dirty="0"/>
              <a:t>alongside corruption and militancy (</a:t>
            </a:r>
            <a:r>
              <a:rPr lang="en-US" dirty="0" err="1"/>
              <a:t>Lascoa</a:t>
            </a:r>
            <a:r>
              <a:rPr lang="en-US" dirty="0"/>
              <a:t>, 2020).</a:t>
            </a:r>
          </a:p>
        </p:txBody>
      </p:sp>
    </p:spTree>
    <p:extLst>
      <p:ext uri="{BB962C8B-B14F-4D97-AF65-F5344CB8AC3E}">
        <p14:creationId xmlns:p14="http://schemas.microsoft.com/office/powerpoint/2010/main" val="3405300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t="14213"/>
          <a:stretch/>
        </p:blipFill>
        <p:spPr>
          <a:xfrm>
            <a:off x="715618" y="728870"/>
            <a:ext cx="10601740" cy="4850295"/>
          </a:xfrm>
          <a:prstGeom prst="rect">
            <a:avLst/>
          </a:prstGeom>
        </p:spPr>
      </p:pic>
    </p:spTree>
    <p:extLst>
      <p:ext uri="{BB962C8B-B14F-4D97-AF65-F5344CB8AC3E}">
        <p14:creationId xmlns:p14="http://schemas.microsoft.com/office/powerpoint/2010/main" val="33819003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99859" y="940038"/>
            <a:ext cx="9588380" cy="5296746"/>
          </a:xfrm>
          <a:prstGeom prst="rect">
            <a:avLst/>
          </a:prstGeom>
        </p:spPr>
      </p:pic>
    </p:spTree>
    <p:extLst>
      <p:ext uri="{BB962C8B-B14F-4D97-AF65-F5344CB8AC3E}">
        <p14:creationId xmlns:p14="http://schemas.microsoft.com/office/powerpoint/2010/main" val="15392314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28962" y="2133601"/>
            <a:ext cx="5934075" cy="3510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29655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48197" y="371061"/>
            <a:ext cx="7778337" cy="5406887"/>
          </a:xfrm>
        </p:spPr>
        <p:txBody>
          <a:bodyPr>
            <a:normAutofit/>
          </a:bodyPr>
          <a:lstStyle/>
          <a:p>
            <a:pPr marL="0" indent="0" algn="ctr">
              <a:buNone/>
            </a:pPr>
            <a:r>
              <a:rPr lang="en-US" sz="4000" b="1" dirty="0"/>
              <a:t>Causes :</a:t>
            </a:r>
          </a:p>
          <a:p>
            <a:r>
              <a:rPr lang="en-US" dirty="0"/>
              <a:t>Poverty </a:t>
            </a:r>
          </a:p>
          <a:p>
            <a:r>
              <a:rPr lang="en-US" i="1" dirty="0"/>
              <a:t>Demographic dividend </a:t>
            </a:r>
          </a:p>
          <a:p>
            <a:r>
              <a:rPr lang="en-US" dirty="0"/>
              <a:t>COVID-19 &amp; unemployment </a:t>
            </a:r>
          </a:p>
          <a:p>
            <a:r>
              <a:rPr lang="en-US" dirty="0"/>
              <a:t>Profit making motive </a:t>
            </a:r>
          </a:p>
          <a:p>
            <a:r>
              <a:rPr lang="en-US" dirty="0"/>
              <a:t>Narcotics geopolitics</a:t>
            </a:r>
          </a:p>
          <a:p>
            <a:r>
              <a:rPr lang="en-US" dirty="0"/>
              <a:t>Lack of Cross-regional &amp; inter-state cooperation   </a:t>
            </a:r>
          </a:p>
          <a:p>
            <a:r>
              <a:rPr lang="en-US" dirty="0"/>
              <a:t>Illiteracy </a:t>
            </a:r>
          </a:p>
          <a:p>
            <a:r>
              <a:rPr lang="en-US" dirty="0"/>
              <a:t>Climate </a:t>
            </a:r>
          </a:p>
          <a:p>
            <a:r>
              <a:rPr lang="en-US" dirty="0"/>
              <a:t>Loose law &amp; order situation </a:t>
            </a:r>
          </a:p>
        </p:txBody>
      </p:sp>
    </p:spTree>
    <p:extLst>
      <p:ext uri="{BB962C8B-B14F-4D97-AF65-F5344CB8AC3E}">
        <p14:creationId xmlns:p14="http://schemas.microsoft.com/office/powerpoint/2010/main" val="15970344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166256"/>
            <a:ext cx="7617031" cy="807521"/>
          </a:xfrm>
        </p:spPr>
        <p:txBody>
          <a:bodyPr>
            <a:normAutofit/>
          </a:bodyPr>
          <a:lstStyle/>
          <a:p>
            <a:r>
              <a:rPr lang="en-US" dirty="0">
                <a:solidFill>
                  <a:srgbClr val="0070C0"/>
                </a:solidFill>
              </a:rPr>
              <a:t>What should be done ?</a:t>
            </a:r>
          </a:p>
        </p:txBody>
      </p:sp>
      <p:sp>
        <p:nvSpPr>
          <p:cNvPr id="3" name="Content Placeholder 2"/>
          <p:cNvSpPr>
            <a:spLocks noGrp="1"/>
          </p:cNvSpPr>
          <p:nvPr>
            <p:ph idx="1"/>
          </p:nvPr>
        </p:nvSpPr>
        <p:spPr>
          <a:xfrm>
            <a:off x="2790701" y="973777"/>
            <a:ext cx="8563098" cy="5474523"/>
          </a:xfrm>
        </p:spPr>
        <p:txBody>
          <a:bodyPr>
            <a:normAutofit lnSpcReduction="10000"/>
          </a:bodyPr>
          <a:lstStyle/>
          <a:p>
            <a:r>
              <a:rPr lang="en-US" dirty="0"/>
              <a:t>Demand reduction</a:t>
            </a:r>
          </a:p>
          <a:p>
            <a:r>
              <a:rPr lang="en-US" dirty="0"/>
              <a:t>Supply chain disruption  </a:t>
            </a:r>
          </a:p>
          <a:p>
            <a:r>
              <a:rPr lang="en-US" dirty="0"/>
              <a:t>Rehabilitation </a:t>
            </a:r>
          </a:p>
          <a:p>
            <a:r>
              <a:rPr lang="en-US" dirty="0"/>
              <a:t>Solving Rohingya Refugee crisis </a:t>
            </a:r>
          </a:p>
          <a:p>
            <a:r>
              <a:rPr lang="en-US" dirty="0"/>
              <a:t>Money laundering control &amp; Punishment </a:t>
            </a:r>
          </a:p>
          <a:p>
            <a:r>
              <a:rPr lang="en-US" dirty="0"/>
              <a:t>Border control </a:t>
            </a:r>
          </a:p>
          <a:p>
            <a:r>
              <a:rPr lang="en-US" dirty="0"/>
              <a:t>Jobs creation </a:t>
            </a:r>
          </a:p>
          <a:p>
            <a:r>
              <a:rPr lang="en-US" dirty="0"/>
              <a:t>Sustainable livelihoods framework  (SLF)  </a:t>
            </a:r>
          </a:p>
          <a:p>
            <a:r>
              <a:rPr lang="en-US" dirty="0"/>
              <a:t>Education &amp; Awareness building programs</a:t>
            </a:r>
          </a:p>
          <a:p>
            <a:r>
              <a:rPr lang="en-US" dirty="0"/>
              <a:t>Family bond &amp; values</a:t>
            </a:r>
          </a:p>
          <a:p>
            <a:r>
              <a:rPr lang="en-US" dirty="0"/>
              <a:t>Follow UN conventions  </a:t>
            </a:r>
          </a:p>
          <a:p>
            <a:endParaRPr lang="en-US" dirty="0"/>
          </a:p>
          <a:p>
            <a:endParaRPr lang="en-US" dirty="0"/>
          </a:p>
          <a:p>
            <a:endParaRPr lang="en-US" dirty="0"/>
          </a:p>
        </p:txBody>
      </p:sp>
    </p:spTree>
    <p:extLst>
      <p:ext uri="{BB962C8B-B14F-4D97-AF65-F5344CB8AC3E}">
        <p14:creationId xmlns:p14="http://schemas.microsoft.com/office/powerpoint/2010/main" val="20812445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D2A26C3-53DD-4F78-AC74-8A0F7FA589C8}"/>
              </a:ext>
            </a:extLst>
          </p:cNvPr>
          <p:cNvPicPr>
            <a:picLocks noGrp="1" noChangeAspect="1"/>
          </p:cNvPicPr>
          <p:nvPr>
            <p:ph idx="1"/>
          </p:nvPr>
        </p:nvPicPr>
        <p:blipFill>
          <a:blip r:embed="rId2"/>
          <a:stretch>
            <a:fillRect/>
          </a:stretch>
        </p:blipFill>
        <p:spPr>
          <a:xfrm>
            <a:off x="1294410" y="1353788"/>
            <a:ext cx="9464634" cy="4690752"/>
          </a:xfrm>
          <a:prstGeom prst="rect">
            <a:avLst/>
          </a:prstGeom>
        </p:spPr>
      </p:pic>
    </p:spTree>
    <p:extLst>
      <p:ext uri="{BB962C8B-B14F-4D97-AF65-F5344CB8AC3E}">
        <p14:creationId xmlns:p14="http://schemas.microsoft.com/office/powerpoint/2010/main" val="22653798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7468" y="172278"/>
            <a:ext cx="6649155" cy="954157"/>
          </a:xfrm>
        </p:spPr>
        <p:txBody>
          <a:bodyPr>
            <a:normAutofit/>
          </a:bodyPr>
          <a:lstStyle/>
          <a:p>
            <a:r>
              <a:rPr lang="en-US" dirty="0">
                <a:solidFill>
                  <a:srgbClr val="FF0000"/>
                </a:solidFill>
              </a:rPr>
              <a:t>References:</a:t>
            </a:r>
            <a:r>
              <a:rPr lang="en-US" dirty="0"/>
              <a:t>		 </a:t>
            </a:r>
          </a:p>
        </p:txBody>
      </p:sp>
      <p:pic>
        <p:nvPicPr>
          <p:cNvPr id="4" name="Content Placeholder 3"/>
          <p:cNvPicPr>
            <a:picLocks noGrp="1" noChangeAspect="1"/>
          </p:cNvPicPr>
          <p:nvPr>
            <p:ph idx="1"/>
          </p:nvPr>
        </p:nvPicPr>
        <p:blipFill>
          <a:blip r:embed="rId2"/>
          <a:stretch>
            <a:fillRect/>
          </a:stretch>
        </p:blipFill>
        <p:spPr>
          <a:xfrm>
            <a:off x="1395830" y="1393432"/>
            <a:ext cx="2844866" cy="4351338"/>
          </a:xfrm>
          <a:prstGeom prst="rect">
            <a:avLst/>
          </a:prstGeom>
        </p:spPr>
      </p:pic>
      <p:pic>
        <p:nvPicPr>
          <p:cNvPr id="5" name="Picture 4"/>
          <p:cNvPicPr>
            <a:picLocks noChangeAspect="1"/>
          </p:cNvPicPr>
          <p:nvPr/>
        </p:nvPicPr>
        <p:blipFill>
          <a:blip r:embed="rId3"/>
          <a:stretch>
            <a:fillRect/>
          </a:stretch>
        </p:blipFill>
        <p:spPr>
          <a:xfrm>
            <a:off x="4644825" y="1513535"/>
            <a:ext cx="3008119" cy="4287506"/>
          </a:xfrm>
          <a:prstGeom prst="rect">
            <a:avLst/>
          </a:prstGeom>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1424" y="1468045"/>
            <a:ext cx="3124200" cy="427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57326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09530" y="1219200"/>
            <a:ext cx="7735659" cy="4957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52934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39687" y="609600"/>
            <a:ext cx="4515951" cy="5514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5756" y="715617"/>
            <a:ext cx="5565914" cy="5627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107497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1433</TotalTime>
  <Words>922</Words>
  <Application>Microsoft Office PowerPoint</Application>
  <PresentationFormat>Widescreen</PresentationFormat>
  <Paragraphs>70</Paragraphs>
  <Slides>32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AdvOT1ef757c0</vt:lpstr>
      <vt:lpstr>Arial</vt:lpstr>
      <vt:lpstr>Calibri</vt:lpstr>
      <vt:lpstr>Calibri Light</vt:lpstr>
      <vt:lpstr>Sitka Banner</vt:lpstr>
      <vt:lpstr>Wingdings</vt:lpstr>
      <vt:lpstr>Office Theme</vt:lpstr>
      <vt:lpstr>PowerPoint Presentation</vt:lpstr>
      <vt:lpstr> Welcome  Colonial Drug Trade in Bengal &amp;  South Asia  By       Dr. Saleh Md. Shahriar  Assistant Professor (Full-Time) Initial: SAMS DHP, NSU </vt:lpstr>
      <vt:lpstr> </vt:lpstr>
      <vt:lpstr>  1. The Golden Triangle:  Eastern part of Myanmar’s Shan state, areas of northern Thailand and northern Laos, bordering southwest China  2. The Golden Crescent:  consists of northeastern and southern Afghanistan, NWFP of Pakistan and Shistan Baluchistan of Iran.  3. The Golden Wedge :consists of northern India (Himachal Pradesh, Uttar Pradesh &amp; Arunachal Pradesh), parts of Nepal and Bhutan</vt:lpstr>
      <vt:lpstr>PowerPoint Presentation</vt:lpstr>
      <vt:lpstr>PowerPoint Presentation</vt:lpstr>
      <vt:lpstr>PowerPoint Presentation</vt:lpstr>
      <vt:lpstr>1. Through the dealings of the British East India Company, opium, traditionally used medicinally, became a non-medicinal business commodity during the late eighteenth and throughout the nineteenth centuries.   2. For capital formation, as well as to run the administration, the colonial government in India continued the supply of opium to China throughout the nineteenth century.             </vt:lpstr>
      <vt:lpstr>PowerPoint Presentation</vt:lpstr>
      <vt:lpstr>PowerPoint Presentation</vt:lpstr>
      <vt:lpstr>People in the famine stricken Bengal in 1770 after their paddy fields were converted by the BEIC for poppy cultivation </vt:lpstr>
      <vt:lpstr>PowerPoint Presentation</vt:lpstr>
      <vt:lpstr>The process of monopoly opium in colonial India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should be done ?</vt:lpstr>
      <vt:lpstr>PowerPoint Presentation</vt:lpstr>
      <vt:lpstr>References: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489</cp:revision>
  <dcterms:created xsi:type="dcterms:W3CDTF">2020-11-01T13:46:43Z</dcterms:created>
  <dcterms:modified xsi:type="dcterms:W3CDTF">2023-07-26T01:36:34Z</dcterms:modified>
</cp:coreProperties>
</file>