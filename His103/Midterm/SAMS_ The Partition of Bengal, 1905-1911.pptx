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sldIdLst>
    <p:sldId id="256" r:id="rId2"/>
    <p:sldId id="257" r:id="rId3"/>
    <p:sldId id="273" r:id="rId4"/>
    <p:sldId id="314" r:id="rId5"/>
    <p:sldId id="272" r:id="rId6"/>
    <p:sldId id="262" r:id="rId7"/>
    <p:sldId id="260" r:id="rId8"/>
    <p:sldId id="311" r:id="rId9"/>
    <p:sldId id="261" r:id="rId10"/>
    <p:sldId id="278" r:id="rId11"/>
    <p:sldId id="306" r:id="rId12"/>
    <p:sldId id="279" r:id="rId13"/>
    <p:sldId id="281" r:id="rId14"/>
    <p:sldId id="282" r:id="rId15"/>
    <p:sldId id="283" r:id="rId16"/>
    <p:sldId id="307" r:id="rId17"/>
    <p:sldId id="308" r:id="rId18"/>
    <p:sldId id="303" r:id="rId19"/>
    <p:sldId id="297" r:id="rId20"/>
    <p:sldId id="309" r:id="rId21"/>
    <p:sldId id="263" r:id="rId22"/>
    <p:sldId id="289" r:id="rId23"/>
    <p:sldId id="305" r:id="rId24"/>
    <p:sldId id="291" r:id="rId25"/>
    <p:sldId id="293" r:id="rId26"/>
    <p:sldId id="275" r:id="rId27"/>
    <p:sldId id="264" r:id="rId28"/>
    <p:sldId id="267" r:id="rId29"/>
    <p:sldId id="292" r:id="rId30"/>
    <p:sldId id="265" r:id="rId31"/>
    <p:sldId id="266" r:id="rId32"/>
    <p:sldId id="268" r:id="rId33"/>
    <p:sldId id="3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CAC18BB-7653-4200-A74E-84CD7F814F1A}"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3693356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AC18BB-7653-4200-A74E-84CD7F814F1A}"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3664478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AC18BB-7653-4200-A74E-84CD7F814F1A}"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1296202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CAC18BB-7653-4200-A74E-84CD7F814F1A}" type="datetimeFigureOut">
              <a:rPr lang="en-US" smtClean="0"/>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2041692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AC18BB-7653-4200-A74E-84CD7F814F1A}" type="datetimeFigureOut">
              <a:rPr lang="en-US" smtClean="0"/>
              <a:t>3/5/2024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539219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AC18BB-7653-4200-A74E-84CD7F814F1A}" type="datetimeFigureOut">
              <a:rPr lang="en-US" smtClean="0"/>
              <a:t>3/5/2024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934002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AC18BB-7653-4200-A74E-84CD7F814F1A}" type="datetimeFigureOut">
              <a:rPr lang="en-US" smtClean="0"/>
              <a:t>3/5/2024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1751983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AC18BB-7653-4200-A74E-84CD7F814F1A}" type="datetimeFigureOut">
              <a:rPr lang="en-US" smtClean="0"/>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757432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AC18BB-7653-4200-A74E-84CD7F814F1A}" type="datetimeFigureOut">
              <a:rPr lang="en-US" smtClean="0"/>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1447551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AC18BB-7653-4200-A74E-84CD7F814F1A}"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339944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AC18BB-7653-4200-A74E-84CD7F814F1A}"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ED0419-B8CD-4B04-9C54-33ACACFCCAC9}" type="slidenum">
              <a:rPr lang="en-US" smtClean="0"/>
              <a:t>‹#›</a:t>
            </a:fld>
            <a:endParaRPr lang="en-US"/>
          </a:p>
        </p:txBody>
      </p:sp>
    </p:spTree>
    <p:extLst>
      <p:ext uri="{BB962C8B-B14F-4D97-AF65-F5344CB8AC3E}">
        <p14:creationId xmlns:p14="http://schemas.microsoft.com/office/powerpoint/2010/main" val="1656540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AC18BB-7653-4200-A74E-84CD7F814F1A}" type="datetimeFigureOut">
              <a:rPr lang="en-US" smtClean="0"/>
              <a:t>3/5/2024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D0419-B8CD-4B04-9C54-33ACACFCCAC9}" type="slidenum">
              <a:rPr lang="en-US" smtClean="0"/>
              <a:t>‹#›</a:t>
            </a:fld>
            <a:endParaRPr lang="en-US"/>
          </a:p>
        </p:txBody>
      </p:sp>
    </p:spTree>
    <p:extLst>
      <p:ext uri="{BB962C8B-B14F-4D97-AF65-F5344CB8AC3E}">
        <p14:creationId xmlns:p14="http://schemas.microsoft.com/office/powerpoint/2010/main" val="967646056"/>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1235" y="2231404"/>
            <a:ext cx="9051236" cy="3506788"/>
          </a:xfrm>
        </p:spPr>
        <p:txBody>
          <a:bodyPr anchor="ctr">
            <a:normAutofit/>
          </a:bodyPr>
          <a:lstStyle/>
          <a:p>
            <a:r>
              <a:rPr lang="en-US" sz="4000" b="1" dirty="0"/>
              <a:t>The Partition of Bengal , 1905-1911</a:t>
            </a:r>
            <a:br>
              <a:rPr lang="en-US" sz="4000" b="1" dirty="0"/>
            </a:br>
            <a:br>
              <a:rPr lang="en-US" sz="4000" b="1" dirty="0"/>
            </a:br>
            <a:r>
              <a:rPr lang="en-US" sz="4000" b="1" dirty="0">
                <a:solidFill>
                  <a:srgbClr val="FF0000"/>
                </a:solidFill>
              </a:rPr>
              <a:t>Dr. Saleh Shahriar </a:t>
            </a:r>
            <a:br>
              <a:rPr lang="en-US" sz="4000" b="1" dirty="0">
                <a:solidFill>
                  <a:srgbClr val="FF0000"/>
                </a:solidFill>
              </a:rPr>
            </a:br>
            <a:r>
              <a:rPr lang="en-US" sz="4000" b="1" dirty="0">
                <a:solidFill>
                  <a:srgbClr val="FF0000"/>
                </a:solidFill>
              </a:rPr>
              <a:t>NSU</a:t>
            </a:r>
          </a:p>
        </p:txBody>
      </p:sp>
    </p:spTree>
    <p:extLst>
      <p:ext uri="{BB962C8B-B14F-4D97-AF65-F5344CB8AC3E}">
        <p14:creationId xmlns:p14="http://schemas.microsoft.com/office/powerpoint/2010/main" val="3495456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737" y="165218"/>
            <a:ext cx="9239818" cy="903727"/>
          </a:xfrm>
        </p:spPr>
        <p:txBody>
          <a:bodyPr/>
          <a:lstStyle/>
          <a:p>
            <a:r>
              <a:rPr lang="en-US" dirty="0"/>
              <a:t>Historical Background: </a:t>
            </a:r>
          </a:p>
        </p:txBody>
      </p:sp>
      <p:sp>
        <p:nvSpPr>
          <p:cNvPr id="3" name="Content Placeholder 2"/>
          <p:cNvSpPr>
            <a:spLocks noGrp="1"/>
          </p:cNvSpPr>
          <p:nvPr>
            <p:ph idx="1"/>
          </p:nvPr>
        </p:nvSpPr>
        <p:spPr>
          <a:xfrm>
            <a:off x="675861" y="1262131"/>
            <a:ext cx="9753600" cy="2700270"/>
          </a:xfrm>
        </p:spPr>
        <p:txBody>
          <a:bodyPr>
            <a:normAutofit/>
          </a:bodyPr>
          <a:lstStyle/>
          <a:p>
            <a:endParaRPr lang="en-US" dirty="0"/>
          </a:p>
          <a:p>
            <a:pPr algn="just"/>
            <a:r>
              <a:rPr lang="en-US" dirty="0"/>
              <a:t>Bengal’s socio-economic configurations provided a crucial structural condition in which the </a:t>
            </a:r>
            <a:r>
              <a:rPr lang="en-US" dirty="0">
                <a:solidFill>
                  <a:srgbClr val="FF0000"/>
                </a:solidFill>
              </a:rPr>
              <a:t>Hindu–Muslim relations </a:t>
            </a:r>
            <a:r>
              <a:rPr lang="en-US" dirty="0"/>
              <a:t>were articulated. The fact that the peasantry in east Bengal was </a:t>
            </a:r>
            <a:r>
              <a:rPr lang="en-US" dirty="0">
                <a:solidFill>
                  <a:srgbClr val="FF0000"/>
                </a:solidFill>
              </a:rPr>
              <a:t>predominantly Muslim </a:t>
            </a:r>
            <a:r>
              <a:rPr lang="en-US" dirty="0"/>
              <a:t>and </a:t>
            </a:r>
            <a:r>
              <a:rPr lang="en-US" dirty="0">
                <a:solidFill>
                  <a:srgbClr val="FF0000"/>
                </a:solidFill>
              </a:rPr>
              <a:t>landlords largely Hindu</a:t>
            </a:r>
            <a:r>
              <a:rPr lang="en-US" dirty="0"/>
              <a:t> remained important in organizing </a:t>
            </a:r>
            <a:r>
              <a:rPr lang="en-US" dirty="0">
                <a:solidFill>
                  <a:srgbClr val="FF0000"/>
                </a:solidFill>
              </a:rPr>
              <a:t>one community against another</a:t>
            </a:r>
            <a:r>
              <a:rPr lang="en-US" dirty="0"/>
              <a:t>. </a:t>
            </a:r>
          </a:p>
        </p:txBody>
      </p:sp>
    </p:spTree>
    <p:extLst>
      <p:ext uri="{BB962C8B-B14F-4D97-AF65-F5344CB8AC3E}">
        <p14:creationId xmlns:p14="http://schemas.microsoft.com/office/powerpoint/2010/main" val="1900378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3" y="437883"/>
            <a:ext cx="10810621" cy="6220494"/>
          </a:xfrm>
        </p:spPr>
        <p:txBody>
          <a:bodyPr>
            <a:normAutofit/>
          </a:bodyPr>
          <a:lstStyle/>
          <a:p>
            <a:pPr algn="just"/>
            <a:r>
              <a:rPr lang="en-US" dirty="0"/>
              <a:t>The permanent settlement of 1793</a:t>
            </a:r>
          </a:p>
          <a:p>
            <a:pPr algn="just"/>
            <a:r>
              <a:rPr lang="en-US" dirty="0"/>
              <a:t>The Revolt of 1857</a:t>
            </a:r>
          </a:p>
          <a:p>
            <a:pPr algn="just"/>
            <a:r>
              <a:rPr lang="en-US" dirty="0"/>
              <a:t>Formation of the Indian National Congress (1885)</a:t>
            </a:r>
          </a:p>
          <a:p>
            <a:pPr algn="just"/>
            <a:r>
              <a:rPr lang="en-US" dirty="0"/>
              <a:t>Aligarh Movement led by Sir Syed Ahmed Khan</a:t>
            </a:r>
          </a:p>
          <a:p>
            <a:pPr algn="just"/>
            <a:r>
              <a:rPr lang="en-US" dirty="0"/>
              <a:t>Toward the end of the 19</a:t>
            </a:r>
            <a:r>
              <a:rPr lang="en-US" baseline="30000" dirty="0"/>
              <a:t>th</a:t>
            </a:r>
            <a:r>
              <a:rPr lang="en-US" dirty="0"/>
              <a:t> century, there was an emergence of a  </a:t>
            </a:r>
            <a:r>
              <a:rPr lang="en-US" dirty="0">
                <a:solidFill>
                  <a:srgbClr val="FF0000"/>
                </a:solidFill>
              </a:rPr>
              <a:t>Hindu Revivalist Movement</a:t>
            </a:r>
            <a:r>
              <a:rPr lang="en-US" dirty="0"/>
              <a:t> under Swami Vivekananda, </a:t>
            </a:r>
            <a:r>
              <a:rPr lang="en-US" dirty="0" err="1"/>
              <a:t>Bankim</a:t>
            </a:r>
            <a:r>
              <a:rPr lang="en-US" dirty="0"/>
              <a:t> Chandra </a:t>
            </a:r>
            <a:r>
              <a:rPr lang="en-US" dirty="0" err="1"/>
              <a:t>Chatterji</a:t>
            </a:r>
            <a:r>
              <a:rPr lang="en-US" dirty="0"/>
              <a:t> (</a:t>
            </a:r>
            <a:r>
              <a:rPr lang="en-US" i="1" dirty="0" err="1"/>
              <a:t>Anandomath</a:t>
            </a:r>
            <a:r>
              <a:rPr lang="en-US" dirty="0"/>
              <a:t> novel published in 1882 </a:t>
            </a:r>
            <a:r>
              <a:rPr lang="en-US" i="1" dirty="0"/>
              <a:t>&amp;  </a:t>
            </a:r>
            <a:r>
              <a:rPr lang="en-US" i="1" dirty="0" err="1"/>
              <a:t>Bande</a:t>
            </a:r>
            <a:r>
              <a:rPr lang="en-US" i="1" dirty="0"/>
              <a:t> </a:t>
            </a:r>
            <a:r>
              <a:rPr lang="en-US" i="1" dirty="0" err="1"/>
              <a:t>Matharam</a:t>
            </a:r>
            <a:r>
              <a:rPr lang="en-US" i="1" dirty="0"/>
              <a:t> </a:t>
            </a:r>
            <a:r>
              <a:rPr lang="en-US" dirty="0"/>
              <a:t>song in the novel ) and </a:t>
            </a:r>
            <a:r>
              <a:rPr lang="en-US" dirty="0" err="1"/>
              <a:t>Bal</a:t>
            </a:r>
            <a:r>
              <a:rPr lang="en-US" dirty="0"/>
              <a:t> </a:t>
            </a:r>
            <a:r>
              <a:rPr lang="en-US" dirty="0" err="1"/>
              <a:t>Gangadhar</a:t>
            </a:r>
            <a:r>
              <a:rPr lang="en-US" dirty="0"/>
              <a:t> </a:t>
            </a:r>
            <a:r>
              <a:rPr lang="en-US" dirty="0" err="1"/>
              <a:t>Tilak</a:t>
            </a:r>
            <a:r>
              <a:rPr lang="en-US" dirty="0"/>
              <a:t> from </a:t>
            </a:r>
            <a:r>
              <a:rPr lang="en-US" dirty="0" err="1"/>
              <a:t>Maharastra</a:t>
            </a:r>
            <a:r>
              <a:rPr lang="en-US" dirty="0"/>
              <a:t>. </a:t>
            </a:r>
            <a:r>
              <a:rPr lang="en-US" dirty="0" err="1"/>
              <a:t>Tilak</a:t>
            </a:r>
            <a:r>
              <a:rPr lang="en-US" dirty="0"/>
              <a:t> published a newspaper: </a:t>
            </a:r>
            <a:r>
              <a:rPr lang="en-US" i="1" dirty="0" err="1"/>
              <a:t>Kesari</a:t>
            </a:r>
            <a:r>
              <a:rPr lang="en-US" i="1" dirty="0"/>
              <a:t>. </a:t>
            </a:r>
            <a:r>
              <a:rPr lang="en-US" dirty="0"/>
              <a:t>In his  newspaper, </a:t>
            </a:r>
            <a:r>
              <a:rPr lang="en-US" dirty="0" err="1"/>
              <a:t>Tilak</a:t>
            </a:r>
            <a:r>
              <a:rPr lang="en-US" dirty="0"/>
              <a:t> was writing fiery articles propagating the </a:t>
            </a:r>
            <a:r>
              <a:rPr lang="en-US" dirty="0">
                <a:solidFill>
                  <a:srgbClr val="FF0000"/>
                </a:solidFill>
              </a:rPr>
              <a:t>supremacy</a:t>
            </a:r>
            <a:r>
              <a:rPr lang="en-US" dirty="0"/>
              <a:t> of the Hindu Brahmin. </a:t>
            </a:r>
          </a:p>
          <a:p>
            <a:pPr algn="just"/>
            <a:r>
              <a:rPr lang="en-US" dirty="0"/>
              <a:t>The Hindu Revivalist Movement was perhaps more anti-Muslim than anti-British (For details see, K.B. </a:t>
            </a:r>
            <a:r>
              <a:rPr lang="en-US" dirty="0" err="1"/>
              <a:t>Sayeed</a:t>
            </a:r>
            <a:r>
              <a:rPr lang="en-US" dirty="0"/>
              <a:t>, </a:t>
            </a:r>
            <a:r>
              <a:rPr lang="en-US" i="1" dirty="0"/>
              <a:t>Pakistan: The Formative Phase</a:t>
            </a:r>
            <a:r>
              <a:rPr lang="en-US" dirty="0"/>
              <a:t>, Oxford, p.21). Sri </a:t>
            </a:r>
            <a:r>
              <a:rPr lang="en-US" dirty="0" err="1"/>
              <a:t>Aurobindo</a:t>
            </a:r>
            <a:r>
              <a:rPr lang="en-US" dirty="0"/>
              <a:t> had begun the practice of Yoga in 1905.</a:t>
            </a:r>
          </a:p>
          <a:p>
            <a:pPr algn="just"/>
            <a:endParaRPr lang="en-US" dirty="0"/>
          </a:p>
          <a:p>
            <a:pPr marL="0" indent="0" algn="just">
              <a:buNone/>
            </a:pPr>
            <a:endParaRPr lang="en-US" dirty="0"/>
          </a:p>
        </p:txBody>
      </p:sp>
    </p:spTree>
    <p:extLst>
      <p:ext uri="{BB962C8B-B14F-4D97-AF65-F5344CB8AC3E}">
        <p14:creationId xmlns:p14="http://schemas.microsoft.com/office/powerpoint/2010/main" val="1845647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3032" y="386366"/>
            <a:ext cx="5344731" cy="4932609"/>
          </a:xfrm>
          <a:prstGeom prst="rect">
            <a:avLst/>
          </a:prstGeom>
        </p:spPr>
      </p:pic>
      <p:pic>
        <p:nvPicPr>
          <p:cNvPr id="2" name="Picture 1"/>
          <p:cNvPicPr>
            <a:picLocks noChangeAspect="1"/>
          </p:cNvPicPr>
          <p:nvPr/>
        </p:nvPicPr>
        <p:blipFill>
          <a:blip r:embed="rId3"/>
          <a:stretch>
            <a:fillRect/>
          </a:stretch>
        </p:blipFill>
        <p:spPr>
          <a:xfrm>
            <a:off x="6065949" y="386366"/>
            <a:ext cx="4391696" cy="4932609"/>
          </a:xfrm>
          <a:prstGeom prst="rect">
            <a:avLst/>
          </a:prstGeom>
        </p:spPr>
      </p:pic>
    </p:spTree>
    <p:extLst>
      <p:ext uri="{BB962C8B-B14F-4D97-AF65-F5344CB8AC3E}">
        <p14:creationId xmlns:p14="http://schemas.microsoft.com/office/powerpoint/2010/main" val="1188967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5307"/>
            <a:ext cx="10515600" cy="5383369"/>
          </a:xfrm>
        </p:spPr>
        <p:txBody>
          <a:bodyPr/>
          <a:lstStyle/>
          <a:p>
            <a:pPr algn="just"/>
            <a:r>
              <a:rPr lang="en-US" dirty="0"/>
              <a:t>April 1902, Lord </a:t>
            </a:r>
            <a:r>
              <a:rPr lang="en-US" dirty="0" err="1"/>
              <a:t>Carzon</a:t>
            </a:r>
            <a:r>
              <a:rPr lang="en-US" dirty="0"/>
              <a:t> wrote to the Secretary of State regarding the question of provincial boundary. In his opinion Bengal was an area of nearly 200,000 squares miles with a population of 78.5 million, was </a:t>
            </a:r>
            <a:r>
              <a:rPr lang="en-US" dirty="0">
                <a:solidFill>
                  <a:srgbClr val="FF0000"/>
                </a:solidFill>
              </a:rPr>
              <a:t>too large a charge for a single man</a:t>
            </a:r>
            <a:r>
              <a:rPr lang="en-US" dirty="0"/>
              <a:t>. He also pointed out that  the district of East Bengal had been neglected and the neighboring province of Assam was too small for efficient administration. </a:t>
            </a:r>
          </a:p>
          <a:p>
            <a:endParaRPr lang="en-US" dirty="0"/>
          </a:p>
        </p:txBody>
      </p:sp>
      <p:pic>
        <p:nvPicPr>
          <p:cNvPr id="2" name="Picture 1"/>
          <p:cNvPicPr>
            <a:picLocks noChangeAspect="1"/>
          </p:cNvPicPr>
          <p:nvPr/>
        </p:nvPicPr>
        <p:blipFill>
          <a:blip r:embed="rId2"/>
          <a:stretch>
            <a:fillRect/>
          </a:stretch>
        </p:blipFill>
        <p:spPr>
          <a:xfrm>
            <a:off x="4878880" y="3160824"/>
            <a:ext cx="2681019" cy="3524250"/>
          </a:xfrm>
          <a:prstGeom prst="rect">
            <a:avLst/>
          </a:prstGeom>
        </p:spPr>
      </p:pic>
    </p:spTree>
    <p:extLst>
      <p:ext uri="{BB962C8B-B14F-4D97-AF65-F5344CB8AC3E}">
        <p14:creationId xmlns:p14="http://schemas.microsoft.com/office/powerpoint/2010/main" val="3385428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3" y="605307"/>
            <a:ext cx="10694711" cy="5436055"/>
          </a:xfrm>
        </p:spPr>
        <p:txBody>
          <a:bodyPr>
            <a:normAutofit/>
          </a:bodyPr>
          <a:lstStyle/>
          <a:p>
            <a:pPr algn="just">
              <a:buFont typeface="Wingdings" panose="05000000000000000000" pitchFamily="2" charset="2"/>
              <a:buChar char="Ø"/>
            </a:pPr>
            <a:r>
              <a:rPr lang="en-US" dirty="0"/>
              <a:t>In 1905 the British divided the </a:t>
            </a:r>
            <a:r>
              <a:rPr lang="en-US" dirty="0">
                <a:solidFill>
                  <a:srgbClr val="FF0000"/>
                </a:solidFill>
              </a:rPr>
              <a:t>huge province of Bengal </a:t>
            </a:r>
            <a:r>
              <a:rPr lang="en-US" dirty="0"/>
              <a:t>into a western part (‘Bengal’) and an eastern part </a:t>
            </a:r>
            <a:r>
              <a:rPr lang="en-US" dirty="0">
                <a:solidFill>
                  <a:srgbClr val="FF0000"/>
                </a:solidFill>
              </a:rPr>
              <a:t>(‘Eastern Bengal and Assam</a:t>
            </a:r>
            <a:r>
              <a:rPr lang="en-US" dirty="0"/>
              <a:t>’). See </a:t>
            </a:r>
            <a:r>
              <a:rPr lang="en-US" dirty="0">
                <a:solidFill>
                  <a:schemeClr val="tx1"/>
                </a:solidFill>
              </a:rPr>
              <a:t> Map in the next slide.</a:t>
            </a:r>
          </a:p>
          <a:p>
            <a:pPr marL="0" indent="0" algn="just">
              <a:buNone/>
            </a:pPr>
            <a:endParaRPr lang="en-US" dirty="0"/>
          </a:p>
          <a:p>
            <a:pPr marL="0" indent="0" algn="just">
              <a:buNone/>
            </a:pPr>
            <a:endParaRPr lang="en-US" dirty="0">
              <a:solidFill>
                <a:schemeClr val="tx1"/>
              </a:solidFill>
            </a:endParaRPr>
          </a:p>
          <a:p>
            <a:pPr>
              <a:buFont typeface="Wingdings" panose="05000000000000000000" pitchFamily="2" charset="2"/>
              <a:buChar char="Ø"/>
            </a:pPr>
            <a:r>
              <a:rPr lang="en-US" dirty="0"/>
              <a:t>The British government promised that :</a:t>
            </a:r>
          </a:p>
          <a:p>
            <a:pPr marL="0" indent="0">
              <a:buNone/>
            </a:pPr>
            <a:endParaRPr lang="en-US" dirty="0"/>
          </a:p>
          <a:p>
            <a:pPr marL="0" indent="0">
              <a:buNone/>
            </a:pPr>
            <a:r>
              <a:rPr lang="en-US" dirty="0"/>
              <a:t>“</a:t>
            </a:r>
            <a:r>
              <a:rPr lang="en-US" dirty="0">
                <a:solidFill>
                  <a:srgbClr val="008000"/>
                </a:solidFill>
              </a:rPr>
              <a:t>The partition of Bengal is </a:t>
            </a:r>
            <a:r>
              <a:rPr lang="en-US" sz="4400" i="1" dirty="0">
                <a:solidFill>
                  <a:srgbClr val="002060"/>
                </a:solidFill>
              </a:rPr>
              <a:t>a </a:t>
            </a:r>
            <a:r>
              <a:rPr lang="en-US" sz="4400" i="1" dirty="0">
                <a:solidFill>
                  <a:srgbClr val="FF0000"/>
                </a:solidFill>
              </a:rPr>
              <a:t>settled fact </a:t>
            </a:r>
            <a:r>
              <a:rPr lang="en-US" dirty="0"/>
              <a:t>and it can by no means be </a:t>
            </a:r>
            <a:r>
              <a:rPr lang="en-US" sz="4400" i="1" dirty="0">
                <a:solidFill>
                  <a:srgbClr val="FF0000"/>
                </a:solidFill>
              </a:rPr>
              <a:t>unsettled</a:t>
            </a:r>
            <a:r>
              <a:rPr lang="en-US" dirty="0"/>
              <a:t>.” </a:t>
            </a:r>
          </a:p>
          <a:p>
            <a:pPr algn="just"/>
            <a:endParaRPr lang="en-US" dirty="0">
              <a:solidFill>
                <a:schemeClr val="tx1"/>
              </a:solidFill>
            </a:endParaRPr>
          </a:p>
        </p:txBody>
      </p:sp>
    </p:spTree>
    <p:extLst>
      <p:ext uri="{BB962C8B-B14F-4D97-AF65-F5344CB8AC3E}">
        <p14:creationId xmlns:p14="http://schemas.microsoft.com/office/powerpoint/2010/main" val="2755913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733" y="115910"/>
            <a:ext cx="11789104" cy="1285600"/>
          </a:xfrm>
        </p:spPr>
        <p:txBody>
          <a:bodyPr>
            <a:normAutofit fontScale="90000"/>
          </a:bodyPr>
          <a:lstStyle/>
          <a:p>
            <a:r>
              <a:rPr lang="en-US" i="1" dirty="0">
                <a:solidFill>
                  <a:srgbClr val="FF0000"/>
                </a:solidFill>
              </a:rPr>
              <a:t>Eastern Bengal and Assam</a:t>
            </a:r>
            <a:r>
              <a:rPr lang="en-US" dirty="0"/>
              <a:t>: Creation of a New Province </a:t>
            </a:r>
          </a:p>
        </p:txBody>
      </p:sp>
      <p:pic>
        <p:nvPicPr>
          <p:cNvPr id="4" name="Content Placeholder 3"/>
          <p:cNvPicPr>
            <a:picLocks noGrp="1" noChangeAspect="1"/>
          </p:cNvPicPr>
          <p:nvPr>
            <p:ph idx="1"/>
          </p:nvPr>
        </p:nvPicPr>
        <p:blipFill rotWithShape="1">
          <a:blip r:embed="rId2"/>
          <a:srcRect l="3159" t="1745" b="1945"/>
          <a:stretch/>
        </p:blipFill>
        <p:spPr>
          <a:xfrm>
            <a:off x="2408349" y="1493949"/>
            <a:ext cx="5975796" cy="5100034"/>
          </a:xfrm>
          <a:prstGeom prst="rect">
            <a:avLst/>
          </a:prstGeom>
        </p:spPr>
      </p:pic>
    </p:spTree>
    <p:extLst>
      <p:ext uri="{BB962C8B-B14F-4D97-AF65-F5344CB8AC3E}">
        <p14:creationId xmlns:p14="http://schemas.microsoft.com/office/powerpoint/2010/main" val="2040278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7870E7-3385-4FC4-86EF-FF2B83C78D1A}"/>
              </a:ext>
            </a:extLst>
          </p:cNvPr>
          <p:cNvSpPr>
            <a:spLocks noGrp="1"/>
          </p:cNvSpPr>
          <p:nvPr>
            <p:ph type="title"/>
          </p:nvPr>
        </p:nvSpPr>
        <p:spPr>
          <a:xfrm>
            <a:off x="838200" y="365126"/>
            <a:ext cx="10515600" cy="946840"/>
          </a:xfrm>
        </p:spPr>
        <p:txBody>
          <a:bodyPr/>
          <a:lstStyle/>
          <a:p>
            <a:r>
              <a:rPr lang="en-US" dirty="0"/>
              <a:t>Why?</a:t>
            </a:r>
          </a:p>
        </p:txBody>
      </p:sp>
      <p:sp>
        <p:nvSpPr>
          <p:cNvPr id="3" name="Content Placeholder 2"/>
          <p:cNvSpPr>
            <a:spLocks noGrp="1"/>
          </p:cNvSpPr>
          <p:nvPr>
            <p:ph idx="1"/>
          </p:nvPr>
        </p:nvSpPr>
        <p:spPr>
          <a:xfrm>
            <a:off x="2305878" y="1825624"/>
            <a:ext cx="9047922" cy="4296879"/>
          </a:xfrm>
        </p:spPr>
        <p:txBody>
          <a:bodyPr/>
          <a:lstStyle/>
          <a:p>
            <a:r>
              <a:rPr lang="en-US" dirty="0"/>
              <a:t>Administrative reasons/causes  </a:t>
            </a:r>
          </a:p>
          <a:p>
            <a:r>
              <a:rPr lang="en-US" dirty="0"/>
              <a:t> ‘Divide and Rule’ Policy</a:t>
            </a:r>
          </a:p>
          <a:p>
            <a:r>
              <a:rPr lang="en-US" dirty="0"/>
              <a:t>Economic reasons </a:t>
            </a:r>
          </a:p>
          <a:p>
            <a:r>
              <a:rPr lang="en-US" dirty="0"/>
              <a:t>Cultural reasons</a:t>
            </a:r>
          </a:p>
          <a:p>
            <a:r>
              <a:rPr lang="en-US" dirty="0"/>
              <a:t>Social reasons</a:t>
            </a:r>
          </a:p>
          <a:p>
            <a:r>
              <a:rPr lang="en-US" dirty="0"/>
              <a:t>Global colonial environment </a:t>
            </a:r>
          </a:p>
          <a:p>
            <a:r>
              <a:rPr lang="en-US" dirty="0"/>
              <a:t>Internal-External factors </a:t>
            </a:r>
          </a:p>
        </p:txBody>
      </p:sp>
    </p:spTree>
    <p:extLst>
      <p:ext uri="{BB962C8B-B14F-4D97-AF65-F5344CB8AC3E}">
        <p14:creationId xmlns:p14="http://schemas.microsoft.com/office/powerpoint/2010/main" val="255040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851" y="365125"/>
            <a:ext cx="11018949" cy="639427"/>
          </a:xfrm>
        </p:spPr>
        <p:txBody>
          <a:bodyPr>
            <a:normAutofit fontScale="90000"/>
          </a:bodyPr>
          <a:lstStyle/>
          <a:p>
            <a:r>
              <a:rPr lang="en-US" dirty="0">
                <a:solidFill>
                  <a:srgbClr val="FF0000"/>
                </a:solidFill>
              </a:rPr>
              <a:t>Mixed Reactions</a:t>
            </a:r>
            <a:r>
              <a:rPr lang="en-US" dirty="0">
                <a:solidFill>
                  <a:srgbClr val="002060"/>
                </a:solidFill>
              </a:rPr>
              <a:t>:</a:t>
            </a:r>
          </a:p>
        </p:txBody>
      </p:sp>
      <p:sp>
        <p:nvSpPr>
          <p:cNvPr id="3" name="Content Placeholder 2"/>
          <p:cNvSpPr>
            <a:spLocks noGrp="1"/>
          </p:cNvSpPr>
          <p:nvPr>
            <p:ph idx="1"/>
          </p:nvPr>
        </p:nvSpPr>
        <p:spPr>
          <a:xfrm>
            <a:off x="1205948" y="1004552"/>
            <a:ext cx="10147852" cy="5177307"/>
          </a:xfrm>
        </p:spPr>
        <p:txBody>
          <a:bodyPr>
            <a:normAutofit lnSpcReduction="10000"/>
          </a:bodyPr>
          <a:lstStyle/>
          <a:p>
            <a:pPr algn="just"/>
            <a:r>
              <a:rPr lang="en-US" dirty="0"/>
              <a:t>A very vocal opposition developed, especially among the middle and upper classes in Kolkata. They feared </a:t>
            </a:r>
            <a:r>
              <a:rPr lang="en-US" dirty="0">
                <a:solidFill>
                  <a:srgbClr val="FF0000"/>
                </a:solidFill>
              </a:rPr>
              <a:t>a loss of economic power  </a:t>
            </a:r>
            <a:r>
              <a:rPr lang="en-US" dirty="0"/>
              <a:t>(tea and jute exports might now go through the port of Chittagong), inconvenience (east Bengal’s absentee landlords had settled in Kolkata) and competition (a new court system in east Bengal might exclude Kolkata lawyers and new newspapers might restrict the circulation of the Kolkata press).</a:t>
            </a:r>
          </a:p>
          <a:p>
            <a:pPr algn="just"/>
            <a:r>
              <a:rPr lang="en-US" i="1" dirty="0" err="1"/>
              <a:t>Swadeshi</a:t>
            </a:r>
            <a:r>
              <a:rPr lang="en-US" i="1" dirty="0"/>
              <a:t> movement </a:t>
            </a:r>
            <a:r>
              <a:rPr lang="en-US" dirty="0"/>
              <a:t>by the Hindu  </a:t>
            </a:r>
            <a:r>
              <a:rPr lang="en-US" i="1" dirty="0" err="1"/>
              <a:t>Bhadralok</a:t>
            </a:r>
            <a:r>
              <a:rPr lang="en-US" dirty="0"/>
              <a:t>  to boycott British products and commodities </a:t>
            </a:r>
          </a:p>
          <a:p>
            <a:pPr algn="just"/>
            <a:r>
              <a:rPr lang="en-US" dirty="0"/>
              <a:t>The Congress movement was largely led by Hindu </a:t>
            </a:r>
            <a:r>
              <a:rPr lang="en-US" dirty="0" err="1"/>
              <a:t>lawers</a:t>
            </a:r>
            <a:r>
              <a:rPr lang="en-US" dirty="0"/>
              <a:t>, merchants, and landlords who were determined to oppose the partition of Bengal because it </a:t>
            </a:r>
            <a:r>
              <a:rPr lang="en-US" dirty="0">
                <a:solidFill>
                  <a:srgbClr val="FF0000"/>
                </a:solidFill>
              </a:rPr>
              <a:t>would  disrupt Kolkata’s commercial and professional life in which they had so much at stake</a:t>
            </a:r>
            <a:r>
              <a:rPr lang="en-US" dirty="0"/>
              <a:t>. </a:t>
            </a:r>
          </a:p>
          <a:p>
            <a:endParaRPr lang="en-US" dirty="0"/>
          </a:p>
        </p:txBody>
      </p:sp>
    </p:spTree>
    <p:extLst>
      <p:ext uri="{BB962C8B-B14F-4D97-AF65-F5344CB8AC3E}">
        <p14:creationId xmlns:p14="http://schemas.microsoft.com/office/powerpoint/2010/main" val="4292242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9093" y="605307"/>
            <a:ext cx="11590986" cy="5436056"/>
          </a:xfrm>
        </p:spPr>
        <p:txBody>
          <a:bodyPr/>
          <a:lstStyle/>
          <a:p>
            <a:pPr algn="just"/>
            <a:endParaRPr lang="en-US" dirty="0"/>
          </a:p>
          <a:p>
            <a:pPr algn="just"/>
            <a:endParaRPr lang="en-US" dirty="0"/>
          </a:p>
          <a:p>
            <a:pPr algn="just"/>
            <a:r>
              <a:rPr lang="en-US" dirty="0"/>
              <a:t>The </a:t>
            </a:r>
            <a:r>
              <a:rPr lang="en-US" dirty="0" err="1"/>
              <a:t>Swadeshi</a:t>
            </a:r>
            <a:r>
              <a:rPr lang="en-US" dirty="0"/>
              <a:t> movement was </a:t>
            </a:r>
            <a:r>
              <a:rPr lang="en-US" b="1" dirty="0"/>
              <a:t>part of the Indian independence movement</a:t>
            </a:r>
            <a:r>
              <a:rPr lang="en-US" dirty="0"/>
              <a:t> and contributed to the development of </a:t>
            </a:r>
            <a:r>
              <a:rPr lang="en-US" dirty="0">
                <a:solidFill>
                  <a:srgbClr val="FF0000"/>
                </a:solidFill>
              </a:rPr>
              <a:t>Indian nationalism. </a:t>
            </a:r>
            <a:r>
              <a:rPr lang="en-US" dirty="0" err="1">
                <a:solidFill>
                  <a:srgbClr val="FF0000"/>
                </a:solidFill>
              </a:rPr>
              <a:t>Shadeshi</a:t>
            </a:r>
            <a:r>
              <a:rPr lang="en-US" dirty="0">
                <a:solidFill>
                  <a:srgbClr val="FF0000"/>
                </a:solidFill>
              </a:rPr>
              <a:t> Movement appealed to the Indian masses to use only goods produced in India</a:t>
            </a:r>
            <a:r>
              <a:rPr lang="en-US" dirty="0"/>
              <a:t>. The Indian farmers were forced to produced indigos and cottons. </a:t>
            </a:r>
          </a:p>
          <a:p>
            <a:pPr algn="just"/>
            <a:r>
              <a:rPr lang="en-US" sz="2400" dirty="0"/>
              <a:t> </a:t>
            </a:r>
            <a:r>
              <a:rPr lang="en-US" dirty="0" err="1"/>
              <a:t>Swadeshi</a:t>
            </a:r>
            <a:r>
              <a:rPr lang="en-US" dirty="0"/>
              <a:t> Movement has been characterized as cloth production in India. It originated from Bengal because the sentiments due to closed down domestic cloth industry was very high.</a:t>
            </a:r>
          </a:p>
          <a:p>
            <a:pPr algn="just"/>
            <a:r>
              <a:rPr lang="en-US" dirty="0"/>
              <a:t>Use of </a:t>
            </a:r>
            <a:r>
              <a:rPr lang="en-US" i="1" dirty="0" err="1"/>
              <a:t>Khadi</a:t>
            </a:r>
            <a:r>
              <a:rPr lang="en-US" dirty="0"/>
              <a:t> instead of foreign cloths. </a:t>
            </a:r>
          </a:p>
        </p:txBody>
      </p:sp>
    </p:spTree>
    <p:extLst>
      <p:ext uri="{BB962C8B-B14F-4D97-AF65-F5344CB8AC3E}">
        <p14:creationId xmlns:p14="http://schemas.microsoft.com/office/powerpoint/2010/main" val="543693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81071" y="888642"/>
            <a:ext cx="8834906" cy="5189102"/>
          </a:xfrm>
          <a:prstGeom prst="rect">
            <a:avLst/>
          </a:prstGeom>
        </p:spPr>
      </p:pic>
    </p:spTree>
    <p:extLst>
      <p:ext uri="{BB962C8B-B14F-4D97-AF65-F5344CB8AC3E}">
        <p14:creationId xmlns:p14="http://schemas.microsoft.com/office/powerpoint/2010/main" val="4040102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7577" y="463640"/>
            <a:ext cx="11732654" cy="5713324"/>
          </a:xfrm>
        </p:spPr>
        <p:txBody>
          <a:bodyPr>
            <a:normAutofit/>
          </a:bodyPr>
          <a:lstStyle/>
          <a:p>
            <a:pPr marL="0" indent="0" algn="just">
              <a:buNone/>
            </a:pPr>
            <a:r>
              <a:rPr lang="en-US" dirty="0"/>
              <a:t>Historian </a:t>
            </a:r>
            <a:r>
              <a:rPr lang="en-US" dirty="0">
                <a:solidFill>
                  <a:srgbClr val="FF0000"/>
                </a:solidFill>
              </a:rPr>
              <a:t>professor </a:t>
            </a:r>
            <a:r>
              <a:rPr lang="en-US" dirty="0" err="1">
                <a:solidFill>
                  <a:srgbClr val="FF0000"/>
                </a:solidFill>
              </a:rPr>
              <a:t>Sumit</a:t>
            </a:r>
            <a:r>
              <a:rPr lang="en-US" dirty="0">
                <a:solidFill>
                  <a:srgbClr val="FF0000"/>
                </a:solidFill>
              </a:rPr>
              <a:t> Sarkar  </a:t>
            </a:r>
            <a:r>
              <a:rPr lang="en-US" dirty="0"/>
              <a:t>attempts a detailed study of a five-year period in Bengal's history (1903-1908) which despite its brief duration has come to occupy a very notable place in the historiography of nationalism and in the collective memory of our people. Apart from the abundant literature of biographies and memoirs, individual aspects of this </a:t>
            </a:r>
            <a:r>
              <a:rPr lang="en-US" dirty="0">
                <a:solidFill>
                  <a:srgbClr val="FF0000"/>
                </a:solidFill>
              </a:rPr>
              <a:t>anti-partition or </a:t>
            </a:r>
            <a:r>
              <a:rPr lang="en-US" dirty="0" err="1">
                <a:solidFill>
                  <a:srgbClr val="FF0000"/>
                </a:solidFill>
              </a:rPr>
              <a:t>Swadeshi</a:t>
            </a:r>
            <a:r>
              <a:rPr lang="en-US" dirty="0">
                <a:solidFill>
                  <a:srgbClr val="FF0000"/>
                </a:solidFill>
              </a:rPr>
              <a:t> </a:t>
            </a:r>
            <a:r>
              <a:rPr lang="en-US" dirty="0"/>
              <a:t>Movement already have their historians, the main landmarks of political history have been adequately covered in numerous works on Indian nationalism, and growing access to the private papers of viceroys and officials have produced recently a spate of monographs on government policies in general . </a:t>
            </a:r>
            <a:r>
              <a:rPr lang="en-US" dirty="0" err="1">
                <a:solidFill>
                  <a:srgbClr val="FF0000"/>
                </a:solidFill>
              </a:rPr>
              <a:t>Bepinchandra</a:t>
            </a:r>
            <a:r>
              <a:rPr lang="en-US" dirty="0">
                <a:solidFill>
                  <a:srgbClr val="FF0000"/>
                </a:solidFill>
              </a:rPr>
              <a:t> Pal, </a:t>
            </a:r>
            <a:r>
              <a:rPr lang="en-US" dirty="0" err="1">
                <a:solidFill>
                  <a:srgbClr val="FF0000"/>
                </a:solidFill>
              </a:rPr>
              <a:t>Aurobindo</a:t>
            </a:r>
            <a:r>
              <a:rPr lang="en-US" dirty="0">
                <a:solidFill>
                  <a:srgbClr val="FF0000"/>
                </a:solidFill>
              </a:rPr>
              <a:t> Ghosh,</a:t>
            </a:r>
            <a:r>
              <a:rPr lang="en-US" dirty="0"/>
              <a:t> </a:t>
            </a:r>
            <a:r>
              <a:rPr lang="en-US" dirty="0" err="1">
                <a:solidFill>
                  <a:srgbClr val="FF0000"/>
                </a:solidFill>
              </a:rPr>
              <a:t>Surendranath</a:t>
            </a:r>
            <a:r>
              <a:rPr lang="en-US" dirty="0">
                <a:solidFill>
                  <a:srgbClr val="FF0000"/>
                </a:solidFill>
              </a:rPr>
              <a:t> </a:t>
            </a:r>
            <a:r>
              <a:rPr lang="en-US" dirty="0" err="1">
                <a:solidFill>
                  <a:srgbClr val="FF0000"/>
                </a:solidFill>
              </a:rPr>
              <a:t>Banerji</a:t>
            </a:r>
            <a:r>
              <a:rPr lang="en-US" dirty="0">
                <a:solidFill>
                  <a:srgbClr val="FF0000"/>
                </a:solidFill>
              </a:rPr>
              <a:t> and </a:t>
            </a:r>
            <a:r>
              <a:rPr lang="en-US" dirty="0" err="1">
                <a:solidFill>
                  <a:srgbClr val="FF0000"/>
                </a:solidFill>
              </a:rPr>
              <a:t>Lala</a:t>
            </a:r>
            <a:r>
              <a:rPr lang="en-US" dirty="0">
                <a:solidFill>
                  <a:srgbClr val="FF0000"/>
                </a:solidFill>
              </a:rPr>
              <a:t> </a:t>
            </a:r>
            <a:r>
              <a:rPr lang="en-US" dirty="0" err="1">
                <a:solidFill>
                  <a:srgbClr val="FF0000"/>
                </a:solidFill>
              </a:rPr>
              <a:t>Lajpout</a:t>
            </a:r>
            <a:r>
              <a:rPr lang="en-US" dirty="0">
                <a:solidFill>
                  <a:srgbClr val="FF0000"/>
                </a:solidFill>
              </a:rPr>
              <a:t> </a:t>
            </a:r>
            <a:r>
              <a:rPr lang="en-US" dirty="0" err="1">
                <a:solidFill>
                  <a:srgbClr val="FF0000"/>
                </a:solidFill>
              </a:rPr>
              <a:t>Rai</a:t>
            </a:r>
            <a:r>
              <a:rPr lang="en-US" dirty="0">
                <a:solidFill>
                  <a:srgbClr val="FF0000"/>
                </a:solidFill>
              </a:rPr>
              <a:t> were very active in the anti-partition movement. </a:t>
            </a:r>
            <a:endParaRPr lang="en-US" dirty="0"/>
          </a:p>
        </p:txBody>
      </p:sp>
    </p:spTree>
    <p:extLst>
      <p:ext uri="{BB962C8B-B14F-4D97-AF65-F5344CB8AC3E}">
        <p14:creationId xmlns:p14="http://schemas.microsoft.com/office/powerpoint/2010/main" val="3038481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446789" y="1133341"/>
            <a:ext cx="7298422" cy="5043622"/>
          </a:xfrm>
          <a:prstGeom prst="rect">
            <a:avLst/>
          </a:prstGeom>
        </p:spPr>
      </p:pic>
    </p:spTree>
    <p:extLst>
      <p:ext uri="{BB962C8B-B14F-4D97-AF65-F5344CB8AC3E}">
        <p14:creationId xmlns:p14="http://schemas.microsoft.com/office/powerpoint/2010/main" val="1911242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1210614" y="631065"/>
            <a:ext cx="9427335" cy="5370479"/>
          </a:xfrm>
          <a:prstGeom prst="rect">
            <a:avLst/>
          </a:prstGeom>
        </p:spPr>
      </p:pic>
    </p:spTree>
    <p:extLst>
      <p:ext uri="{BB962C8B-B14F-4D97-AF65-F5344CB8AC3E}">
        <p14:creationId xmlns:p14="http://schemas.microsoft.com/office/powerpoint/2010/main" val="2486540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847" t="13430"/>
          <a:stretch/>
        </p:blipFill>
        <p:spPr>
          <a:xfrm>
            <a:off x="1648496" y="643944"/>
            <a:ext cx="7830354" cy="5589431"/>
          </a:xfrm>
          <a:prstGeom prst="rect">
            <a:avLst/>
          </a:prstGeom>
        </p:spPr>
      </p:pic>
    </p:spTree>
    <p:extLst>
      <p:ext uri="{BB962C8B-B14F-4D97-AF65-F5344CB8AC3E}">
        <p14:creationId xmlns:p14="http://schemas.microsoft.com/office/powerpoint/2010/main" val="1487630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3957" y="450759"/>
            <a:ext cx="10830060" cy="6207617"/>
          </a:xfrm>
        </p:spPr>
        <p:txBody>
          <a:bodyPr/>
          <a:lstStyle/>
          <a:p>
            <a:r>
              <a:rPr lang="en-US" dirty="0"/>
              <a:t>Following Tagore's call, hundreds of Hindus and Muslims in Kolkata, Dhaka and </a:t>
            </a:r>
            <a:r>
              <a:rPr lang="en-US" dirty="0" err="1"/>
              <a:t>Sylhet</a:t>
            </a:r>
            <a:r>
              <a:rPr lang="en-US" dirty="0"/>
              <a:t> came out in large numbers to tie </a:t>
            </a:r>
            <a:r>
              <a:rPr lang="en-US" dirty="0" err="1"/>
              <a:t>Rakhi</a:t>
            </a:r>
            <a:r>
              <a:rPr lang="en-US" dirty="0"/>
              <a:t> threads as a </a:t>
            </a:r>
            <a:r>
              <a:rPr lang="en-US" dirty="0">
                <a:solidFill>
                  <a:srgbClr val="FF0000"/>
                </a:solidFill>
              </a:rPr>
              <a:t>symbol of unity</a:t>
            </a:r>
            <a:r>
              <a:rPr lang="en-US" dirty="0"/>
              <a:t>. Tagore's heartland </a:t>
            </a:r>
            <a:r>
              <a:rPr lang="en-US" dirty="0" err="1"/>
              <a:t>Santiniketan</a:t>
            </a:r>
            <a:r>
              <a:rPr lang="en-US" dirty="0"/>
              <a:t> still follows the tradition and the university students </a:t>
            </a:r>
            <a:r>
              <a:rPr lang="en-US" dirty="0">
                <a:solidFill>
                  <a:srgbClr val="FF0000"/>
                </a:solidFill>
              </a:rPr>
              <a:t>tied </a:t>
            </a:r>
            <a:r>
              <a:rPr lang="en-US" dirty="0" err="1">
                <a:solidFill>
                  <a:srgbClr val="FF0000"/>
                </a:solidFill>
              </a:rPr>
              <a:t>Rakhi</a:t>
            </a:r>
            <a:r>
              <a:rPr lang="en-US" dirty="0">
                <a:solidFill>
                  <a:srgbClr val="FF0000"/>
                </a:solidFill>
              </a:rPr>
              <a:t> to </a:t>
            </a:r>
            <a:r>
              <a:rPr lang="en-US" dirty="0" err="1">
                <a:solidFill>
                  <a:srgbClr val="FF0000"/>
                </a:solidFill>
              </a:rPr>
              <a:t>neighbours</a:t>
            </a:r>
            <a:r>
              <a:rPr lang="en-US" dirty="0">
                <a:solidFill>
                  <a:srgbClr val="FF0000"/>
                </a:solidFill>
              </a:rPr>
              <a:t> </a:t>
            </a:r>
            <a:r>
              <a:rPr lang="en-US" dirty="0"/>
              <a:t>and common people to give a message of harmony</a:t>
            </a:r>
          </a:p>
          <a:p>
            <a:pPr marL="0" indent="0">
              <a:buNone/>
            </a:pPr>
            <a:endParaRPr lang="en-US" dirty="0"/>
          </a:p>
          <a:p>
            <a:pPr marL="0" indent="0">
              <a:buNone/>
            </a:pPr>
            <a:endParaRPr lang="en-US" dirty="0"/>
          </a:p>
        </p:txBody>
      </p:sp>
      <p:pic>
        <p:nvPicPr>
          <p:cNvPr id="5" name="Picture 4"/>
          <p:cNvPicPr>
            <a:picLocks noChangeAspect="1"/>
          </p:cNvPicPr>
          <p:nvPr/>
        </p:nvPicPr>
        <p:blipFill>
          <a:blip r:embed="rId2"/>
          <a:stretch>
            <a:fillRect/>
          </a:stretch>
        </p:blipFill>
        <p:spPr>
          <a:xfrm>
            <a:off x="7225048" y="2743201"/>
            <a:ext cx="3374265" cy="3490174"/>
          </a:xfrm>
          <a:prstGeom prst="rect">
            <a:avLst/>
          </a:prstGeom>
        </p:spPr>
      </p:pic>
      <p:pic>
        <p:nvPicPr>
          <p:cNvPr id="6" name="Picture 5"/>
          <p:cNvPicPr>
            <a:picLocks noChangeAspect="1"/>
          </p:cNvPicPr>
          <p:nvPr/>
        </p:nvPicPr>
        <p:blipFill>
          <a:blip r:embed="rId3"/>
          <a:stretch>
            <a:fillRect/>
          </a:stretch>
        </p:blipFill>
        <p:spPr>
          <a:xfrm>
            <a:off x="1503239" y="2743201"/>
            <a:ext cx="5295900" cy="3580796"/>
          </a:xfrm>
          <a:prstGeom prst="rect">
            <a:avLst/>
          </a:prstGeom>
        </p:spPr>
      </p:pic>
    </p:spTree>
    <p:extLst>
      <p:ext uri="{BB962C8B-B14F-4D97-AF65-F5344CB8AC3E}">
        <p14:creationId xmlns:p14="http://schemas.microsoft.com/office/powerpoint/2010/main" val="352023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93183" y="301435"/>
            <a:ext cx="5307974" cy="5120570"/>
          </a:xfrm>
          <a:prstGeom prst="rect">
            <a:avLst/>
          </a:prstGeom>
        </p:spPr>
      </p:pic>
      <p:pic>
        <p:nvPicPr>
          <p:cNvPr id="6" name="Picture 5"/>
          <p:cNvPicPr>
            <a:picLocks noChangeAspect="1"/>
          </p:cNvPicPr>
          <p:nvPr/>
        </p:nvPicPr>
        <p:blipFill>
          <a:blip r:embed="rId3"/>
          <a:stretch>
            <a:fillRect/>
          </a:stretch>
        </p:blipFill>
        <p:spPr>
          <a:xfrm>
            <a:off x="5683138" y="352536"/>
            <a:ext cx="6075273" cy="5069469"/>
          </a:xfrm>
          <a:prstGeom prst="rect">
            <a:avLst/>
          </a:prstGeom>
        </p:spPr>
      </p:pic>
    </p:spTree>
    <p:extLst>
      <p:ext uri="{BB962C8B-B14F-4D97-AF65-F5344CB8AC3E}">
        <p14:creationId xmlns:p14="http://schemas.microsoft.com/office/powerpoint/2010/main" val="1221709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735651" y="695086"/>
            <a:ext cx="4513911" cy="5295900"/>
          </a:xfrm>
          <a:prstGeom prst="rect">
            <a:avLst/>
          </a:prstGeom>
        </p:spPr>
      </p:pic>
      <p:pic>
        <p:nvPicPr>
          <p:cNvPr id="2" name="Picture 1"/>
          <p:cNvPicPr>
            <a:picLocks noChangeAspect="1"/>
          </p:cNvPicPr>
          <p:nvPr/>
        </p:nvPicPr>
        <p:blipFill>
          <a:blip r:embed="rId3"/>
          <a:stretch>
            <a:fillRect/>
          </a:stretch>
        </p:blipFill>
        <p:spPr>
          <a:xfrm>
            <a:off x="892398" y="695086"/>
            <a:ext cx="5410200" cy="5295900"/>
          </a:xfrm>
          <a:prstGeom prst="rect">
            <a:avLst/>
          </a:prstGeom>
        </p:spPr>
      </p:pic>
    </p:spTree>
    <p:extLst>
      <p:ext uri="{BB962C8B-B14F-4D97-AF65-F5344CB8AC3E}">
        <p14:creationId xmlns:p14="http://schemas.microsoft.com/office/powerpoint/2010/main" val="1153804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tatic-ai.asianetnews.com/images/01dhzz95e07zeq439r6gkr6r9n/khudi-gfx-jpg.jpg"/>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 t="11558" r="-1322" b="10083"/>
          <a:stretch/>
        </p:blipFill>
        <p:spPr bwMode="auto">
          <a:xfrm>
            <a:off x="2418518" y="566670"/>
            <a:ext cx="8992164" cy="5610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281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987899" y="231820"/>
            <a:ext cx="5035639" cy="5782613"/>
          </a:xfrm>
          <a:prstGeom prst="rect">
            <a:avLst/>
          </a:prstGeom>
        </p:spPr>
      </p:pic>
    </p:spTree>
    <p:extLst>
      <p:ext uri="{BB962C8B-B14F-4D97-AF65-F5344CB8AC3E}">
        <p14:creationId xmlns:p14="http://schemas.microsoft.com/office/powerpoint/2010/main" val="3120148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4643" y="1401511"/>
            <a:ext cx="10780736" cy="4639852"/>
          </a:xfrm>
        </p:spPr>
        <p:txBody>
          <a:bodyPr>
            <a:normAutofit/>
          </a:bodyPr>
          <a:lstStyle/>
          <a:p>
            <a:pPr algn="just"/>
            <a:r>
              <a:rPr lang="en-US" dirty="0"/>
              <a:t>Support in favor of the partition plan came from different segment of the Muslims society. Signed by seven leading Muslim leaders, the </a:t>
            </a:r>
            <a:r>
              <a:rPr lang="en-US" i="1" dirty="0">
                <a:solidFill>
                  <a:srgbClr val="002060"/>
                </a:solidFill>
              </a:rPr>
              <a:t>Mohammedan Literary Society </a:t>
            </a:r>
            <a:r>
              <a:rPr lang="en-US" dirty="0"/>
              <a:t>published a proposal in 1905</a:t>
            </a:r>
            <a:r>
              <a:rPr lang="en-US" dirty="0">
                <a:solidFill>
                  <a:srgbClr val="FF0000"/>
                </a:solidFill>
              </a:rPr>
              <a:t> for a total support to the partition plan</a:t>
            </a:r>
            <a:r>
              <a:rPr lang="en-US" dirty="0"/>
              <a:t>. In 1906, the Muslims organized an Islamic Conference in Dhaka as a move to emphasize their separate religious identity and to express reaction against the communal flavor of the </a:t>
            </a:r>
            <a:r>
              <a:rPr lang="en-US" dirty="0" err="1">
                <a:solidFill>
                  <a:srgbClr val="FF0000"/>
                </a:solidFill>
              </a:rPr>
              <a:t>Swadeshi</a:t>
            </a:r>
            <a:r>
              <a:rPr lang="en-US" dirty="0">
                <a:solidFill>
                  <a:srgbClr val="FF0000"/>
                </a:solidFill>
              </a:rPr>
              <a:t> Movement</a:t>
            </a:r>
            <a:r>
              <a:rPr lang="en-US" dirty="0"/>
              <a:t>. Muslim organizations such as </a:t>
            </a:r>
            <a:r>
              <a:rPr lang="en-US" i="1" dirty="0" err="1"/>
              <a:t>Anjuman</a:t>
            </a:r>
            <a:r>
              <a:rPr lang="en-US" i="1" dirty="0"/>
              <a:t>-I-</a:t>
            </a:r>
            <a:r>
              <a:rPr lang="en-US" i="1" dirty="0" err="1"/>
              <a:t>Mufidul</a:t>
            </a:r>
            <a:r>
              <a:rPr lang="en-US" dirty="0"/>
              <a:t>, </a:t>
            </a:r>
            <a:r>
              <a:rPr lang="en-US" i="1" dirty="0"/>
              <a:t>Islam </a:t>
            </a:r>
            <a:r>
              <a:rPr lang="en-US" i="1" dirty="0" err="1"/>
              <a:t>Procharok</a:t>
            </a:r>
            <a:r>
              <a:rPr lang="en-US" i="1" dirty="0"/>
              <a:t>  </a:t>
            </a:r>
            <a:r>
              <a:rPr lang="en-US" dirty="0"/>
              <a:t>etc. were in favor of the partition scheme. </a:t>
            </a:r>
          </a:p>
          <a:p>
            <a:pPr algn="just"/>
            <a:r>
              <a:rPr lang="en-US" dirty="0"/>
              <a:t>The All-India Muslim League founded in 1906, supported the partition in totality. </a:t>
            </a:r>
          </a:p>
        </p:txBody>
      </p:sp>
    </p:spTree>
    <p:extLst>
      <p:ext uri="{BB962C8B-B14F-4D97-AF65-F5344CB8AC3E}">
        <p14:creationId xmlns:p14="http://schemas.microsoft.com/office/powerpoint/2010/main" val="1572004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8034" y="618186"/>
            <a:ext cx="11333408" cy="5558777"/>
          </a:xfrm>
        </p:spPr>
        <p:txBody>
          <a:bodyPr>
            <a:normAutofit/>
          </a:bodyPr>
          <a:lstStyle/>
          <a:p>
            <a:pPr algn="just"/>
            <a:r>
              <a:rPr lang="en-US" b="1" dirty="0" err="1"/>
              <a:t>Simla</a:t>
            </a:r>
            <a:r>
              <a:rPr lang="en-US" b="1" dirty="0"/>
              <a:t> Deputation</a:t>
            </a:r>
            <a:r>
              <a:rPr lang="en-US" dirty="0"/>
              <a:t> organized by the Indian Muslim leaders, met the Governor General and Viceroy Lord </a:t>
            </a:r>
            <a:r>
              <a:rPr lang="en-US" dirty="0" err="1"/>
              <a:t>Minto</a:t>
            </a:r>
            <a:r>
              <a:rPr lang="en-US" dirty="0"/>
              <a:t> in </a:t>
            </a:r>
            <a:r>
              <a:rPr lang="en-US" dirty="0" err="1"/>
              <a:t>Simla</a:t>
            </a:r>
            <a:r>
              <a:rPr lang="en-US" dirty="0"/>
              <a:t> on October 1906. Aga Khan and </a:t>
            </a:r>
            <a:r>
              <a:rPr lang="en-US" dirty="0" err="1"/>
              <a:t>Nawab</a:t>
            </a:r>
            <a:r>
              <a:rPr lang="en-US" dirty="0"/>
              <a:t> Ali Chowdhury were the key leaders . Shimla Deputation 1906 was first </a:t>
            </a:r>
            <a:r>
              <a:rPr lang="en-US" dirty="0">
                <a:solidFill>
                  <a:srgbClr val="FF0000"/>
                </a:solidFill>
              </a:rPr>
              <a:t>systematic attempt </a:t>
            </a:r>
            <a:r>
              <a:rPr lang="en-US" dirty="0"/>
              <a:t>from Muslims side to represent their demand before British India. </a:t>
            </a:r>
          </a:p>
          <a:p>
            <a:pPr algn="just"/>
            <a:endParaRPr lang="en-US" dirty="0"/>
          </a:p>
          <a:p>
            <a:pPr algn="just"/>
            <a:r>
              <a:rPr lang="en-US" dirty="0"/>
              <a:t>Demands of the Muslim leaders were: a) preservation of a certain number of seats for Muslims in the municipal and district boards and in the university senate and syndicate; (b)</a:t>
            </a:r>
            <a:r>
              <a:rPr lang="en-US" b="1" dirty="0">
                <a:solidFill>
                  <a:srgbClr val="FF0000"/>
                </a:solidFill>
              </a:rPr>
              <a:t>separate election </a:t>
            </a:r>
            <a:r>
              <a:rPr lang="en-US" dirty="0"/>
              <a:t>of Muslims to the Provincial council based on their political importance and not on the population ratio</a:t>
            </a:r>
          </a:p>
        </p:txBody>
      </p:sp>
    </p:spTree>
    <p:extLst>
      <p:ext uri="{BB962C8B-B14F-4D97-AF65-F5344CB8AC3E}">
        <p14:creationId xmlns:p14="http://schemas.microsoft.com/office/powerpoint/2010/main" val="572914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p:cNvPicPr>
            <a:picLocks noGrp="1" noChangeAspect="1"/>
          </p:cNvPicPr>
          <p:nvPr>
            <p:ph idx="1"/>
          </p:nvPr>
        </p:nvPicPr>
        <p:blipFill rotWithShape="1">
          <a:blip r:embed="rId2"/>
          <a:srcRect r="3536"/>
          <a:stretch/>
        </p:blipFill>
        <p:spPr>
          <a:xfrm>
            <a:off x="708338" y="698198"/>
            <a:ext cx="5872766" cy="4353059"/>
          </a:xfrm>
          <a:prstGeom prst="rect">
            <a:avLst/>
          </a:prstGeom>
        </p:spPr>
      </p:pic>
      <p:pic>
        <p:nvPicPr>
          <p:cNvPr id="11" name="Picture 10"/>
          <p:cNvPicPr>
            <a:picLocks noChangeAspect="1"/>
          </p:cNvPicPr>
          <p:nvPr/>
        </p:nvPicPr>
        <p:blipFill>
          <a:blip r:embed="rId3"/>
          <a:stretch>
            <a:fillRect/>
          </a:stretch>
        </p:blipFill>
        <p:spPr>
          <a:xfrm>
            <a:off x="7083380" y="698198"/>
            <a:ext cx="4262907" cy="3860922"/>
          </a:xfrm>
          <a:prstGeom prst="rect">
            <a:avLst/>
          </a:prstGeom>
        </p:spPr>
      </p:pic>
    </p:spTree>
    <p:extLst>
      <p:ext uri="{BB962C8B-B14F-4D97-AF65-F5344CB8AC3E}">
        <p14:creationId xmlns:p14="http://schemas.microsoft.com/office/powerpoint/2010/main" val="3881707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02276"/>
            <a:ext cx="10894454" cy="5674687"/>
          </a:xfrm>
        </p:spPr>
        <p:txBody>
          <a:bodyPr>
            <a:normAutofit/>
          </a:bodyPr>
          <a:lstStyle/>
          <a:p>
            <a:pPr algn="just"/>
            <a:r>
              <a:rPr lang="en-US" dirty="0"/>
              <a:t>The debate over </a:t>
            </a:r>
            <a:r>
              <a:rPr lang="en-US" i="1" dirty="0">
                <a:solidFill>
                  <a:srgbClr val="FF0000"/>
                </a:solidFill>
              </a:rPr>
              <a:t>the separate </a:t>
            </a:r>
            <a:r>
              <a:rPr lang="en-US" dirty="0">
                <a:solidFill>
                  <a:srgbClr val="FF0000"/>
                </a:solidFill>
              </a:rPr>
              <a:t>and </a:t>
            </a:r>
            <a:r>
              <a:rPr lang="en-US" i="1" dirty="0">
                <a:solidFill>
                  <a:srgbClr val="FF0000"/>
                </a:solidFill>
              </a:rPr>
              <a:t>joint electorates </a:t>
            </a:r>
            <a:r>
              <a:rPr lang="en-US" dirty="0"/>
              <a:t>as rival modes of election to the various representative institutions by the British began with the </a:t>
            </a:r>
            <a:r>
              <a:rPr lang="en-US" dirty="0" err="1"/>
              <a:t>Simla</a:t>
            </a:r>
            <a:r>
              <a:rPr lang="en-US" dirty="0"/>
              <a:t> deputation of 1906 and </a:t>
            </a:r>
            <a:r>
              <a:rPr lang="en-US" dirty="0">
                <a:solidFill>
                  <a:srgbClr val="FF0000"/>
                </a:solidFill>
              </a:rPr>
              <a:t>remained controversial till 1947</a:t>
            </a:r>
            <a:r>
              <a:rPr lang="en-US" dirty="0"/>
              <a:t>. Not only was the issue controversial in the pre-Independent India, it also raises debates among contemporary historians and political scientists.</a:t>
            </a:r>
          </a:p>
          <a:p>
            <a:pPr marL="0" indent="0" algn="just">
              <a:buNone/>
            </a:pPr>
            <a:endParaRPr lang="en-US" dirty="0"/>
          </a:p>
          <a:p>
            <a:pPr algn="just"/>
            <a:r>
              <a:rPr lang="en-US" dirty="0"/>
              <a:t>The recognition of the Muslims as separate electorate in Morley-</a:t>
            </a:r>
            <a:r>
              <a:rPr lang="en-US" dirty="0" err="1"/>
              <a:t>Minto</a:t>
            </a:r>
            <a:r>
              <a:rPr lang="en-US" dirty="0"/>
              <a:t> Reforms of 1909/ the India Act of 1909. The Morley-</a:t>
            </a:r>
            <a:r>
              <a:rPr lang="en-US" dirty="0" err="1"/>
              <a:t>Minto</a:t>
            </a:r>
            <a:r>
              <a:rPr lang="en-US" dirty="0"/>
              <a:t> reforms made a land mark towards the development of constitutional government. The Act, however, contributed to the growth of separatist politics in communal line.</a:t>
            </a:r>
          </a:p>
          <a:p>
            <a:endParaRPr lang="en-US" dirty="0"/>
          </a:p>
        </p:txBody>
      </p:sp>
    </p:spTree>
    <p:extLst>
      <p:ext uri="{BB962C8B-B14F-4D97-AF65-F5344CB8AC3E}">
        <p14:creationId xmlns:p14="http://schemas.microsoft.com/office/powerpoint/2010/main" val="29966459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20710" y="357809"/>
            <a:ext cx="5258873" cy="4956313"/>
          </a:xfrm>
          <a:prstGeom prst="rect">
            <a:avLst/>
          </a:prstGeom>
        </p:spPr>
      </p:pic>
      <p:pic>
        <p:nvPicPr>
          <p:cNvPr id="5" name="Picture 4"/>
          <p:cNvPicPr>
            <a:picLocks noChangeAspect="1"/>
          </p:cNvPicPr>
          <p:nvPr/>
        </p:nvPicPr>
        <p:blipFill>
          <a:blip r:embed="rId3"/>
          <a:stretch>
            <a:fillRect/>
          </a:stretch>
        </p:blipFill>
        <p:spPr>
          <a:xfrm>
            <a:off x="5911403" y="463826"/>
            <a:ext cx="5859887" cy="4850296"/>
          </a:xfrm>
          <a:prstGeom prst="rect">
            <a:avLst/>
          </a:prstGeom>
        </p:spPr>
      </p:pic>
    </p:spTree>
    <p:extLst>
      <p:ext uri="{BB962C8B-B14F-4D97-AF65-F5344CB8AC3E}">
        <p14:creationId xmlns:p14="http://schemas.microsoft.com/office/powerpoint/2010/main" val="2837237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9093" y="618186"/>
            <a:ext cx="11565228" cy="5888631"/>
          </a:xfrm>
        </p:spPr>
        <p:txBody>
          <a:bodyPr>
            <a:normAutofit/>
          </a:bodyPr>
          <a:lstStyle/>
          <a:p>
            <a:pPr algn="just"/>
            <a:r>
              <a:rPr lang="en-US" dirty="0">
                <a:solidFill>
                  <a:srgbClr val="FF0000"/>
                </a:solidFill>
              </a:rPr>
              <a:t>Annulment of the partition in 1911 ( by George V)</a:t>
            </a:r>
          </a:p>
          <a:p>
            <a:pPr algn="just"/>
            <a:r>
              <a:rPr lang="en-US" dirty="0"/>
              <a:t>Recognition of the Muslim </a:t>
            </a:r>
            <a:r>
              <a:rPr lang="en-US" dirty="0">
                <a:solidFill>
                  <a:srgbClr val="FF0000"/>
                </a:solidFill>
              </a:rPr>
              <a:t>separate electorate </a:t>
            </a:r>
            <a:r>
              <a:rPr lang="en-US" dirty="0"/>
              <a:t>in Morley-Minto Reforms of 1909</a:t>
            </a:r>
          </a:p>
          <a:p>
            <a:pPr algn="just"/>
            <a:r>
              <a:rPr lang="en-US" dirty="0"/>
              <a:t> Bengali literature and cultural development </a:t>
            </a:r>
          </a:p>
          <a:p>
            <a:pPr algn="just"/>
            <a:r>
              <a:rPr lang="en-US" dirty="0"/>
              <a:t>The birth of the All-India Muslim League, 1906</a:t>
            </a:r>
          </a:p>
          <a:p>
            <a:pPr algn="just"/>
            <a:r>
              <a:rPr lang="en-US" dirty="0"/>
              <a:t>Hindu-Muslim communal conflicts </a:t>
            </a:r>
          </a:p>
          <a:p>
            <a:pPr algn="just"/>
            <a:r>
              <a:rPr lang="en-US" dirty="0"/>
              <a:t> Educational and infrastructural development of the new province</a:t>
            </a:r>
          </a:p>
          <a:p>
            <a:pPr algn="just"/>
            <a:r>
              <a:rPr lang="en-US" dirty="0"/>
              <a:t>The establishment of the University of Dhaka in 1921</a:t>
            </a:r>
          </a:p>
          <a:p>
            <a:pPr algn="just"/>
            <a:r>
              <a:rPr lang="en-US" dirty="0"/>
              <a:t>Awareness of identity politics  and nationalism </a:t>
            </a:r>
          </a:p>
          <a:p>
            <a:pPr algn="just"/>
            <a:r>
              <a:rPr lang="en-US" dirty="0"/>
              <a:t>Growth of terrorism and communal violence (Formation of </a:t>
            </a:r>
            <a:r>
              <a:rPr lang="en-US" dirty="0" err="1">
                <a:solidFill>
                  <a:srgbClr val="FF0000"/>
                </a:solidFill>
              </a:rPr>
              <a:t>Anushilan</a:t>
            </a:r>
            <a:r>
              <a:rPr lang="en-US" dirty="0">
                <a:solidFill>
                  <a:srgbClr val="FF0000"/>
                </a:solidFill>
              </a:rPr>
              <a:t> </a:t>
            </a:r>
            <a:r>
              <a:rPr lang="en-US" dirty="0" err="1">
                <a:solidFill>
                  <a:srgbClr val="FF0000"/>
                </a:solidFill>
              </a:rPr>
              <a:t>Samiti</a:t>
            </a:r>
            <a:r>
              <a:rPr lang="en-US" dirty="0">
                <a:solidFill>
                  <a:srgbClr val="FF0000"/>
                </a:solidFill>
              </a:rPr>
              <a:t>, </a:t>
            </a:r>
            <a:r>
              <a:rPr lang="en-US" dirty="0" err="1">
                <a:solidFill>
                  <a:srgbClr val="FF0000"/>
                </a:solidFill>
              </a:rPr>
              <a:t>Jugantor</a:t>
            </a:r>
            <a:r>
              <a:rPr lang="en-US" dirty="0">
                <a:solidFill>
                  <a:srgbClr val="FF0000"/>
                </a:solidFill>
              </a:rPr>
              <a:t> </a:t>
            </a:r>
            <a:r>
              <a:rPr lang="en-US" dirty="0"/>
              <a:t>etc.)</a:t>
            </a:r>
          </a:p>
          <a:p>
            <a:endParaRPr lang="en-US" dirty="0"/>
          </a:p>
        </p:txBody>
      </p:sp>
    </p:spTree>
    <p:extLst>
      <p:ext uri="{BB962C8B-B14F-4D97-AF65-F5344CB8AC3E}">
        <p14:creationId xmlns:p14="http://schemas.microsoft.com/office/powerpoint/2010/main" val="24324439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1210614" y="476518"/>
            <a:ext cx="7495504" cy="5885645"/>
          </a:xfrm>
          <a:prstGeom prst="rect">
            <a:avLst/>
          </a:prstGeom>
        </p:spPr>
      </p:pic>
    </p:spTree>
    <p:extLst>
      <p:ext uri="{BB962C8B-B14F-4D97-AF65-F5344CB8AC3E}">
        <p14:creationId xmlns:p14="http://schemas.microsoft.com/office/powerpoint/2010/main" val="2965857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281" y="609600"/>
            <a:ext cx="9280733" cy="749181"/>
          </a:xfrm>
        </p:spPr>
        <p:txBody>
          <a:bodyPr/>
          <a:lstStyle/>
          <a:p>
            <a:r>
              <a:rPr lang="en-US" dirty="0"/>
              <a:t>University of Dhaka</a:t>
            </a:r>
          </a:p>
        </p:txBody>
      </p:sp>
      <p:pic>
        <p:nvPicPr>
          <p:cNvPr id="4" name="Content Placeholder 3"/>
          <p:cNvPicPr>
            <a:picLocks noGrp="1" noChangeAspect="1"/>
          </p:cNvPicPr>
          <p:nvPr>
            <p:ph idx="1"/>
          </p:nvPr>
        </p:nvPicPr>
        <p:blipFill>
          <a:blip r:embed="rId2"/>
          <a:stretch>
            <a:fillRect/>
          </a:stretch>
        </p:blipFill>
        <p:spPr>
          <a:xfrm>
            <a:off x="677334" y="2040523"/>
            <a:ext cx="4086225" cy="3848100"/>
          </a:xfrm>
          <a:prstGeom prst="rect">
            <a:avLst/>
          </a:prstGeom>
        </p:spPr>
      </p:pic>
      <p:pic>
        <p:nvPicPr>
          <p:cNvPr id="5" name="Picture 4"/>
          <p:cNvPicPr>
            <a:picLocks noChangeAspect="1"/>
          </p:cNvPicPr>
          <p:nvPr/>
        </p:nvPicPr>
        <p:blipFill>
          <a:blip r:embed="rId3"/>
          <a:stretch>
            <a:fillRect/>
          </a:stretch>
        </p:blipFill>
        <p:spPr>
          <a:xfrm>
            <a:off x="4844362" y="2153540"/>
            <a:ext cx="4828275" cy="3666146"/>
          </a:xfrm>
          <a:prstGeom prst="rect">
            <a:avLst/>
          </a:prstGeom>
        </p:spPr>
      </p:pic>
    </p:spTree>
    <p:extLst>
      <p:ext uri="{BB962C8B-B14F-4D97-AF65-F5344CB8AC3E}">
        <p14:creationId xmlns:p14="http://schemas.microsoft.com/office/powerpoint/2010/main" val="42416925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89397" y="540913"/>
            <a:ext cx="5370490" cy="4816698"/>
          </a:xfrm>
          <a:prstGeom prst="rect">
            <a:avLst/>
          </a:prstGeom>
        </p:spPr>
      </p:pic>
      <p:pic>
        <p:nvPicPr>
          <p:cNvPr id="5" name="Picture 4"/>
          <p:cNvPicPr>
            <a:picLocks noChangeAspect="1"/>
          </p:cNvPicPr>
          <p:nvPr/>
        </p:nvPicPr>
        <p:blipFill>
          <a:blip r:embed="rId3"/>
          <a:stretch>
            <a:fillRect/>
          </a:stretch>
        </p:blipFill>
        <p:spPr>
          <a:xfrm>
            <a:off x="6719282" y="540913"/>
            <a:ext cx="4369428" cy="4816698"/>
          </a:xfrm>
          <a:prstGeom prst="rect">
            <a:avLst/>
          </a:prstGeom>
        </p:spPr>
      </p:pic>
    </p:spTree>
    <p:extLst>
      <p:ext uri="{BB962C8B-B14F-4D97-AF65-F5344CB8AC3E}">
        <p14:creationId xmlns:p14="http://schemas.microsoft.com/office/powerpoint/2010/main" val="17952680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7836" t="592" r="7765" b="-592"/>
          <a:stretch/>
        </p:blipFill>
        <p:spPr>
          <a:xfrm>
            <a:off x="838201" y="1326524"/>
            <a:ext cx="10108842" cy="5306096"/>
          </a:xfrm>
          <a:prstGeom prst="rect">
            <a:avLst/>
          </a:prstGeom>
        </p:spPr>
      </p:pic>
    </p:spTree>
    <p:extLst>
      <p:ext uri="{BB962C8B-B14F-4D97-AF65-F5344CB8AC3E}">
        <p14:creationId xmlns:p14="http://schemas.microsoft.com/office/powerpoint/2010/main" val="4166309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r="57627"/>
          <a:stretch/>
        </p:blipFill>
        <p:spPr>
          <a:xfrm>
            <a:off x="677335" y="798490"/>
            <a:ext cx="3638292" cy="5160322"/>
          </a:xfrm>
          <a:prstGeom prst="rect">
            <a:avLst/>
          </a:prstGeom>
        </p:spPr>
      </p:pic>
      <p:pic>
        <p:nvPicPr>
          <p:cNvPr id="5" name="Picture 4"/>
          <p:cNvPicPr>
            <a:picLocks noChangeAspect="1"/>
          </p:cNvPicPr>
          <p:nvPr/>
        </p:nvPicPr>
        <p:blipFill>
          <a:blip r:embed="rId3"/>
          <a:stretch>
            <a:fillRect/>
          </a:stretch>
        </p:blipFill>
        <p:spPr>
          <a:xfrm>
            <a:off x="4896740" y="798491"/>
            <a:ext cx="5715452" cy="5287984"/>
          </a:xfrm>
          <a:prstGeom prst="rect">
            <a:avLst/>
          </a:prstGeom>
        </p:spPr>
      </p:pic>
    </p:spTree>
    <p:extLst>
      <p:ext uri="{BB962C8B-B14F-4D97-AF65-F5344CB8AC3E}">
        <p14:creationId xmlns:p14="http://schemas.microsoft.com/office/powerpoint/2010/main" val="1513172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11551"/>
          </a:xfrm>
        </p:spPr>
        <p:txBody>
          <a:bodyPr/>
          <a:lstStyle/>
          <a:p>
            <a:r>
              <a:rPr lang="en-US" dirty="0"/>
              <a:t>Fuller Road </a:t>
            </a:r>
          </a:p>
        </p:txBody>
      </p:sp>
      <p:pic>
        <p:nvPicPr>
          <p:cNvPr id="4" name="Content Placeholder 3"/>
          <p:cNvPicPr>
            <a:picLocks noGrp="1" noChangeAspect="1"/>
          </p:cNvPicPr>
          <p:nvPr>
            <p:ph idx="1"/>
          </p:nvPr>
        </p:nvPicPr>
        <p:blipFill>
          <a:blip r:embed="rId3"/>
          <a:stretch>
            <a:fillRect/>
          </a:stretch>
        </p:blipFill>
        <p:spPr>
          <a:xfrm>
            <a:off x="1333144" y="2160588"/>
            <a:ext cx="5980185" cy="3881437"/>
          </a:xfrm>
          <a:prstGeom prst="rect">
            <a:avLst/>
          </a:prstGeom>
        </p:spPr>
      </p:pic>
    </p:spTree>
    <p:extLst>
      <p:ext uri="{BB962C8B-B14F-4D97-AF65-F5344CB8AC3E}">
        <p14:creationId xmlns:p14="http://schemas.microsoft.com/office/powerpoint/2010/main" val="2048870234"/>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972" y="154546"/>
            <a:ext cx="3176602" cy="746975"/>
          </a:xfrm>
        </p:spPr>
        <p:txBody>
          <a:bodyPr/>
          <a:lstStyle/>
          <a:p>
            <a:r>
              <a:rPr lang="en-US" dirty="0">
                <a:solidFill>
                  <a:srgbClr val="FF0000"/>
                </a:solidFill>
              </a:rPr>
              <a:t>Conclusions:</a:t>
            </a:r>
          </a:p>
        </p:txBody>
      </p:sp>
      <p:sp>
        <p:nvSpPr>
          <p:cNvPr id="3" name="Content Placeholder 2"/>
          <p:cNvSpPr>
            <a:spLocks noGrp="1"/>
          </p:cNvSpPr>
          <p:nvPr>
            <p:ph idx="1"/>
          </p:nvPr>
        </p:nvSpPr>
        <p:spPr>
          <a:xfrm>
            <a:off x="2345635" y="1166191"/>
            <a:ext cx="8839200" cy="5274366"/>
          </a:xfrm>
        </p:spPr>
        <p:txBody>
          <a:bodyPr>
            <a:normAutofit fontScale="92500" lnSpcReduction="20000"/>
          </a:bodyPr>
          <a:lstStyle/>
          <a:p>
            <a:pPr>
              <a:buFont typeface="Wingdings" panose="05000000000000000000" pitchFamily="2" charset="2"/>
              <a:buChar char="Ø"/>
            </a:pPr>
            <a:r>
              <a:rPr lang="en-US" dirty="0"/>
              <a:t>First world war, 1914-18</a:t>
            </a:r>
          </a:p>
          <a:p>
            <a:pPr>
              <a:buFont typeface="Wingdings" panose="05000000000000000000" pitchFamily="2" charset="2"/>
              <a:buChar char="Ø"/>
            </a:pPr>
            <a:r>
              <a:rPr lang="en-US" dirty="0"/>
              <a:t>India Act of 1919/Montagu-Chelmsford reforms, 1919</a:t>
            </a:r>
          </a:p>
          <a:p>
            <a:pPr>
              <a:buFont typeface="Wingdings" panose="05000000000000000000" pitchFamily="2" charset="2"/>
              <a:buChar char="Ø"/>
            </a:pPr>
            <a:r>
              <a:rPr lang="en-US" dirty="0"/>
              <a:t>Increase of Jute price in 2020s </a:t>
            </a:r>
          </a:p>
          <a:p>
            <a:pPr>
              <a:buFont typeface="Wingdings" panose="05000000000000000000" pitchFamily="2" charset="2"/>
              <a:buChar char="Ø"/>
            </a:pPr>
            <a:r>
              <a:rPr lang="en-US" dirty="0"/>
              <a:t>Chauri Chaura Tragedy , 1922</a:t>
            </a:r>
          </a:p>
          <a:p>
            <a:pPr>
              <a:buFont typeface="Wingdings" panose="05000000000000000000" pitchFamily="2" charset="2"/>
              <a:buChar char="Ø"/>
            </a:pPr>
            <a:r>
              <a:rPr lang="en-US" dirty="0"/>
              <a:t>Khilafat Movements , 1919-1924</a:t>
            </a:r>
          </a:p>
          <a:p>
            <a:pPr>
              <a:buFont typeface="Wingdings" panose="05000000000000000000" pitchFamily="2" charset="2"/>
              <a:buChar char="Ø"/>
            </a:pPr>
            <a:r>
              <a:rPr lang="en-US" dirty="0"/>
              <a:t>Mohatma Gandhi and the Non-Violent Movement</a:t>
            </a:r>
          </a:p>
          <a:p>
            <a:pPr>
              <a:buFont typeface="Wingdings" panose="05000000000000000000" pitchFamily="2" charset="2"/>
              <a:buChar char="Ø"/>
            </a:pPr>
            <a:r>
              <a:rPr lang="en-US" dirty="0"/>
              <a:t>Bengal Pacts, 1923 </a:t>
            </a:r>
          </a:p>
          <a:p>
            <a:pPr>
              <a:buFont typeface="Wingdings" panose="05000000000000000000" pitchFamily="2" charset="2"/>
              <a:buChar char="Ø"/>
            </a:pPr>
            <a:r>
              <a:rPr lang="en-US" dirty="0"/>
              <a:t>Nehru reports , 1928</a:t>
            </a:r>
          </a:p>
          <a:p>
            <a:pPr>
              <a:buFont typeface="Wingdings" panose="05000000000000000000" pitchFamily="2" charset="2"/>
              <a:buChar char="Ø"/>
            </a:pPr>
            <a:r>
              <a:rPr lang="en-US" dirty="0"/>
              <a:t>Fourteen points of Jinnah , 1929</a:t>
            </a:r>
          </a:p>
          <a:p>
            <a:pPr>
              <a:buFont typeface="Wingdings" panose="05000000000000000000" pitchFamily="2" charset="2"/>
              <a:buChar char="Ø"/>
            </a:pPr>
            <a:r>
              <a:rPr lang="en-US" dirty="0"/>
              <a:t>The Government of India Act, 1935</a:t>
            </a:r>
          </a:p>
          <a:p>
            <a:pPr>
              <a:buFont typeface="Wingdings" panose="05000000000000000000" pitchFamily="2" charset="2"/>
              <a:buChar char="Ø"/>
            </a:pPr>
            <a:r>
              <a:rPr lang="en-US" dirty="0"/>
              <a:t>Quit India Movement, 1942</a:t>
            </a:r>
          </a:p>
          <a:p>
            <a:pPr>
              <a:buFont typeface="Wingdings" panose="05000000000000000000" pitchFamily="2" charset="2"/>
              <a:buChar char="Ø"/>
            </a:pPr>
            <a:r>
              <a:rPr lang="en-US" dirty="0"/>
              <a:t>The Great Divide of 1947</a:t>
            </a:r>
          </a:p>
        </p:txBody>
      </p:sp>
      <p:cxnSp>
        <p:nvCxnSpPr>
          <p:cNvPr id="5" name="Elbow Connector 4"/>
          <p:cNvCxnSpPr/>
          <p:nvPr/>
        </p:nvCxnSpPr>
        <p:spPr>
          <a:xfrm>
            <a:off x="7443989" y="4314423"/>
            <a:ext cx="914400" cy="914400"/>
          </a:xfrm>
          <a:prstGeom prst="bentConnector3">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9345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845</TotalTime>
  <Words>1012</Words>
  <Application>Microsoft Office PowerPoint</Application>
  <PresentationFormat>Widescreen</PresentationFormat>
  <Paragraphs>69</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Wingdings</vt:lpstr>
      <vt:lpstr>Office Theme</vt:lpstr>
      <vt:lpstr>The Partition of Bengal , 1905-1911  Dr. Saleh Shahriar  NSU</vt:lpstr>
      <vt:lpstr>Historical Background: </vt:lpstr>
      <vt:lpstr>PowerPoint Presentation</vt:lpstr>
      <vt:lpstr>PowerPoint Presentation</vt:lpstr>
      <vt:lpstr>PowerPoint Presentation</vt:lpstr>
      <vt:lpstr>PowerPoint Presentation</vt:lpstr>
      <vt:lpstr>Eastern Bengal and Assam: Creation of a New Province </vt:lpstr>
      <vt:lpstr>Why?</vt:lpstr>
      <vt:lpstr>Mixed Reactions: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University of Dhaka</vt:lpstr>
      <vt:lpstr>PowerPoint Presentation</vt:lpstr>
      <vt:lpstr>PowerPoint Presentation</vt:lpstr>
      <vt:lpstr>PowerPoint Presentation</vt:lpstr>
      <vt:lpstr>Fuller Road </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partition of Bengal, 1905</dc:title>
  <dc:creator>User</dc:creator>
  <cp:lastModifiedBy>NSU</cp:lastModifiedBy>
  <cp:revision>463</cp:revision>
  <dcterms:created xsi:type="dcterms:W3CDTF">2020-11-19T02:37:22Z</dcterms:created>
  <dcterms:modified xsi:type="dcterms:W3CDTF">2024-03-05T04:49:53Z</dcterms:modified>
</cp:coreProperties>
</file>