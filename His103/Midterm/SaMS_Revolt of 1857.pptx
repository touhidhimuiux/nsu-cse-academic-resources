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1" r:id="rId1"/>
  </p:sldMasterIdLst>
  <p:sldIdLst>
    <p:sldId id="256" r:id="rId2"/>
    <p:sldId id="257" r:id="rId3"/>
    <p:sldId id="259" r:id="rId4"/>
    <p:sldId id="301" r:id="rId5"/>
    <p:sldId id="260" r:id="rId6"/>
    <p:sldId id="295" r:id="rId7"/>
    <p:sldId id="294" r:id="rId8"/>
    <p:sldId id="283" r:id="rId9"/>
    <p:sldId id="284" r:id="rId10"/>
    <p:sldId id="292" r:id="rId11"/>
    <p:sldId id="261" r:id="rId12"/>
    <p:sldId id="263" r:id="rId13"/>
    <p:sldId id="286" r:id="rId14"/>
    <p:sldId id="296" r:id="rId15"/>
    <p:sldId id="299" r:id="rId16"/>
    <p:sldId id="300" r:id="rId17"/>
    <p:sldId id="297" r:id="rId18"/>
    <p:sldId id="302" r:id="rId19"/>
    <p:sldId id="303" r:id="rId20"/>
    <p:sldId id="298" r:id="rId21"/>
    <p:sldId id="266" r:id="rId22"/>
    <p:sldId id="304" r:id="rId23"/>
    <p:sldId id="27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4890" autoAdjust="0"/>
    <p:restoredTop sz="94660"/>
  </p:normalViewPr>
  <p:slideViewPr>
    <p:cSldViewPr snapToGrid="0">
      <p:cViewPr varScale="1">
        <p:scale>
          <a:sx n="85" d="100"/>
          <a:sy n="85" d="100"/>
        </p:scale>
        <p:origin x="522"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F239A9A-B4B0-4B32-B8CD-2E25E95134C4}" type="datetimeFigureOut">
              <a:rPr lang="en-US" smtClean="0"/>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845778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91E21DC-8981-44E6-BC8C-2BA8F673FFBB}" type="datetimeFigureOut">
              <a:rPr lang="en-US" smtClean="0"/>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713485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EB9C5D3-0140-4E75-8D7F-C0623D06DFD7}" type="datetimeFigureOut">
              <a:rPr lang="en-US" smtClean="0"/>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82957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5666F9-5B40-48E0-8DFD-99EF944CDD22}" type="datetimeFigureOut">
              <a:rPr lang="en-US" smtClean="0"/>
              <a:t>2/22/2026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76781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A698D6B-2C72-4E21-9893-A649C6E2A47D}" type="datetimeFigureOut">
              <a:rPr lang="en-US" smtClean="0"/>
              <a:t>2/22/2026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87048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86811C9-A66C-49F0-970E-F7B68D9109A0}" type="datetimeFigureOut">
              <a:rPr lang="en-US" smtClean="0"/>
              <a:t>2/22/2026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07732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01AE78-96A2-4A23-B183-3B6DB4374FE7}" type="datetimeFigureOut">
              <a:rPr lang="en-US" smtClean="0"/>
              <a:t>2/22/2026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52709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3AE0757-B101-4811-9189-10EB2F458E2D}" type="datetimeFigureOut">
              <a:rPr lang="en-US" smtClean="0"/>
              <a:t>2/22/2026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916189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BDC078-589F-40E3-816C-EE21D62B5BBA}" type="datetimeFigureOut">
              <a:rPr lang="en-US" smtClean="0"/>
              <a:t>2/22/2026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98682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B61E721-B01C-4D5D-A3CA-2E5518383F10}" type="datetimeFigureOut">
              <a:rPr lang="en-US" smtClean="0"/>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36604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513FEF9-69D0-4F8C-A336-59491FBEDC47}" type="datetimeFigureOut">
              <a:rPr lang="en-US" smtClean="0"/>
              <a:t>2/22/2026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119605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004436-CA73-4D53-89B4-2A5C7347BF2F}" type="datetimeFigureOut">
              <a:rPr lang="en-US" smtClean="0"/>
              <a:t>2/22/2026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758268886"/>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12801" y="1555335"/>
            <a:ext cx="8839199" cy="4751460"/>
          </a:xfrm>
        </p:spPr>
        <p:txBody>
          <a:bodyPr>
            <a:normAutofit/>
          </a:bodyPr>
          <a:lstStyle/>
          <a:p>
            <a:pPr algn="l"/>
            <a:r>
              <a:rPr lang="en-US" sz="5400" i="1" dirty="0"/>
              <a:t>Emergence of Bangladesh </a:t>
            </a:r>
            <a:endParaRPr lang="en-US" sz="5400" dirty="0"/>
          </a:p>
          <a:p>
            <a:pPr algn="l"/>
            <a:r>
              <a:rPr lang="en-US" sz="5400" dirty="0"/>
              <a:t>North South University</a:t>
            </a:r>
          </a:p>
          <a:p>
            <a:pPr algn="l"/>
            <a:r>
              <a:rPr lang="en-US" sz="5400" dirty="0"/>
              <a:t>Dhaka, Bangladesh </a:t>
            </a:r>
          </a:p>
          <a:p>
            <a:pPr algn="l"/>
            <a:r>
              <a:rPr lang="en-US" sz="5400" dirty="0"/>
              <a:t>HIS 103, </a:t>
            </a:r>
            <a:r>
              <a:rPr lang="en-US" sz="5400" dirty="0" err="1"/>
              <a:t>SaMS</a:t>
            </a:r>
            <a:endParaRPr lang="en-US" sz="5400" dirty="0"/>
          </a:p>
        </p:txBody>
      </p:sp>
    </p:spTree>
    <p:extLst>
      <p:ext uri="{BB962C8B-B14F-4D97-AF65-F5344CB8AC3E}">
        <p14:creationId xmlns:p14="http://schemas.microsoft.com/office/powerpoint/2010/main" val="429153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20" y="1893194"/>
            <a:ext cx="11323178" cy="2034862"/>
          </a:xfrm>
        </p:spPr>
        <p:txBody>
          <a:bodyPr>
            <a:normAutofit/>
          </a:bodyPr>
          <a:lstStyle/>
          <a:p>
            <a:pPr algn="ctr"/>
            <a:r>
              <a:rPr lang="en-US" dirty="0"/>
              <a:t>THE REVOLT OF 1857 </a:t>
            </a:r>
          </a:p>
        </p:txBody>
      </p:sp>
    </p:spTree>
    <p:extLst>
      <p:ext uri="{BB962C8B-B14F-4D97-AF65-F5344CB8AC3E}">
        <p14:creationId xmlns:p14="http://schemas.microsoft.com/office/powerpoint/2010/main" val="10570799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12749" y="753228"/>
            <a:ext cx="9781434" cy="1080938"/>
          </a:xfrm>
        </p:spPr>
        <p:txBody>
          <a:bodyPr/>
          <a:lstStyle/>
          <a:p>
            <a:r>
              <a:rPr lang="en-US" dirty="0"/>
              <a:t>HISTORICAL BACKGROUND </a:t>
            </a:r>
          </a:p>
        </p:txBody>
      </p:sp>
      <p:sp>
        <p:nvSpPr>
          <p:cNvPr id="3" name="Content Placeholder 2"/>
          <p:cNvSpPr>
            <a:spLocks noGrp="1"/>
          </p:cNvSpPr>
          <p:nvPr>
            <p:ph idx="1"/>
          </p:nvPr>
        </p:nvSpPr>
        <p:spPr>
          <a:xfrm>
            <a:off x="256374" y="2042444"/>
            <a:ext cx="11827379" cy="4606183"/>
          </a:xfrm>
        </p:spPr>
        <p:txBody>
          <a:bodyPr>
            <a:normAutofit lnSpcReduction="10000"/>
          </a:bodyPr>
          <a:lstStyle/>
          <a:p>
            <a:pPr>
              <a:buFont typeface="Wingdings" panose="05000000000000000000" pitchFamily="2" charset="2"/>
              <a:buChar char="ü"/>
            </a:pPr>
            <a:r>
              <a:rPr lang="en-US" b="1" dirty="0">
                <a:effectLst/>
              </a:rPr>
              <a:t>The earliest rebellion was sparked by </a:t>
            </a:r>
            <a:r>
              <a:rPr lang="en-US" b="1" i="1" dirty="0">
                <a:effectLst/>
              </a:rPr>
              <a:t>Fakir-</a:t>
            </a:r>
            <a:r>
              <a:rPr lang="en-US" b="1" i="1" dirty="0" err="1">
                <a:effectLst/>
              </a:rPr>
              <a:t>Sannasis</a:t>
            </a:r>
            <a:r>
              <a:rPr lang="en-US" b="1" dirty="0">
                <a:effectLst/>
              </a:rPr>
              <a:t> in mid-1760s and continued for three decades subsequently. The BEIC banned the offering of money, food, or shelter to the Muslim Fakirs and Hindu </a:t>
            </a:r>
            <a:r>
              <a:rPr lang="en-US" b="1" dirty="0" err="1">
                <a:effectLst/>
              </a:rPr>
              <a:t>Sannasis</a:t>
            </a:r>
            <a:r>
              <a:rPr lang="en-US" b="1" dirty="0">
                <a:effectLst/>
              </a:rPr>
              <a:t>.</a:t>
            </a:r>
          </a:p>
          <a:p>
            <a:pPr>
              <a:buFont typeface="Wingdings" panose="05000000000000000000" pitchFamily="2" charset="2"/>
              <a:buChar char="ü"/>
            </a:pPr>
            <a:r>
              <a:rPr lang="en-US" b="1" dirty="0">
                <a:effectLst/>
              </a:rPr>
              <a:t>The </a:t>
            </a:r>
            <a:r>
              <a:rPr lang="en-US" b="1" dirty="0" err="1">
                <a:solidFill>
                  <a:srgbClr val="FF0000"/>
                </a:solidFill>
                <a:effectLst/>
              </a:rPr>
              <a:t>Tebhaga</a:t>
            </a:r>
            <a:r>
              <a:rPr lang="en-US" b="1" dirty="0">
                <a:solidFill>
                  <a:srgbClr val="FF0000"/>
                </a:solidFill>
                <a:effectLst/>
              </a:rPr>
              <a:t> movement </a:t>
            </a:r>
            <a:r>
              <a:rPr lang="en-US" b="1" dirty="0">
                <a:effectLst/>
              </a:rPr>
              <a:t>in 1946 launched by the harvesters who demanded two-thirds of the produce for themselves and one-third for the absentee landlords. </a:t>
            </a:r>
          </a:p>
          <a:p>
            <a:pPr>
              <a:buFont typeface="Wingdings" panose="05000000000000000000" pitchFamily="2" charset="2"/>
              <a:buChar char="ü"/>
            </a:pPr>
            <a:r>
              <a:rPr lang="en-US" b="1" dirty="0">
                <a:effectLst/>
              </a:rPr>
              <a:t>Famines, poverty , Class struggle ( </a:t>
            </a:r>
            <a:r>
              <a:rPr lang="en-US" b="1" dirty="0" err="1">
                <a:effectLst/>
              </a:rPr>
              <a:t>Zamimdari</a:t>
            </a:r>
            <a:r>
              <a:rPr lang="en-US" b="1" dirty="0">
                <a:effectLst/>
              </a:rPr>
              <a:t> system, poor farmers etc. ) </a:t>
            </a:r>
          </a:p>
          <a:p>
            <a:pPr>
              <a:buFont typeface="Wingdings" panose="05000000000000000000" pitchFamily="2" charset="2"/>
              <a:buChar char="ü"/>
            </a:pPr>
            <a:r>
              <a:rPr lang="en-US" b="1" dirty="0">
                <a:effectLst/>
              </a:rPr>
              <a:t>British Plundering of Bengal resources</a:t>
            </a:r>
          </a:p>
          <a:p>
            <a:pPr>
              <a:buFont typeface="Wingdings" panose="05000000000000000000" pitchFamily="2" charset="2"/>
              <a:buChar char="ü"/>
            </a:pPr>
            <a:r>
              <a:rPr lang="en-US" b="1" dirty="0">
                <a:effectLst/>
              </a:rPr>
              <a:t>Exploitative land administration &amp; the permanent settlement of 1793</a:t>
            </a:r>
          </a:p>
          <a:p>
            <a:pPr>
              <a:buFont typeface="Wingdings" panose="05000000000000000000" pitchFamily="2" charset="2"/>
              <a:buChar char="ü"/>
            </a:pPr>
            <a:r>
              <a:rPr lang="en-US" b="1" dirty="0">
                <a:effectLst/>
              </a:rPr>
              <a:t>Discontent/ dissatisfaction of the peasants for the expansion of poppy growing areas</a:t>
            </a:r>
          </a:p>
          <a:p>
            <a:pPr>
              <a:buFont typeface="Wingdings" panose="05000000000000000000" pitchFamily="2" charset="2"/>
              <a:buChar char="q"/>
            </a:pPr>
            <a:endParaRPr lang="en-US" b="1" dirty="0">
              <a:effectLst/>
            </a:endParaRPr>
          </a:p>
          <a:p>
            <a:pPr marL="0" indent="0">
              <a:buNone/>
            </a:pPr>
            <a:endParaRPr lang="en-US" b="1" dirty="0">
              <a:effectLst/>
            </a:endParaRPr>
          </a:p>
        </p:txBody>
      </p:sp>
    </p:spTree>
    <p:extLst>
      <p:ext uri="{BB962C8B-B14F-4D97-AF65-F5344CB8AC3E}">
        <p14:creationId xmlns:p14="http://schemas.microsoft.com/office/powerpoint/2010/main" val="1813408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521293"/>
            <a:ext cx="11237007" cy="5655670"/>
          </a:xfrm>
        </p:spPr>
        <p:txBody>
          <a:bodyPr/>
          <a:lstStyle/>
          <a:p>
            <a:pPr algn="just"/>
            <a:r>
              <a:rPr lang="en-US" dirty="0"/>
              <a:t>The </a:t>
            </a:r>
            <a:r>
              <a:rPr lang="en-US" dirty="0">
                <a:solidFill>
                  <a:srgbClr val="FF0000"/>
                </a:solidFill>
              </a:rPr>
              <a:t>agrarian structure </a:t>
            </a:r>
            <a:r>
              <a:rPr lang="en-US" dirty="0"/>
              <a:t>that emerged out of the </a:t>
            </a:r>
            <a:r>
              <a:rPr lang="en-US" dirty="0">
                <a:solidFill>
                  <a:srgbClr val="FF0000"/>
                </a:solidFill>
              </a:rPr>
              <a:t>Permanent Settlement </a:t>
            </a:r>
            <a:r>
              <a:rPr lang="en-US" dirty="0"/>
              <a:t>was composed of the </a:t>
            </a:r>
            <a:r>
              <a:rPr lang="en-US" i="1" dirty="0" err="1"/>
              <a:t>zamindars</a:t>
            </a:r>
            <a:r>
              <a:rPr lang="en-US" i="1" dirty="0"/>
              <a:t> </a:t>
            </a:r>
            <a:r>
              <a:rPr lang="en-US" dirty="0"/>
              <a:t>at the top, beneath them the tenure-holders (both independent and dependent), then the</a:t>
            </a:r>
            <a:r>
              <a:rPr lang="en-US" dirty="0">
                <a:solidFill>
                  <a:srgbClr val="FF0000"/>
                </a:solidFill>
              </a:rPr>
              <a:t> </a:t>
            </a:r>
            <a:r>
              <a:rPr lang="en-US" i="1" dirty="0" err="1">
                <a:solidFill>
                  <a:srgbClr val="FF0000"/>
                </a:solidFill>
              </a:rPr>
              <a:t>ryots</a:t>
            </a:r>
            <a:r>
              <a:rPr lang="en-US" i="1" dirty="0"/>
              <a:t>, </a:t>
            </a:r>
            <a:r>
              <a:rPr lang="en-US" dirty="0"/>
              <a:t>and the under-</a:t>
            </a:r>
            <a:r>
              <a:rPr lang="en-US" dirty="0" err="1"/>
              <a:t>ryots</a:t>
            </a:r>
            <a:r>
              <a:rPr lang="en-US" dirty="0"/>
              <a:t> below them. The sharecroppers, commonly known as </a:t>
            </a:r>
            <a:r>
              <a:rPr lang="en-US" i="1" dirty="0" err="1"/>
              <a:t>bargadars</a:t>
            </a:r>
            <a:r>
              <a:rPr lang="en-US" i="1" dirty="0"/>
              <a:t>, </a:t>
            </a:r>
            <a:r>
              <a:rPr lang="en-US" i="1" dirty="0" err="1"/>
              <a:t>adhiars</a:t>
            </a:r>
            <a:r>
              <a:rPr lang="en-US" i="1" dirty="0"/>
              <a:t> </a:t>
            </a:r>
            <a:r>
              <a:rPr lang="en-US" dirty="0"/>
              <a:t>and </a:t>
            </a:r>
            <a:r>
              <a:rPr lang="en-US" i="1" dirty="0" err="1"/>
              <a:t>bhagchashis</a:t>
            </a:r>
            <a:r>
              <a:rPr lang="en-US" i="1" dirty="0"/>
              <a:t>, </a:t>
            </a:r>
            <a:r>
              <a:rPr lang="en-US" dirty="0"/>
              <a:t>were at the bottom of the structure, along with the landless </a:t>
            </a:r>
            <a:r>
              <a:rPr lang="en-US" dirty="0" err="1"/>
              <a:t>labourers</a:t>
            </a:r>
            <a:r>
              <a:rPr lang="en-US" dirty="0"/>
              <a:t> or </a:t>
            </a:r>
            <a:r>
              <a:rPr lang="en-US" i="1" dirty="0" err="1"/>
              <a:t>khet-mazdoors</a:t>
            </a:r>
            <a:r>
              <a:rPr lang="en-US" i="1" dirty="0"/>
              <a:t>  .</a:t>
            </a:r>
            <a:endParaRPr lang="en-US" dirty="0"/>
          </a:p>
        </p:txBody>
      </p:sp>
    </p:spTree>
    <p:extLst>
      <p:ext uri="{BB962C8B-B14F-4D97-AF65-F5344CB8AC3E}">
        <p14:creationId xmlns:p14="http://schemas.microsoft.com/office/powerpoint/2010/main" val="4055562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11095" y="358924"/>
            <a:ext cx="2579096" cy="777668"/>
          </a:xfrm>
        </p:spPr>
        <p:txBody>
          <a:bodyPr>
            <a:normAutofit/>
          </a:bodyPr>
          <a:lstStyle/>
          <a:p>
            <a:r>
              <a:rPr lang="en-US" dirty="0"/>
              <a:t>Features: </a:t>
            </a:r>
          </a:p>
        </p:txBody>
      </p:sp>
      <p:sp>
        <p:nvSpPr>
          <p:cNvPr id="4" name="Content Placeholder 3"/>
          <p:cNvSpPr>
            <a:spLocks noGrp="1"/>
          </p:cNvSpPr>
          <p:nvPr>
            <p:ph idx="1"/>
          </p:nvPr>
        </p:nvSpPr>
        <p:spPr>
          <a:xfrm>
            <a:off x="111095" y="1136593"/>
            <a:ext cx="11844471" cy="5614586"/>
          </a:xfrm>
        </p:spPr>
        <p:style>
          <a:lnRef idx="2">
            <a:schemeClr val="accent1"/>
          </a:lnRef>
          <a:fillRef idx="1">
            <a:schemeClr val="lt1"/>
          </a:fillRef>
          <a:effectRef idx="0">
            <a:schemeClr val="accent1"/>
          </a:effectRef>
          <a:fontRef idx="minor">
            <a:schemeClr val="dk1"/>
          </a:fontRef>
        </p:style>
        <p:txBody>
          <a:bodyPr>
            <a:normAutofit lnSpcReduction="10000"/>
          </a:bodyPr>
          <a:lstStyle/>
          <a:p>
            <a:r>
              <a:rPr lang="en-US" dirty="0">
                <a:effectLst/>
              </a:rPr>
              <a:t>Out of hundred plus rebellion that took place over 190 years of colonial rule, the most striking one participated by </a:t>
            </a:r>
            <a:r>
              <a:rPr lang="en-US" dirty="0">
                <a:solidFill>
                  <a:srgbClr val="FF0000"/>
                </a:solidFill>
                <a:effectLst/>
              </a:rPr>
              <a:t>impoverished </a:t>
            </a:r>
            <a:r>
              <a:rPr lang="en-US" dirty="0">
                <a:solidFill>
                  <a:srgbClr val="FF0000"/>
                </a:solidFill>
              </a:rPr>
              <a:t>farmers </a:t>
            </a:r>
            <a:r>
              <a:rPr lang="en-US" dirty="0">
                <a:solidFill>
                  <a:srgbClr val="FF0000"/>
                </a:solidFill>
                <a:effectLst/>
              </a:rPr>
              <a:t> </a:t>
            </a:r>
            <a:r>
              <a:rPr lang="en-US" dirty="0">
                <a:effectLst/>
              </a:rPr>
              <a:t>was the uprising of 1857</a:t>
            </a:r>
          </a:p>
          <a:p>
            <a:r>
              <a:rPr lang="en-US" b="1" dirty="0"/>
              <a:t>The Revolt of 1857</a:t>
            </a:r>
            <a:r>
              <a:rPr lang="en-US" dirty="0"/>
              <a:t> started at</a:t>
            </a:r>
            <a:r>
              <a:rPr lang="en-US" dirty="0">
                <a:solidFill>
                  <a:srgbClr val="FF0000"/>
                </a:solidFill>
              </a:rPr>
              <a:t> </a:t>
            </a:r>
            <a:r>
              <a:rPr lang="en-US" dirty="0" err="1">
                <a:solidFill>
                  <a:srgbClr val="FF0000"/>
                </a:solidFill>
              </a:rPr>
              <a:t>Barrackpur</a:t>
            </a:r>
            <a:r>
              <a:rPr lang="en-US" dirty="0">
                <a:solidFill>
                  <a:srgbClr val="FF0000"/>
                </a:solidFill>
              </a:rPr>
              <a:t> </a:t>
            </a:r>
            <a:r>
              <a:rPr lang="en-US" dirty="0"/>
              <a:t>under the leadership of </a:t>
            </a:r>
            <a:r>
              <a:rPr lang="en-US" dirty="0" err="1">
                <a:solidFill>
                  <a:srgbClr val="FF0000"/>
                </a:solidFill>
              </a:rPr>
              <a:t>Mangal</a:t>
            </a:r>
            <a:r>
              <a:rPr lang="en-US" dirty="0">
                <a:solidFill>
                  <a:srgbClr val="FF0000"/>
                </a:solidFill>
              </a:rPr>
              <a:t> Pandey </a:t>
            </a:r>
            <a:r>
              <a:rPr lang="en-US" dirty="0"/>
              <a:t>on 29 March 1857 and soon spread to Meerut, Delhi and other parts of India. It created serious tension throughout Bangladesh. The resistance in Chittagong and Dhaka and skirmishes at </a:t>
            </a:r>
            <a:r>
              <a:rPr lang="en-US" dirty="0" err="1"/>
              <a:t>Sylhet</a:t>
            </a:r>
            <a:r>
              <a:rPr lang="en-US" dirty="0"/>
              <a:t>, </a:t>
            </a:r>
            <a:r>
              <a:rPr lang="en-US" dirty="0" err="1"/>
              <a:t>Jessore</a:t>
            </a:r>
            <a:r>
              <a:rPr lang="en-US" dirty="0"/>
              <a:t>, </a:t>
            </a:r>
            <a:r>
              <a:rPr lang="en-US" dirty="0" err="1"/>
              <a:t>Rangpur</a:t>
            </a:r>
            <a:r>
              <a:rPr lang="en-US" dirty="0"/>
              <a:t>, </a:t>
            </a:r>
            <a:r>
              <a:rPr lang="en-US" dirty="0" err="1"/>
              <a:t>Pabna</a:t>
            </a:r>
            <a:r>
              <a:rPr lang="en-US" dirty="0"/>
              <a:t> and </a:t>
            </a:r>
            <a:r>
              <a:rPr lang="en-US" dirty="0" err="1"/>
              <a:t>Dinajpur</a:t>
            </a:r>
            <a:r>
              <a:rPr lang="en-US" dirty="0"/>
              <a:t> had left Bangladesh in a state of alert and excitement. The rebellion spread to the various parts of poppy growing areas in northern India. The Revolt of 1857 is regarded as the </a:t>
            </a:r>
            <a:r>
              <a:rPr lang="en-US" dirty="0">
                <a:solidFill>
                  <a:srgbClr val="FF0000"/>
                </a:solidFill>
              </a:rPr>
              <a:t>FIRST INDIAN INDEPENDENCE MOVEMENT/WAR OF INDEPENDENCE</a:t>
            </a:r>
          </a:p>
          <a:p>
            <a:r>
              <a:rPr lang="en-US" dirty="0"/>
              <a:t> On 18 November 1857 the Native Infantry of Chittagong rose in open rebellion and released all prisoners from the jail. They seized arms and ammunition, ransacked the treasury, set the Magazine House on fire and proceeded towards </a:t>
            </a:r>
            <a:r>
              <a:rPr lang="en-US" dirty="0" err="1"/>
              <a:t>Tippera</a:t>
            </a:r>
            <a:r>
              <a:rPr lang="en-US" dirty="0"/>
              <a:t>.</a:t>
            </a:r>
          </a:p>
          <a:p>
            <a:endParaRPr lang="en-US" b="1" dirty="0">
              <a:effectLst/>
            </a:endParaRPr>
          </a:p>
          <a:p>
            <a:endParaRPr lang="en-US" dirty="0"/>
          </a:p>
        </p:txBody>
      </p:sp>
    </p:spTree>
    <p:extLst>
      <p:ext uri="{BB962C8B-B14F-4D97-AF65-F5344CB8AC3E}">
        <p14:creationId xmlns:p14="http://schemas.microsoft.com/office/powerpoint/2010/main" val="1257018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5616" y="1619025"/>
            <a:ext cx="11077579" cy="4234843"/>
          </a:xfrm>
        </p:spPr>
        <p:style>
          <a:lnRef idx="2">
            <a:schemeClr val="dk1"/>
          </a:lnRef>
          <a:fillRef idx="1">
            <a:schemeClr val="lt1"/>
          </a:fillRef>
          <a:effectRef idx="0">
            <a:schemeClr val="dk1"/>
          </a:effectRef>
          <a:fontRef idx="minor">
            <a:schemeClr val="dk1"/>
          </a:fontRef>
        </p:style>
        <p:txBody>
          <a:bodyPr>
            <a:noAutofit/>
          </a:bodyPr>
          <a:lstStyle/>
          <a:p>
            <a:pPr algn="just"/>
            <a:r>
              <a:rPr lang="en-US" sz="3200" dirty="0"/>
              <a:t>Several studies indicate that the mass uprising was </a:t>
            </a:r>
            <a:r>
              <a:rPr lang="en-US" sz="3200" dirty="0">
                <a:solidFill>
                  <a:srgbClr val="FF0000"/>
                </a:solidFill>
              </a:rPr>
              <a:t>more serious </a:t>
            </a:r>
            <a:r>
              <a:rPr lang="en-US" sz="3200" dirty="0"/>
              <a:t>in </a:t>
            </a:r>
            <a:r>
              <a:rPr lang="en-US" sz="3200" dirty="0">
                <a:solidFill>
                  <a:schemeClr val="tx1"/>
                </a:solidFill>
              </a:rPr>
              <a:t>the </a:t>
            </a:r>
            <a:r>
              <a:rPr lang="en-US" sz="3200" dirty="0">
                <a:solidFill>
                  <a:srgbClr val="FF0000"/>
                </a:solidFill>
              </a:rPr>
              <a:t>poppy-growing areas of northern India</a:t>
            </a:r>
            <a:r>
              <a:rPr lang="en-US" sz="3200" dirty="0">
                <a:solidFill>
                  <a:schemeClr val="tx1"/>
                </a:solidFill>
              </a:rPr>
              <a:t>. </a:t>
            </a:r>
            <a:r>
              <a:rPr lang="en-US" sz="3200" dirty="0"/>
              <a:t>On the other hand, people in the south generally aided the British colonial government. The most vulnerable areas were Oudh, </a:t>
            </a:r>
            <a:r>
              <a:rPr lang="en-US" sz="3200" dirty="0" err="1"/>
              <a:t>Rohilkhand</a:t>
            </a:r>
            <a:r>
              <a:rPr lang="en-US" sz="3200" dirty="0"/>
              <a:t>, </a:t>
            </a:r>
            <a:r>
              <a:rPr lang="en-US" sz="3200" dirty="0" err="1"/>
              <a:t>Doad</a:t>
            </a:r>
            <a:r>
              <a:rPr lang="en-US" sz="3200" dirty="0"/>
              <a:t>, Meerut, Bengal, Bihar, Benares, Gujarat, Bombay, and </a:t>
            </a:r>
            <a:r>
              <a:rPr lang="en-US" sz="3200" dirty="0" err="1"/>
              <a:t>Allahabd</a:t>
            </a:r>
            <a:r>
              <a:rPr lang="en-US" sz="3200" dirty="0"/>
              <a:t> where the </a:t>
            </a:r>
            <a:r>
              <a:rPr lang="en-US" sz="3200" dirty="0">
                <a:solidFill>
                  <a:srgbClr val="FF0000"/>
                </a:solidFill>
              </a:rPr>
              <a:t>rural population extensively took part with the urban people in the uprising. </a:t>
            </a:r>
          </a:p>
        </p:txBody>
      </p:sp>
    </p:spTree>
    <p:extLst>
      <p:ext uri="{BB962C8B-B14F-4D97-AF65-F5344CB8AC3E}">
        <p14:creationId xmlns:p14="http://schemas.microsoft.com/office/powerpoint/2010/main" val="1007001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7652" y="658026"/>
            <a:ext cx="9455488" cy="1176140"/>
          </a:xfrm>
        </p:spPr>
        <p:txBody>
          <a:bodyPr>
            <a:normAutofit fontScale="90000"/>
          </a:bodyPr>
          <a:lstStyle/>
          <a:p>
            <a:r>
              <a:rPr lang="en-US" dirty="0"/>
              <a:t>Poppy growing areas in northern India under the BEIC :</a:t>
            </a:r>
          </a:p>
        </p:txBody>
      </p:sp>
      <p:pic>
        <p:nvPicPr>
          <p:cNvPr id="10" name="Picture 9"/>
          <p:cNvPicPr>
            <a:picLocks noChangeAspect="1"/>
          </p:cNvPicPr>
          <p:nvPr/>
        </p:nvPicPr>
        <p:blipFill>
          <a:blip r:embed="rId2"/>
          <a:stretch>
            <a:fillRect/>
          </a:stretch>
        </p:blipFill>
        <p:spPr>
          <a:xfrm>
            <a:off x="1325217" y="1834166"/>
            <a:ext cx="9057923" cy="3851017"/>
          </a:xfrm>
          <a:prstGeom prst="rect">
            <a:avLst/>
          </a:prstGeom>
        </p:spPr>
      </p:pic>
    </p:spTree>
    <p:extLst>
      <p:ext uri="{BB962C8B-B14F-4D97-AF65-F5344CB8AC3E}">
        <p14:creationId xmlns:p14="http://schemas.microsoft.com/office/powerpoint/2010/main" val="1538915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Mangal</a:t>
            </a:r>
            <a:r>
              <a:rPr lang="en-US" dirty="0"/>
              <a:t> Pandey : A brave soldier  </a:t>
            </a:r>
          </a:p>
        </p:txBody>
      </p:sp>
      <p:sp>
        <p:nvSpPr>
          <p:cNvPr id="3" name="Content Placeholder 2"/>
          <p:cNvSpPr>
            <a:spLocks noGrp="1"/>
          </p:cNvSpPr>
          <p:nvPr>
            <p:ph idx="1"/>
          </p:nvPr>
        </p:nvSpPr>
        <p:spPr>
          <a:xfrm>
            <a:off x="680321" y="2336873"/>
            <a:ext cx="10659948" cy="4192114"/>
          </a:xfrm>
        </p:spPr>
        <p:txBody>
          <a:bodyPr>
            <a:normAutofit/>
          </a:bodyPr>
          <a:lstStyle/>
          <a:p>
            <a:r>
              <a:rPr lang="en-US" dirty="0"/>
              <a:t>The rebellion spread to the various parts of poppy growing areas in northern India. </a:t>
            </a:r>
          </a:p>
        </p:txBody>
      </p:sp>
      <p:pic>
        <p:nvPicPr>
          <p:cNvPr id="5" name="Content Placeholder 1"/>
          <p:cNvPicPr>
            <a:picLocks noChangeAspect="1"/>
          </p:cNvPicPr>
          <p:nvPr/>
        </p:nvPicPr>
        <p:blipFill>
          <a:blip r:embed="rId2"/>
          <a:stretch>
            <a:fillRect/>
          </a:stretch>
        </p:blipFill>
        <p:spPr>
          <a:xfrm>
            <a:off x="4801473" y="3114993"/>
            <a:ext cx="3294204" cy="3413994"/>
          </a:xfrm>
          <a:prstGeom prst="rect">
            <a:avLst/>
          </a:prstGeom>
        </p:spPr>
      </p:pic>
    </p:spTree>
    <p:extLst>
      <p:ext uri="{BB962C8B-B14F-4D97-AF65-F5344CB8AC3E}">
        <p14:creationId xmlns:p14="http://schemas.microsoft.com/office/powerpoint/2010/main" val="3590491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5861" y="1497496"/>
            <a:ext cx="10999304" cy="4387418"/>
          </a:xfrm>
        </p:spPr>
        <p:style>
          <a:lnRef idx="2">
            <a:schemeClr val="accent1"/>
          </a:lnRef>
          <a:fillRef idx="1">
            <a:schemeClr val="lt1"/>
          </a:fillRef>
          <a:effectRef idx="0">
            <a:schemeClr val="accent1"/>
          </a:effectRef>
          <a:fontRef idx="minor">
            <a:schemeClr val="dk1"/>
          </a:fontRef>
        </p:style>
        <p:txBody>
          <a:bodyPr>
            <a:normAutofit/>
          </a:bodyPr>
          <a:lstStyle/>
          <a:p>
            <a:pPr algn="just"/>
            <a:r>
              <a:rPr lang="en-US" dirty="0"/>
              <a:t>The war was deadly in </a:t>
            </a:r>
            <a:r>
              <a:rPr lang="en-US" dirty="0">
                <a:solidFill>
                  <a:srgbClr val="FF0000"/>
                </a:solidFill>
              </a:rPr>
              <a:t>Oudh</a:t>
            </a:r>
            <a:r>
              <a:rPr lang="en-US" dirty="0"/>
              <a:t>, where over 100,000 civilian-armed men joined in the rebellion.  The annexation of </a:t>
            </a:r>
            <a:r>
              <a:rPr lang="en-US" dirty="0">
                <a:solidFill>
                  <a:srgbClr val="FF0000"/>
                </a:solidFill>
              </a:rPr>
              <a:t>Oudh</a:t>
            </a:r>
            <a:r>
              <a:rPr lang="en-US" dirty="0"/>
              <a:t> in August 1856 was described by </a:t>
            </a:r>
            <a:r>
              <a:rPr lang="en-US" dirty="0">
                <a:solidFill>
                  <a:srgbClr val="FF0000"/>
                </a:solidFill>
              </a:rPr>
              <a:t>Ralph Moore </a:t>
            </a:r>
            <a:r>
              <a:rPr lang="en-US" dirty="0"/>
              <a:t>as </a:t>
            </a:r>
            <a:r>
              <a:rPr lang="en-US" dirty="0">
                <a:solidFill>
                  <a:srgbClr val="FF0000"/>
                </a:solidFill>
              </a:rPr>
              <a:t>'the blackest crime' </a:t>
            </a:r>
            <a:r>
              <a:rPr lang="en-US" dirty="0"/>
              <a:t>that England ever committed, and was the 'immediate cause' of the </a:t>
            </a:r>
            <a:r>
              <a:rPr lang="en-US" dirty="0">
                <a:solidFill>
                  <a:srgbClr val="FF0000"/>
                </a:solidFill>
              </a:rPr>
              <a:t>so-called </a:t>
            </a:r>
            <a:r>
              <a:rPr lang="en-US" dirty="0" err="1">
                <a:solidFill>
                  <a:srgbClr val="FF0000"/>
                </a:solidFill>
              </a:rPr>
              <a:t>Sepoy</a:t>
            </a:r>
            <a:r>
              <a:rPr lang="en-US" dirty="0">
                <a:solidFill>
                  <a:srgbClr val="FF0000"/>
                </a:solidFill>
              </a:rPr>
              <a:t> Mutiny of 1857</a:t>
            </a:r>
            <a:r>
              <a:rPr lang="en-US" dirty="0"/>
              <a:t>.</a:t>
            </a:r>
          </a:p>
          <a:p>
            <a:pPr algn="just"/>
            <a:endParaRPr lang="en-US" dirty="0"/>
          </a:p>
          <a:p>
            <a:pPr algn="just"/>
            <a:r>
              <a:rPr lang="en-US" dirty="0"/>
              <a:t>Upon suppression of the rebellion by 1860, hundreds of Bengali </a:t>
            </a:r>
            <a:r>
              <a:rPr lang="en-US" dirty="0">
                <a:solidFill>
                  <a:srgbClr val="FF0000"/>
                </a:solidFill>
              </a:rPr>
              <a:t>soldiers were hanged to death </a:t>
            </a:r>
            <a:r>
              <a:rPr lang="en-US" dirty="0"/>
              <a:t>in and around the </a:t>
            </a:r>
            <a:r>
              <a:rPr lang="en-US" dirty="0" err="1">
                <a:solidFill>
                  <a:srgbClr val="FF0000"/>
                </a:solidFill>
              </a:rPr>
              <a:t>Bahadur</a:t>
            </a:r>
            <a:r>
              <a:rPr lang="en-US" dirty="0">
                <a:solidFill>
                  <a:srgbClr val="FF0000"/>
                </a:solidFill>
              </a:rPr>
              <a:t> Shah Park in old Dhaka city today</a:t>
            </a:r>
            <a:r>
              <a:rPr lang="en-US" dirty="0"/>
              <a:t>. </a:t>
            </a:r>
          </a:p>
          <a:p>
            <a:endParaRPr lang="en-US" dirty="0"/>
          </a:p>
        </p:txBody>
      </p:sp>
    </p:spTree>
    <p:extLst>
      <p:ext uri="{BB962C8B-B14F-4D97-AF65-F5344CB8AC3E}">
        <p14:creationId xmlns:p14="http://schemas.microsoft.com/office/powerpoint/2010/main" val="635115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0321" y="2336873"/>
            <a:ext cx="11001780" cy="3599316"/>
          </a:xfrm>
        </p:spPr>
        <p:txBody>
          <a:bodyPr/>
          <a:lstStyle/>
          <a:p>
            <a:r>
              <a:rPr lang="en-US" dirty="0"/>
              <a:t>A great of twisted and misleading history has been written about the rebellion, amongst which the colonial rulers portrayed it as “</a:t>
            </a:r>
            <a:r>
              <a:rPr lang="en-US" dirty="0" err="1"/>
              <a:t>Sepoy</a:t>
            </a:r>
            <a:r>
              <a:rPr lang="en-US" dirty="0"/>
              <a:t> Mutiny” for the convenience of its suppression.</a:t>
            </a:r>
          </a:p>
        </p:txBody>
      </p:sp>
    </p:spTree>
    <p:extLst>
      <p:ext uri="{BB962C8B-B14F-4D97-AF65-F5344CB8AC3E}">
        <p14:creationId xmlns:p14="http://schemas.microsoft.com/office/powerpoint/2010/main" val="1117839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2371" y="717847"/>
            <a:ext cx="11793196" cy="700756"/>
          </a:xfrm>
        </p:spPr>
        <p:txBody>
          <a:bodyPr/>
          <a:lstStyle/>
          <a:p>
            <a:pPr algn="ctr"/>
            <a:r>
              <a:rPr lang="en-US" dirty="0"/>
              <a:t>Mixed Reactions: </a:t>
            </a:r>
          </a:p>
        </p:txBody>
      </p:sp>
      <p:sp>
        <p:nvSpPr>
          <p:cNvPr id="3" name="Content Placeholder 2"/>
          <p:cNvSpPr>
            <a:spLocks noGrp="1"/>
          </p:cNvSpPr>
          <p:nvPr>
            <p:ph idx="1"/>
          </p:nvPr>
        </p:nvSpPr>
        <p:spPr>
          <a:xfrm>
            <a:off x="675861" y="1418603"/>
            <a:ext cx="11159945" cy="5042018"/>
          </a:xfrm>
        </p:spPr>
        <p:style>
          <a:lnRef idx="2">
            <a:schemeClr val="dk1"/>
          </a:lnRef>
          <a:fillRef idx="1">
            <a:schemeClr val="lt1"/>
          </a:fillRef>
          <a:effectRef idx="0">
            <a:schemeClr val="dk1"/>
          </a:effectRef>
          <a:fontRef idx="minor">
            <a:schemeClr val="dk1"/>
          </a:fontRef>
        </p:style>
        <p:txBody>
          <a:bodyPr>
            <a:normAutofit/>
          </a:bodyPr>
          <a:lstStyle/>
          <a:p>
            <a:pPr algn="just"/>
            <a:r>
              <a:rPr lang="en-US" dirty="0">
                <a:solidFill>
                  <a:schemeClr val="tx1"/>
                </a:solidFill>
                <a:effectLst/>
              </a:rPr>
              <a:t>The role and reaction of various classes of people of Bangladesh during the  revolt present a gloomy picture. The </a:t>
            </a:r>
            <a:r>
              <a:rPr lang="en-US" dirty="0">
                <a:solidFill>
                  <a:srgbClr val="FF0000"/>
                </a:solidFill>
                <a:effectLst/>
              </a:rPr>
              <a:t>landed aristocracy </a:t>
            </a:r>
            <a:r>
              <a:rPr lang="en-US" dirty="0">
                <a:solidFill>
                  <a:schemeClr val="tx1"/>
                </a:solidFill>
                <a:effectLst/>
              </a:rPr>
              <a:t>were decidedly opposed to the </a:t>
            </a:r>
            <a:r>
              <a:rPr lang="en-US" dirty="0" err="1">
                <a:solidFill>
                  <a:schemeClr val="tx1"/>
                </a:solidFill>
                <a:effectLst/>
              </a:rPr>
              <a:t>sepoys</a:t>
            </a:r>
            <a:r>
              <a:rPr lang="en-US" dirty="0">
                <a:solidFill>
                  <a:schemeClr val="tx1"/>
                </a:solidFill>
                <a:effectLst/>
              </a:rPr>
              <a:t> and some of them rendered </a:t>
            </a:r>
            <a:r>
              <a:rPr lang="en-US" dirty="0">
                <a:solidFill>
                  <a:srgbClr val="FF0000"/>
                </a:solidFill>
                <a:effectLst/>
              </a:rPr>
              <a:t>logistic support </a:t>
            </a:r>
            <a:r>
              <a:rPr lang="en-US" dirty="0">
                <a:solidFill>
                  <a:schemeClr val="tx1"/>
                </a:solidFill>
                <a:effectLst/>
              </a:rPr>
              <a:t>to the Company authorities by supplying</a:t>
            </a:r>
            <a:r>
              <a:rPr lang="en-US" dirty="0">
                <a:solidFill>
                  <a:srgbClr val="FF0000"/>
                </a:solidFill>
                <a:effectLst/>
              </a:rPr>
              <a:t> carts, carriages and elephants</a:t>
            </a:r>
            <a:r>
              <a:rPr lang="en-US" dirty="0">
                <a:solidFill>
                  <a:schemeClr val="tx1"/>
                </a:solidFill>
                <a:effectLst/>
              </a:rPr>
              <a:t>; informing the movements of the </a:t>
            </a:r>
            <a:r>
              <a:rPr lang="en-US" dirty="0">
                <a:solidFill>
                  <a:srgbClr val="FF0000"/>
                </a:solidFill>
                <a:effectLst/>
              </a:rPr>
              <a:t>fleeing </a:t>
            </a:r>
            <a:r>
              <a:rPr lang="en-US" dirty="0" err="1">
                <a:solidFill>
                  <a:srgbClr val="FF0000"/>
                </a:solidFill>
                <a:effectLst/>
              </a:rPr>
              <a:t>sepoys</a:t>
            </a:r>
            <a:r>
              <a:rPr lang="en-US" dirty="0">
                <a:solidFill>
                  <a:srgbClr val="FF0000"/>
                </a:solidFill>
                <a:effectLst/>
              </a:rPr>
              <a:t> </a:t>
            </a:r>
            <a:r>
              <a:rPr lang="en-US" dirty="0">
                <a:solidFill>
                  <a:schemeClr val="tx1"/>
                </a:solidFill>
                <a:effectLst/>
              </a:rPr>
              <a:t>and finally organizing local volunteer corps to </a:t>
            </a:r>
            <a:r>
              <a:rPr lang="en-US" dirty="0">
                <a:solidFill>
                  <a:srgbClr val="FF0000"/>
                </a:solidFill>
                <a:effectLst/>
              </a:rPr>
              <a:t>resist the </a:t>
            </a:r>
            <a:r>
              <a:rPr lang="en-US" dirty="0" err="1">
                <a:solidFill>
                  <a:srgbClr val="FF0000"/>
                </a:solidFill>
                <a:effectLst/>
              </a:rPr>
              <a:t>sepoys</a:t>
            </a:r>
            <a:r>
              <a:rPr lang="en-US" dirty="0">
                <a:solidFill>
                  <a:srgbClr val="FF0000"/>
                </a:solidFill>
                <a:effectLst/>
              </a:rPr>
              <a:t>.</a:t>
            </a:r>
          </a:p>
          <a:p>
            <a:pPr algn="just"/>
            <a:r>
              <a:rPr lang="en-US" dirty="0">
                <a:solidFill>
                  <a:schemeClr val="tx1"/>
                </a:solidFill>
                <a:effectLst/>
              </a:rPr>
              <a:t>The British government acknowledged such services of the </a:t>
            </a:r>
            <a:r>
              <a:rPr lang="en-US" dirty="0">
                <a:solidFill>
                  <a:srgbClr val="FF0000"/>
                </a:solidFill>
                <a:effectLst/>
              </a:rPr>
              <a:t>landed aristocracy </a:t>
            </a:r>
            <a:r>
              <a:rPr lang="en-US" dirty="0">
                <a:solidFill>
                  <a:schemeClr val="tx1"/>
                </a:solidFill>
                <a:effectLst/>
              </a:rPr>
              <a:t>with thanks and subsequently </a:t>
            </a:r>
            <a:r>
              <a:rPr lang="en-US" dirty="0">
                <a:solidFill>
                  <a:srgbClr val="FF0000"/>
                </a:solidFill>
                <a:effectLst/>
              </a:rPr>
              <a:t>awarded them titles of </a:t>
            </a:r>
            <a:r>
              <a:rPr lang="en-US" dirty="0" err="1">
                <a:solidFill>
                  <a:srgbClr val="FF0000"/>
                </a:solidFill>
                <a:effectLst/>
              </a:rPr>
              <a:t>Nawab</a:t>
            </a:r>
            <a:r>
              <a:rPr lang="en-US" dirty="0">
                <a:solidFill>
                  <a:srgbClr val="FF0000"/>
                </a:solidFill>
                <a:effectLst/>
              </a:rPr>
              <a:t>, Khan </a:t>
            </a:r>
            <a:r>
              <a:rPr lang="en-US" dirty="0" err="1">
                <a:solidFill>
                  <a:srgbClr val="FF0000"/>
                </a:solidFill>
                <a:effectLst/>
              </a:rPr>
              <a:t>Bahadur</a:t>
            </a:r>
            <a:r>
              <a:rPr lang="en-US" dirty="0">
                <a:solidFill>
                  <a:srgbClr val="FF0000"/>
                </a:solidFill>
                <a:effectLst/>
              </a:rPr>
              <a:t>, Khan </a:t>
            </a:r>
            <a:r>
              <a:rPr lang="en-US" dirty="0" err="1">
                <a:solidFill>
                  <a:srgbClr val="FF0000"/>
                </a:solidFill>
                <a:effectLst/>
              </a:rPr>
              <a:t>Shaheb</a:t>
            </a:r>
            <a:r>
              <a:rPr lang="en-US" dirty="0">
                <a:solidFill>
                  <a:srgbClr val="FF0000"/>
                </a:solidFill>
                <a:effectLst/>
              </a:rPr>
              <a:t>, </a:t>
            </a:r>
            <a:r>
              <a:rPr lang="en-US" dirty="0" err="1">
                <a:solidFill>
                  <a:srgbClr val="FF0000"/>
                </a:solidFill>
                <a:effectLst/>
              </a:rPr>
              <a:t>Rai</a:t>
            </a:r>
            <a:r>
              <a:rPr lang="en-US" dirty="0">
                <a:solidFill>
                  <a:srgbClr val="FF0000"/>
                </a:solidFill>
                <a:effectLst/>
              </a:rPr>
              <a:t> </a:t>
            </a:r>
            <a:r>
              <a:rPr lang="en-US" dirty="0" err="1">
                <a:solidFill>
                  <a:srgbClr val="FF0000"/>
                </a:solidFill>
                <a:effectLst/>
              </a:rPr>
              <a:t>Bahadur</a:t>
            </a:r>
            <a:r>
              <a:rPr lang="en-US" dirty="0">
                <a:solidFill>
                  <a:srgbClr val="FF0000"/>
                </a:solidFill>
                <a:effectLst/>
              </a:rPr>
              <a:t>, </a:t>
            </a:r>
            <a:r>
              <a:rPr lang="en-US" dirty="0" err="1">
                <a:solidFill>
                  <a:srgbClr val="FF0000"/>
                </a:solidFill>
                <a:effectLst/>
              </a:rPr>
              <a:t>Rai</a:t>
            </a:r>
            <a:r>
              <a:rPr lang="en-US" dirty="0">
                <a:solidFill>
                  <a:srgbClr val="FF0000"/>
                </a:solidFill>
                <a:effectLst/>
              </a:rPr>
              <a:t> </a:t>
            </a:r>
            <a:r>
              <a:rPr lang="en-US" dirty="0" err="1">
                <a:solidFill>
                  <a:srgbClr val="FF0000"/>
                </a:solidFill>
                <a:effectLst/>
              </a:rPr>
              <a:t>Shaheb</a:t>
            </a:r>
            <a:r>
              <a:rPr lang="en-US" dirty="0">
                <a:solidFill>
                  <a:srgbClr val="FF0000"/>
                </a:solidFill>
                <a:effectLst/>
              </a:rPr>
              <a:t> </a:t>
            </a:r>
            <a:r>
              <a:rPr lang="en-US" dirty="0" err="1">
                <a:solidFill>
                  <a:srgbClr val="FF0000"/>
                </a:solidFill>
                <a:effectLst/>
              </a:rPr>
              <a:t>etc</a:t>
            </a:r>
            <a:r>
              <a:rPr lang="en-US" dirty="0">
                <a:solidFill>
                  <a:srgbClr val="FF0000"/>
                </a:solidFill>
                <a:effectLst/>
              </a:rPr>
              <a:t> and rewarded them with all sorts of worldly gains.</a:t>
            </a:r>
            <a:endParaRPr lang="en-US" dirty="0">
              <a:solidFill>
                <a:srgbClr val="FF0000"/>
              </a:solidFill>
            </a:endParaRPr>
          </a:p>
        </p:txBody>
      </p:sp>
    </p:spTree>
    <p:extLst>
      <p:ext uri="{BB962C8B-B14F-4D97-AF65-F5344CB8AC3E}">
        <p14:creationId xmlns:p14="http://schemas.microsoft.com/office/powerpoint/2010/main" val="1210812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endParaRPr lang="en-US" dirty="0"/>
          </a:p>
        </p:txBody>
      </p:sp>
      <p:sp>
        <p:nvSpPr>
          <p:cNvPr id="3" name="Content Placeholder 2"/>
          <p:cNvSpPr>
            <a:spLocks noGrp="1"/>
          </p:cNvSpPr>
          <p:nvPr>
            <p:ph idx="1"/>
          </p:nvPr>
        </p:nvSpPr>
        <p:spPr>
          <a:xfrm>
            <a:off x="460375" y="2336873"/>
            <a:ext cx="11110631" cy="3599316"/>
          </a:xfrm>
        </p:spPr>
        <p:txBody>
          <a:bodyPr/>
          <a:lstStyle/>
          <a:p>
            <a:r>
              <a:rPr lang="en-US" dirty="0"/>
              <a:t>The Muslims as a community had an important stake in the uprising on different grounds. The traditional Islamic revivalist groups such as</a:t>
            </a:r>
            <a:r>
              <a:rPr lang="en-US" dirty="0">
                <a:solidFill>
                  <a:srgbClr val="FF0000"/>
                </a:solidFill>
              </a:rPr>
              <a:t> the </a:t>
            </a:r>
            <a:r>
              <a:rPr lang="en-US" dirty="0" err="1">
                <a:solidFill>
                  <a:srgbClr val="FF0000"/>
                </a:solidFill>
              </a:rPr>
              <a:t>Faraizi</a:t>
            </a:r>
            <a:r>
              <a:rPr lang="en-US" dirty="0">
                <a:solidFill>
                  <a:srgbClr val="FF0000"/>
                </a:solidFill>
              </a:rPr>
              <a:t>, </a:t>
            </a:r>
            <a:r>
              <a:rPr lang="en-US" dirty="0" err="1">
                <a:solidFill>
                  <a:srgbClr val="FF0000"/>
                </a:solidFill>
              </a:rPr>
              <a:t>Tariqah</a:t>
            </a:r>
            <a:r>
              <a:rPr lang="en-US" dirty="0">
                <a:solidFill>
                  <a:srgbClr val="FF0000"/>
                </a:solidFill>
              </a:rPr>
              <a:t>-I-</a:t>
            </a:r>
            <a:r>
              <a:rPr lang="en-US" dirty="0" err="1">
                <a:solidFill>
                  <a:srgbClr val="FF0000"/>
                </a:solidFill>
              </a:rPr>
              <a:t>Muhammadiyah</a:t>
            </a:r>
            <a:r>
              <a:rPr lang="en-US" dirty="0">
                <a:solidFill>
                  <a:srgbClr val="FF0000"/>
                </a:solidFill>
              </a:rPr>
              <a:t>, </a:t>
            </a:r>
            <a:r>
              <a:rPr lang="en-US" dirty="0" err="1">
                <a:solidFill>
                  <a:srgbClr val="FF0000"/>
                </a:solidFill>
              </a:rPr>
              <a:t>Ahl_I</a:t>
            </a:r>
            <a:r>
              <a:rPr lang="en-US" dirty="0">
                <a:solidFill>
                  <a:srgbClr val="FF0000"/>
                </a:solidFill>
              </a:rPr>
              <a:t>-Hadith , </a:t>
            </a:r>
            <a:r>
              <a:rPr lang="en-US" dirty="0" err="1">
                <a:solidFill>
                  <a:srgbClr val="FF0000"/>
                </a:solidFill>
              </a:rPr>
              <a:t>Tabligh</a:t>
            </a:r>
            <a:r>
              <a:rPr lang="en-US" dirty="0">
                <a:solidFill>
                  <a:srgbClr val="FF0000"/>
                </a:solidFill>
              </a:rPr>
              <a:t> </a:t>
            </a:r>
            <a:r>
              <a:rPr lang="en-US" dirty="0" err="1">
                <a:solidFill>
                  <a:srgbClr val="FF0000"/>
                </a:solidFill>
              </a:rPr>
              <a:t>Jamaat</a:t>
            </a:r>
            <a:r>
              <a:rPr lang="en-US" dirty="0">
                <a:solidFill>
                  <a:srgbClr val="FF0000"/>
                </a:solidFill>
              </a:rPr>
              <a:t> and the </a:t>
            </a:r>
            <a:r>
              <a:rPr lang="en-US" dirty="0" err="1">
                <a:solidFill>
                  <a:srgbClr val="FF0000"/>
                </a:solidFill>
              </a:rPr>
              <a:t>Seerat</a:t>
            </a:r>
            <a:r>
              <a:rPr lang="en-US" dirty="0">
                <a:solidFill>
                  <a:srgbClr val="FF0000"/>
                </a:solidFill>
              </a:rPr>
              <a:t> Conference etc. </a:t>
            </a:r>
            <a:r>
              <a:rPr lang="en-US" dirty="0"/>
              <a:t>had active and passive support in the Revolt/Uprising </a:t>
            </a:r>
          </a:p>
          <a:p>
            <a:endParaRPr lang="en-US" dirty="0"/>
          </a:p>
          <a:p>
            <a:pPr marL="0" indent="0">
              <a:buNone/>
            </a:pPr>
            <a:r>
              <a:rPr lang="en-US" dirty="0"/>
              <a:t>   </a:t>
            </a:r>
          </a:p>
        </p:txBody>
      </p:sp>
      <p:sp>
        <p:nvSpPr>
          <p:cNvPr id="5" name="AutoShape 4" descr="Professor Dr. Anupam Sen-01 - ICE Business Tim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486269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550" y="365125"/>
            <a:ext cx="11870108" cy="1130389"/>
          </a:xfrm>
        </p:spPr>
        <p:txBody>
          <a:bodyPr>
            <a:normAutofit/>
          </a:bodyPr>
          <a:lstStyle/>
          <a:p>
            <a:pPr algn="ctr"/>
            <a:r>
              <a:rPr lang="en-US" b="1" dirty="0"/>
              <a:t>Causes and Consequences of the Revolt of 1857:</a:t>
            </a:r>
          </a:p>
        </p:txBody>
      </p:sp>
      <p:sp>
        <p:nvSpPr>
          <p:cNvPr id="3" name="Content Placeholder 2"/>
          <p:cNvSpPr>
            <a:spLocks noGrp="1"/>
          </p:cNvSpPr>
          <p:nvPr>
            <p:ph idx="1"/>
          </p:nvPr>
        </p:nvSpPr>
        <p:spPr>
          <a:xfrm>
            <a:off x="341832" y="1690688"/>
            <a:ext cx="11528276" cy="4265731"/>
          </a:xfrm>
        </p:spPr>
        <p:txBody>
          <a:bodyPr>
            <a:normAutofit/>
          </a:bodyPr>
          <a:lstStyle/>
          <a:p>
            <a:pPr algn="just">
              <a:buFont typeface="Wingdings" panose="05000000000000000000" pitchFamily="2" charset="2"/>
              <a:buChar char="Ø"/>
            </a:pPr>
            <a:r>
              <a:rPr lang="en-US" dirty="0"/>
              <a:t>The revolt of 1857 can largely be ascribed to the </a:t>
            </a:r>
            <a:r>
              <a:rPr lang="en-US" dirty="0">
                <a:solidFill>
                  <a:srgbClr val="FF0000"/>
                </a:solidFill>
              </a:rPr>
              <a:t>discontents o</a:t>
            </a:r>
            <a:r>
              <a:rPr lang="en-US" dirty="0"/>
              <a:t>f local </a:t>
            </a:r>
            <a:r>
              <a:rPr lang="en-US" dirty="0" err="1"/>
              <a:t>zamindars</a:t>
            </a:r>
            <a:r>
              <a:rPr lang="en-US" dirty="0"/>
              <a:t> and poppy cultivators who persistently opposed </a:t>
            </a:r>
            <a:r>
              <a:rPr lang="en-US" dirty="0">
                <a:solidFill>
                  <a:srgbClr val="FF0000"/>
                </a:solidFill>
              </a:rPr>
              <a:t>the colonial opium monopoly system</a:t>
            </a:r>
            <a:r>
              <a:rPr lang="en-US" dirty="0"/>
              <a:t>. Under the opium monopoly, the economic conditions of the poppy farmers deteriorated and the strength of the </a:t>
            </a:r>
            <a:r>
              <a:rPr lang="en-US" dirty="0" err="1"/>
              <a:t>zamindars</a:t>
            </a:r>
            <a:r>
              <a:rPr lang="en-US" dirty="0"/>
              <a:t> was undermined. The introduction of forced poppy cultivation sparked mass rebellion in the region of Uttar Pradesh (UP).</a:t>
            </a:r>
          </a:p>
          <a:p>
            <a:pPr algn="just">
              <a:buFont typeface="Wingdings" panose="05000000000000000000" pitchFamily="2" charset="2"/>
              <a:buChar char="Ø"/>
            </a:pPr>
            <a:r>
              <a:rPr lang="en-US" dirty="0"/>
              <a:t>The forceful introduction of </a:t>
            </a:r>
            <a:r>
              <a:rPr lang="en-US" dirty="0">
                <a:solidFill>
                  <a:srgbClr val="FF0000"/>
                </a:solidFill>
              </a:rPr>
              <a:t>‘Enfield Rifle’ </a:t>
            </a:r>
            <a:r>
              <a:rPr lang="en-US" dirty="0"/>
              <a:t>ignited both the Hindu and Muslim soldiers to revolt on </a:t>
            </a:r>
            <a:r>
              <a:rPr lang="en-US" dirty="0">
                <a:solidFill>
                  <a:srgbClr val="FF0000"/>
                </a:solidFill>
              </a:rPr>
              <a:t>distinctive religious grounds </a:t>
            </a:r>
            <a:r>
              <a:rPr lang="en-US" dirty="0"/>
              <a:t>during 1857-58.  </a:t>
            </a:r>
            <a:r>
              <a:rPr lang="en-US" dirty="0">
                <a:solidFill>
                  <a:srgbClr val="FF0000"/>
                </a:solidFill>
              </a:rPr>
              <a:t>COW &amp; PIGS FAT</a:t>
            </a:r>
          </a:p>
          <a:p>
            <a:pPr marL="0" indent="0" algn="just">
              <a:buNone/>
            </a:pPr>
            <a:endParaRPr lang="en-US" dirty="0"/>
          </a:p>
        </p:txBody>
      </p:sp>
    </p:spTree>
    <p:extLst>
      <p:ext uri="{BB962C8B-B14F-4D97-AF65-F5344CB8AC3E}">
        <p14:creationId xmlns:p14="http://schemas.microsoft.com/office/powerpoint/2010/main" val="3571844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2370" y="623843"/>
            <a:ext cx="11519731" cy="5312346"/>
          </a:xfrm>
        </p:spPr>
        <p:txBody>
          <a:bodyPr>
            <a:normAutofit/>
          </a:bodyPr>
          <a:lstStyle/>
          <a:p>
            <a:pPr>
              <a:buFont typeface="Wingdings" panose="05000000000000000000" pitchFamily="2" charset="2"/>
              <a:buChar char="§"/>
            </a:pPr>
            <a:r>
              <a:rPr lang="en-US" sz="2800" dirty="0">
                <a:solidFill>
                  <a:srgbClr val="FF0000"/>
                </a:solidFill>
              </a:rPr>
              <a:t>The annexation of Oudh </a:t>
            </a:r>
            <a:r>
              <a:rPr lang="en-US" sz="2800" dirty="0"/>
              <a:t>in August 1856 was described as 'the blackest crime' that England ever committed, and was the 'immediate cause' of the so-called </a:t>
            </a:r>
            <a:r>
              <a:rPr lang="en-US" sz="2800" dirty="0" err="1"/>
              <a:t>Sepoy</a:t>
            </a:r>
            <a:r>
              <a:rPr lang="en-US" sz="2800" dirty="0"/>
              <a:t> Mutiny of1857.</a:t>
            </a:r>
          </a:p>
          <a:p>
            <a:pPr marL="0" indent="0">
              <a:buNone/>
            </a:pPr>
            <a:endParaRPr lang="en-US" dirty="0"/>
          </a:p>
          <a:p>
            <a:pPr>
              <a:buFont typeface="Wingdings" panose="05000000000000000000" pitchFamily="2" charset="2"/>
              <a:buChar char="§"/>
            </a:pPr>
            <a:r>
              <a:rPr lang="en-US" dirty="0"/>
              <a:t>After the mass uprising, the British colonial government came to realize that a policy of </a:t>
            </a:r>
            <a:r>
              <a:rPr lang="en-US" dirty="0">
                <a:solidFill>
                  <a:srgbClr val="FF0000"/>
                </a:solidFill>
              </a:rPr>
              <a:t>‘divide and rule’ </a:t>
            </a:r>
            <a:r>
              <a:rPr lang="en-US" dirty="0"/>
              <a:t>would be effective. Eventually the colonial government continued to pursue a </a:t>
            </a:r>
            <a:r>
              <a:rPr lang="en-US" dirty="0">
                <a:solidFill>
                  <a:srgbClr val="FF0000"/>
                </a:solidFill>
              </a:rPr>
              <a:t>divide and rule policy between the two major communities-the Muslims and the Hindus.</a:t>
            </a:r>
          </a:p>
          <a:p>
            <a:pPr marL="0" indent="0">
              <a:buNone/>
            </a:pPr>
            <a:endParaRPr lang="en-US" sz="2800" dirty="0"/>
          </a:p>
        </p:txBody>
      </p:sp>
    </p:spTree>
    <p:extLst>
      <p:ext uri="{BB962C8B-B14F-4D97-AF65-F5344CB8AC3E}">
        <p14:creationId xmlns:p14="http://schemas.microsoft.com/office/powerpoint/2010/main" val="2603754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865" t="748" r="6659" b="-748"/>
          <a:stretch/>
        </p:blipFill>
        <p:spPr>
          <a:xfrm>
            <a:off x="1616766" y="675862"/>
            <a:ext cx="9223514" cy="5261112"/>
          </a:xfrm>
          <a:prstGeom prst="rect">
            <a:avLst/>
          </a:prstGeom>
        </p:spPr>
      </p:pic>
    </p:spTree>
    <p:extLst>
      <p:ext uri="{BB962C8B-B14F-4D97-AF65-F5344CB8AC3E}">
        <p14:creationId xmlns:p14="http://schemas.microsoft.com/office/powerpoint/2010/main" val="2346673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6194" y="324740"/>
            <a:ext cx="11665010" cy="5852223"/>
          </a:xfrm>
        </p:spPr>
        <p:txBody>
          <a:bodyPr>
            <a:normAutofit/>
          </a:bodyPr>
          <a:lstStyle/>
          <a:p>
            <a:r>
              <a:rPr lang="en-US" dirty="0"/>
              <a:t>In </a:t>
            </a:r>
            <a:r>
              <a:rPr lang="en-US" dirty="0">
                <a:solidFill>
                  <a:srgbClr val="FF0000"/>
                </a:solidFill>
              </a:rPr>
              <a:t>peasant societies </a:t>
            </a:r>
            <a:r>
              <a:rPr lang="en-US" dirty="0"/>
              <a:t>with strong patronage, leaders must have </a:t>
            </a:r>
            <a:r>
              <a:rPr lang="en-US" dirty="0">
                <a:solidFill>
                  <a:srgbClr val="FF0000"/>
                </a:solidFill>
              </a:rPr>
              <a:t>charisma </a:t>
            </a:r>
            <a:r>
              <a:rPr lang="en-US" dirty="0"/>
              <a:t>in </a:t>
            </a:r>
            <a:r>
              <a:rPr lang="en-US" dirty="0">
                <a:solidFill>
                  <a:srgbClr val="FF0000"/>
                </a:solidFill>
              </a:rPr>
              <a:t>addition to other qualities to counterbalance the patrons‘ awe and power over their clients. </a:t>
            </a:r>
            <a:r>
              <a:rPr lang="en-US" dirty="0"/>
              <a:t>Since patrons are </a:t>
            </a:r>
            <a:r>
              <a:rPr lang="en-US" dirty="0">
                <a:solidFill>
                  <a:srgbClr val="FF0000"/>
                </a:solidFill>
              </a:rPr>
              <a:t>less dependent on their clients</a:t>
            </a:r>
            <a:r>
              <a:rPr lang="en-US" dirty="0"/>
              <a:t>, more so in densely populated pre-industrial economies, leaders who can inspire confidence among the latter by </a:t>
            </a:r>
            <a:r>
              <a:rPr lang="en-US" dirty="0">
                <a:solidFill>
                  <a:srgbClr val="FF0000"/>
                </a:solidFill>
              </a:rPr>
              <a:t>providing alternative material, psychological and moral support</a:t>
            </a:r>
            <a:r>
              <a:rPr lang="en-US" dirty="0"/>
              <a:t>, can successfully lead them, even against the former.</a:t>
            </a:r>
          </a:p>
          <a:p>
            <a:r>
              <a:rPr lang="en-US" dirty="0"/>
              <a:t>Peasants under both the </a:t>
            </a:r>
            <a:r>
              <a:rPr lang="en-US" i="1" dirty="0">
                <a:solidFill>
                  <a:srgbClr val="FF0000"/>
                </a:solidFill>
              </a:rPr>
              <a:t>zamindar </a:t>
            </a:r>
            <a:r>
              <a:rPr lang="en-US" dirty="0">
                <a:solidFill>
                  <a:srgbClr val="FF0000"/>
                </a:solidFill>
              </a:rPr>
              <a:t>- and </a:t>
            </a:r>
            <a:r>
              <a:rPr lang="en-US" i="1" dirty="0" err="1">
                <a:solidFill>
                  <a:srgbClr val="FF0000"/>
                </a:solidFill>
              </a:rPr>
              <a:t>jotedar</a:t>
            </a:r>
            <a:r>
              <a:rPr lang="en-US" i="1" dirty="0">
                <a:solidFill>
                  <a:srgbClr val="FF0000"/>
                </a:solidFill>
              </a:rPr>
              <a:t> </a:t>
            </a:r>
            <a:r>
              <a:rPr lang="en-US" dirty="0"/>
              <a:t>dominated sub-regions had the greatest propensity to follow leaders from outside the peasant community. </a:t>
            </a:r>
          </a:p>
          <a:p>
            <a:r>
              <a:rPr lang="en-US" dirty="0">
                <a:solidFill>
                  <a:srgbClr val="FF0000"/>
                </a:solidFill>
              </a:rPr>
              <a:t>Hindu </a:t>
            </a:r>
            <a:r>
              <a:rPr lang="en-US" dirty="0" err="1">
                <a:solidFill>
                  <a:srgbClr val="FF0000"/>
                </a:solidFill>
              </a:rPr>
              <a:t>bhadralok</a:t>
            </a:r>
            <a:r>
              <a:rPr lang="en-US" dirty="0"/>
              <a:t> vs. Muslim peasants </a:t>
            </a:r>
          </a:p>
          <a:p>
            <a:r>
              <a:rPr lang="en-US" dirty="0"/>
              <a:t>Kinship </a:t>
            </a:r>
            <a:r>
              <a:rPr lang="en-US" i="1" dirty="0"/>
              <a:t>(</a:t>
            </a:r>
            <a:r>
              <a:rPr lang="en-US" i="1" dirty="0" err="1"/>
              <a:t>gushti</a:t>
            </a:r>
            <a:r>
              <a:rPr lang="en-US" i="1" dirty="0"/>
              <a:t>) </a:t>
            </a:r>
            <a:r>
              <a:rPr lang="en-US" dirty="0"/>
              <a:t>and lineage </a:t>
            </a:r>
            <a:r>
              <a:rPr lang="en-US" i="1" dirty="0"/>
              <a:t>(</a:t>
            </a:r>
            <a:r>
              <a:rPr lang="en-US" i="1" dirty="0" err="1"/>
              <a:t>bangsho</a:t>
            </a:r>
            <a:r>
              <a:rPr lang="en-US" i="1" dirty="0"/>
              <a:t>) </a:t>
            </a:r>
            <a:r>
              <a:rPr lang="en-US" dirty="0"/>
              <a:t>were important factors in </a:t>
            </a:r>
            <a:r>
              <a:rPr lang="en-US" dirty="0">
                <a:solidFill>
                  <a:srgbClr val="FF0000"/>
                </a:solidFill>
              </a:rPr>
              <a:t>forming factions.</a:t>
            </a:r>
          </a:p>
          <a:p>
            <a:endParaRPr lang="en-US" dirty="0"/>
          </a:p>
        </p:txBody>
      </p:sp>
    </p:spTree>
    <p:extLst>
      <p:ext uri="{BB962C8B-B14F-4D97-AF65-F5344CB8AC3E}">
        <p14:creationId xmlns:p14="http://schemas.microsoft.com/office/powerpoint/2010/main" val="2340042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2012" y="1008404"/>
            <a:ext cx="11724458" cy="5379144"/>
          </a:xfrm>
        </p:spPr>
        <p:txBody>
          <a:bodyPr/>
          <a:lstStyle/>
          <a:p>
            <a:pPr marL="0" indent="0">
              <a:buNone/>
            </a:pPr>
            <a:endParaRPr lang="en-US" dirty="0"/>
          </a:p>
          <a:p>
            <a:pPr algn="just">
              <a:buFont typeface="Wingdings" panose="05000000000000000000" pitchFamily="2" charset="2"/>
              <a:buChar char="§"/>
            </a:pPr>
            <a:r>
              <a:rPr lang="en-US" dirty="0"/>
              <a:t>Subsequent to the rebellion, the </a:t>
            </a:r>
            <a:r>
              <a:rPr lang="en-US" dirty="0">
                <a:solidFill>
                  <a:srgbClr val="FF0000"/>
                </a:solidFill>
              </a:rPr>
              <a:t>patronage</a:t>
            </a:r>
            <a:r>
              <a:rPr lang="en-US" dirty="0"/>
              <a:t> and protection of the colonial drug trade was shifted fr</a:t>
            </a:r>
            <a:r>
              <a:rPr lang="en-US" dirty="0">
                <a:solidFill>
                  <a:srgbClr val="FF0000"/>
                </a:solidFill>
              </a:rPr>
              <a:t>om the BEIC </a:t>
            </a:r>
            <a:r>
              <a:rPr lang="en-US" dirty="0"/>
              <a:t>to the Crown government in the UK.</a:t>
            </a:r>
          </a:p>
          <a:p>
            <a:pPr algn="just">
              <a:buFont typeface="Wingdings" panose="05000000000000000000" pitchFamily="2" charset="2"/>
              <a:buChar char="§"/>
            </a:pPr>
            <a:r>
              <a:rPr lang="en-US" dirty="0"/>
              <a:t>An absence of central planning and dynamic leadership was responsible for the failure of the revolt. Bahadur Shah Zafar was too old to give leadership to such an uprising. During the revolt, a leader like Sir Syed Ahmed Khan took the line of collaboration and compromise with colonial rulers.</a:t>
            </a:r>
          </a:p>
        </p:txBody>
      </p:sp>
    </p:spTree>
    <p:extLst>
      <p:ext uri="{BB962C8B-B14F-4D97-AF65-F5344CB8AC3E}">
        <p14:creationId xmlns:p14="http://schemas.microsoft.com/office/powerpoint/2010/main" val="2133884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93FC82-4BED-4CA5-A8B0-10BDF4BC2BA0}"/>
              </a:ext>
            </a:extLst>
          </p:cNvPr>
          <p:cNvSpPr>
            <a:spLocks noGrp="1"/>
          </p:cNvSpPr>
          <p:nvPr>
            <p:ph idx="1"/>
          </p:nvPr>
        </p:nvSpPr>
        <p:spPr>
          <a:xfrm>
            <a:off x="838200" y="1825625"/>
            <a:ext cx="10850217" cy="2666862"/>
          </a:xfrm>
        </p:spPr>
        <p:txBody>
          <a:bodyPr/>
          <a:lstStyle/>
          <a:p>
            <a:pPr algn="just"/>
            <a:r>
              <a:rPr lang="en-US" dirty="0"/>
              <a:t>Lack of trust and unity among the major communities was equally responsible for the failure of the uprising. In most cases Hindu zamindars, landed aristocrats, '</a:t>
            </a:r>
            <a:r>
              <a:rPr lang="en-US" dirty="0" err="1"/>
              <a:t>bhadraloks</a:t>
            </a:r>
            <a:r>
              <a:rPr lang="en-US" dirty="0"/>
              <a:t>' and businessmen aided the colonial government by men and material to suppress the revolt. </a:t>
            </a:r>
          </a:p>
          <a:p>
            <a:pPr algn="just"/>
            <a:r>
              <a:rPr lang="en-US" dirty="0"/>
              <a:t>Financial weaknesses of -the revolutionaries were among other weak points of the revolt.</a:t>
            </a:r>
          </a:p>
        </p:txBody>
      </p:sp>
    </p:spTree>
    <p:extLst>
      <p:ext uri="{BB962C8B-B14F-4D97-AF65-F5344CB8AC3E}">
        <p14:creationId xmlns:p14="http://schemas.microsoft.com/office/powerpoint/2010/main" val="33776575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05E27D-5403-4511-914B-ABCED46D7370}"/>
              </a:ext>
            </a:extLst>
          </p:cNvPr>
          <p:cNvSpPr>
            <a:spLocks noGrp="1"/>
          </p:cNvSpPr>
          <p:nvPr>
            <p:ph idx="1"/>
          </p:nvPr>
        </p:nvSpPr>
        <p:spPr>
          <a:xfrm>
            <a:off x="838199" y="1653347"/>
            <a:ext cx="11141765" cy="2958410"/>
          </a:xfrm>
        </p:spPr>
        <p:txBody>
          <a:bodyPr/>
          <a:lstStyle/>
          <a:p>
            <a:pPr algn="just"/>
            <a:r>
              <a:rPr lang="en-US" dirty="0"/>
              <a:t>Use of modern weapons by the British provided strategic advantage to suppress the rebellion.</a:t>
            </a:r>
          </a:p>
          <a:p>
            <a:pPr marL="0" indent="0" algn="just">
              <a:buNone/>
            </a:pPr>
            <a:endParaRPr lang="en-US" dirty="0"/>
          </a:p>
          <a:p>
            <a:pPr algn="just"/>
            <a:r>
              <a:rPr lang="en-US" dirty="0"/>
              <a:t>Conspirators who joined the revolutionaries in disguise also sabotaged the plans and programs of the militants.</a:t>
            </a:r>
          </a:p>
        </p:txBody>
      </p:sp>
    </p:spTree>
    <p:extLst>
      <p:ext uri="{BB962C8B-B14F-4D97-AF65-F5344CB8AC3E}">
        <p14:creationId xmlns:p14="http://schemas.microsoft.com/office/powerpoint/2010/main" val="1850222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9113" y="922947"/>
            <a:ext cx="11211339" cy="3238856"/>
          </a:xfrm>
        </p:spPr>
        <p:txBody>
          <a:bodyPr/>
          <a:lstStyle/>
          <a:p>
            <a:pPr algn="just">
              <a:buFont typeface="Wingdings" panose="05000000000000000000" pitchFamily="2" charset="2"/>
              <a:buChar char="§"/>
            </a:pPr>
            <a:r>
              <a:rPr lang="en-US" dirty="0">
                <a:solidFill>
                  <a:srgbClr val="FF0000"/>
                </a:solidFill>
              </a:rPr>
              <a:t>A</a:t>
            </a:r>
            <a:r>
              <a:rPr lang="en-US" i="1" dirty="0">
                <a:solidFill>
                  <a:srgbClr val="FF0000"/>
                </a:solidFill>
              </a:rPr>
              <a:t>fter the 1857 revolt, the colonial government had become aware that they had not been quite fair </a:t>
            </a:r>
            <a:r>
              <a:rPr lang="en-US" i="1" dirty="0">
                <a:solidFill>
                  <a:srgbClr val="002060"/>
                </a:solidFill>
              </a:rPr>
              <a:t>to Muslim interests.</a:t>
            </a:r>
          </a:p>
          <a:p>
            <a:pPr marL="0" indent="0" algn="just">
              <a:buNone/>
            </a:pPr>
            <a:endParaRPr lang="en-US" i="1" dirty="0">
              <a:solidFill>
                <a:srgbClr val="FF0000"/>
              </a:solidFill>
            </a:endParaRPr>
          </a:p>
          <a:p>
            <a:pPr algn="just">
              <a:buFont typeface="Wingdings" panose="05000000000000000000" pitchFamily="2" charset="2"/>
              <a:buChar char="§"/>
            </a:pPr>
            <a:r>
              <a:rPr lang="en-US" dirty="0">
                <a:solidFill>
                  <a:srgbClr val="FF0000"/>
                </a:solidFill>
              </a:rPr>
              <a:t>Sir William Hunter </a:t>
            </a:r>
            <a:r>
              <a:rPr lang="en-US" dirty="0"/>
              <a:t>in his well-known book, </a:t>
            </a:r>
            <a:r>
              <a:rPr lang="en-US" i="1" dirty="0">
                <a:solidFill>
                  <a:srgbClr val="00B0F0"/>
                </a:solidFill>
              </a:rPr>
              <a:t>The Indian </a:t>
            </a:r>
            <a:r>
              <a:rPr lang="en-US" i="1" dirty="0" err="1">
                <a:solidFill>
                  <a:srgbClr val="00B0F0"/>
                </a:solidFill>
              </a:rPr>
              <a:t>Mussalmans</a:t>
            </a:r>
            <a:r>
              <a:rPr lang="en-US" i="1" dirty="0">
                <a:solidFill>
                  <a:srgbClr val="00B0F0"/>
                </a:solidFill>
              </a:rPr>
              <a:t> , </a:t>
            </a:r>
            <a:r>
              <a:rPr lang="en-US" dirty="0"/>
              <a:t>published in 1871, pointed out that Muslims had suffered grave </a:t>
            </a:r>
            <a:r>
              <a:rPr lang="en-US" dirty="0">
                <a:solidFill>
                  <a:srgbClr val="FF0000"/>
                </a:solidFill>
              </a:rPr>
              <a:t>injustices,</a:t>
            </a:r>
            <a:r>
              <a:rPr lang="en-US" dirty="0"/>
              <a:t> particularly in the matter of </a:t>
            </a:r>
            <a:r>
              <a:rPr lang="en-US" dirty="0">
                <a:solidFill>
                  <a:srgbClr val="FF0000"/>
                </a:solidFill>
              </a:rPr>
              <a:t>administrative and judicial jobs in Bengal</a:t>
            </a:r>
            <a:r>
              <a:rPr lang="en-US" dirty="0"/>
              <a:t>.</a:t>
            </a:r>
          </a:p>
        </p:txBody>
      </p:sp>
    </p:spTree>
    <p:extLst>
      <p:ext uri="{BB962C8B-B14F-4D97-AF65-F5344CB8AC3E}">
        <p14:creationId xmlns:p14="http://schemas.microsoft.com/office/powerpoint/2010/main" val="36468325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4127" y="384313"/>
            <a:ext cx="11711080" cy="6204493"/>
          </a:xfrm>
        </p:spPr>
        <p:txBody>
          <a:bodyPr>
            <a:normAutofit fontScale="77500" lnSpcReduction="20000"/>
          </a:bodyPr>
          <a:lstStyle/>
          <a:p>
            <a:pPr algn="just">
              <a:buFont typeface="Wingdings" panose="05000000000000000000" pitchFamily="2" charset="2"/>
              <a:buChar char="§"/>
            </a:pPr>
            <a:r>
              <a:rPr lang="en-US" sz="4000" dirty="0">
                <a:solidFill>
                  <a:srgbClr val="FF0000"/>
                </a:solidFill>
              </a:rPr>
              <a:t>All-India National Congress </a:t>
            </a:r>
            <a:r>
              <a:rPr lang="en-US" sz="4000" dirty="0"/>
              <a:t>was formed in</a:t>
            </a:r>
            <a:r>
              <a:rPr lang="en-US" sz="4000" dirty="0">
                <a:solidFill>
                  <a:srgbClr val="FF0000"/>
                </a:solidFill>
              </a:rPr>
              <a:t> 1885 </a:t>
            </a:r>
            <a:r>
              <a:rPr lang="en-US" sz="4000" dirty="0"/>
              <a:t>with the support of the British government. The Congress was founded by  </a:t>
            </a:r>
            <a:r>
              <a:rPr lang="en-US" sz="4000" dirty="0">
                <a:solidFill>
                  <a:srgbClr val="FF0000"/>
                </a:solidFill>
              </a:rPr>
              <a:t>A. O. Hume </a:t>
            </a:r>
            <a:r>
              <a:rPr lang="en-US" sz="4000" dirty="0"/>
              <a:t>who was a former home secretary of India.</a:t>
            </a:r>
          </a:p>
          <a:p>
            <a:pPr marL="0" indent="0" algn="just">
              <a:buNone/>
            </a:pPr>
            <a:endParaRPr lang="en-US" sz="4000" dirty="0"/>
          </a:p>
          <a:p>
            <a:pPr algn="just">
              <a:buFont typeface="Wingdings" panose="05000000000000000000" pitchFamily="2" charset="2"/>
              <a:buChar char="§"/>
            </a:pPr>
            <a:r>
              <a:rPr lang="en-US" sz="4000" dirty="0"/>
              <a:t> Professor Khalid bin </a:t>
            </a:r>
            <a:r>
              <a:rPr lang="en-US" sz="4000" dirty="0" err="1"/>
              <a:t>Sayeed</a:t>
            </a:r>
            <a:r>
              <a:rPr lang="en-US" sz="4000" dirty="0"/>
              <a:t> in his book, entitled, </a:t>
            </a:r>
            <a:r>
              <a:rPr lang="en-US" sz="4000" i="1" dirty="0"/>
              <a:t>Pakistan: The Formative Phase,</a:t>
            </a:r>
            <a:r>
              <a:rPr lang="en-US" sz="4000" dirty="0"/>
              <a:t> wrote that the formation of the  Indian National Congress was largely </a:t>
            </a:r>
            <a:r>
              <a:rPr lang="en-US" sz="4000" dirty="0">
                <a:solidFill>
                  <a:srgbClr val="FF0000"/>
                </a:solidFill>
              </a:rPr>
              <a:t>inspired  by British influence </a:t>
            </a:r>
            <a:r>
              <a:rPr lang="en-US" sz="4000" dirty="0"/>
              <a:t>(Sayeed,1960:29). </a:t>
            </a:r>
          </a:p>
          <a:p>
            <a:endParaRPr lang="en-US" dirty="0"/>
          </a:p>
          <a:p>
            <a:endParaRPr lang="en-US" dirty="0"/>
          </a:p>
          <a:p>
            <a:endParaRPr lang="en-US" dirty="0"/>
          </a:p>
          <a:p>
            <a:endParaRPr lang="en-US" dirty="0"/>
          </a:p>
          <a:p>
            <a:endParaRPr lang="en-US" dirty="0"/>
          </a:p>
          <a:p>
            <a:endParaRPr lang="en-US" dirty="0"/>
          </a:p>
          <a:p>
            <a:endParaRPr lang="en-US" dirty="0"/>
          </a:p>
          <a:p>
            <a:r>
              <a:rPr lang="en-US" dirty="0"/>
              <a:t> </a:t>
            </a:r>
          </a:p>
          <a:p>
            <a:endParaRPr lang="en-US" dirty="0"/>
          </a:p>
        </p:txBody>
      </p:sp>
      <p:pic>
        <p:nvPicPr>
          <p:cNvPr id="2" name="Picture 1">
            <a:extLst>
              <a:ext uri="{FF2B5EF4-FFF2-40B4-BE49-F238E27FC236}">
                <a16:creationId xmlns:a16="http://schemas.microsoft.com/office/drawing/2014/main" id="{A0FFB557-B114-4AB5-BF0C-87C234FB46CB}"/>
              </a:ext>
            </a:extLst>
          </p:cNvPr>
          <p:cNvPicPr>
            <a:picLocks noChangeAspect="1"/>
          </p:cNvPicPr>
          <p:nvPr/>
        </p:nvPicPr>
        <p:blipFill>
          <a:blip r:embed="rId2"/>
          <a:stretch>
            <a:fillRect/>
          </a:stretch>
        </p:blipFill>
        <p:spPr>
          <a:xfrm>
            <a:off x="3250923" y="3273287"/>
            <a:ext cx="2324100" cy="2947366"/>
          </a:xfrm>
          <a:prstGeom prst="rect">
            <a:avLst/>
          </a:prstGeom>
        </p:spPr>
      </p:pic>
      <p:pic>
        <p:nvPicPr>
          <p:cNvPr id="4" name="Picture 3">
            <a:extLst>
              <a:ext uri="{FF2B5EF4-FFF2-40B4-BE49-F238E27FC236}">
                <a16:creationId xmlns:a16="http://schemas.microsoft.com/office/drawing/2014/main" id="{17AAFFD8-7E63-4F75-A388-54BD25D5F592}"/>
              </a:ext>
            </a:extLst>
          </p:cNvPr>
          <p:cNvPicPr>
            <a:picLocks noChangeAspect="1"/>
          </p:cNvPicPr>
          <p:nvPr/>
        </p:nvPicPr>
        <p:blipFill>
          <a:blip r:embed="rId3"/>
          <a:stretch>
            <a:fillRect/>
          </a:stretch>
        </p:blipFill>
        <p:spPr>
          <a:xfrm>
            <a:off x="6729615" y="3273287"/>
            <a:ext cx="2095500" cy="2619375"/>
          </a:xfrm>
          <a:prstGeom prst="rect">
            <a:avLst/>
          </a:prstGeom>
        </p:spPr>
      </p:pic>
    </p:spTree>
    <p:extLst>
      <p:ext uri="{BB962C8B-B14F-4D97-AF65-F5344CB8AC3E}">
        <p14:creationId xmlns:p14="http://schemas.microsoft.com/office/powerpoint/2010/main" val="26872919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237FBC-8902-4173-861C-84623190B456}"/>
              </a:ext>
            </a:extLst>
          </p:cNvPr>
          <p:cNvSpPr>
            <a:spLocks noGrp="1"/>
          </p:cNvSpPr>
          <p:nvPr>
            <p:ph idx="1"/>
          </p:nvPr>
        </p:nvSpPr>
        <p:spPr>
          <a:xfrm>
            <a:off x="838199" y="1086678"/>
            <a:ext cx="11128513" cy="5234609"/>
          </a:xfrm>
        </p:spPr>
        <p:txBody>
          <a:bodyPr/>
          <a:lstStyle/>
          <a:p>
            <a:pPr algn="just">
              <a:buFont typeface="Wingdings" panose="05000000000000000000" pitchFamily="2" charset="2"/>
              <a:buChar char="Ø"/>
            </a:pPr>
            <a:r>
              <a:rPr lang="en-US" dirty="0"/>
              <a:t>The revolt had a popular support base within society and was not just staged by the soldiers alone. Many ulema and down-trodden peasants joined hands with the revolutionary army.</a:t>
            </a:r>
          </a:p>
          <a:p>
            <a:pPr algn="just">
              <a:buFont typeface="Wingdings" panose="05000000000000000000" pitchFamily="2" charset="2"/>
              <a:buChar char="Ø"/>
            </a:pPr>
            <a:endParaRPr lang="en-US" dirty="0"/>
          </a:p>
          <a:p>
            <a:pPr algn="just">
              <a:buFont typeface="Wingdings" panose="05000000000000000000" pitchFamily="2" charset="2"/>
              <a:buChar char="Ø"/>
            </a:pPr>
            <a:r>
              <a:rPr lang="en-US" dirty="0"/>
              <a:t>With the failure of the uprising Emperor Bahadur Shah Zafar was deposed and imprisoned, his sons and many other had begun in Delhi in 1204 AD. Although it was generally a Muslim outburst, both Hindus and Muslims took part in the uprising. The revolt also became the benchmark of the </a:t>
            </a:r>
            <a:r>
              <a:rPr lang="en-US" dirty="0">
                <a:solidFill>
                  <a:srgbClr val="FF0000"/>
                </a:solidFill>
              </a:rPr>
              <a:t>end of BEIC rule and the imposition of direct Crown rule </a:t>
            </a:r>
            <a:r>
              <a:rPr lang="en-US" dirty="0"/>
              <a:t>instead. With this, Jawaharlal Nehru maintains in his </a:t>
            </a:r>
            <a:r>
              <a:rPr lang="en-US" i="1" dirty="0"/>
              <a:t>The Discovery of India</a:t>
            </a:r>
            <a:r>
              <a:rPr lang="en-US" dirty="0"/>
              <a:t>, 'India becomes for the first time a political and economic appendage of another country’.</a:t>
            </a:r>
          </a:p>
        </p:txBody>
      </p:sp>
    </p:spTree>
    <p:extLst>
      <p:ext uri="{BB962C8B-B14F-4D97-AF65-F5344CB8AC3E}">
        <p14:creationId xmlns:p14="http://schemas.microsoft.com/office/powerpoint/2010/main" val="36268406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2099256"/>
            <a:ext cx="10515600" cy="1944710"/>
          </a:xfrm>
        </p:spPr>
        <p:txBody>
          <a:bodyPr/>
          <a:lstStyle/>
          <a:p>
            <a:pPr algn="ctr"/>
            <a:r>
              <a:rPr lang="en-US" dirty="0"/>
              <a:t>Question and Answer</a:t>
            </a:r>
          </a:p>
        </p:txBody>
      </p:sp>
    </p:spTree>
    <p:extLst>
      <p:ext uri="{BB962C8B-B14F-4D97-AF65-F5344CB8AC3E}">
        <p14:creationId xmlns:p14="http://schemas.microsoft.com/office/powerpoint/2010/main" val="10286170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1524</TotalTime>
  <Words>1336</Words>
  <Application>Microsoft Office PowerPoint</Application>
  <PresentationFormat>Widescreen</PresentationFormat>
  <Paragraphs>68</Paragraphs>
  <Slides>23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Wingdings</vt:lpstr>
      <vt:lpstr>Office Theme</vt:lpstr>
      <vt:lpstr>PowerPoint Presentation</vt:lpstr>
      <vt:lpstr>THE REVOLT OF 1857 </vt:lpstr>
      <vt:lpstr>HISTORICAL BACKGROUND </vt:lpstr>
      <vt:lpstr>PowerPoint Presentation</vt:lpstr>
      <vt:lpstr>Features: </vt:lpstr>
      <vt:lpstr>PowerPoint Presentation</vt:lpstr>
      <vt:lpstr>Poppy growing areas in northern India under the BEIC :</vt:lpstr>
      <vt:lpstr>Mangal Pandey : A brave soldier  </vt:lpstr>
      <vt:lpstr>PowerPoint Presentation</vt:lpstr>
      <vt:lpstr>PowerPoint Presentation</vt:lpstr>
      <vt:lpstr>Mixed Reactions: </vt:lpstr>
      <vt:lpstr> </vt:lpstr>
      <vt:lpstr>Causes and Consequences of the Revolt of 1857: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 and Answer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Plundering of Bengal Resources</dc:title>
  <dc:creator>User</dc:creator>
  <cp:lastModifiedBy>NSU</cp:lastModifiedBy>
  <cp:revision>607</cp:revision>
  <dcterms:created xsi:type="dcterms:W3CDTF">2020-11-07T12:35:03Z</dcterms:created>
  <dcterms:modified xsi:type="dcterms:W3CDTF">2026-02-22T05:00:41Z</dcterms:modified>
</cp:coreProperties>
</file>