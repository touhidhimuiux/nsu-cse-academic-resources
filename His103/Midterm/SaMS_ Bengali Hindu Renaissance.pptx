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59" r:id="rId6"/>
    <p:sldId id="270" r:id="rId7"/>
    <p:sldId id="268" r:id="rId8"/>
    <p:sldId id="277" r:id="rId9"/>
    <p:sldId id="272" r:id="rId10"/>
    <p:sldId id="284" r:id="rId11"/>
    <p:sldId id="282" r:id="rId12"/>
    <p:sldId id="271" r:id="rId13"/>
    <p:sldId id="269" r:id="rId14"/>
    <p:sldId id="261" r:id="rId15"/>
    <p:sldId id="279" r:id="rId16"/>
    <p:sldId id="273" r:id="rId17"/>
    <p:sldId id="262" r:id="rId18"/>
    <p:sldId id="263" r:id="rId19"/>
    <p:sldId id="264" r:id="rId20"/>
    <p:sldId id="275" r:id="rId21"/>
    <p:sldId id="276" r:id="rId22"/>
    <p:sldId id="265"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18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156C8B0-963D-4A85-8C03-4D98AB6B8149}"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160776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56C8B0-963D-4A85-8C03-4D98AB6B8149}"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1096295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56C8B0-963D-4A85-8C03-4D98AB6B8149}"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268078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56C8B0-963D-4A85-8C03-4D98AB6B8149}"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46447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56C8B0-963D-4A85-8C03-4D98AB6B8149}" type="datetimeFigureOut">
              <a:rPr lang="en-US" smtClean="0"/>
              <a:t>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1424688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56C8B0-963D-4A85-8C03-4D98AB6B8149}" type="datetimeFigureOut">
              <a:rPr lang="en-US" smtClean="0"/>
              <a:t>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149091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56C8B0-963D-4A85-8C03-4D98AB6B8149}" type="datetimeFigureOut">
              <a:rPr lang="en-US" smtClean="0"/>
              <a:t>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73782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56C8B0-963D-4A85-8C03-4D98AB6B8149}"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2720235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56C8B0-963D-4A85-8C03-4D98AB6B8149}"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1987305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56C8B0-963D-4A85-8C03-4D98AB6B8149}"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234204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56C8B0-963D-4A85-8C03-4D98AB6B8149}"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57A84-10C9-4986-B6EE-4BF4C5002257}" type="slidenum">
              <a:rPr lang="en-US" smtClean="0"/>
              <a:t>‹#›</a:t>
            </a:fld>
            <a:endParaRPr lang="en-US"/>
          </a:p>
        </p:txBody>
      </p:sp>
    </p:spTree>
    <p:extLst>
      <p:ext uri="{BB962C8B-B14F-4D97-AF65-F5344CB8AC3E}">
        <p14:creationId xmlns:p14="http://schemas.microsoft.com/office/powerpoint/2010/main" val="179854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56C8B0-963D-4A85-8C03-4D98AB6B8149}" type="datetimeFigureOut">
              <a:rPr lang="en-US" smtClean="0"/>
              <a:t>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057A84-10C9-4986-B6EE-4BF4C5002257}" type="slidenum">
              <a:rPr lang="en-US" smtClean="0"/>
              <a:t>‹#›</a:t>
            </a:fld>
            <a:endParaRPr lang="en-US"/>
          </a:p>
        </p:txBody>
      </p:sp>
    </p:spTree>
    <p:extLst>
      <p:ext uri="{BB962C8B-B14F-4D97-AF65-F5344CB8AC3E}">
        <p14:creationId xmlns:p14="http://schemas.microsoft.com/office/powerpoint/2010/main" val="4273656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banglapedia.org/index.php/Brahma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bdlaws.minlaw.gov.bd/act-9.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banglapedia.org/index.php/Sati"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bn.banglapedia.org/index.php/%E0%A6%AC%E0%A7%8D%E0%A6%AF%E0%A6%BE%E0%A6%95%E0%A6%B0%E0%A6%A3" TargetMode="External"/><Relationship Id="rId2" Type="http://schemas.openxmlformats.org/officeDocument/2006/relationships/hyperlink" Target="http://en.banglapedia.org/index.php?title=Brahma_Sabha" TargetMode="External"/><Relationship Id="rId1" Type="http://schemas.openxmlformats.org/officeDocument/2006/relationships/slideLayout" Target="../slideLayouts/slideLayout2.xml"/><Relationship Id="rId4" Type="http://schemas.openxmlformats.org/officeDocument/2006/relationships/hyperlink" Target="https://bn.banglapedia.org/index.php/%E0%A6%B0%E0%A6%BE%E0%A6%9C%E0%A6%BE_%E0%A6%B0%E0%A6%BE%E0%A6%AE%E0%A6%AE%E0%A7%8B%E0%A6%B9%E0%A6%A8_%E0%A6%B0%E0%A6%BE%E0%A6%AF%E0%A6%BC"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122363"/>
            <a:ext cx="10209377" cy="4919514"/>
          </a:xfrm>
        </p:spPr>
        <p:txBody>
          <a:bodyPr>
            <a:normAutofit fontScale="90000"/>
          </a:bodyPr>
          <a:lstStyle/>
          <a:p>
            <a:br>
              <a:rPr lang="en-US" dirty="0"/>
            </a:br>
            <a:r>
              <a:rPr lang="en-US" dirty="0"/>
              <a:t>Emergence of Bangladesh </a:t>
            </a:r>
            <a:br>
              <a:rPr lang="en-US" dirty="0"/>
            </a:br>
            <a:r>
              <a:rPr lang="en-US" dirty="0"/>
              <a:t>North South University</a:t>
            </a:r>
            <a:br>
              <a:rPr lang="en-US" dirty="0"/>
            </a:br>
            <a:r>
              <a:rPr lang="en-US" dirty="0"/>
              <a:t>Dhaka, Bangladesh </a:t>
            </a:r>
            <a:br>
              <a:rPr lang="en-US" dirty="0"/>
            </a:br>
            <a:r>
              <a:rPr lang="en-US" dirty="0" err="1"/>
              <a:t>SaMS</a:t>
            </a:r>
            <a:r>
              <a:rPr lang="en-US" dirty="0"/>
              <a:t>, HIS 103</a:t>
            </a:r>
            <a:br>
              <a:rPr lang="en-US" dirty="0"/>
            </a:br>
            <a:endParaRPr lang="en-US" dirty="0"/>
          </a:p>
        </p:txBody>
      </p:sp>
    </p:spTree>
    <p:extLst>
      <p:ext uri="{BB962C8B-B14F-4D97-AF65-F5344CB8AC3E}">
        <p14:creationId xmlns:p14="http://schemas.microsoft.com/office/powerpoint/2010/main" val="1602627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2946"/>
            <a:ext cx="11202824" cy="5254017"/>
          </a:xfrm>
        </p:spPr>
        <p:txBody>
          <a:bodyPr anchor="ctr">
            <a:normAutofit/>
          </a:bodyPr>
          <a:lstStyle/>
          <a:p>
            <a:pPr marL="0" indent="0" algn="ctr">
              <a:buNone/>
            </a:pPr>
            <a:r>
              <a:rPr lang="en-US" sz="4800" dirty="0"/>
              <a:t>Bengali Hindu </a:t>
            </a:r>
            <a:r>
              <a:rPr lang="en-US" sz="4800" dirty="0">
                <a:solidFill>
                  <a:srgbClr val="FF0000"/>
                </a:solidFill>
              </a:rPr>
              <a:t>Renaissance</a:t>
            </a:r>
            <a:r>
              <a:rPr lang="en-US" sz="4800" dirty="0"/>
              <a:t> </a:t>
            </a:r>
          </a:p>
        </p:txBody>
      </p:sp>
    </p:spTree>
    <p:extLst>
      <p:ext uri="{BB962C8B-B14F-4D97-AF65-F5344CB8AC3E}">
        <p14:creationId xmlns:p14="http://schemas.microsoft.com/office/powerpoint/2010/main" val="138463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8923"/>
            <a:ext cx="10515600" cy="4409630"/>
          </a:xfrm>
        </p:spPr>
        <p:txBody>
          <a:bodyPr/>
          <a:lstStyle/>
          <a:p>
            <a:pPr algn="just"/>
            <a:r>
              <a:rPr lang="en-US" b="1" dirty="0"/>
              <a:t>Bengal Renaissance</a:t>
            </a:r>
            <a:r>
              <a:rPr lang="en-US" dirty="0"/>
              <a:t> refers largely to the </a:t>
            </a:r>
            <a:r>
              <a:rPr lang="en-US" dirty="0">
                <a:solidFill>
                  <a:srgbClr val="FF0000"/>
                </a:solidFill>
              </a:rPr>
              <a:t>social, cultural, psychological, and intellectual changes </a:t>
            </a:r>
            <a:r>
              <a:rPr lang="en-US" dirty="0"/>
              <a:t>in Bengal during the nineteenth century, as a result of contact between </a:t>
            </a:r>
            <a:r>
              <a:rPr lang="en-US" dirty="0">
                <a:solidFill>
                  <a:srgbClr val="FF0000"/>
                </a:solidFill>
              </a:rPr>
              <a:t>certain sympathetic British officials </a:t>
            </a:r>
            <a:r>
              <a:rPr lang="en-US" dirty="0"/>
              <a:t>and missionaries on the one hand, and the Hindu intelligentsia on the other. </a:t>
            </a:r>
          </a:p>
          <a:p>
            <a:pPr algn="just"/>
            <a:r>
              <a:rPr lang="en-US" dirty="0"/>
              <a:t>The setting for the Bengal Renaissance was the colonial metropolis of Calcutta.</a:t>
            </a:r>
          </a:p>
        </p:txBody>
      </p:sp>
    </p:spTree>
    <p:extLst>
      <p:ext uri="{BB962C8B-B14F-4D97-AF65-F5344CB8AC3E}">
        <p14:creationId xmlns:p14="http://schemas.microsoft.com/office/powerpoint/2010/main" val="3548589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187" y="341832"/>
            <a:ext cx="11887199" cy="6349525"/>
          </a:xfrm>
        </p:spPr>
        <p:txBody>
          <a:bodyPr>
            <a:normAutofit/>
          </a:bodyPr>
          <a:lstStyle/>
          <a:p>
            <a:pPr algn="just"/>
            <a:r>
              <a:rPr lang="en-US" dirty="0"/>
              <a:t>There were </a:t>
            </a:r>
            <a:r>
              <a:rPr lang="en-US" dirty="0">
                <a:solidFill>
                  <a:srgbClr val="FF0000"/>
                </a:solidFill>
              </a:rPr>
              <a:t>four aspects </a:t>
            </a:r>
            <a:r>
              <a:rPr lang="en-US" dirty="0"/>
              <a:t>of the </a:t>
            </a:r>
            <a:r>
              <a:rPr lang="en-US" dirty="0">
                <a:solidFill>
                  <a:srgbClr val="FF0000"/>
                </a:solidFill>
              </a:rPr>
              <a:t>Renaissance movement</a:t>
            </a:r>
            <a:r>
              <a:rPr lang="en-US" dirty="0"/>
              <a:t>, which the </a:t>
            </a:r>
            <a:r>
              <a:rPr lang="en-US" dirty="0" err="1"/>
              <a:t>Bangali</a:t>
            </a:r>
            <a:r>
              <a:rPr lang="en-US" dirty="0"/>
              <a:t> intelligentsia developed systematically throughout the nineteenth century. </a:t>
            </a:r>
          </a:p>
          <a:p>
            <a:pPr algn="just">
              <a:buFont typeface="Wingdings" panose="05000000000000000000" pitchFamily="2" charset="2"/>
              <a:buChar char="Ø"/>
            </a:pPr>
            <a:r>
              <a:rPr lang="en-US" dirty="0">
                <a:solidFill>
                  <a:srgbClr val="FF0000"/>
                </a:solidFill>
              </a:rPr>
              <a:t>First,</a:t>
            </a:r>
            <a:r>
              <a:rPr lang="en-US" dirty="0"/>
              <a:t> there was the modernization of the Bengali language and the simultaneous birth of a new </a:t>
            </a:r>
            <a:r>
              <a:rPr lang="en-US" dirty="0" err="1"/>
              <a:t>Bangali</a:t>
            </a:r>
            <a:r>
              <a:rPr lang="en-US" dirty="0"/>
              <a:t> literature. </a:t>
            </a:r>
          </a:p>
          <a:p>
            <a:pPr algn="just">
              <a:buFont typeface="Wingdings" panose="05000000000000000000" pitchFamily="2" charset="2"/>
              <a:buChar char="Ø"/>
            </a:pPr>
            <a:r>
              <a:rPr lang="en-US" dirty="0">
                <a:solidFill>
                  <a:srgbClr val="FF0000"/>
                </a:solidFill>
              </a:rPr>
              <a:t>Secondly,</a:t>
            </a:r>
            <a:r>
              <a:rPr lang="en-US" dirty="0"/>
              <a:t> there was the </a:t>
            </a:r>
            <a:r>
              <a:rPr lang="en-US" dirty="0">
                <a:solidFill>
                  <a:srgbClr val="FF0000"/>
                </a:solidFill>
              </a:rPr>
              <a:t>rediscovery </a:t>
            </a:r>
            <a:r>
              <a:rPr lang="en-US" dirty="0"/>
              <a:t>of, and identification with an Indian classical era hailed as a </a:t>
            </a:r>
            <a:r>
              <a:rPr lang="en-US" dirty="0">
                <a:solidFill>
                  <a:srgbClr val="FF0000"/>
                </a:solidFill>
              </a:rPr>
              <a:t>golden age </a:t>
            </a:r>
            <a:r>
              <a:rPr lang="en-US" dirty="0"/>
              <a:t>which placed </a:t>
            </a:r>
            <a:r>
              <a:rPr lang="en-US" dirty="0">
                <a:solidFill>
                  <a:srgbClr val="FF0000"/>
                </a:solidFill>
              </a:rPr>
              <a:t>South Asian </a:t>
            </a:r>
            <a:r>
              <a:rPr lang="en-US" dirty="0" err="1">
                <a:solidFill>
                  <a:srgbClr val="FF0000"/>
                </a:solidFill>
              </a:rPr>
              <a:t>civilisation</a:t>
            </a:r>
            <a:r>
              <a:rPr lang="en-US" dirty="0">
                <a:solidFill>
                  <a:srgbClr val="FF0000"/>
                </a:solidFill>
              </a:rPr>
              <a:t> </a:t>
            </a:r>
            <a:r>
              <a:rPr lang="en-US" dirty="0"/>
              <a:t>on a par with the grandeur of </a:t>
            </a:r>
            <a:r>
              <a:rPr lang="en-US" dirty="0">
                <a:solidFill>
                  <a:srgbClr val="FF0000"/>
                </a:solidFill>
              </a:rPr>
              <a:t>Greece and Rome</a:t>
            </a:r>
            <a:r>
              <a:rPr lang="en-US" dirty="0"/>
              <a:t>. </a:t>
            </a:r>
          </a:p>
          <a:p>
            <a:pPr algn="just">
              <a:buFont typeface="Wingdings" panose="05000000000000000000" pitchFamily="2" charset="2"/>
              <a:buChar char="Ø"/>
            </a:pPr>
            <a:r>
              <a:rPr lang="en-US" dirty="0">
                <a:solidFill>
                  <a:srgbClr val="FF0000"/>
                </a:solidFill>
              </a:rPr>
              <a:t>Thirdly,</a:t>
            </a:r>
            <a:r>
              <a:rPr lang="en-US" dirty="0"/>
              <a:t> there was the </a:t>
            </a:r>
            <a:r>
              <a:rPr lang="en-US" dirty="0" err="1"/>
              <a:t>Sreerampore</a:t>
            </a:r>
            <a:r>
              <a:rPr lang="en-US" dirty="0"/>
              <a:t> missionary interpretation of the Protestation Reformation, which Indians applied creatively to their own historic situation. </a:t>
            </a:r>
          </a:p>
          <a:p>
            <a:pPr algn="just">
              <a:buFont typeface="Wingdings" panose="05000000000000000000" pitchFamily="2" charset="2"/>
              <a:buChar char="Ø"/>
            </a:pPr>
            <a:r>
              <a:rPr lang="en-US" dirty="0">
                <a:solidFill>
                  <a:srgbClr val="FF0000"/>
                </a:solidFill>
              </a:rPr>
              <a:t>And finally</a:t>
            </a:r>
            <a:r>
              <a:rPr lang="en-US" dirty="0"/>
              <a:t>, there was the </a:t>
            </a:r>
            <a:r>
              <a:rPr lang="en-US" dirty="0">
                <a:solidFill>
                  <a:srgbClr val="FF0000"/>
                </a:solidFill>
              </a:rPr>
              <a:t>secular view of universal progress </a:t>
            </a:r>
            <a:r>
              <a:rPr lang="en-US" dirty="0"/>
              <a:t>on which India's hope lay not in resurrecting the past but in projecting the </a:t>
            </a:r>
            <a:r>
              <a:rPr lang="en-US" dirty="0">
                <a:solidFill>
                  <a:srgbClr val="FF0000"/>
                </a:solidFill>
              </a:rPr>
              <a:t>golden age into the future.</a:t>
            </a:r>
          </a:p>
        </p:txBody>
      </p:sp>
    </p:spTree>
    <p:extLst>
      <p:ext uri="{BB962C8B-B14F-4D97-AF65-F5344CB8AC3E}">
        <p14:creationId xmlns:p14="http://schemas.microsoft.com/office/powerpoint/2010/main" val="2715645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2742" y="2372138"/>
            <a:ext cx="10515600" cy="2067339"/>
          </a:xfrm>
        </p:spPr>
        <p:txBody>
          <a:bodyPr>
            <a:normAutofit/>
          </a:bodyPr>
          <a:lstStyle/>
          <a:p>
            <a:r>
              <a:rPr lang="en-US" dirty="0"/>
              <a:t>When the </a:t>
            </a:r>
            <a:r>
              <a:rPr lang="en-US" dirty="0">
                <a:solidFill>
                  <a:srgbClr val="FF0000"/>
                </a:solidFill>
              </a:rPr>
              <a:t>College of Fort William </a:t>
            </a:r>
            <a:r>
              <a:rPr lang="en-US" dirty="0"/>
              <a:t>hired the Baptist missionary,</a:t>
            </a:r>
            <a:r>
              <a:rPr lang="en-US" cap="small" dirty="0"/>
              <a:t> </a:t>
            </a:r>
            <a:r>
              <a:rPr lang="en-US" cap="small" dirty="0" err="1">
                <a:solidFill>
                  <a:srgbClr val="FF0000"/>
                </a:solidFill>
              </a:rPr>
              <a:t>william</a:t>
            </a:r>
            <a:r>
              <a:rPr lang="en-US" cap="small" dirty="0">
                <a:solidFill>
                  <a:srgbClr val="FF0000"/>
                </a:solidFill>
              </a:rPr>
              <a:t> </a:t>
            </a:r>
            <a:r>
              <a:rPr lang="en-US" cap="small" dirty="0" err="1">
                <a:solidFill>
                  <a:srgbClr val="FF0000"/>
                </a:solidFill>
              </a:rPr>
              <a:t>carey</a:t>
            </a:r>
            <a:r>
              <a:rPr lang="en-US" dirty="0"/>
              <a:t> in 1801, as head of the Bengali Department every available kind of financial, technological, and human resource was put at his disposal.</a:t>
            </a:r>
          </a:p>
          <a:p>
            <a:pPr marL="0" indent="0">
              <a:buNone/>
            </a:pPr>
            <a:endParaRPr lang="en-US" dirty="0"/>
          </a:p>
        </p:txBody>
      </p:sp>
    </p:spTree>
    <p:extLst>
      <p:ext uri="{BB962C8B-B14F-4D97-AF65-F5344CB8AC3E}">
        <p14:creationId xmlns:p14="http://schemas.microsoft.com/office/powerpoint/2010/main" val="44835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96413" y="640934"/>
            <a:ext cx="2534940" cy="4452359"/>
          </a:xfrm>
          <a:prstGeom prst="rect">
            <a:avLst/>
          </a:prstGeom>
        </p:spPr>
      </p:pic>
      <p:pic>
        <p:nvPicPr>
          <p:cNvPr id="2" name="Picture 1"/>
          <p:cNvPicPr>
            <a:picLocks noChangeAspect="1"/>
          </p:cNvPicPr>
          <p:nvPr/>
        </p:nvPicPr>
        <p:blipFill>
          <a:blip r:embed="rId3"/>
          <a:stretch>
            <a:fillRect/>
          </a:stretch>
        </p:blipFill>
        <p:spPr>
          <a:xfrm>
            <a:off x="3577661" y="452926"/>
            <a:ext cx="6822571" cy="4452359"/>
          </a:xfrm>
          <a:prstGeom prst="rect">
            <a:avLst/>
          </a:prstGeom>
        </p:spPr>
      </p:pic>
    </p:spTree>
    <p:extLst>
      <p:ext uri="{BB962C8B-B14F-4D97-AF65-F5344CB8AC3E}">
        <p14:creationId xmlns:p14="http://schemas.microsoft.com/office/powerpoint/2010/main" val="3807698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43289"/>
            <a:ext cx="10515600" cy="4554064"/>
          </a:xfrm>
        </p:spPr>
        <p:txBody>
          <a:bodyPr/>
          <a:lstStyle/>
          <a:p>
            <a:r>
              <a:rPr lang="en-US" b="1" dirty="0" err="1"/>
              <a:t>Vidyasagar</a:t>
            </a:r>
            <a:r>
              <a:rPr lang="en-US" b="1" dirty="0"/>
              <a:t>, </a:t>
            </a:r>
            <a:r>
              <a:rPr lang="en-US" b="1" dirty="0" err="1"/>
              <a:t>Ishwar</a:t>
            </a:r>
            <a:r>
              <a:rPr lang="en-US" b="1" dirty="0"/>
              <a:t> Chandra</a:t>
            </a:r>
            <a:r>
              <a:rPr lang="en-US" dirty="0"/>
              <a:t> (1820-1891) </a:t>
            </a:r>
            <a:r>
              <a:rPr lang="en-US" dirty="0">
                <a:solidFill>
                  <a:srgbClr val="FF0000"/>
                </a:solidFill>
              </a:rPr>
              <a:t>Sanskrit scholar</a:t>
            </a:r>
            <a:r>
              <a:rPr lang="en-US" dirty="0"/>
              <a:t>, writer, educationist, humanist pundit, social reformer and philanthropist, was born on 26 September 1820 in a poor </a:t>
            </a:r>
            <a:r>
              <a:rPr lang="en-US" cap="small" dirty="0" err="1">
                <a:hlinkClick r:id="rId2" tooltip="Brahman"/>
              </a:rPr>
              <a:t>brahman</a:t>
            </a:r>
            <a:r>
              <a:rPr lang="en-US" dirty="0"/>
              <a:t> family in a village in </a:t>
            </a:r>
            <a:r>
              <a:rPr lang="en-US" dirty="0" err="1"/>
              <a:t>Medinipur</a:t>
            </a:r>
            <a:r>
              <a:rPr lang="en-US" dirty="0"/>
              <a:t>. His father Thakur Das </a:t>
            </a:r>
            <a:r>
              <a:rPr lang="en-US" dirty="0" err="1"/>
              <a:t>Bandhyay</a:t>
            </a:r>
            <a:r>
              <a:rPr lang="en-US" dirty="0"/>
              <a:t> was a clerk at a shop in Kolkata</a:t>
            </a:r>
          </a:p>
          <a:p>
            <a:r>
              <a:rPr lang="en-US" dirty="0"/>
              <a:t> Vidyasagar did not </a:t>
            </a:r>
            <a:r>
              <a:rPr lang="en-US" dirty="0">
                <a:solidFill>
                  <a:srgbClr val="FF0000"/>
                </a:solidFill>
              </a:rPr>
              <a:t>write in one single style</a:t>
            </a:r>
            <a:r>
              <a:rPr lang="en-US" dirty="0"/>
              <a:t>; for example, the style he followed in his </a:t>
            </a:r>
            <a:r>
              <a:rPr lang="en-US" dirty="0">
                <a:solidFill>
                  <a:srgbClr val="FF0000"/>
                </a:solidFill>
              </a:rPr>
              <a:t>textbooks</a:t>
            </a:r>
            <a:r>
              <a:rPr lang="en-US" dirty="0"/>
              <a:t> was, of course, different from the one he used in his literary works.  </a:t>
            </a:r>
          </a:p>
          <a:p>
            <a:r>
              <a:rPr lang="en-US" dirty="0"/>
              <a:t>Passing of the Hindu Widow’s Remarriage Act</a:t>
            </a:r>
          </a:p>
        </p:txBody>
      </p:sp>
    </p:spTree>
    <p:extLst>
      <p:ext uri="{BB962C8B-B14F-4D97-AF65-F5344CB8AC3E}">
        <p14:creationId xmlns:p14="http://schemas.microsoft.com/office/powerpoint/2010/main" val="422070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rgbClr val="FF0000"/>
                </a:solidFill>
              </a:rPr>
              <a:t>The Hindu Widow's Re-marriage Act, 1856 </a:t>
            </a:r>
            <a:r>
              <a:rPr lang="en-US" dirty="0"/>
              <a:t>(For details, see the link: </a:t>
            </a:r>
            <a:r>
              <a:rPr lang="en-US" dirty="0">
                <a:hlinkClick r:id="rId2"/>
              </a:rPr>
              <a:t>http://bdlaws.minlaw.gov.bd/act-9.html</a:t>
            </a:r>
            <a:r>
              <a:rPr lang="en-US" dirty="0"/>
              <a:t>)</a:t>
            </a:r>
          </a:p>
          <a:p>
            <a:endParaRPr lang="en-US" dirty="0"/>
          </a:p>
          <a:p>
            <a:r>
              <a:rPr lang="en-US" dirty="0"/>
              <a:t>Marriage of Hindu widows legalized</a:t>
            </a:r>
          </a:p>
          <a:p>
            <a:endParaRPr lang="en-US" b="1" dirty="0"/>
          </a:p>
          <a:p>
            <a:endParaRPr lang="en-US" dirty="0"/>
          </a:p>
        </p:txBody>
      </p:sp>
    </p:spTree>
    <p:extLst>
      <p:ext uri="{BB962C8B-B14F-4D97-AF65-F5344CB8AC3E}">
        <p14:creationId xmlns:p14="http://schemas.microsoft.com/office/powerpoint/2010/main" val="2474581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32997" y="1176145"/>
            <a:ext cx="3226104" cy="4351338"/>
          </a:xfrm>
          <a:prstGeom prst="rect">
            <a:avLst/>
          </a:prstGeom>
        </p:spPr>
      </p:pic>
      <p:pic>
        <p:nvPicPr>
          <p:cNvPr id="5" name="Picture 4"/>
          <p:cNvPicPr>
            <a:picLocks noChangeAspect="1"/>
          </p:cNvPicPr>
          <p:nvPr/>
        </p:nvPicPr>
        <p:blipFill>
          <a:blip r:embed="rId3"/>
          <a:stretch>
            <a:fillRect/>
          </a:stretch>
        </p:blipFill>
        <p:spPr>
          <a:xfrm>
            <a:off x="7016898" y="1176145"/>
            <a:ext cx="3058593" cy="4351338"/>
          </a:xfrm>
          <a:prstGeom prst="rect">
            <a:avLst/>
          </a:prstGeom>
        </p:spPr>
      </p:pic>
    </p:spTree>
    <p:extLst>
      <p:ext uri="{BB962C8B-B14F-4D97-AF65-F5344CB8AC3E}">
        <p14:creationId xmlns:p14="http://schemas.microsoft.com/office/powerpoint/2010/main" val="162827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194363" y="621432"/>
            <a:ext cx="5906624" cy="5407842"/>
          </a:xfrm>
          <a:prstGeom prst="rect">
            <a:avLst/>
          </a:prstGeom>
        </p:spPr>
      </p:pic>
      <p:pic>
        <p:nvPicPr>
          <p:cNvPr id="5" name="Content Placeholder 3"/>
          <p:cNvPicPr>
            <a:picLocks noChangeAspect="1"/>
          </p:cNvPicPr>
          <p:nvPr/>
        </p:nvPicPr>
        <p:blipFill>
          <a:blip r:embed="rId3"/>
          <a:stretch>
            <a:fillRect/>
          </a:stretch>
        </p:blipFill>
        <p:spPr>
          <a:xfrm>
            <a:off x="121047" y="576293"/>
            <a:ext cx="4656052" cy="5498121"/>
          </a:xfrm>
          <a:prstGeom prst="rect">
            <a:avLst/>
          </a:prstGeom>
        </p:spPr>
      </p:pic>
      <p:pic>
        <p:nvPicPr>
          <p:cNvPr id="6" name="Content Placeholder 3"/>
          <p:cNvPicPr>
            <a:picLocks noChangeAspect="1"/>
          </p:cNvPicPr>
          <p:nvPr/>
        </p:nvPicPr>
        <p:blipFill>
          <a:blip r:embed="rId3"/>
          <a:stretch>
            <a:fillRect/>
          </a:stretch>
        </p:blipFill>
        <p:spPr>
          <a:xfrm>
            <a:off x="121047" y="621432"/>
            <a:ext cx="4656052" cy="5498121"/>
          </a:xfrm>
          <a:prstGeom prst="rect">
            <a:avLst/>
          </a:prstGeom>
        </p:spPr>
      </p:pic>
    </p:spTree>
    <p:extLst>
      <p:ext uri="{BB962C8B-B14F-4D97-AF65-F5344CB8AC3E}">
        <p14:creationId xmlns:p14="http://schemas.microsoft.com/office/powerpoint/2010/main" val="320813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r="9726"/>
          <a:stretch/>
        </p:blipFill>
        <p:spPr>
          <a:xfrm>
            <a:off x="308078" y="201923"/>
            <a:ext cx="5759436" cy="5302339"/>
          </a:xfrm>
          <a:prstGeom prst="rect">
            <a:avLst/>
          </a:prstGeom>
        </p:spPr>
      </p:pic>
      <p:pic>
        <p:nvPicPr>
          <p:cNvPr id="5" name="Picture 4"/>
          <p:cNvPicPr>
            <a:picLocks noChangeAspect="1"/>
          </p:cNvPicPr>
          <p:nvPr/>
        </p:nvPicPr>
        <p:blipFill rotWithShape="1">
          <a:blip r:embed="rId3"/>
          <a:srcRect r="8711"/>
          <a:stretch/>
        </p:blipFill>
        <p:spPr>
          <a:xfrm>
            <a:off x="6221338" y="201924"/>
            <a:ext cx="5221481" cy="5302339"/>
          </a:xfrm>
          <a:prstGeom prst="rect">
            <a:avLst/>
          </a:prstGeom>
        </p:spPr>
      </p:pic>
      <p:pic>
        <p:nvPicPr>
          <p:cNvPr id="6" name="Content Placeholder 3"/>
          <p:cNvPicPr>
            <a:picLocks noChangeAspect="1"/>
          </p:cNvPicPr>
          <p:nvPr/>
        </p:nvPicPr>
        <p:blipFill rotWithShape="1">
          <a:blip r:embed="rId4"/>
          <a:srcRect l="8393" t="85237" r="29664" b="3261"/>
          <a:stretch/>
        </p:blipFill>
        <p:spPr>
          <a:xfrm>
            <a:off x="3905429" y="5435895"/>
            <a:ext cx="5315483" cy="632388"/>
          </a:xfrm>
          <a:prstGeom prst="rect">
            <a:avLst/>
          </a:prstGeom>
        </p:spPr>
      </p:pic>
    </p:spTree>
    <p:extLst>
      <p:ext uri="{BB962C8B-B14F-4D97-AF65-F5344CB8AC3E}">
        <p14:creationId xmlns:p14="http://schemas.microsoft.com/office/powerpoint/2010/main" val="4288731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93244"/>
            <a:ext cx="10515600" cy="3127023"/>
          </a:xfrm>
        </p:spPr>
        <p:txBody>
          <a:bodyPr>
            <a:normAutofit/>
          </a:bodyPr>
          <a:lstStyle/>
          <a:p>
            <a:r>
              <a:rPr lang="en-US" dirty="0" err="1"/>
              <a:t>Ishwar</a:t>
            </a:r>
            <a:r>
              <a:rPr lang="en-US" dirty="0"/>
              <a:t> Chandra </a:t>
            </a:r>
            <a:r>
              <a:rPr lang="en-US" dirty="0" err="1"/>
              <a:t>Vidyasagar</a:t>
            </a:r>
            <a:r>
              <a:rPr lang="en-US" dirty="0"/>
              <a:t> will be more remembered as one of the greatest intellectuals and activists of the 19-century and </a:t>
            </a:r>
            <a:r>
              <a:rPr lang="en-US" dirty="0">
                <a:solidFill>
                  <a:srgbClr val="FF0000"/>
                </a:solidFill>
              </a:rPr>
              <a:t>the ‘Father of modern Bengali prose.’ </a:t>
            </a:r>
          </a:p>
        </p:txBody>
      </p:sp>
    </p:spTree>
    <p:extLst>
      <p:ext uri="{BB962C8B-B14F-4D97-AF65-F5344CB8AC3E}">
        <p14:creationId xmlns:p14="http://schemas.microsoft.com/office/powerpoint/2010/main" val="2286061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761066"/>
            <a:ext cx="11074637" cy="3544711"/>
          </a:xfrm>
        </p:spPr>
        <p:txBody>
          <a:bodyPr>
            <a:normAutofit/>
          </a:bodyPr>
          <a:lstStyle/>
          <a:p>
            <a:r>
              <a:rPr lang="en-US" dirty="0"/>
              <a:t>If </a:t>
            </a:r>
            <a:r>
              <a:rPr lang="en-US" dirty="0" err="1"/>
              <a:t>Rammohun</a:t>
            </a:r>
            <a:r>
              <a:rPr lang="en-US" dirty="0"/>
              <a:t> Roy played the role of the first humanist pundit in Bengal by translating, reinterpreting and publishing old </a:t>
            </a:r>
            <a:r>
              <a:rPr lang="en-US" dirty="0" err="1"/>
              <a:t>shastras</a:t>
            </a:r>
            <a:r>
              <a:rPr lang="en-US" dirty="0"/>
              <a:t>, and thus started the process of the Bengal Renaissance, </a:t>
            </a:r>
            <a:r>
              <a:rPr lang="en-US" dirty="0" err="1"/>
              <a:t>Vidyasagar</a:t>
            </a:r>
            <a:r>
              <a:rPr lang="en-US" dirty="0"/>
              <a:t> was the second. Whereas the former did it mainly for his campaign against </a:t>
            </a:r>
            <a:r>
              <a:rPr lang="en-US" cap="small" dirty="0">
                <a:hlinkClick r:id="rId2" tooltip="Sati"/>
              </a:rPr>
              <a:t>sati</a:t>
            </a:r>
            <a:r>
              <a:rPr lang="en-US" dirty="0"/>
              <a:t>, the latter did it for the </a:t>
            </a:r>
            <a:r>
              <a:rPr lang="en-US" dirty="0">
                <a:solidFill>
                  <a:srgbClr val="FF0000"/>
                </a:solidFill>
              </a:rPr>
              <a:t>remarriage of child widows, </a:t>
            </a:r>
            <a:r>
              <a:rPr lang="en-US" dirty="0"/>
              <a:t>stopping polygamy, </a:t>
            </a:r>
            <a:r>
              <a:rPr lang="en-US" dirty="0">
                <a:solidFill>
                  <a:srgbClr val="FF0000"/>
                </a:solidFill>
              </a:rPr>
              <a:t>introducing female education </a:t>
            </a:r>
            <a:r>
              <a:rPr lang="en-US" dirty="0"/>
              <a:t>and for improving the condition of the down-trodden in society, particularly</a:t>
            </a:r>
            <a:r>
              <a:rPr lang="en-US" dirty="0">
                <a:solidFill>
                  <a:srgbClr val="FF0000"/>
                </a:solidFill>
              </a:rPr>
              <a:t> women</a:t>
            </a:r>
            <a:r>
              <a:rPr lang="en-US" dirty="0"/>
              <a:t>.</a:t>
            </a:r>
          </a:p>
        </p:txBody>
      </p:sp>
    </p:spTree>
    <p:extLst>
      <p:ext uri="{BB962C8B-B14F-4D97-AF65-F5344CB8AC3E}">
        <p14:creationId xmlns:p14="http://schemas.microsoft.com/office/powerpoint/2010/main" val="127175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2011" y="410198"/>
            <a:ext cx="11733375" cy="5766765"/>
          </a:xfrm>
        </p:spPr>
        <p:txBody>
          <a:bodyPr/>
          <a:lstStyle/>
          <a:p>
            <a:pPr algn="just"/>
            <a:r>
              <a:rPr lang="en-US" dirty="0"/>
              <a:t>Writers such as </a:t>
            </a:r>
            <a:r>
              <a:rPr lang="en-US" cap="small" dirty="0" err="1"/>
              <a:t>michael</a:t>
            </a:r>
            <a:r>
              <a:rPr lang="en-US" cap="small" dirty="0"/>
              <a:t> </a:t>
            </a:r>
            <a:r>
              <a:rPr lang="en-US" cap="small" dirty="0" err="1"/>
              <a:t>madhusudan</a:t>
            </a:r>
            <a:r>
              <a:rPr lang="en-US" cap="small" dirty="0"/>
              <a:t> </a:t>
            </a:r>
            <a:r>
              <a:rPr lang="en-US" cap="small" dirty="0" err="1"/>
              <a:t>dutt</a:t>
            </a:r>
            <a:r>
              <a:rPr lang="en-US" dirty="0"/>
              <a:t> (1824-73) and </a:t>
            </a:r>
            <a:r>
              <a:rPr lang="en-US" cap="small" dirty="0" err="1"/>
              <a:t>rabindranath</a:t>
            </a:r>
            <a:r>
              <a:rPr lang="en-US" cap="small" dirty="0"/>
              <a:t> </a:t>
            </a:r>
            <a:r>
              <a:rPr lang="en-US" cap="small" dirty="0" err="1"/>
              <a:t>tagore</a:t>
            </a:r>
            <a:r>
              <a:rPr lang="en-US" dirty="0"/>
              <a:t> (1861-1941) wrote beautifully in English but that they also chose to express their literary genius creatively in </a:t>
            </a:r>
            <a:r>
              <a:rPr lang="en-US" dirty="0" err="1"/>
              <a:t>Bangali</a:t>
            </a:r>
            <a:r>
              <a:rPr lang="en-US" dirty="0"/>
              <a:t> certainly helped shape the </a:t>
            </a:r>
            <a:r>
              <a:rPr lang="en-US" dirty="0">
                <a:solidFill>
                  <a:srgbClr val="FF0000"/>
                </a:solidFill>
              </a:rPr>
              <a:t>renaissance of that literature</a:t>
            </a:r>
            <a:r>
              <a:rPr lang="en-US" dirty="0"/>
              <a:t>. </a:t>
            </a:r>
            <a:r>
              <a:rPr lang="en-US" dirty="0" err="1"/>
              <a:t>Dutt's</a:t>
            </a:r>
            <a:r>
              <a:rPr lang="en-US" dirty="0"/>
              <a:t> </a:t>
            </a:r>
            <a:r>
              <a:rPr lang="en-US" i="1" dirty="0" err="1">
                <a:solidFill>
                  <a:srgbClr val="FF0000"/>
                </a:solidFill>
              </a:rPr>
              <a:t>Meghnadhbadh</a:t>
            </a:r>
            <a:r>
              <a:rPr lang="en-US" i="1" dirty="0">
                <a:solidFill>
                  <a:srgbClr val="FF0000"/>
                </a:solidFill>
              </a:rPr>
              <a:t> </a:t>
            </a:r>
            <a:r>
              <a:rPr lang="en-US" i="1" dirty="0" err="1">
                <a:solidFill>
                  <a:srgbClr val="FF0000"/>
                </a:solidFill>
              </a:rPr>
              <a:t>Kabya</a:t>
            </a:r>
            <a:r>
              <a:rPr lang="en-US" i="1" dirty="0">
                <a:solidFill>
                  <a:srgbClr val="FF0000"/>
                </a:solidFill>
              </a:rPr>
              <a:t> </a:t>
            </a:r>
            <a:r>
              <a:rPr lang="en-US" dirty="0"/>
              <a:t>and Tagore's </a:t>
            </a:r>
            <a:r>
              <a:rPr lang="en-US" cap="small" dirty="0" err="1"/>
              <a:t>geetanjali</a:t>
            </a:r>
            <a:r>
              <a:rPr lang="en-US" dirty="0"/>
              <a:t> for examples, were renaissance </a:t>
            </a:r>
            <a:r>
              <a:rPr lang="en-US" dirty="0">
                <a:solidFill>
                  <a:srgbClr val="FF0000"/>
                </a:solidFill>
              </a:rPr>
              <a:t>masterpieces</a:t>
            </a:r>
            <a:r>
              <a:rPr lang="en-US" dirty="0"/>
              <a:t> in the manner that tradition was modernized. It is of no small importance that Tagore was awarded the </a:t>
            </a:r>
            <a:r>
              <a:rPr lang="en-US" dirty="0">
                <a:solidFill>
                  <a:srgbClr val="FF0000"/>
                </a:solidFill>
              </a:rPr>
              <a:t>Nobel Prize for Literature in 1913</a:t>
            </a:r>
            <a:r>
              <a:rPr lang="en-US" dirty="0"/>
              <a:t>, one year after he published an English translation of</a:t>
            </a:r>
            <a:r>
              <a:rPr lang="en-US" i="1" dirty="0"/>
              <a:t> </a:t>
            </a:r>
            <a:r>
              <a:rPr lang="en-US" i="1" dirty="0" err="1"/>
              <a:t>Geetanjali</a:t>
            </a:r>
            <a:r>
              <a:rPr lang="en-US" i="1" dirty="0"/>
              <a:t> </a:t>
            </a:r>
            <a:r>
              <a:rPr lang="en-US" dirty="0"/>
              <a:t>(Song Offerings).</a:t>
            </a:r>
          </a:p>
          <a:p>
            <a:pPr algn="just"/>
            <a:endParaRPr lang="en-US" dirty="0"/>
          </a:p>
        </p:txBody>
      </p:sp>
    </p:spTree>
    <p:extLst>
      <p:ext uri="{BB962C8B-B14F-4D97-AF65-F5344CB8AC3E}">
        <p14:creationId xmlns:p14="http://schemas.microsoft.com/office/powerpoint/2010/main" val="3266336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05124" y="179462"/>
            <a:ext cx="6659661" cy="5504954"/>
          </a:xfrm>
          <a:prstGeom prst="rect">
            <a:avLst/>
          </a:prstGeom>
        </p:spPr>
      </p:pic>
    </p:spTree>
    <p:extLst>
      <p:ext uri="{BB962C8B-B14F-4D97-AF65-F5344CB8AC3E}">
        <p14:creationId xmlns:p14="http://schemas.microsoft.com/office/powerpoint/2010/main" val="1494434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29555" y="564022"/>
            <a:ext cx="6507572" cy="5612941"/>
          </a:xfrm>
          <a:prstGeom prst="rect">
            <a:avLst/>
          </a:prstGeom>
        </p:spPr>
      </p:pic>
    </p:spTree>
    <p:extLst>
      <p:ext uri="{BB962C8B-B14F-4D97-AF65-F5344CB8AC3E}">
        <p14:creationId xmlns:p14="http://schemas.microsoft.com/office/powerpoint/2010/main" val="2850111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9103" y="444382"/>
            <a:ext cx="11382997" cy="6315342"/>
          </a:xfrm>
        </p:spPr>
        <p:txBody>
          <a:bodyPr/>
          <a:lstStyle/>
          <a:p>
            <a:pPr algn="just"/>
            <a:r>
              <a:rPr lang="en-US" dirty="0"/>
              <a:t>If the Bengal Renaissance produced one outstanding progenitor who imbibed the Orientalist contribution as effectively as he did linguistic and literary modernization and the effective defense of Hindu theism against the double-edged challenge of Christianity and secularism, it would be </a:t>
            </a:r>
            <a:r>
              <a:rPr lang="en-US" cap="small" dirty="0" err="1"/>
              <a:t>rammohun</a:t>
            </a:r>
            <a:r>
              <a:rPr lang="en-US" cap="small" dirty="0"/>
              <a:t> </a:t>
            </a:r>
            <a:r>
              <a:rPr lang="en-US" cap="small" dirty="0" err="1"/>
              <a:t>roy</a:t>
            </a:r>
            <a:endParaRPr lang="en-US" dirty="0"/>
          </a:p>
        </p:txBody>
      </p:sp>
      <p:pic>
        <p:nvPicPr>
          <p:cNvPr id="4" name="Picture 3"/>
          <p:cNvPicPr>
            <a:picLocks noChangeAspect="1"/>
          </p:cNvPicPr>
          <p:nvPr/>
        </p:nvPicPr>
        <p:blipFill>
          <a:blip r:embed="rId2"/>
          <a:stretch>
            <a:fillRect/>
          </a:stretch>
        </p:blipFill>
        <p:spPr>
          <a:xfrm>
            <a:off x="5990601" y="2623557"/>
            <a:ext cx="3585673" cy="2871387"/>
          </a:xfrm>
          <a:prstGeom prst="rect">
            <a:avLst/>
          </a:prstGeom>
        </p:spPr>
      </p:pic>
      <p:pic>
        <p:nvPicPr>
          <p:cNvPr id="5" name="Picture 4"/>
          <p:cNvPicPr>
            <a:picLocks noChangeAspect="1"/>
          </p:cNvPicPr>
          <p:nvPr/>
        </p:nvPicPr>
        <p:blipFill>
          <a:blip r:embed="rId3"/>
          <a:stretch>
            <a:fillRect/>
          </a:stretch>
        </p:blipFill>
        <p:spPr>
          <a:xfrm>
            <a:off x="1232062" y="2623558"/>
            <a:ext cx="4134696" cy="2871387"/>
          </a:xfrm>
          <a:prstGeom prst="rect">
            <a:avLst/>
          </a:prstGeom>
        </p:spPr>
      </p:pic>
    </p:spTree>
    <p:extLst>
      <p:ext uri="{BB962C8B-B14F-4D97-AF65-F5344CB8AC3E}">
        <p14:creationId xmlns:p14="http://schemas.microsoft.com/office/powerpoint/2010/main" val="222695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6572"/>
            <a:ext cx="10515600" cy="5510391"/>
          </a:xfrm>
        </p:spPr>
        <p:txBody>
          <a:bodyPr>
            <a:normAutofit lnSpcReduction="10000"/>
          </a:bodyPr>
          <a:lstStyle/>
          <a:p>
            <a:pPr algn="just"/>
            <a:r>
              <a:rPr lang="en-US" b="1" dirty="0"/>
              <a:t>Roy, Raja </a:t>
            </a:r>
            <a:r>
              <a:rPr lang="en-US" b="1" dirty="0" err="1"/>
              <a:t>Rammohun</a:t>
            </a:r>
            <a:r>
              <a:rPr lang="en-US" dirty="0"/>
              <a:t> (1772/74-1833) the great reformer, was born in a </a:t>
            </a:r>
            <a:r>
              <a:rPr lang="en-US" dirty="0">
                <a:solidFill>
                  <a:srgbClr val="FF0000"/>
                </a:solidFill>
              </a:rPr>
              <a:t>conservative Brahmin family </a:t>
            </a:r>
            <a:r>
              <a:rPr lang="en-US" dirty="0"/>
              <a:t>in the village </a:t>
            </a:r>
            <a:r>
              <a:rPr lang="en-US" dirty="0" err="1"/>
              <a:t>Radhanagar</a:t>
            </a:r>
            <a:r>
              <a:rPr lang="en-US" dirty="0"/>
              <a:t>, West Bengal. He received the traditional education that was common in 18th century India. During his boyhood and early youth he had acquired </a:t>
            </a:r>
            <a:r>
              <a:rPr lang="en-US" dirty="0">
                <a:solidFill>
                  <a:srgbClr val="FF0000"/>
                </a:solidFill>
              </a:rPr>
              <a:t>remarkable proficiency </a:t>
            </a:r>
            <a:r>
              <a:rPr lang="en-US" dirty="0"/>
              <a:t>in several oriental languages such as </a:t>
            </a:r>
            <a:r>
              <a:rPr lang="en-US" dirty="0">
                <a:solidFill>
                  <a:srgbClr val="FF0000"/>
                </a:solidFill>
              </a:rPr>
              <a:t>Sanskrit, Arabic, Persian, besides Hindi and his mother tongue Bangla.</a:t>
            </a:r>
          </a:p>
          <a:p>
            <a:pPr algn="just"/>
            <a:r>
              <a:rPr lang="en-US" dirty="0"/>
              <a:t>He became well versed in Hindu religious scriptures and through his </a:t>
            </a:r>
            <a:r>
              <a:rPr lang="en-US" dirty="0">
                <a:solidFill>
                  <a:srgbClr val="FF0000"/>
                </a:solidFill>
              </a:rPr>
              <a:t>close contact with Muslim scholars </a:t>
            </a:r>
            <a:r>
              <a:rPr lang="en-US" dirty="0"/>
              <a:t>and officials of the revenue and judicial departments of the </a:t>
            </a:r>
            <a:r>
              <a:rPr lang="en-US" cap="small" dirty="0"/>
              <a:t>east </a:t>
            </a:r>
            <a:r>
              <a:rPr lang="en-US" cap="small" dirty="0" err="1"/>
              <a:t>india</a:t>
            </a:r>
            <a:r>
              <a:rPr lang="en-US" cap="small" dirty="0"/>
              <a:t> company</a:t>
            </a:r>
            <a:r>
              <a:rPr lang="en-US" dirty="0"/>
              <a:t>’s government gained considerable knowledge of </a:t>
            </a:r>
            <a:r>
              <a:rPr lang="en-US" dirty="0">
                <a:solidFill>
                  <a:srgbClr val="FF0000"/>
                </a:solidFill>
              </a:rPr>
              <a:t>Islamic theology and jurisprudence. </a:t>
            </a:r>
            <a:r>
              <a:rPr lang="en-US" dirty="0"/>
              <a:t>It may be noted that </a:t>
            </a:r>
            <a:r>
              <a:rPr lang="en-US" dirty="0">
                <a:solidFill>
                  <a:srgbClr val="FF0000"/>
                </a:solidFill>
              </a:rPr>
              <a:t>until 1837 </a:t>
            </a:r>
            <a:r>
              <a:rPr lang="en-US" dirty="0"/>
              <a:t>the East India Company’s Government as the language of </a:t>
            </a:r>
            <a:r>
              <a:rPr lang="en-US" dirty="0">
                <a:solidFill>
                  <a:srgbClr val="FF0000"/>
                </a:solidFill>
              </a:rPr>
              <a:t>official </a:t>
            </a:r>
            <a:r>
              <a:rPr lang="en-US" dirty="0"/>
              <a:t>business in revenue and judicial transactions retained Persian. After </a:t>
            </a:r>
            <a:r>
              <a:rPr lang="en-US" dirty="0" err="1"/>
              <a:t>Rammohun</a:t>
            </a:r>
            <a:r>
              <a:rPr lang="en-US" dirty="0"/>
              <a:t> settled in Calcutta and published his translation of the </a:t>
            </a:r>
            <a:r>
              <a:rPr lang="en-US" i="1" dirty="0">
                <a:solidFill>
                  <a:srgbClr val="FF0000"/>
                </a:solidFill>
              </a:rPr>
              <a:t>Vedanta</a:t>
            </a:r>
            <a:r>
              <a:rPr lang="en-US" dirty="0"/>
              <a:t> in </a:t>
            </a:r>
            <a:r>
              <a:rPr lang="en-US" dirty="0">
                <a:solidFill>
                  <a:srgbClr val="FF0000"/>
                </a:solidFill>
              </a:rPr>
              <a:t>1815</a:t>
            </a:r>
            <a:r>
              <a:rPr lang="en-US" dirty="0"/>
              <a:t>.</a:t>
            </a:r>
          </a:p>
        </p:txBody>
      </p:sp>
    </p:spTree>
    <p:extLst>
      <p:ext uri="{BB962C8B-B14F-4D97-AF65-F5344CB8AC3E}">
        <p14:creationId xmlns:p14="http://schemas.microsoft.com/office/powerpoint/2010/main" val="2620977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675118"/>
            <a:ext cx="11245554" cy="5836777"/>
          </a:xfrm>
        </p:spPr>
        <p:txBody>
          <a:bodyPr/>
          <a:lstStyle/>
          <a:p>
            <a:pPr algn="just"/>
            <a:r>
              <a:rPr lang="en-US" dirty="0"/>
              <a:t> </a:t>
            </a:r>
            <a:r>
              <a:rPr lang="en-US" b="1" dirty="0"/>
              <a:t>Raja Ram Mohan Roy was </a:t>
            </a:r>
            <a:r>
              <a:rPr lang="en-US" dirty="0"/>
              <a:t>the founder of the </a:t>
            </a:r>
            <a:r>
              <a:rPr lang="en-US" dirty="0">
                <a:solidFill>
                  <a:srgbClr val="FF0000"/>
                </a:solidFill>
              </a:rPr>
              <a:t>Brahma </a:t>
            </a:r>
            <a:r>
              <a:rPr lang="en-US" dirty="0" err="1">
                <a:solidFill>
                  <a:srgbClr val="FF0000"/>
                </a:solidFill>
              </a:rPr>
              <a:t>Samaj</a:t>
            </a:r>
            <a:r>
              <a:rPr lang="en-US" dirty="0"/>
              <a:t>, which played a </a:t>
            </a:r>
            <a:r>
              <a:rPr lang="en-US" dirty="0">
                <a:solidFill>
                  <a:srgbClr val="FF0000"/>
                </a:solidFill>
              </a:rPr>
              <a:t>major role </a:t>
            </a:r>
            <a:r>
              <a:rPr lang="en-US" dirty="0"/>
              <a:t>in reforming and </a:t>
            </a:r>
            <a:r>
              <a:rPr lang="en-US" dirty="0" err="1"/>
              <a:t>modernising</a:t>
            </a:r>
            <a:r>
              <a:rPr lang="en-US" dirty="0"/>
              <a:t> the Indian society. In August 1828 </a:t>
            </a:r>
            <a:r>
              <a:rPr lang="en-US" dirty="0" err="1"/>
              <a:t>Rammohun</a:t>
            </a:r>
            <a:r>
              <a:rPr lang="en-US" dirty="0"/>
              <a:t> founded the '</a:t>
            </a:r>
            <a:r>
              <a:rPr lang="en-US" cap="small" dirty="0">
                <a:hlinkClick r:id="rId2" tooltip="Brahma Sabha"/>
              </a:rPr>
              <a:t>brahma </a:t>
            </a:r>
            <a:r>
              <a:rPr lang="en-US" cap="small" dirty="0" err="1">
                <a:hlinkClick r:id="rId2" tooltip="Brahma Sabha"/>
              </a:rPr>
              <a:t>sabha</a:t>
            </a:r>
            <a:r>
              <a:rPr lang="en-US" dirty="0"/>
              <a:t>' or Society of God, which in fact emerged as a new sect of Hinduism. He </a:t>
            </a:r>
            <a:r>
              <a:rPr lang="en-US" dirty="0">
                <a:solidFill>
                  <a:srgbClr val="FF0000"/>
                </a:solidFill>
              </a:rPr>
              <a:t>inaugurated the great age of Hindu reform</a:t>
            </a:r>
            <a:r>
              <a:rPr lang="en-US" dirty="0"/>
              <a:t>. The public opinion, which he was able to arouse against the </a:t>
            </a:r>
            <a:r>
              <a:rPr lang="en-US" dirty="0">
                <a:solidFill>
                  <a:srgbClr val="0070C0"/>
                </a:solidFill>
              </a:rPr>
              <a:t>evil practice of </a:t>
            </a:r>
            <a:r>
              <a:rPr lang="en-US" cap="small" dirty="0" err="1">
                <a:solidFill>
                  <a:srgbClr val="0070C0"/>
                </a:solidFill>
              </a:rPr>
              <a:t>satee</a:t>
            </a:r>
            <a:r>
              <a:rPr lang="en-US" dirty="0"/>
              <a:t>, ( the custom of </a:t>
            </a:r>
            <a:r>
              <a:rPr lang="en-US" dirty="0">
                <a:solidFill>
                  <a:srgbClr val="FF0000"/>
                </a:solidFill>
              </a:rPr>
              <a:t>burning of widows upon the funeral pyres of their deceased husbands</a:t>
            </a:r>
            <a:r>
              <a:rPr lang="en-US" dirty="0"/>
              <a:t>) influenced the government to </a:t>
            </a:r>
            <a:r>
              <a:rPr lang="en-US" dirty="0">
                <a:solidFill>
                  <a:srgbClr val="FF0000"/>
                </a:solidFill>
              </a:rPr>
              <a:t>abolish it in 1829 </a:t>
            </a:r>
            <a:r>
              <a:rPr lang="en-US" dirty="0"/>
              <a:t>through a special legislation. He denounced the </a:t>
            </a:r>
            <a:r>
              <a:rPr lang="en-US" dirty="0">
                <a:solidFill>
                  <a:srgbClr val="FF0000"/>
                </a:solidFill>
              </a:rPr>
              <a:t>Hindu caste system.</a:t>
            </a:r>
            <a:r>
              <a:rPr lang="as-IN" b="1" dirty="0"/>
              <a:t> </a:t>
            </a:r>
            <a:endParaRPr lang="en-US" b="1" dirty="0"/>
          </a:p>
          <a:p>
            <a:pPr algn="just"/>
            <a:endParaRPr lang="en-US" b="1" dirty="0"/>
          </a:p>
          <a:p>
            <a:pPr algn="just"/>
            <a:r>
              <a:rPr lang="as-IN" b="1" dirty="0"/>
              <a:t>গৌড়ীয় ব্যাকরণ</a:t>
            </a:r>
            <a:r>
              <a:rPr lang="as-IN" dirty="0"/>
              <a:t>  বাঙালি রচিত প্রথম বাংলা  </a:t>
            </a:r>
            <a:r>
              <a:rPr lang="as-IN" cap="small" dirty="0">
                <a:hlinkClick r:id="rId3" tooltip="ব্যাকরণ"/>
              </a:rPr>
              <a:t>ব্যাকরণ</a:t>
            </a:r>
            <a:r>
              <a:rPr lang="as-IN" dirty="0"/>
              <a:t>। রচয়িতা রাজা  </a:t>
            </a:r>
            <a:r>
              <a:rPr lang="as-IN" cap="small" dirty="0">
                <a:hlinkClick r:id="rId4" tooltip="রাজা রামমোহন রায়"/>
              </a:rPr>
              <a:t>রামমোহন রায়</a:t>
            </a:r>
            <a:r>
              <a:rPr lang="as-IN" dirty="0"/>
              <a:t>, প্রকাশিত ১৮৩৩ খ্রিস্টাব্দে</a:t>
            </a:r>
            <a:endParaRPr lang="en-US" dirty="0"/>
          </a:p>
          <a:p>
            <a:pPr algn="just"/>
            <a:endParaRPr lang="en-US" dirty="0"/>
          </a:p>
        </p:txBody>
      </p:sp>
    </p:spTree>
    <p:extLst>
      <p:ext uri="{BB962C8B-B14F-4D97-AF65-F5344CB8AC3E}">
        <p14:creationId xmlns:p14="http://schemas.microsoft.com/office/powerpoint/2010/main" val="2689204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33286" y="162371"/>
            <a:ext cx="11699193" cy="6298250"/>
          </a:xfrm>
          <a:prstGeom prst="rect">
            <a:avLst/>
          </a:prstGeom>
        </p:spPr>
      </p:pic>
    </p:spTree>
    <p:extLst>
      <p:ext uri="{BB962C8B-B14F-4D97-AF65-F5344CB8AC3E}">
        <p14:creationId xmlns:p14="http://schemas.microsoft.com/office/powerpoint/2010/main" val="1081538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38676" y="880217"/>
            <a:ext cx="8906079" cy="5296746"/>
          </a:xfrm>
          <a:prstGeom prst="rect">
            <a:avLst/>
          </a:prstGeom>
        </p:spPr>
      </p:pic>
    </p:spTree>
    <p:extLst>
      <p:ext uri="{BB962C8B-B14F-4D97-AF65-F5344CB8AC3E}">
        <p14:creationId xmlns:p14="http://schemas.microsoft.com/office/powerpoint/2010/main" val="4177342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3087"/>
            <a:ext cx="10515600" cy="5553876"/>
          </a:xfrm>
        </p:spPr>
        <p:txBody>
          <a:bodyPr/>
          <a:lstStyle/>
          <a:p>
            <a:pPr algn="just"/>
            <a:r>
              <a:rPr lang="en-US" b="1" dirty="0"/>
              <a:t>Raja Ram Mohan Roy</a:t>
            </a:r>
            <a:r>
              <a:rPr lang="en-US" dirty="0"/>
              <a:t> also contributed much to the </a:t>
            </a:r>
            <a:r>
              <a:rPr lang="en-US" dirty="0">
                <a:solidFill>
                  <a:srgbClr val="FF0000"/>
                </a:solidFill>
              </a:rPr>
              <a:t>growth of national consciousness</a:t>
            </a:r>
            <a:r>
              <a:rPr lang="en-US" dirty="0"/>
              <a:t> in the subcontinent. In his political views he was greatly influenced by the philosophy of </a:t>
            </a:r>
            <a:r>
              <a:rPr lang="en-US" dirty="0">
                <a:solidFill>
                  <a:srgbClr val="FF0000"/>
                </a:solidFill>
              </a:rPr>
              <a:t>Jeremy Bentham</a:t>
            </a:r>
            <a:r>
              <a:rPr lang="en-US" dirty="0"/>
              <a:t>. Principle of “utilitarianism”: Welfare of the people –</a:t>
            </a:r>
            <a:r>
              <a:rPr lang="en-US" dirty="0">
                <a:solidFill>
                  <a:srgbClr val="FF0000"/>
                </a:solidFill>
              </a:rPr>
              <a:t>Greatest happiness of the greatest number of the people. </a:t>
            </a:r>
          </a:p>
          <a:p>
            <a:pPr algn="just"/>
            <a:r>
              <a:rPr lang="en-US" dirty="0" err="1">
                <a:solidFill>
                  <a:srgbClr val="FF0000"/>
                </a:solidFill>
              </a:rPr>
              <a:t>Rammohun</a:t>
            </a:r>
            <a:r>
              <a:rPr lang="en-US" dirty="0">
                <a:solidFill>
                  <a:srgbClr val="FF0000"/>
                </a:solidFill>
              </a:rPr>
              <a:t> and other Bengali leaders who followed him were loyal supporters of the British raj</a:t>
            </a:r>
            <a:r>
              <a:rPr lang="en-US" dirty="0"/>
              <a:t>. They believed that in course of time the </a:t>
            </a:r>
            <a:r>
              <a:rPr lang="en-US" dirty="0">
                <a:solidFill>
                  <a:srgbClr val="FF0000"/>
                </a:solidFill>
              </a:rPr>
              <a:t>political privileges </a:t>
            </a:r>
            <a:r>
              <a:rPr lang="en-US" dirty="0"/>
              <a:t>that the British people at home were enjoying would be extended to the people of the British territories overseas.</a:t>
            </a:r>
          </a:p>
        </p:txBody>
      </p:sp>
    </p:spTree>
    <p:extLst>
      <p:ext uri="{BB962C8B-B14F-4D97-AF65-F5344CB8AC3E}">
        <p14:creationId xmlns:p14="http://schemas.microsoft.com/office/powerpoint/2010/main" val="4061852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2134"/>
            <a:ext cx="10405534" cy="4255910"/>
          </a:xfrm>
        </p:spPr>
        <p:txBody>
          <a:bodyPr/>
          <a:lstStyle/>
          <a:p>
            <a:pPr algn="just"/>
            <a:r>
              <a:rPr lang="en-US" dirty="0"/>
              <a:t>In 1830 </a:t>
            </a:r>
            <a:r>
              <a:rPr lang="en-US" dirty="0" err="1"/>
              <a:t>Rammohun</a:t>
            </a:r>
            <a:r>
              <a:rPr lang="en-US" dirty="0"/>
              <a:t> Roy left for England to represent to the British king and parliament the grievances of the titular </a:t>
            </a:r>
            <a:r>
              <a:rPr lang="en-US" dirty="0">
                <a:solidFill>
                  <a:srgbClr val="FF0000"/>
                </a:solidFill>
              </a:rPr>
              <a:t>Mughal Emperor Akbar II (1806-1837), who had invested him with the title of 'Raja'. </a:t>
            </a:r>
            <a:r>
              <a:rPr lang="en-US" dirty="0"/>
              <a:t>In England he was </a:t>
            </a:r>
            <a:r>
              <a:rPr lang="en-US" dirty="0">
                <a:solidFill>
                  <a:srgbClr val="FF0000"/>
                </a:solidFill>
              </a:rPr>
              <a:t>widely acclaimed </a:t>
            </a:r>
            <a:r>
              <a:rPr lang="en-US" dirty="0"/>
              <a:t>by leaders of British society. He also visited France in 1832.</a:t>
            </a:r>
          </a:p>
          <a:p>
            <a:pPr algn="just"/>
            <a:r>
              <a:rPr lang="en-US" dirty="0"/>
              <a:t> In 1833 while visiting Bristol he fell ill and died on 27 September. </a:t>
            </a:r>
            <a:r>
              <a:rPr lang="en-US" dirty="0" err="1"/>
              <a:t>Debendranath</a:t>
            </a:r>
            <a:r>
              <a:rPr lang="en-US" dirty="0"/>
              <a:t> Tagore, </a:t>
            </a:r>
            <a:r>
              <a:rPr lang="en-US" dirty="0" err="1"/>
              <a:t>Rajmohan</a:t>
            </a:r>
            <a:r>
              <a:rPr lang="en-US" dirty="0"/>
              <a:t> </a:t>
            </a:r>
            <a:r>
              <a:rPr lang="en-US" dirty="0" err="1"/>
              <a:t>Majumdar</a:t>
            </a:r>
            <a:r>
              <a:rPr lang="en-US" dirty="0"/>
              <a:t>, </a:t>
            </a:r>
            <a:r>
              <a:rPr lang="en-US" dirty="0" err="1"/>
              <a:t>Prasanna</a:t>
            </a:r>
            <a:r>
              <a:rPr lang="en-US" dirty="0"/>
              <a:t> Kumar Tagore etc. were the followers of </a:t>
            </a:r>
            <a:r>
              <a:rPr lang="en-US" dirty="0" err="1"/>
              <a:t>Rammohun</a:t>
            </a:r>
            <a:r>
              <a:rPr lang="en-US" dirty="0"/>
              <a:t> Roy.  </a:t>
            </a:r>
          </a:p>
        </p:txBody>
      </p:sp>
    </p:spTree>
    <p:extLst>
      <p:ext uri="{BB962C8B-B14F-4D97-AF65-F5344CB8AC3E}">
        <p14:creationId xmlns:p14="http://schemas.microsoft.com/office/powerpoint/2010/main" val="3479141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1156</TotalTime>
  <Words>568</Words>
  <Application>Microsoft Office PowerPoint</Application>
  <PresentationFormat>Widescreen</PresentationFormat>
  <Paragraphs>29</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Office Theme</vt:lpstr>
      <vt:lpstr> Emergence of Bangladesh  North South University Dhaka, Bangladesh  SaMS, HIS 103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BENGALI HINDU RENEISSANCE</dc:title>
  <dc:creator>User</dc:creator>
  <cp:lastModifiedBy>NSU</cp:lastModifiedBy>
  <cp:revision>220</cp:revision>
  <dcterms:created xsi:type="dcterms:W3CDTF">2020-11-13T11:46:34Z</dcterms:created>
  <dcterms:modified xsi:type="dcterms:W3CDTF">2025-02-09T08:10:43Z</dcterms:modified>
</cp:coreProperties>
</file>