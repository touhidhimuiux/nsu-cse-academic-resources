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75" r:id="rId4"/>
    <p:sldId id="293" r:id="rId5"/>
    <p:sldId id="259" r:id="rId6"/>
    <p:sldId id="295" r:id="rId7"/>
    <p:sldId id="260" r:id="rId8"/>
    <p:sldId id="285" r:id="rId9"/>
    <p:sldId id="286" r:id="rId10"/>
    <p:sldId id="261" r:id="rId11"/>
    <p:sldId id="278" r:id="rId12"/>
    <p:sldId id="277" r:id="rId13"/>
    <p:sldId id="262" r:id="rId14"/>
    <p:sldId id="273" r:id="rId15"/>
    <p:sldId id="270" r:id="rId16"/>
    <p:sldId id="263" r:id="rId17"/>
    <p:sldId id="279" r:id="rId18"/>
    <p:sldId id="271" r:id="rId19"/>
    <p:sldId id="264" r:id="rId20"/>
    <p:sldId id="265" r:id="rId21"/>
    <p:sldId id="292" r:id="rId22"/>
    <p:sldId id="266" r:id="rId23"/>
    <p:sldId id="267" r:id="rId24"/>
    <p:sldId id="291" r:id="rId25"/>
    <p:sldId id="294" r:id="rId26"/>
    <p:sldId id="274" r:id="rId27"/>
    <p:sldId id="269" r:id="rId28"/>
    <p:sldId id="276" r:id="rId29"/>
    <p:sldId id="282" r:id="rId30"/>
    <p:sldId id="283" r:id="rId31"/>
    <p:sldId id="28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showGuides="1">
      <p:cViewPr varScale="1">
        <p:scale>
          <a:sx n="85" d="100"/>
          <a:sy n="85" d="100"/>
        </p:scale>
        <p:origin x="180"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5" Type="http://schemas.openxmlformats.org/officeDocument/2006/relationships/tableStyles" Target="tableStyles.xml"/><Relationship Id="rId34" Type="http://schemas.openxmlformats.org/officeDocument/2006/relationships/viewProps" Target="viewProps.xml"/><Relationship Id="rId33" Type="http://schemas.openxmlformats.org/officeDocument/2006/relationships/presProps" Target="presProps.xml"/><Relationship Id="rId32" Type="http://schemas.openxmlformats.org/officeDocument/2006/relationships/slide" Target="slides/slide30.xml"/><Relationship Id="rId31" Type="http://schemas.openxmlformats.org/officeDocument/2006/relationships/slide" Target="slides/slide29.xml"/><Relationship Id="rId30" Type="http://schemas.openxmlformats.org/officeDocument/2006/relationships/slide" Target="slides/slide28.xml"/><Relationship Id="rId3" Type="http://schemas.openxmlformats.org/officeDocument/2006/relationships/slide" Target="slides/slide1.xml"/><Relationship Id="rId29" Type="http://schemas.openxmlformats.org/officeDocument/2006/relationships/slide" Target="slides/slide27.xml"/><Relationship Id="rId28" Type="http://schemas.openxmlformats.org/officeDocument/2006/relationships/slide" Target="slides/slide26.xml"/><Relationship Id="rId27" Type="http://schemas.openxmlformats.org/officeDocument/2006/relationships/slide" Target="slides/slide25.xml"/><Relationship Id="rId26" Type="http://schemas.openxmlformats.org/officeDocument/2006/relationships/slide" Target="slides/slide24.xml"/><Relationship Id="rId25" Type="http://schemas.openxmlformats.org/officeDocument/2006/relationships/slide" Target="slides/slide23.xml"/><Relationship Id="rId24" Type="http://schemas.openxmlformats.org/officeDocument/2006/relationships/slide" Target="slides/slide22.xml"/><Relationship Id="rId23" Type="http://schemas.openxmlformats.org/officeDocument/2006/relationships/slide" Target="slides/slide21.xml"/><Relationship Id="rId22" Type="http://schemas.openxmlformats.org/officeDocument/2006/relationships/slide" Target="slides/slide20.xml"/><Relationship Id="rId21" Type="http://schemas.openxmlformats.org/officeDocument/2006/relationships/slide" Target="slides/slide19.xml"/><Relationship Id="rId20" Type="http://schemas.openxmlformats.org/officeDocument/2006/relationships/slide" Target="slides/slide18.xml"/><Relationship Id="rId2" Type="http://schemas.openxmlformats.org/officeDocument/2006/relationships/theme" Target="theme/theme1.xml"/><Relationship Id="rId19" Type="http://schemas.openxmlformats.org/officeDocument/2006/relationships/slide" Target="slides/slide17.xml"/><Relationship Id="rId18" Type="http://schemas.openxmlformats.org/officeDocument/2006/relationships/slide" Target="slides/slide16.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4" name="Date Placeholder 3"/>
          <p:cNvSpPr>
            <a:spLocks noGrp="1"/>
          </p:cNvSpPr>
          <p:nvPr>
            <p:ph type="dt" sz="half" idx="10"/>
          </p:nvPr>
        </p:nvSpPr>
        <p:spPr/>
        <p:txBody>
          <a:bodyPr/>
          <a:lstStyle/>
          <a:p>
            <a:fld id="{5D45FA61-4706-4DBF-B5F5-E10FD40EFED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1E8361-15B4-4449-A586-07021D8808AA}"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idx="1"/>
          </p:nvPr>
        </p:nvSpPr>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D45FA61-4706-4DBF-B5F5-E10FD40EFED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1E8361-15B4-4449-A586-07021D8808AA}"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4" name="Date Placeholder 3"/>
          <p:cNvSpPr>
            <a:spLocks noGrp="1"/>
          </p:cNvSpPr>
          <p:nvPr>
            <p:ph type="dt" sz="half" idx="10"/>
          </p:nvPr>
        </p:nvSpPr>
        <p:spPr/>
        <p:txBody>
          <a:bodyPr/>
          <a:lstStyle/>
          <a:p>
            <a:fld id="{5D45FA61-4706-4DBF-B5F5-E10FD40EFED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1E8361-15B4-4449-A586-07021D8808AA}"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Date Placeholder 4"/>
          <p:cNvSpPr>
            <a:spLocks noGrp="1"/>
          </p:cNvSpPr>
          <p:nvPr>
            <p:ph type="dt" sz="half" idx="10"/>
          </p:nvPr>
        </p:nvSpPr>
        <p:spPr/>
        <p:txBody>
          <a:bodyPr/>
          <a:lstStyle/>
          <a:p>
            <a:fld id="{5D45FA61-4706-4DBF-B5F5-E10FD40EFED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1E8361-15B4-4449-A586-07021D8808AA}"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endParaRPr lang="en-US"/>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7" name="Date Placeholder 6"/>
          <p:cNvSpPr>
            <a:spLocks noGrp="1"/>
          </p:cNvSpPr>
          <p:nvPr>
            <p:ph type="dt" sz="half" idx="10"/>
          </p:nvPr>
        </p:nvSpPr>
        <p:spPr/>
        <p:txBody>
          <a:bodyPr/>
          <a:lstStyle/>
          <a:p>
            <a:fld id="{5D45FA61-4706-4DBF-B5F5-E10FD40EFED2}"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81E8361-15B4-4449-A586-07021D8808AA}"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Date Placeholder 2"/>
          <p:cNvSpPr>
            <a:spLocks noGrp="1"/>
          </p:cNvSpPr>
          <p:nvPr>
            <p:ph type="dt" sz="half" idx="10"/>
          </p:nvPr>
        </p:nvSpPr>
        <p:spPr/>
        <p:txBody>
          <a:bodyPr/>
          <a:lstStyle/>
          <a:p>
            <a:fld id="{5D45FA61-4706-4DBF-B5F5-E10FD40EFED2}"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81E8361-15B4-4449-A586-07021D8808AA}"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D45FA61-4706-4DBF-B5F5-E10FD40EFED2}"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81E8361-15B4-4449-A586-07021D8808AA}"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D45FA61-4706-4DBF-B5F5-E10FD40EFED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1E8361-15B4-4449-A586-07021D8808AA}"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endParaRPr lang="en-US"/>
          </a:p>
        </p:txBody>
      </p:sp>
      <p:sp>
        <p:nvSpPr>
          <p:cNvPr id="5" name="Date Placeholder 4"/>
          <p:cNvSpPr>
            <a:spLocks noGrp="1"/>
          </p:cNvSpPr>
          <p:nvPr>
            <p:ph type="dt" sz="half" idx="10"/>
          </p:nvPr>
        </p:nvSpPr>
        <p:spPr/>
        <p:txBody>
          <a:bodyPr/>
          <a:lstStyle/>
          <a:p>
            <a:fld id="{5D45FA61-4706-4DBF-B5F5-E10FD40EFED2}"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81E8361-15B4-4449-A586-07021D8808AA}"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D45FA61-4706-4DBF-B5F5-E10FD40EFED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1E8361-15B4-4449-A586-07021D8808AA}"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10"/>
          </p:nvPr>
        </p:nvSpPr>
        <p:spPr/>
        <p:txBody>
          <a:bodyPr/>
          <a:lstStyle/>
          <a:p>
            <a:fld id="{5D45FA61-4706-4DBF-B5F5-E10FD40EFED2}"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81E8361-15B4-4449-A586-07021D8808AA}"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D45FA61-4706-4DBF-B5F5-E10FD40EFED2}"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1E8361-15B4-4449-A586-07021D8808AA}"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hyperlink" Target="https://orcid.org/0000-0001-5199-3258" TargetMode="External"/><Relationship Id="rId1" Type="http://schemas.openxmlformats.org/officeDocument/2006/relationships/hyperlink" Target="mailto:saleh.shahriar@northsouth.edu" TargetMode="Externa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jpeg"/><Relationship Id="rId1" Type="http://schemas.openxmlformats.org/officeDocument/2006/relationships/image" Target="../media/image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4.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5.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7.png"/><Relationship Id="rId1"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1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1.jpeg"/></Relationships>
</file>

<file path=ppt/slides/_rels/slide1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2.png"/></Relationships>
</file>

<file path=ppt/slides/_rels/slide2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38385" y="1043354"/>
            <a:ext cx="11041165" cy="5240215"/>
          </a:xfrm>
        </p:spPr>
        <p:style>
          <a:lnRef idx="2">
            <a:schemeClr val="accent2"/>
          </a:lnRef>
          <a:fillRef idx="1">
            <a:schemeClr val="lt1"/>
          </a:fillRef>
          <a:effectRef idx="0">
            <a:schemeClr val="accent2"/>
          </a:effectRef>
          <a:fontRef idx="minor">
            <a:schemeClr val="dk1"/>
          </a:fontRef>
        </p:style>
        <p:txBody>
          <a:bodyPr>
            <a:normAutofit/>
          </a:bodyPr>
          <a:lstStyle/>
          <a:p>
            <a:r>
              <a:rPr lang="en-US" sz="3600" b="1" dirty="0">
                <a:solidFill>
                  <a:srgbClr val="002060"/>
                </a:solidFill>
              </a:rPr>
              <a:t>Language Movement and Bengali Nationalism </a:t>
            </a:r>
            <a:endParaRPr lang="en-US" sz="3600" b="1" dirty="0">
              <a:solidFill>
                <a:srgbClr val="002060"/>
              </a:solidFill>
            </a:endParaRPr>
          </a:p>
          <a:p>
            <a:endParaRPr lang="en-US" sz="3600" b="1" dirty="0"/>
          </a:p>
          <a:p>
            <a:r>
              <a:rPr lang="en-US" b="1" dirty="0"/>
              <a:t>Dr. </a:t>
            </a:r>
            <a:r>
              <a:rPr lang="en-US" b="1" dirty="0" err="1"/>
              <a:t>Saleh</a:t>
            </a:r>
            <a:r>
              <a:rPr lang="en-US" b="1" dirty="0"/>
              <a:t> </a:t>
            </a:r>
            <a:r>
              <a:rPr lang="en-US" b="1" dirty="0" err="1"/>
              <a:t>Shahriar</a:t>
            </a:r>
            <a:r>
              <a:rPr lang="en-US" b="1" dirty="0"/>
              <a:t> </a:t>
            </a:r>
            <a:endParaRPr lang="en-US" b="1" dirty="0"/>
          </a:p>
          <a:p>
            <a:r>
              <a:rPr lang="en-US" b="1" dirty="0"/>
              <a:t>North South University</a:t>
            </a:r>
            <a:endParaRPr lang="en-US" b="1" dirty="0"/>
          </a:p>
          <a:p>
            <a:r>
              <a:rPr lang="en-US" b="1" dirty="0" err="1"/>
              <a:t>Bashundhara</a:t>
            </a:r>
            <a:r>
              <a:rPr lang="en-US" b="1" dirty="0"/>
              <a:t>, </a:t>
            </a:r>
            <a:endParaRPr lang="en-US" b="1" dirty="0"/>
          </a:p>
          <a:p>
            <a:r>
              <a:rPr lang="en-US" b="1" dirty="0"/>
              <a:t>Dhaka-1229, Bangladesh</a:t>
            </a:r>
            <a:endParaRPr lang="en-US" b="1" dirty="0"/>
          </a:p>
          <a:p>
            <a:r>
              <a:rPr lang="en-US" dirty="0"/>
              <a:t>Email: </a:t>
            </a:r>
            <a:r>
              <a:rPr lang="en-US" dirty="0">
                <a:hlinkClick r:id="rId1"/>
              </a:rPr>
              <a:t>saleh.shahriar@northsouth.edu</a:t>
            </a:r>
            <a:r>
              <a:rPr lang="en-US" dirty="0"/>
              <a:t> </a:t>
            </a:r>
            <a:br>
              <a:rPr lang="en-US" dirty="0"/>
            </a:br>
            <a:r>
              <a:rPr lang="en-US" dirty="0"/>
              <a:t>ORCID: </a:t>
            </a:r>
            <a:r>
              <a:rPr lang="en-US" dirty="0">
                <a:hlinkClick r:id="rId2"/>
              </a:rPr>
              <a:t>https://orcid.org/0000-0001-5199-3258</a:t>
            </a:r>
            <a:r>
              <a:rPr lang="en-US" dirty="0"/>
              <a:t> </a:t>
            </a:r>
            <a:endParaRPr 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2615013" y="803305"/>
            <a:ext cx="7366114" cy="537365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3094892" y="4185138"/>
            <a:ext cx="5651989" cy="20962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100" name="Picture 4" descr="Amar Bhaier Rokte Rangano (আমার ভাইয়ের রক্তে রাঙানো) | Ekushe February |  Animated Video | SK - YouTube"/>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2707" y="468922"/>
            <a:ext cx="11242431" cy="3423139"/>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726830" y="984738"/>
            <a:ext cx="11031415" cy="4372708"/>
          </a:xfrm>
        </p:spPr>
        <p:style>
          <a:lnRef idx="1">
            <a:schemeClr val="accent2"/>
          </a:lnRef>
          <a:fillRef idx="2">
            <a:schemeClr val="accent2"/>
          </a:fillRef>
          <a:effectRef idx="1">
            <a:schemeClr val="accent2"/>
          </a:effectRef>
          <a:fontRef idx="minor">
            <a:schemeClr val="dk1"/>
          </a:fontRef>
        </p:style>
        <p:txBody>
          <a:bodyPr>
            <a:noAutofit/>
          </a:bodyPr>
          <a:lstStyle/>
          <a:p>
            <a:pPr algn="just"/>
            <a:r>
              <a:rPr lang="en-US" dirty="0">
                <a:solidFill>
                  <a:schemeClr val="tx1"/>
                </a:solidFill>
              </a:rPr>
              <a:t>Bengal fell at the hands of Emperor Akbar in 1576, hence Persian becoming the official language of the province. It continued as the language of the Bengali intelligentsia and officials till 1838. </a:t>
            </a:r>
            <a:endParaRPr lang="en-US" dirty="0">
              <a:solidFill>
                <a:schemeClr val="tx1"/>
              </a:solidFill>
            </a:endParaRPr>
          </a:p>
          <a:p>
            <a:pPr marL="0" indent="0" algn="just">
              <a:buNone/>
            </a:pPr>
            <a:endParaRPr lang="en-US" dirty="0">
              <a:solidFill>
                <a:schemeClr val="tx1"/>
              </a:solidFill>
            </a:endParaRPr>
          </a:p>
          <a:p>
            <a:pPr algn="just"/>
            <a:r>
              <a:rPr lang="en-US" dirty="0">
                <a:solidFill>
                  <a:schemeClr val="tx1"/>
                </a:solidFill>
              </a:rPr>
              <a:t>Under the Mughal rulers, Urdu, composed of letters and words mainly from Hindi, Persian, and Arabic, emerged as an Army language. For ensuring unity and uniformity in the army, Urdu evolved as a common language of command in Akbar's army. With the formation of Muslim League in Dhaka in 1906 and the </a:t>
            </a:r>
            <a:r>
              <a:rPr lang="en-US" dirty="0" err="1">
                <a:solidFill>
                  <a:schemeClr val="tx1"/>
                </a:solidFill>
              </a:rPr>
              <a:t>Lucknow</a:t>
            </a:r>
            <a:r>
              <a:rPr lang="en-US" dirty="0">
                <a:solidFill>
                  <a:schemeClr val="tx1"/>
                </a:solidFill>
              </a:rPr>
              <a:t> Pact in 1916, Urdu revived again its former influence.</a:t>
            </a:r>
            <a:endParaRPr lang="en-US" dirty="0">
              <a:solidFill>
                <a:schemeClr val="tx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77815" y="1887415"/>
            <a:ext cx="10433539" cy="2250830"/>
          </a:xfrm>
        </p:spPr>
        <p:txBody>
          <a:bodyPr>
            <a:normAutofit/>
          </a:bodyPr>
          <a:lstStyle/>
          <a:p>
            <a:pPr algn="ctr"/>
            <a:r>
              <a:rPr lang="en-US" sz="3600" b="1" dirty="0">
                <a:solidFill>
                  <a:srgbClr val="002060"/>
                </a:solidFill>
              </a:rPr>
              <a:t>The Problems &amp; Issues </a:t>
            </a:r>
            <a:endParaRPr lang="en-US" sz="3600" b="1" dirty="0">
              <a:solidFill>
                <a:srgbClr val="002060"/>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1184031"/>
            <a:ext cx="10638692" cy="4595446"/>
          </a:xfrm>
        </p:spPr>
        <p:style>
          <a:lnRef idx="1">
            <a:schemeClr val="accent1"/>
          </a:lnRef>
          <a:fillRef idx="2">
            <a:schemeClr val="accent1"/>
          </a:fillRef>
          <a:effectRef idx="1">
            <a:schemeClr val="accent1"/>
          </a:effectRef>
          <a:fontRef idx="minor">
            <a:schemeClr val="dk1"/>
          </a:fontRef>
        </p:style>
        <p:txBody>
          <a:bodyPr>
            <a:normAutofit/>
          </a:bodyPr>
          <a:lstStyle/>
          <a:p>
            <a:pPr algn="just">
              <a:buFont typeface="Wingdings" panose="05000000000000000000" pitchFamily="2" charset="2"/>
              <a:buChar char="§"/>
            </a:pPr>
            <a:r>
              <a:rPr lang="en-US" dirty="0">
                <a:solidFill>
                  <a:schemeClr val="tx1"/>
                </a:solidFill>
              </a:rPr>
              <a:t>As a legacy of the colonial rule, English was used after independence in the civil-military establishments and educational institutions. Besides English, the government used Urdu in running the state of affairs in newborn Pakistan. </a:t>
            </a:r>
            <a:endParaRPr lang="en-US" dirty="0">
              <a:solidFill>
                <a:schemeClr val="tx1"/>
              </a:solidFill>
            </a:endParaRPr>
          </a:p>
          <a:p>
            <a:pPr algn="just">
              <a:buFont typeface="Wingdings" panose="05000000000000000000" pitchFamily="2" charset="2"/>
              <a:buChar char="§"/>
            </a:pPr>
            <a:r>
              <a:rPr lang="en-US" dirty="0">
                <a:solidFill>
                  <a:schemeClr val="tx1"/>
                </a:solidFill>
              </a:rPr>
              <a:t>The special treatment of Urdu and negligence to Bengali aroused discontent, especially among the Bengali intelligentsia, political leaders and students. Moreover, economic and regional disparities became widened during the days of United Pakistan. Say,  for instance, the educational </a:t>
            </a:r>
            <a:r>
              <a:rPr lang="en-US" dirty="0">
                <a:solidFill>
                  <a:srgbClr val="FF0000"/>
                </a:solidFill>
              </a:rPr>
              <a:t>disparities</a:t>
            </a:r>
            <a:r>
              <a:rPr lang="en-US" dirty="0">
                <a:solidFill>
                  <a:schemeClr val="tx1"/>
                </a:solidFill>
              </a:rPr>
              <a:t> between the two wings. </a:t>
            </a:r>
            <a:endParaRPr lang="en-US" dirty="0">
              <a:solidFill>
                <a:schemeClr val="tx1"/>
              </a:solidFill>
            </a:endParaRPr>
          </a:p>
          <a:p>
            <a:pPr algn="just">
              <a:buFont typeface="Wingdings" panose="05000000000000000000" pitchFamily="2" charset="2"/>
              <a:buChar char="§"/>
            </a:pPr>
            <a:r>
              <a:rPr lang="en-US" dirty="0">
                <a:solidFill>
                  <a:srgbClr val="FF0000"/>
                </a:solidFill>
              </a:rPr>
              <a:t>Please have a look at the selected indicators shown in two Tables in the next two slides. </a:t>
            </a:r>
            <a:endParaRPr lang="en-US" dirty="0">
              <a:solidFill>
                <a:srgbClr val="FF0000"/>
              </a:solidFill>
            </a:endParaRPr>
          </a:p>
          <a:p>
            <a:endParaRPr 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529838" y="358924"/>
            <a:ext cx="10955708" cy="581804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703385" y="855785"/>
            <a:ext cx="10609383" cy="486507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1323" y="1160585"/>
            <a:ext cx="11113477" cy="3774830"/>
          </a:xfrm>
        </p:spPr>
        <p:style>
          <a:lnRef idx="1">
            <a:schemeClr val="accent6"/>
          </a:lnRef>
          <a:fillRef idx="2">
            <a:schemeClr val="accent6"/>
          </a:fillRef>
          <a:effectRef idx="1">
            <a:schemeClr val="accent6"/>
          </a:effectRef>
          <a:fontRef idx="minor">
            <a:schemeClr val="dk1"/>
          </a:fontRef>
        </p:style>
        <p:txBody>
          <a:bodyPr>
            <a:noAutofit/>
          </a:bodyPr>
          <a:lstStyle/>
          <a:p>
            <a:pPr algn="just"/>
            <a:r>
              <a:rPr lang="en-US" dirty="0"/>
              <a:t>Aligarh University in UP was at the center of this debate in the beginning. In July 1947, the former VC of the university Dr. </a:t>
            </a:r>
            <a:r>
              <a:rPr lang="en-US" dirty="0" err="1"/>
              <a:t>Ziauddin</a:t>
            </a:r>
            <a:r>
              <a:rPr lang="en-US" dirty="0"/>
              <a:t> advocated in </a:t>
            </a:r>
            <a:r>
              <a:rPr lang="en-US" dirty="0" err="1"/>
              <a:t>favour</a:t>
            </a:r>
            <a:r>
              <a:rPr lang="en-US" dirty="0"/>
              <a:t> of Urdu as the state language of Pakistan. Instantly Dr. Muhammad </a:t>
            </a:r>
            <a:r>
              <a:rPr lang="en-US" dirty="0" err="1"/>
              <a:t>Shahidullah</a:t>
            </a:r>
            <a:r>
              <a:rPr lang="en-US" dirty="0"/>
              <a:t>, Professor of Bengali at Dhaka University, in a July 19 article in the </a:t>
            </a:r>
            <a:r>
              <a:rPr lang="en-US" i="1" dirty="0"/>
              <a:t>Daily Azad</a:t>
            </a:r>
            <a:r>
              <a:rPr lang="en-US" dirty="0"/>
              <a:t>: "The Language Problem of Pakistan" wrote that Bengali should become the medium of instruction as well as official language in East Pakistan. The demand took a formal shape with the formation of the </a:t>
            </a:r>
            <a:r>
              <a:rPr lang="en-US" i="1" dirty="0" err="1"/>
              <a:t>Gana</a:t>
            </a:r>
            <a:r>
              <a:rPr lang="en-US" i="1" dirty="0"/>
              <a:t> </a:t>
            </a:r>
            <a:r>
              <a:rPr lang="en-US" i="1" dirty="0" err="1"/>
              <a:t>Azadi</a:t>
            </a:r>
            <a:r>
              <a:rPr lang="en-US" i="1" dirty="0"/>
              <a:t> League</a:t>
            </a:r>
            <a:r>
              <a:rPr lang="en-US" dirty="0"/>
              <a:t> in Dhaka during the same month.</a:t>
            </a:r>
            <a:endParaRPr lang="en-US"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90557" y="1195755"/>
            <a:ext cx="11536822" cy="3856892"/>
          </a:xfrm>
        </p:spPr>
        <p:style>
          <a:lnRef idx="1">
            <a:schemeClr val="accent4"/>
          </a:lnRef>
          <a:fillRef idx="2">
            <a:schemeClr val="accent4"/>
          </a:fillRef>
          <a:effectRef idx="1">
            <a:schemeClr val="accent4"/>
          </a:effectRef>
          <a:fontRef idx="minor">
            <a:schemeClr val="dk1"/>
          </a:fontRef>
        </p:style>
        <p:txBody>
          <a:bodyPr/>
          <a:lstStyle/>
          <a:p>
            <a:pPr algn="just"/>
            <a:r>
              <a:rPr lang="en-US" dirty="0"/>
              <a:t>Dr. Muhammad </a:t>
            </a:r>
            <a:r>
              <a:rPr lang="en-US" dirty="0" err="1"/>
              <a:t>Shahidullah</a:t>
            </a:r>
            <a:r>
              <a:rPr lang="en-US" dirty="0"/>
              <a:t> played an important role in the language movement. </a:t>
            </a:r>
            <a:endParaRPr lang="en-US" dirty="0"/>
          </a:p>
          <a:p>
            <a:pPr algn="just"/>
            <a:r>
              <a:rPr lang="en-US" dirty="0">
                <a:solidFill>
                  <a:srgbClr val="FF0000"/>
                </a:solidFill>
              </a:rPr>
              <a:t>He was the first to establish the reasons why Bangla, instead of Urdu, should be the state language of Pakistan. </a:t>
            </a:r>
            <a:r>
              <a:rPr lang="en-US" dirty="0"/>
              <a:t>Earlier, he was Secretary to the Bengal Muslim Literary Society (1911) and had presided over many meetings and conventions, including the second Bengal Muslim Literary Convention (1917), Muslim Literary Society Convention in Dhaka (1926), All-Bengal Muslim Youth Convention in Calcutta (1928), All-India Oriental Studies Convention (Philology, 1941) and East Pakistan Literary Convention (1948)</a:t>
            </a:r>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1"/>
          <a:stretch>
            <a:fillRect/>
          </a:stretch>
        </p:blipFill>
        <p:spPr>
          <a:xfrm>
            <a:off x="5998998" y="842747"/>
            <a:ext cx="5839448" cy="4674548"/>
          </a:xfrm>
          <a:prstGeom prst="rect">
            <a:avLst/>
          </a:prstGeom>
        </p:spPr>
      </p:pic>
      <p:pic>
        <p:nvPicPr>
          <p:cNvPr id="7" name="Content Placeholder 6"/>
          <p:cNvPicPr>
            <a:picLocks noGrp="1" noChangeAspect="1"/>
          </p:cNvPicPr>
          <p:nvPr>
            <p:ph idx="1"/>
          </p:nvPr>
        </p:nvPicPr>
        <p:blipFill>
          <a:blip r:embed="rId2"/>
          <a:stretch>
            <a:fillRect/>
          </a:stretch>
        </p:blipFill>
        <p:spPr>
          <a:xfrm>
            <a:off x="147461" y="1264778"/>
            <a:ext cx="5655680" cy="435133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10197" y="1348153"/>
            <a:ext cx="11512171" cy="3212124"/>
          </a:xfrm>
        </p:spPr>
        <p:style>
          <a:lnRef idx="0">
            <a:schemeClr val="accent6"/>
          </a:lnRef>
          <a:fillRef idx="3">
            <a:schemeClr val="accent6"/>
          </a:fillRef>
          <a:effectRef idx="3">
            <a:schemeClr val="accent6"/>
          </a:effectRef>
          <a:fontRef idx="minor">
            <a:schemeClr val="lt1"/>
          </a:fontRef>
        </p:style>
        <p:txBody>
          <a:bodyPr>
            <a:normAutofit/>
          </a:bodyPr>
          <a:lstStyle/>
          <a:p>
            <a:pPr algn="just"/>
            <a:r>
              <a:rPr lang="en-US" dirty="0">
                <a:solidFill>
                  <a:schemeClr val="tx1"/>
                </a:solidFill>
              </a:rPr>
              <a:t>Immediately after the birth of Pakistan in August 1947, the controversy over language issue topped the list of priorities in the country as Bengali was spoken by 56.3 percent, while about 7.3 percent people spoke Urdu. The government maintained that being the language of none of the five provinces of Pakistan, Urdu would present equal advantage and disadvantage to all those who would be competing for central services.</a:t>
            </a:r>
            <a:endParaRPr lang="en-US" dirty="0">
              <a:solidFill>
                <a:schemeClr val="tx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262" y="512748"/>
            <a:ext cx="11347938" cy="4915037"/>
          </a:xfrm>
        </p:spPr>
        <p:txBody>
          <a:bodyPr>
            <a:normAutofit/>
          </a:bodyPr>
          <a:lstStyle/>
          <a:p>
            <a:pPr algn="just">
              <a:buFont typeface="Wingdings" panose="05000000000000000000" pitchFamily="2" charset="2"/>
              <a:buChar char="§"/>
            </a:pPr>
            <a:r>
              <a:rPr lang="en-US" dirty="0">
                <a:solidFill>
                  <a:srgbClr val="002060"/>
                </a:solidFill>
                <a:latin typeface="Times New Roman" panose="02020603050405020304" pitchFamily="18" charset="0"/>
                <a:cs typeface="Times New Roman" panose="02020603050405020304" pitchFamily="18" charset="0"/>
              </a:rPr>
              <a:t>On February 25, 1948, </a:t>
            </a:r>
            <a:r>
              <a:rPr lang="en-US" dirty="0" err="1">
                <a:solidFill>
                  <a:srgbClr val="002060"/>
                </a:solidFill>
                <a:latin typeface="Times New Roman" panose="02020603050405020304" pitchFamily="18" charset="0"/>
                <a:cs typeface="Times New Roman" panose="02020603050405020304" pitchFamily="18" charset="0"/>
              </a:rPr>
              <a:t>Dhirandra</a:t>
            </a:r>
            <a:r>
              <a:rPr lang="en-US" dirty="0">
                <a:solidFill>
                  <a:srgbClr val="002060"/>
                </a:solidFill>
                <a:latin typeface="Times New Roman" panose="02020603050405020304" pitchFamily="18" charset="0"/>
                <a:cs typeface="Times New Roman" panose="02020603050405020304" pitchFamily="18" charset="0"/>
              </a:rPr>
              <a:t> </a:t>
            </a:r>
            <a:r>
              <a:rPr lang="en-US" dirty="0" err="1">
                <a:solidFill>
                  <a:srgbClr val="002060"/>
                </a:solidFill>
                <a:latin typeface="Times New Roman" panose="02020603050405020304" pitchFamily="18" charset="0"/>
                <a:cs typeface="Times New Roman" panose="02020603050405020304" pitchFamily="18" charset="0"/>
              </a:rPr>
              <a:t>Nath</a:t>
            </a:r>
            <a:r>
              <a:rPr lang="en-US" dirty="0">
                <a:solidFill>
                  <a:srgbClr val="002060"/>
                </a:solidFill>
                <a:latin typeface="Times New Roman" panose="02020603050405020304" pitchFamily="18" charset="0"/>
                <a:cs typeface="Times New Roman" panose="02020603050405020304" pitchFamily="18" charset="0"/>
              </a:rPr>
              <a:t> Dutta, a member of the Pakistan Constituent Assembly from Congress background, strongly spoke in </a:t>
            </a:r>
            <a:r>
              <a:rPr lang="en-US" dirty="0" err="1">
                <a:solidFill>
                  <a:srgbClr val="002060"/>
                </a:solidFill>
                <a:latin typeface="Times New Roman" panose="02020603050405020304" pitchFamily="18" charset="0"/>
                <a:cs typeface="Times New Roman" panose="02020603050405020304" pitchFamily="18" charset="0"/>
              </a:rPr>
              <a:t>favour</a:t>
            </a:r>
            <a:r>
              <a:rPr lang="en-US" dirty="0">
                <a:solidFill>
                  <a:srgbClr val="002060"/>
                </a:solidFill>
                <a:latin typeface="Times New Roman" panose="02020603050405020304" pitchFamily="18" charset="0"/>
                <a:cs typeface="Times New Roman" panose="02020603050405020304" pitchFamily="18" charset="0"/>
              </a:rPr>
              <a:t> of Bengali language. He argued: </a:t>
            </a:r>
            <a:endParaRPr lang="en-US" dirty="0">
              <a:solidFill>
                <a:srgbClr val="002060"/>
              </a:solidFill>
              <a:latin typeface="Times New Roman" panose="02020603050405020304" pitchFamily="18" charset="0"/>
              <a:cs typeface="Times New Roman" panose="02020603050405020304" pitchFamily="18" charset="0"/>
            </a:endParaRPr>
          </a:p>
          <a:p>
            <a:pPr marL="914400" indent="0" algn="just">
              <a:buNone/>
            </a:pPr>
            <a:r>
              <a:rPr lang="en-US" sz="2400" dirty="0">
                <a:solidFill>
                  <a:srgbClr val="FF0000"/>
                </a:solidFill>
                <a:latin typeface="Times New Roman" panose="02020603050405020304" pitchFamily="18" charset="0"/>
                <a:cs typeface="Times New Roman" panose="02020603050405020304" pitchFamily="18" charset="0"/>
              </a:rPr>
              <a:t>"Out of sixty-nine million people in Pakistan, forty four million people speak Bengali … the state language should be the language which is used by the majority of the people of the state, and for that, I consider Bengali language is a lingua franca of our state”. </a:t>
            </a:r>
            <a:endParaRPr lang="en-US" sz="2400" dirty="0">
              <a:solidFill>
                <a:srgbClr val="FF0000"/>
              </a:solidFill>
              <a:latin typeface="Times New Roman" panose="02020603050405020304" pitchFamily="18" charset="0"/>
              <a:cs typeface="Times New Roman" panose="02020603050405020304" pitchFamily="18" charset="0"/>
            </a:endParaRPr>
          </a:p>
          <a:p>
            <a:pPr algn="just">
              <a:buFont typeface="Wingdings" panose="05000000000000000000" pitchFamily="2" charset="2"/>
              <a:buChar char="§"/>
            </a:pPr>
            <a:r>
              <a:rPr lang="en-US" dirty="0">
                <a:latin typeface="Times New Roman" panose="02020603050405020304" pitchFamily="18" charset="0"/>
                <a:cs typeface="Times New Roman" panose="02020603050405020304" pitchFamily="18" charset="0"/>
              </a:rPr>
              <a:t>	Opposing his argument, Prime Minister </a:t>
            </a:r>
            <a:r>
              <a:rPr lang="en-US" dirty="0" err="1">
                <a:latin typeface="Times New Roman" panose="02020603050405020304" pitchFamily="18" charset="0"/>
                <a:cs typeface="Times New Roman" panose="02020603050405020304" pitchFamily="18" charset="0"/>
              </a:rPr>
              <a:t>Liaquat</a:t>
            </a:r>
            <a:r>
              <a:rPr lang="en-US" dirty="0">
                <a:latin typeface="Times New Roman" panose="02020603050405020304" pitchFamily="18" charset="0"/>
                <a:cs typeface="Times New Roman" panose="02020603050405020304" pitchFamily="18" charset="0"/>
              </a:rPr>
              <a:t> Ali Khan maintained that: "Pakistan has been created because of the demand of a hundred million Muslims in the subcontinent and the language of the hundred million Muslims is Urdu … Pakistan is a Muslim state and it must have as its lingua franca, the language of the Muslim nation."</a:t>
            </a:r>
            <a:endParaRPr lang="en-US" dirty="0">
              <a:latin typeface="Times New Roman" panose="02020603050405020304" pitchFamily="18" charset="0"/>
              <a:cs typeface="Times New Roman" panose="02020603050405020304" pitchFamily="18" charset="0"/>
            </a:endParaRPr>
          </a:p>
          <a:p>
            <a:endParaRPr lang="en-US" dirty="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1867437" y="991312"/>
            <a:ext cx="7541483" cy="563167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2191" y="937846"/>
            <a:ext cx="11512609" cy="4208585"/>
          </a:xfrm>
        </p:spPr>
        <p:style>
          <a:lnRef idx="1">
            <a:schemeClr val="accent3"/>
          </a:lnRef>
          <a:fillRef idx="2">
            <a:schemeClr val="accent3"/>
          </a:fillRef>
          <a:effectRef idx="1">
            <a:schemeClr val="accent3"/>
          </a:effectRef>
          <a:fontRef idx="minor">
            <a:schemeClr val="dk1"/>
          </a:fontRef>
        </p:style>
        <p:txBody>
          <a:bodyPr>
            <a:noAutofit/>
          </a:bodyPr>
          <a:lstStyle/>
          <a:p>
            <a:pPr algn="just"/>
            <a:r>
              <a:rPr lang="en-US" i="1" dirty="0" err="1">
                <a:solidFill>
                  <a:srgbClr val="FF0000"/>
                </a:solidFill>
              </a:rPr>
              <a:t>Tamaddun</a:t>
            </a:r>
            <a:r>
              <a:rPr lang="en-US" i="1" dirty="0">
                <a:solidFill>
                  <a:srgbClr val="FF0000"/>
                </a:solidFill>
              </a:rPr>
              <a:t> </a:t>
            </a:r>
            <a:r>
              <a:rPr lang="en-US" i="1" dirty="0" err="1">
                <a:solidFill>
                  <a:srgbClr val="FF0000"/>
                </a:solidFill>
              </a:rPr>
              <a:t>Majlish</a:t>
            </a:r>
            <a:r>
              <a:rPr lang="en-US" dirty="0"/>
              <a:t>, the group which took initiative to demand that Bengali should be the state language of Pakistan along with Urdu, led by physicist </a:t>
            </a:r>
            <a:r>
              <a:rPr lang="en-US" dirty="0" err="1"/>
              <a:t>Abul</a:t>
            </a:r>
            <a:r>
              <a:rPr lang="en-US" dirty="0"/>
              <a:t> </a:t>
            </a:r>
            <a:r>
              <a:rPr lang="en-US" dirty="0" err="1"/>
              <a:t>Kashem</a:t>
            </a:r>
            <a:r>
              <a:rPr lang="en-US" dirty="0"/>
              <a:t> emerged as one the powerful groups on behalf of the Bengali language. Their demand gradually gained popularity among the Dhaka University students. Students under the banner of the </a:t>
            </a:r>
            <a:r>
              <a:rPr lang="en-US" i="1" dirty="0" err="1"/>
              <a:t>Tamaddun</a:t>
            </a:r>
            <a:r>
              <a:rPr lang="en-US" i="1" dirty="0"/>
              <a:t> </a:t>
            </a:r>
            <a:r>
              <a:rPr lang="en-US" i="1" dirty="0" err="1"/>
              <a:t>Majlish</a:t>
            </a:r>
            <a:r>
              <a:rPr lang="en-US" dirty="0"/>
              <a:t> insisted the </a:t>
            </a:r>
            <a:r>
              <a:rPr lang="en-US" dirty="0">
                <a:solidFill>
                  <a:srgbClr val="0070C0"/>
                </a:solidFill>
              </a:rPr>
              <a:t>provincial Prime Minister </a:t>
            </a:r>
            <a:r>
              <a:rPr lang="en-US" dirty="0" err="1">
                <a:solidFill>
                  <a:srgbClr val="0070C0"/>
                </a:solidFill>
              </a:rPr>
              <a:t>Khwaja</a:t>
            </a:r>
            <a:r>
              <a:rPr lang="en-US" dirty="0">
                <a:solidFill>
                  <a:srgbClr val="0070C0"/>
                </a:solidFill>
              </a:rPr>
              <a:t> </a:t>
            </a:r>
            <a:r>
              <a:rPr lang="en-US" dirty="0" err="1">
                <a:solidFill>
                  <a:srgbClr val="0070C0"/>
                </a:solidFill>
              </a:rPr>
              <a:t>Nazimuddin</a:t>
            </a:r>
            <a:r>
              <a:rPr lang="en-US" dirty="0">
                <a:solidFill>
                  <a:srgbClr val="0070C0"/>
                </a:solidFill>
              </a:rPr>
              <a:t> </a:t>
            </a:r>
            <a:r>
              <a:rPr lang="en-US" dirty="0"/>
              <a:t>adopt a resolution through the Assembly and send it to the central government recommending Bengali as one of the state languages of Pakistan. Fearing troubles from the students, just before </a:t>
            </a:r>
            <a:r>
              <a:rPr lang="en-US" dirty="0">
                <a:solidFill>
                  <a:srgbClr val="FF0000"/>
                </a:solidFill>
              </a:rPr>
              <a:t>Jinnah's arrival in East Pakistan</a:t>
            </a:r>
            <a:r>
              <a:rPr lang="en-US" dirty="0"/>
              <a:t>, </a:t>
            </a:r>
            <a:r>
              <a:rPr lang="en-US" dirty="0" err="1"/>
              <a:t>Nazimuddin</a:t>
            </a:r>
            <a:r>
              <a:rPr lang="en-US" dirty="0"/>
              <a:t> </a:t>
            </a:r>
            <a:r>
              <a:rPr lang="en-US" dirty="0">
                <a:solidFill>
                  <a:srgbClr val="FF0000"/>
                </a:solidFill>
              </a:rPr>
              <a:t>signed an agreement </a:t>
            </a:r>
            <a:r>
              <a:rPr lang="en-US" dirty="0"/>
              <a:t>with the students in line with their demands on language issue.</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2344615" y="515815"/>
            <a:ext cx="6717323" cy="5322277"/>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0737" y="418744"/>
            <a:ext cx="11844470" cy="6298250"/>
          </a:xfrm>
        </p:spPr>
        <p:txBody>
          <a:bodyPr>
            <a:noAutofit/>
          </a:bodyPr>
          <a:lstStyle/>
          <a:p>
            <a:pPr algn="just"/>
            <a:r>
              <a:rPr lang="en-US" dirty="0">
                <a:latin typeface="Times New Roman" panose="02020603050405020304" pitchFamily="18" charset="0"/>
                <a:cs typeface="Times New Roman" panose="02020603050405020304" pitchFamily="18" charset="0"/>
              </a:rPr>
              <a:t>The first organized opposition to Urdu, however, came from the </a:t>
            </a:r>
            <a:r>
              <a:rPr lang="en-US" b="1" i="1" dirty="0" err="1">
                <a:latin typeface="Times New Roman" panose="02020603050405020304" pitchFamily="18" charset="0"/>
                <a:cs typeface="Times New Roman" panose="02020603050405020304" pitchFamily="18" charset="0"/>
              </a:rPr>
              <a:t>Tamuddin</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Majlis</a:t>
            </a:r>
            <a:r>
              <a:rPr lang="en-US" b="1"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 cultural organization formed by professors and students at Dhaka University in September 1947. In a booklet entitled "</a:t>
            </a:r>
            <a:r>
              <a:rPr lang="en-US" dirty="0" err="1">
                <a:latin typeface="Times New Roman" panose="02020603050405020304" pitchFamily="18" charset="0"/>
                <a:cs typeface="Times New Roman" panose="02020603050405020304" pitchFamily="18" charset="0"/>
              </a:rPr>
              <a:t>Pakistaner</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Rashtra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Bhasha</a:t>
            </a:r>
            <a:r>
              <a:rPr lang="en-US" dirty="0">
                <a:latin typeface="Times New Roman" panose="02020603050405020304" pitchFamily="18" charset="0"/>
                <a:cs typeface="Times New Roman" panose="02020603050405020304" pitchFamily="18" charset="0"/>
              </a:rPr>
              <a:t>, Bangla </a:t>
            </a:r>
            <a:r>
              <a:rPr lang="en-US" dirty="0" err="1">
                <a:latin typeface="Times New Roman" panose="02020603050405020304" pitchFamily="18" charset="0"/>
                <a:cs typeface="Times New Roman" panose="02020603050405020304" pitchFamily="18" charset="0"/>
              </a:rPr>
              <a:t>na</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Urdue</a:t>
            </a:r>
            <a:r>
              <a:rPr lang="en-US" dirty="0">
                <a:latin typeface="Times New Roman" panose="02020603050405020304" pitchFamily="18" charset="0"/>
                <a:cs typeface="Times New Roman" panose="02020603050405020304" pitchFamily="18" charset="0"/>
              </a:rPr>
              <a:t>”, it was proposed that (1) the Bengali Language shall be the following: a) the medium of instruction in East Pakistan, b) the medium of court communication, c) the medium of mass communication; and that (2) "The languages of the central government will be both Urdu and Bengali." </a:t>
            </a:r>
            <a:endParaRPr lang="en-US" dirty="0">
              <a:latin typeface="Times New Roman" panose="02020603050405020304" pitchFamily="18" charset="0"/>
              <a:cs typeface="Times New Roman" panose="02020603050405020304" pitchFamily="18" charset="0"/>
            </a:endParaRPr>
          </a:p>
          <a:p>
            <a:pPr algn="just"/>
            <a:r>
              <a:rPr lang="en-US" dirty="0">
                <a:solidFill>
                  <a:srgbClr val="7030A0"/>
                </a:solidFill>
                <a:latin typeface="Times New Roman" panose="02020603050405020304" pitchFamily="18" charset="0"/>
                <a:cs typeface="Times New Roman" panose="02020603050405020304" pitchFamily="18" charset="0"/>
              </a:rPr>
              <a:t>One contributor in the booklet, professor </a:t>
            </a:r>
            <a:r>
              <a:rPr lang="en-US" dirty="0" err="1">
                <a:solidFill>
                  <a:srgbClr val="7030A0"/>
                </a:solidFill>
                <a:latin typeface="Times New Roman" panose="02020603050405020304" pitchFamily="18" charset="0"/>
                <a:cs typeface="Times New Roman" panose="02020603050405020304" pitchFamily="18" charset="0"/>
              </a:rPr>
              <a:t>Kazi</a:t>
            </a:r>
            <a:r>
              <a:rPr lang="en-US" dirty="0">
                <a:solidFill>
                  <a:srgbClr val="7030A0"/>
                </a:solidFill>
                <a:latin typeface="Times New Roman" panose="02020603050405020304" pitchFamily="18" charset="0"/>
                <a:cs typeface="Times New Roman" panose="02020603050405020304" pitchFamily="18" charset="0"/>
              </a:rPr>
              <a:t> </a:t>
            </a:r>
            <a:r>
              <a:rPr lang="en-US" dirty="0" err="1">
                <a:solidFill>
                  <a:srgbClr val="7030A0"/>
                </a:solidFill>
                <a:latin typeface="Times New Roman" panose="02020603050405020304" pitchFamily="18" charset="0"/>
                <a:cs typeface="Times New Roman" panose="02020603050405020304" pitchFamily="18" charset="0"/>
              </a:rPr>
              <a:t>Mothar</a:t>
            </a:r>
            <a:r>
              <a:rPr lang="en-US" dirty="0">
                <a:solidFill>
                  <a:srgbClr val="7030A0"/>
                </a:solidFill>
                <a:latin typeface="Times New Roman" panose="02020603050405020304" pitchFamily="18" charset="0"/>
                <a:cs typeface="Times New Roman" panose="02020603050405020304" pitchFamily="18" charset="0"/>
              </a:rPr>
              <a:t> </a:t>
            </a:r>
            <a:r>
              <a:rPr lang="en-US" dirty="0" err="1">
                <a:solidFill>
                  <a:srgbClr val="7030A0"/>
                </a:solidFill>
                <a:latin typeface="Times New Roman" panose="02020603050405020304" pitchFamily="18" charset="0"/>
                <a:cs typeface="Times New Roman" panose="02020603050405020304" pitchFamily="18" charset="0"/>
              </a:rPr>
              <a:t>Hussain</a:t>
            </a:r>
            <a:r>
              <a:rPr lang="en-US" dirty="0">
                <a:solidFill>
                  <a:srgbClr val="7030A0"/>
                </a:solidFill>
                <a:latin typeface="Times New Roman" panose="02020603050405020304" pitchFamily="18" charset="0"/>
                <a:cs typeface="Times New Roman" panose="02020603050405020304" pitchFamily="18" charset="0"/>
              </a:rPr>
              <a:t>, argued that the attempt to impose Urdu as the national language stands for the possibility of replacing old masters with new ones from the same religion. He maintained that the attempt to impose Urdu against the will of the people of East Bengal would result in total failure. He even warned that "it might lead to the end of the relationship between the East and the West’’. </a:t>
            </a:r>
            <a:endParaRPr lang="en-US" dirty="0">
              <a:solidFill>
                <a:srgbClr val="7030A0"/>
              </a:solidFill>
              <a:latin typeface="Times New Roman" panose="02020603050405020304" pitchFamily="18" charset="0"/>
              <a:cs typeface="Times New Roman" panose="02020603050405020304" pitchFamily="18" charset="0"/>
            </a:endParaRPr>
          </a:p>
        </p:txBody>
      </p:sp>
      <p:pic>
        <p:nvPicPr>
          <p:cNvPr id="5122"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7092462" y="5205046"/>
            <a:ext cx="1599102" cy="1477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51691" y="213645"/>
            <a:ext cx="11500339" cy="5987863"/>
          </a:xfrm>
        </p:spPr>
        <p:style>
          <a:lnRef idx="1">
            <a:schemeClr val="accent6"/>
          </a:lnRef>
          <a:fillRef idx="2">
            <a:schemeClr val="accent6"/>
          </a:fillRef>
          <a:effectRef idx="1">
            <a:schemeClr val="accent6"/>
          </a:effectRef>
          <a:fontRef idx="minor">
            <a:schemeClr val="dk1"/>
          </a:fontRef>
        </p:style>
        <p:txBody>
          <a:bodyPr>
            <a:noAutofit/>
          </a:bodyPr>
          <a:lstStyle/>
          <a:p>
            <a:pPr marL="0" indent="0" algn="just">
              <a:buNone/>
            </a:pPr>
            <a:r>
              <a:rPr lang="en-US" dirty="0"/>
              <a:t>Nonetheless, being tempted by the statement of </a:t>
            </a:r>
            <a:r>
              <a:rPr lang="en-US" dirty="0" err="1"/>
              <a:t>Dhirandra</a:t>
            </a:r>
            <a:r>
              <a:rPr lang="en-US" dirty="0"/>
              <a:t> </a:t>
            </a:r>
            <a:r>
              <a:rPr lang="en-US" dirty="0" err="1"/>
              <a:t>Nath</a:t>
            </a:r>
            <a:r>
              <a:rPr lang="en-US" dirty="0"/>
              <a:t> Dutta, the then Governor General of Pakistan, Mohammad Ali Jinnah, on March 11, 1948 declared in unequivocal terms at </a:t>
            </a:r>
            <a:r>
              <a:rPr lang="en-US" dirty="0" err="1"/>
              <a:t>Suhrawardy</a:t>
            </a:r>
            <a:r>
              <a:rPr lang="en-US" dirty="0"/>
              <a:t> </a:t>
            </a:r>
            <a:r>
              <a:rPr lang="en-US" dirty="0" err="1"/>
              <a:t>Uddan</a:t>
            </a:r>
            <a:r>
              <a:rPr lang="en-US" dirty="0"/>
              <a:t> that "</a:t>
            </a:r>
            <a:r>
              <a:rPr lang="en-US" dirty="0">
                <a:solidFill>
                  <a:srgbClr val="FF0000"/>
                </a:solidFill>
              </a:rPr>
              <a:t>only Urdu would be the state language of Pakistan." </a:t>
            </a:r>
            <a:endParaRPr lang="en-US" dirty="0">
              <a:solidFill>
                <a:srgbClr val="FF0000"/>
              </a:solidFill>
            </a:endParaRPr>
          </a:p>
          <a:p>
            <a:pPr algn="just"/>
            <a:endParaRPr lang="en-US" dirty="0"/>
          </a:p>
          <a:p>
            <a:pPr algn="just"/>
            <a:endParaRPr lang="en-US" dirty="0"/>
          </a:p>
          <a:p>
            <a:pPr algn="just"/>
            <a:r>
              <a:rPr lang="en-US" dirty="0"/>
              <a:t>Jinnah repeated his statement at the Dhaka University Convocation in Curzon Hall on March 24. The declaration aroused mass discontent, the students of Dhaka University being in the forefront.</a:t>
            </a:r>
            <a:endParaRPr lang="en-US" dirty="0"/>
          </a:p>
          <a:p>
            <a:pPr algn="just"/>
            <a:r>
              <a:rPr lang="en-US" dirty="0"/>
              <a:t> After the death of </a:t>
            </a:r>
            <a:r>
              <a:rPr lang="en-US" dirty="0" err="1"/>
              <a:t>Liaquat</a:t>
            </a:r>
            <a:r>
              <a:rPr lang="en-US" dirty="0"/>
              <a:t> Ali Khan in 1951, </a:t>
            </a:r>
            <a:r>
              <a:rPr lang="en-US" dirty="0" err="1"/>
              <a:t>Khwaja</a:t>
            </a:r>
            <a:r>
              <a:rPr lang="en-US" dirty="0"/>
              <a:t> </a:t>
            </a:r>
            <a:r>
              <a:rPr lang="en-US" dirty="0" err="1"/>
              <a:t>Nazimuddin</a:t>
            </a:r>
            <a:r>
              <a:rPr lang="en-US" dirty="0"/>
              <a:t> became the Prime Minister of Pakistan and opted in favor of Urdu, which was his first language. On January 26, 1952, he declared in </a:t>
            </a:r>
            <a:r>
              <a:rPr lang="en-US" i="1" dirty="0" err="1"/>
              <a:t>Paltan</a:t>
            </a:r>
            <a:r>
              <a:rPr lang="en-US" i="1" dirty="0"/>
              <a:t> </a:t>
            </a:r>
            <a:r>
              <a:rPr lang="en-US" i="1" dirty="0" err="1"/>
              <a:t>Maidan</a:t>
            </a:r>
            <a:r>
              <a:rPr lang="en-US" i="1" dirty="0"/>
              <a:t> </a:t>
            </a:r>
            <a:r>
              <a:rPr lang="en-US" dirty="0"/>
              <a:t>that Urdu "shall be the only state language of Pakistan." The Dhaka students reacted because of his retreat from his earlier promise in 1948.</a:t>
            </a:r>
            <a:endParaRPr lang="en-US" dirty="0"/>
          </a:p>
        </p:txBody>
      </p:sp>
      <p:pic>
        <p:nvPicPr>
          <p:cNvPr id="1026" name="Picture 2"/>
          <p:cNvPicPr>
            <a:picLocks noChangeAspect="1" noChangeArrowheads="1"/>
          </p:cNvPicPr>
          <p:nvPr/>
        </p:nvPicPr>
        <p:blipFill>
          <a:blip r:embed="rId1" cstate="print">
            <a:extLst>
              <a:ext uri="{28A0092B-C50C-407E-A947-70E740481C1C}">
                <a14:useLocalDpi xmlns:a14="http://schemas.microsoft.com/office/drawing/2010/main" val="0"/>
              </a:ext>
            </a:extLst>
          </a:blip>
          <a:srcRect/>
          <a:stretch>
            <a:fillRect/>
          </a:stretch>
        </p:blipFill>
        <p:spPr bwMode="auto">
          <a:xfrm>
            <a:off x="5465152" y="1465384"/>
            <a:ext cx="1310787" cy="134815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98583" y="140677"/>
            <a:ext cx="11617789" cy="6435969"/>
          </a:xfrm>
        </p:spPr>
        <p:style>
          <a:lnRef idx="2">
            <a:schemeClr val="accent5"/>
          </a:lnRef>
          <a:fillRef idx="1">
            <a:schemeClr val="lt1"/>
          </a:fillRef>
          <a:effectRef idx="0">
            <a:schemeClr val="accent5"/>
          </a:effectRef>
          <a:fontRef idx="minor">
            <a:schemeClr val="dk1"/>
          </a:fontRef>
        </p:style>
        <p:txBody>
          <a:bodyPr/>
          <a:lstStyle/>
          <a:p>
            <a:pPr algn="just"/>
            <a:r>
              <a:rPr lang="en-US" dirty="0">
                <a:cs typeface="Times New Roman" panose="02020603050405020304" pitchFamily="18" charset="0"/>
              </a:rPr>
              <a:t>On January 30, </a:t>
            </a:r>
            <a:r>
              <a:rPr lang="en-US" dirty="0" err="1">
                <a:cs typeface="Times New Roman" panose="02020603050405020304" pitchFamily="18" charset="0"/>
              </a:rPr>
              <a:t>Maulana</a:t>
            </a:r>
            <a:r>
              <a:rPr lang="en-US" dirty="0">
                <a:cs typeface="Times New Roman" panose="02020603050405020304" pitchFamily="18" charset="0"/>
              </a:rPr>
              <a:t> </a:t>
            </a:r>
            <a:r>
              <a:rPr lang="en-US" dirty="0" err="1">
                <a:cs typeface="Times New Roman" panose="02020603050405020304" pitchFamily="18" charset="0"/>
              </a:rPr>
              <a:t>Bhashani</a:t>
            </a:r>
            <a:r>
              <a:rPr lang="en-US" dirty="0">
                <a:cs typeface="Times New Roman" panose="02020603050405020304" pitchFamily="18" charset="0"/>
              </a:rPr>
              <a:t> conducted a meeting of the socio-political groups: East Pakistan </a:t>
            </a:r>
            <a:r>
              <a:rPr lang="en-US" dirty="0" err="1">
                <a:cs typeface="Times New Roman" panose="02020603050405020304" pitchFamily="18" charset="0"/>
              </a:rPr>
              <a:t>Awami</a:t>
            </a:r>
            <a:r>
              <a:rPr lang="en-US" dirty="0">
                <a:cs typeface="Times New Roman" panose="02020603050405020304" pitchFamily="18" charset="0"/>
              </a:rPr>
              <a:t> Muslim League, </a:t>
            </a:r>
            <a:r>
              <a:rPr lang="en-US" i="1" dirty="0" err="1">
                <a:cs typeface="Times New Roman" panose="02020603050405020304" pitchFamily="18" charset="0"/>
              </a:rPr>
              <a:t>Khelafat</a:t>
            </a:r>
            <a:r>
              <a:rPr lang="en-US" i="1" dirty="0">
                <a:cs typeface="Times New Roman" panose="02020603050405020304" pitchFamily="18" charset="0"/>
              </a:rPr>
              <a:t>-e-</a:t>
            </a:r>
            <a:r>
              <a:rPr lang="en-US" i="1" dirty="0" err="1">
                <a:cs typeface="Times New Roman" panose="02020603050405020304" pitchFamily="18" charset="0"/>
              </a:rPr>
              <a:t>Rabbani</a:t>
            </a:r>
            <a:r>
              <a:rPr lang="en-US" i="1" dirty="0">
                <a:cs typeface="Times New Roman" panose="02020603050405020304" pitchFamily="18" charset="0"/>
              </a:rPr>
              <a:t>, </a:t>
            </a:r>
            <a:r>
              <a:rPr lang="en-US" i="1" dirty="0" err="1">
                <a:cs typeface="Times New Roman" panose="02020603050405020304" pitchFamily="18" charset="0"/>
              </a:rPr>
              <a:t>Tamuddun</a:t>
            </a:r>
            <a:r>
              <a:rPr lang="en-US" i="1" dirty="0">
                <a:cs typeface="Times New Roman" panose="02020603050405020304" pitchFamily="18" charset="0"/>
              </a:rPr>
              <a:t>-e-</a:t>
            </a:r>
            <a:r>
              <a:rPr lang="en-US" i="1" dirty="0" err="1">
                <a:cs typeface="Times New Roman" panose="02020603050405020304" pitchFamily="18" charset="0"/>
              </a:rPr>
              <a:t>Majlish</a:t>
            </a:r>
            <a:r>
              <a:rPr lang="en-US" dirty="0">
                <a:cs typeface="Times New Roman" panose="02020603050405020304" pitchFamily="18" charset="0"/>
              </a:rPr>
              <a:t>, State Language Movement </a:t>
            </a:r>
            <a:r>
              <a:rPr lang="en-US" dirty="0" err="1">
                <a:cs typeface="Times New Roman" panose="02020603050405020304" pitchFamily="18" charset="0"/>
              </a:rPr>
              <a:t>Parishad</a:t>
            </a:r>
            <a:r>
              <a:rPr lang="en-US" dirty="0">
                <a:cs typeface="Times New Roman" panose="02020603050405020304" pitchFamily="18" charset="0"/>
              </a:rPr>
              <a:t>, etc. at the </a:t>
            </a:r>
            <a:r>
              <a:rPr lang="en-US" dirty="0" err="1">
                <a:cs typeface="Times New Roman" panose="02020603050405020304" pitchFamily="18" charset="0"/>
              </a:rPr>
              <a:t>Muktar</a:t>
            </a:r>
            <a:r>
              <a:rPr lang="en-US" dirty="0">
                <a:cs typeface="Times New Roman" panose="02020603050405020304" pitchFamily="18" charset="0"/>
              </a:rPr>
              <a:t> Library to oppose Prime Minister </a:t>
            </a:r>
            <a:r>
              <a:rPr lang="en-US" dirty="0" err="1">
                <a:cs typeface="Times New Roman" panose="02020603050405020304" pitchFamily="18" charset="0"/>
              </a:rPr>
              <a:t>Nazimuddin</a:t>
            </a:r>
            <a:r>
              <a:rPr lang="en-US" dirty="0">
                <a:cs typeface="Times New Roman" panose="02020603050405020304" pitchFamily="18" charset="0"/>
              </a:rPr>
              <a:t>. On February 4, Dhaka University State Language Movement </a:t>
            </a:r>
            <a:r>
              <a:rPr lang="en-US" dirty="0" err="1">
                <a:cs typeface="Times New Roman" panose="02020603050405020304" pitchFamily="18" charset="0"/>
              </a:rPr>
              <a:t>Parishad</a:t>
            </a:r>
            <a:r>
              <a:rPr lang="en-US" dirty="0">
                <a:cs typeface="Times New Roman" panose="02020603050405020304" pitchFamily="18" charset="0"/>
              </a:rPr>
              <a:t> brought out a procession under the leadership of </a:t>
            </a:r>
            <a:r>
              <a:rPr lang="en-US" dirty="0" err="1">
                <a:cs typeface="Times New Roman" panose="02020603050405020304" pitchFamily="18" charset="0"/>
              </a:rPr>
              <a:t>Gaziul</a:t>
            </a:r>
            <a:r>
              <a:rPr lang="en-US" dirty="0">
                <a:cs typeface="Times New Roman" panose="02020603050405020304" pitchFamily="18" charset="0"/>
              </a:rPr>
              <a:t> </a:t>
            </a:r>
            <a:r>
              <a:rPr lang="en-US" dirty="0" err="1">
                <a:cs typeface="Times New Roman" panose="02020603050405020304" pitchFamily="18" charset="0"/>
              </a:rPr>
              <a:t>Haq</a:t>
            </a:r>
            <a:r>
              <a:rPr lang="en-US" dirty="0">
                <a:cs typeface="Times New Roman" panose="02020603050405020304" pitchFamily="18" charset="0"/>
              </a:rPr>
              <a:t> to protest </a:t>
            </a:r>
            <a:r>
              <a:rPr lang="en-US" dirty="0" err="1">
                <a:cs typeface="Times New Roman" panose="02020603050405020304" pitchFamily="18" charset="0"/>
              </a:rPr>
              <a:t>Nazimuddin</a:t>
            </a:r>
            <a:r>
              <a:rPr lang="en-US" dirty="0">
                <a:cs typeface="Times New Roman" panose="02020603050405020304" pitchFamily="18" charset="0"/>
              </a:rPr>
              <a:t>. On February 21, a protest move took the form of putting pressure on the provincial Assembly, then in session in the </a:t>
            </a:r>
            <a:r>
              <a:rPr lang="en-US" dirty="0" err="1">
                <a:cs typeface="Times New Roman" panose="02020603050405020304" pitchFamily="18" charset="0"/>
              </a:rPr>
              <a:t>Jagannath</a:t>
            </a:r>
            <a:r>
              <a:rPr lang="en-US" dirty="0">
                <a:cs typeface="Times New Roman" panose="02020603050405020304" pitchFamily="18" charset="0"/>
              </a:rPr>
              <a:t> Hall, to pass a resolution in support of Bengali as a state language. When the students moved towards the Assembly defying government orders, police opened fire and the February tragedy was underway.</a:t>
            </a:r>
            <a:endParaRPr lang="en-US" dirty="0">
              <a:cs typeface="Times New Roman" panose="02020603050405020304" pitchFamily="18" charset="0"/>
            </a:endParaRPr>
          </a:p>
        </p:txBody>
      </p:sp>
      <p:pic>
        <p:nvPicPr>
          <p:cNvPr id="2050" name="Picture 2"/>
          <p:cNvPicPr>
            <a:picLocks noChangeAspect="1" noChangeArrowheads="1"/>
          </p:cNvPicPr>
          <p:nvPr/>
        </p:nvPicPr>
        <p:blipFill>
          <a:blip r:embed="rId1">
            <a:extLst>
              <a:ext uri="{28A0092B-C50C-407E-A947-70E740481C1C}">
                <a14:useLocalDpi xmlns:a14="http://schemas.microsoft.com/office/drawing/2010/main" val="0"/>
              </a:ext>
            </a:extLst>
          </a:blip>
          <a:srcRect/>
          <a:stretch>
            <a:fillRect/>
          </a:stretch>
        </p:blipFill>
        <p:spPr bwMode="auto">
          <a:xfrm>
            <a:off x="2461846" y="3997569"/>
            <a:ext cx="2438400" cy="22625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Grp="1" noChangeAspect="1" noChangeArrowheads="1"/>
          </p:cNvPicPr>
          <p:nvPr>
            <p:ph idx="1"/>
          </p:nvPr>
        </p:nvPicPr>
        <p:blipFill>
          <a:blip r:embed="rId1">
            <a:extLst>
              <a:ext uri="{28A0092B-C50C-407E-A947-70E740481C1C}">
                <a14:useLocalDpi xmlns:a14="http://schemas.microsoft.com/office/drawing/2010/main" val="0"/>
              </a:ext>
            </a:extLst>
          </a:blip>
          <a:srcRect/>
          <a:stretch>
            <a:fillRect/>
          </a:stretch>
        </p:blipFill>
        <p:spPr bwMode="auto">
          <a:xfrm>
            <a:off x="531202" y="921422"/>
            <a:ext cx="1962150" cy="26193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72862" y="728297"/>
            <a:ext cx="3927231" cy="2419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1132" y="276959"/>
            <a:ext cx="5086350" cy="5905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30737" y="85458"/>
            <a:ext cx="11793196" cy="6494803"/>
          </a:xfrm>
        </p:spPr>
        <p:txBody>
          <a:bodyPr>
            <a:normAutofit/>
          </a:bodyPr>
          <a:lstStyle/>
          <a:p>
            <a:pPr algn="just"/>
            <a:r>
              <a:rPr lang="en-US" sz="3000" dirty="0"/>
              <a:t>It was quite </a:t>
            </a:r>
            <a:r>
              <a:rPr lang="en-US" sz="3000" dirty="0">
                <a:solidFill>
                  <a:srgbClr val="FF0000"/>
                </a:solidFill>
              </a:rPr>
              <a:t>logical to press a demand </a:t>
            </a:r>
            <a:r>
              <a:rPr lang="en-US" sz="3000" dirty="0"/>
              <a:t>for the recognition of </a:t>
            </a:r>
            <a:r>
              <a:rPr lang="en-US" sz="3000" i="1" dirty="0"/>
              <a:t>Bangla</a:t>
            </a:r>
            <a:r>
              <a:rPr lang="en-US" sz="3000" dirty="0"/>
              <a:t> as one of the state languages because the majority people in Pakistan spoke it. Educated Bengali people, or at least a large part of them, although seeming to </a:t>
            </a:r>
            <a:r>
              <a:rPr lang="en-US" sz="3000" dirty="0" err="1"/>
              <a:t>favour</a:t>
            </a:r>
            <a:r>
              <a:rPr lang="en-US" sz="3000" dirty="0"/>
              <a:t> Urdu at the initial stage, gradually raised their voice for a number of reasons.</a:t>
            </a:r>
            <a:endParaRPr lang="en-US" sz="3000" dirty="0"/>
          </a:p>
          <a:p>
            <a:pPr algn="just"/>
            <a:r>
              <a:rPr lang="en-US" sz="3000" dirty="0"/>
              <a:t>As a result of the </a:t>
            </a:r>
            <a:r>
              <a:rPr lang="en-US" sz="3000" dirty="0">
                <a:solidFill>
                  <a:srgbClr val="FF0000"/>
                </a:solidFill>
              </a:rPr>
              <a:t>long colonial heritage</a:t>
            </a:r>
            <a:r>
              <a:rPr lang="en-US" sz="3000" dirty="0"/>
              <a:t>, the </a:t>
            </a:r>
            <a:r>
              <a:rPr lang="en-US" sz="3000" dirty="0">
                <a:solidFill>
                  <a:srgbClr val="FF0000"/>
                </a:solidFill>
              </a:rPr>
              <a:t>Bengali intelligentsia, political leaders and students</a:t>
            </a:r>
            <a:r>
              <a:rPr lang="en-US" sz="3000" dirty="0"/>
              <a:t> were concerned about the economic welfare and well being of the eastern region. They perceived that the non-recognition of the Bengali language was nothing but </a:t>
            </a:r>
            <a:r>
              <a:rPr lang="en-US" sz="3000" dirty="0">
                <a:solidFill>
                  <a:srgbClr val="FF0000"/>
                </a:solidFill>
              </a:rPr>
              <a:t>a new design of colonial exploitation</a:t>
            </a:r>
            <a:r>
              <a:rPr lang="en-US" sz="3000" dirty="0"/>
              <a:t>. They also perceived that with Urdu and English as state languages, the mass people in East Pakistan would be in a </a:t>
            </a:r>
            <a:r>
              <a:rPr lang="en-US" sz="3000" dirty="0">
                <a:solidFill>
                  <a:srgbClr val="FF0000"/>
                </a:solidFill>
              </a:rPr>
              <a:t>disadvantageous</a:t>
            </a:r>
            <a:r>
              <a:rPr lang="en-US" sz="3000" dirty="0"/>
              <a:t> situation especially </a:t>
            </a:r>
            <a:r>
              <a:rPr lang="en-US" sz="3000" dirty="0">
                <a:solidFill>
                  <a:srgbClr val="FF0000"/>
                </a:solidFill>
              </a:rPr>
              <a:t>in getting jobs and economic activities</a:t>
            </a:r>
            <a:r>
              <a:rPr lang="en-US" sz="3000" dirty="0"/>
              <a:t>. A barrier in the communication process would lead the Bengali nationals towards </a:t>
            </a:r>
            <a:r>
              <a:rPr lang="en-US" sz="3000" dirty="0">
                <a:solidFill>
                  <a:srgbClr val="FF0000"/>
                </a:solidFill>
              </a:rPr>
              <a:t>economic deprivation and backwardness</a:t>
            </a:r>
            <a:r>
              <a:rPr lang="en-US" sz="3000" dirty="0"/>
              <a:t>.</a:t>
            </a:r>
            <a:endParaRPr lang="en-US" sz="3000"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47828" y="961292"/>
            <a:ext cx="11615926" cy="4806462"/>
          </a:xfrm>
        </p:spPr>
        <p:style>
          <a:lnRef idx="0">
            <a:scrgbClr r="0" g="0" b="0"/>
          </a:lnRef>
          <a:fillRef idx="1003">
            <a:schemeClr val="lt2"/>
          </a:fillRef>
          <a:effectRef idx="0">
            <a:scrgbClr r="0" g="0" b="0"/>
          </a:effectRef>
          <a:fontRef idx="major"/>
        </p:style>
        <p:txBody>
          <a:bodyPr>
            <a:normAutofit lnSpcReduction="10000"/>
          </a:bodyPr>
          <a:lstStyle/>
          <a:p>
            <a:pPr algn="just"/>
            <a:r>
              <a:rPr lang="en-US" sz="3200" dirty="0"/>
              <a:t>With the establishment of Dhaka University in 1921, a trend of the new development was marked among the </a:t>
            </a:r>
            <a:r>
              <a:rPr lang="en-US" sz="3200" dirty="0">
                <a:solidFill>
                  <a:srgbClr val="FF0000"/>
                </a:solidFill>
              </a:rPr>
              <a:t>Bengali middle class </a:t>
            </a:r>
            <a:r>
              <a:rPr lang="en-US" sz="3200" dirty="0"/>
              <a:t>people. They became aware of the language issue particularly in terms of their social and class interest. They were suspicious about the political activities of the Urdu speaking </a:t>
            </a:r>
            <a:r>
              <a:rPr lang="en-US" sz="3200" dirty="0" err="1"/>
              <a:t>zamindars</a:t>
            </a:r>
            <a:r>
              <a:rPr lang="en-US" sz="3200" dirty="0"/>
              <a:t> and nobility who regarded Bengali as the "language of the lower caste Hindus" and claimed Urdu as the "language of the nobility." Among these groups of people who favored Urdu, </a:t>
            </a:r>
            <a:r>
              <a:rPr lang="en-US" sz="3200" dirty="0" err="1"/>
              <a:t>Khwaja</a:t>
            </a:r>
            <a:r>
              <a:rPr lang="en-US" sz="3200" dirty="0"/>
              <a:t> </a:t>
            </a:r>
            <a:r>
              <a:rPr lang="en-US" sz="3200" dirty="0" err="1"/>
              <a:t>Nazimuddin</a:t>
            </a:r>
            <a:r>
              <a:rPr lang="en-US" sz="3200" dirty="0"/>
              <a:t> and </a:t>
            </a:r>
            <a:r>
              <a:rPr lang="en-US" sz="3200" dirty="0" err="1"/>
              <a:t>Akram</a:t>
            </a:r>
            <a:r>
              <a:rPr lang="en-US" sz="3200" dirty="0"/>
              <a:t> Khan were prominent in Eastern Bengal. They came from conservative upper class background. In 1952, the declaration of Urdu as state language by </a:t>
            </a:r>
            <a:r>
              <a:rPr lang="en-US" sz="3200" dirty="0" err="1"/>
              <a:t>Khwaja</a:t>
            </a:r>
            <a:r>
              <a:rPr lang="en-US" sz="3200" dirty="0"/>
              <a:t> </a:t>
            </a:r>
            <a:r>
              <a:rPr lang="en-US" sz="3200" dirty="0" err="1"/>
              <a:t>Nazimuddin</a:t>
            </a:r>
            <a:r>
              <a:rPr lang="en-US" sz="3200" dirty="0"/>
              <a:t>, the Prime Minister of Pakistan, sparked mass discontent in East Pakistan.</a:t>
            </a:r>
            <a:endParaRPr lang="en-US" sz="3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6016" y="844061"/>
            <a:ext cx="11265000" cy="4443047"/>
          </a:xfrm>
        </p:spPr>
        <p:style>
          <a:lnRef idx="1">
            <a:schemeClr val="accent4"/>
          </a:lnRef>
          <a:fillRef idx="2">
            <a:schemeClr val="accent4"/>
          </a:fillRef>
          <a:effectRef idx="1">
            <a:schemeClr val="accent4"/>
          </a:effectRef>
          <a:fontRef idx="minor">
            <a:schemeClr val="dk1"/>
          </a:fontRef>
        </p:style>
        <p:txBody>
          <a:bodyPr>
            <a:normAutofit/>
          </a:bodyPr>
          <a:lstStyle/>
          <a:p>
            <a:pPr algn="just"/>
            <a:r>
              <a:rPr lang="en-US" dirty="0"/>
              <a:t>The main </a:t>
            </a:r>
            <a:r>
              <a:rPr lang="en-US" dirty="0">
                <a:solidFill>
                  <a:srgbClr val="FF0000"/>
                </a:solidFill>
              </a:rPr>
              <a:t>driving force </a:t>
            </a:r>
            <a:r>
              <a:rPr lang="en-US" dirty="0"/>
              <a:t>of the 1952 movement was the students, working in close cooperation with political party members. The students took the crucial step of breaking </a:t>
            </a:r>
            <a:r>
              <a:rPr lang="en-US" dirty="0">
                <a:solidFill>
                  <a:srgbClr val="FF0000"/>
                </a:solidFill>
              </a:rPr>
              <a:t>section 144 </a:t>
            </a:r>
            <a:r>
              <a:rPr lang="en-US" dirty="0"/>
              <a:t>on February 21, and in so doing they courted arrest and some of them died. </a:t>
            </a:r>
            <a:endParaRPr lang="en-US" dirty="0"/>
          </a:p>
          <a:p>
            <a:pPr algn="just"/>
            <a:r>
              <a:rPr lang="en-US" dirty="0"/>
              <a:t>The language movement drew </a:t>
            </a:r>
            <a:r>
              <a:rPr lang="en-US" dirty="0">
                <a:solidFill>
                  <a:srgbClr val="FF0000"/>
                </a:solidFill>
              </a:rPr>
              <a:t>widespread sympathy and support from the rural areas</a:t>
            </a:r>
            <a:r>
              <a:rPr lang="en-US" dirty="0"/>
              <a:t>, in part because the large majority of Bengali students came from these areas ( </a:t>
            </a:r>
            <a:r>
              <a:rPr lang="en-US" dirty="0" err="1"/>
              <a:t>Rounaq</a:t>
            </a:r>
            <a:r>
              <a:rPr lang="en-US" dirty="0"/>
              <a:t> </a:t>
            </a:r>
            <a:r>
              <a:rPr lang="en-US" dirty="0" err="1"/>
              <a:t>Jahan</a:t>
            </a:r>
            <a:r>
              <a:rPr lang="en-US" dirty="0"/>
              <a:t>, </a:t>
            </a:r>
            <a:r>
              <a:rPr lang="en-US" i="1" dirty="0"/>
              <a:t>Pakistan: Failure in National Integration</a:t>
            </a:r>
            <a:r>
              <a:rPr lang="en-US" dirty="0"/>
              <a:t>, page 44)</a:t>
            </a:r>
            <a:endParaRPr lang="en-US" dirty="0"/>
          </a:p>
          <a:p>
            <a:pPr algn="just"/>
            <a:r>
              <a:rPr lang="en-US" dirty="0"/>
              <a:t>Poet </a:t>
            </a:r>
            <a:r>
              <a:rPr lang="en-US" dirty="0" err="1"/>
              <a:t>Mahbubul</a:t>
            </a:r>
            <a:r>
              <a:rPr lang="en-US" dirty="0"/>
              <a:t> </a:t>
            </a:r>
            <a:r>
              <a:rPr lang="en-US" dirty="0" err="1"/>
              <a:t>Alam</a:t>
            </a:r>
            <a:r>
              <a:rPr lang="en-US" dirty="0"/>
              <a:t> </a:t>
            </a:r>
            <a:r>
              <a:rPr lang="en-US" dirty="0" err="1"/>
              <a:t>Chowdury</a:t>
            </a:r>
            <a:r>
              <a:rPr lang="en-US" dirty="0"/>
              <a:t> and his poem on the language </a:t>
            </a:r>
            <a:r>
              <a:rPr lang="en-US" dirty="0" err="1"/>
              <a:t>martyers</a:t>
            </a:r>
            <a:endParaRPr lang="en-US"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75138"/>
            <a:ext cx="10515600" cy="844062"/>
          </a:xfrm>
        </p:spPr>
        <p:txBody>
          <a:bodyPr>
            <a:normAutofit/>
          </a:bodyPr>
          <a:lstStyle/>
          <a:p>
            <a:r>
              <a:rPr lang="en-US" b="1" dirty="0"/>
              <a:t>Implications &amp; Achievements :</a:t>
            </a:r>
            <a:endParaRPr lang="en-US" dirty="0"/>
          </a:p>
        </p:txBody>
      </p:sp>
      <p:sp>
        <p:nvSpPr>
          <p:cNvPr id="3" name="Content Placeholder 2"/>
          <p:cNvSpPr>
            <a:spLocks noGrp="1"/>
          </p:cNvSpPr>
          <p:nvPr>
            <p:ph idx="1"/>
          </p:nvPr>
        </p:nvSpPr>
        <p:spPr>
          <a:xfrm>
            <a:off x="1629508" y="1348155"/>
            <a:ext cx="10281138" cy="3962400"/>
          </a:xfrm>
        </p:spPr>
        <p:txBody>
          <a:bodyPr/>
          <a:lstStyle/>
          <a:p>
            <a:pPr algn="just"/>
            <a:r>
              <a:rPr lang="en-US" dirty="0"/>
              <a:t>From the beginning Pakistani rulers were concerned about the geographical separation of the country by hostile India and perceived the dominance of Bengali language in East Bengal as the number one barrier towards achieving political integration. Because of their hypersensitivity they failed to reach a logical solution of the language debate and resorted to force instead. Although the central government in 1956 incorporated </a:t>
            </a:r>
            <a:r>
              <a:rPr lang="en-US" i="1" dirty="0"/>
              <a:t>Bangla</a:t>
            </a:r>
            <a:r>
              <a:rPr lang="en-US" dirty="0"/>
              <a:t> as one of the state languages of Pakistan the decision came too late and couldn't address the fear and mistrust that had already been planted in the minds of the Bengali people.</a:t>
            </a:r>
            <a:endParaRPr lang="en-US" dirty="0"/>
          </a:p>
          <a:p>
            <a:endParaRPr lang="en-US"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2581275" y="769121"/>
            <a:ext cx="7029450" cy="4894285"/>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28187" y="487110"/>
            <a:ext cx="11861563" cy="5689853"/>
          </a:xfrm>
        </p:spPr>
        <p:txBody>
          <a:bodyPr>
            <a:normAutofit/>
          </a:bodyPr>
          <a:lstStyle/>
          <a:p>
            <a:pPr algn="just"/>
            <a:r>
              <a:rPr lang="en-US" sz="3200" dirty="0"/>
              <a:t>Since 1952, February 21 has been observed every year to commemorate </a:t>
            </a:r>
            <a:r>
              <a:rPr lang="en-US" sz="3200" dirty="0">
                <a:solidFill>
                  <a:srgbClr val="FF0000"/>
                </a:solidFill>
              </a:rPr>
              <a:t>the martyrs </a:t>
            </a:r>
            <a:r>
              <a:rPr lang="en-US" sz="3200" dirty="0"/>
              <a:t>of the Language Movement. This movement was the seed out of which grew up the tree of Bengali nationalism that helped create Bangladesh in 1971. </a:t>
            </a:r>
            <a:r>
              <a:rPr lang="en-US" sz="3200" dirty="0">
                <a:solidFill>
                  <a:srgbClr val="FF0000"/>
                </a:solidFill>
              </a:rPr>
              <a:t>With UNESCO adopting a resolution on November 17, 1999 proclaiming February 21 as "International Mother Language Day" the Language Movement of Bangladesh has come to be honored and recognized by the international community.</a:t>
            </a:r>
            <a:endParaRPr lang="en-US" sz="3200" dirty="0">
              <a:solidFill>
                <a:srgbClr val="FF0000"/>
              </a:solidFill>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1"/>
          <a:stretch>
            <a:fillRect/>
          </a:stretch>
        </p:blipFill>
        <p:spPr>
          <a:xfrm>
            <a:off x="1383323" y="973015"/>
            <a:ext cx="8921262" cy="388034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797169"/>
            <a:ext cx="10515600" cy="621323"/>
          </a:xfrm>
        </p:spPr>
        <p:txBody>
          <a:bodyPr>
            <a:normAutofit fontScale="90000"/>
          </a:bodyPr>
          <a:lstStyle/>
          <a:p>
            <a:r>
              <a:rPr lang="en-US" dirty="0"/>
              <a:t>Conclusions :</a:t>
            </a:r>
            <a:endParaRPr lang="en-US" dirty="0"/>
          </a:p>
        </p:txBody>
      </p:sp>
      <p:sp>
        <p:nvSpPr>
          <p:cNvPr id="3" name="Content Placeholder 2"/>
          <p:cNvSpPr>
            <a:spLocks noGrp="1"/>
          </p:cNvSpPr>
          <p:nvPr>
            <p:ph idx="1"/>
          </p:nvPr>
        </p:nvSpPr>
        <p:spPr>
          <a:xfrm>
            <a:off x="1312984" y="1825625"/>
            <a:ext cx="10040815" cy="3227021"/>
          </a:xfrm>
        </p:spPr>
        <p:style>
          <a:lnRef idx="1">
            <a:schemeClr val="accent6"/>
          </a:lnRef>
          <a:fillRef idx="2">
            <a:schemeClr val="accent6"/>
          </a:fillRef>
          <a:effectRef idx="1">
            <a:schemeClr val="accent6"/>
          </a:effectRef>
          <a:fontRef idx="minor">
            <a:schemeClr val="dk1"/>
          </a:fontRef>
        </p:style>
        <p:txBody>
          <a:bodyPr>
            <a:normAutofit/>
          </a:bodyPr>
          <a:lstStyle/>
          <a:p>
            <a:pPr algn="just">
              <a:buFont typeface="Wingdings" panose="05000000000000000000" pitchFamily="2" charset="2"/>
              <a:buChar char="§"/>
            </a:pPr>
            <a:r>
              <a:rPr lang="en-US" dirty="0">
                <a:solidFill>
                  <a:schemeClr val="tx1"/>
                </a:solidFill>
              </a:rPr>
              <a:t>Twenty One Point </a:t>
            </a:r>
            <a:r>
              <a:rPr lang="en-US" dirty="0" err="1">
                <a:solidFill>
                  <a:schemeClr val="tx1"/>
                </a:solidFill>
              </a:rPr>
              <a:t>Programme</a:t>
            </a:r>
            <a:r>
              <a:rPr lang="en-US" dirty="0">
                <a:solidFill>
                  <a:schemeClr val="tx1"/>
                </a:solidFill>
              </a:rPr>
              <a:t> objectives incorporated in the election manifesto of the united front, an alliance of the opposition political parties, to contest elections of the East Bengal Legislative Assembly in 1954 against the then party in power, Muslim league</a:t>
            </a:r>
            <a:endParaRPr lang="en-US"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04800" y="597877"/>
            <a:ext cx="11207262" cy="4865078"/>
          </a:xfrm>
        </p:spPr>
        <p:style>
          <a:lnRef idx="1">
            <a:schemeClr val="accent6"/>
          </a:lnRef>
          <a:fillRef idx="2">
            <a:schemeClr val="accent6"/>
          </a:fillRef>
          <a:effectRef idx="1">
            <a:schemeClr val="accent6"/>
          </a:effectRef>
          <a:fontRef idx="minor">
            <a:schemeClr val="dk1"/>
          </a:fontRef>
        </p:style>
        <p:txBody>
          <a:bodyPr>
            <a:normAutofit fontScale="92500" lnSpcReduction="20000"/>
          </a:bodyPr>
          <a:lstStyle/>
          <a:p>
            <a:pPr algn="just">
              <a:buFont typeface="Wingdings" panose="05000000000000000000" pitchFamily="2" charset="2"/>
              <a:buChar char="§"/>
            </a:pPr>
            <a:r>
              <a:rPr lang="en-US" sz="3000" dirty="0">
                <a:solidFill>
                  <a:schemeClr val="tx1"/>
                </a:solidFill>
              </a:rPr>
              <a:t>Ever since its creation in 1947, Pakistan has been a geographical absurdity, with its two parts separated by one thousand miles of unfriendly Indian territory. Greater than the spatial distance was the difference in the social structure, economy and culture. </a:t>
            </a:r>
            <a:r>
              <a:rPr lang="en-US" sz="3000" dirty="0" err="1">
                <a:solidFill>
                  <a:schemeClr val="tx1"/>
                </a:solidFill>
              </a:rPr>
              <a:t>Adherance</a:t>
            </a:r>
            <a:r>
              <a:rPr lang="en-US" sz="3000" dirty="0">
                <a:solidFill>
                  <a:schemeClr val="tx1"/>
                </a:solidFill>
              </a:rPr>
              <a:t> to a common religion, Islam, was never sufficient to make these two dissimilar parts a single nation. But for almost twenty-four years Pakistan weathered all storms and maintained a precarious unity. That unity was finally broken in March 1971 when the West Pakistani military launched an all-out war to suppress the movement for regional autonomy in East Pakistan, forcing the region to declare itself an independent People's Republic of Bangladesh</a:t>
            </a:r>
            <a:endParaRPr lang="en-US" sz="3000" dirty="0"/>
          </a:p>
          <a:p>
            <a:pPr algn="just">
              <a:buFont typeface="Wingdings" panose="05000000000000000000" pitchFamily="2" charset="2"/>
              <a:buChar char="§"/>
            </a:pPr>
            <a:r>
              <a:rPr lang="en-US" sz="3000" dirty="0"/>
              <a:t>Growth of Bengali linguistic nationalism</a:t>
            </a:r>
            <a:endParaRPr lang="en-US" sz="3000" dirty="0"/>
          </a:p>
          <a:p>
            <a:pPr algn="just">
              <a:buFont typeface="Wingdings" panose="05000000000000000000" pitchFamily="2" charset="2"/>
              <a:buChar char="§"/>
            </a:pPr>
            <a:r>
              <a:rPr lang="en-US" sz="3000" dirty="0"/>
              <a:t>Regional identity politics </a:t>
            </a:r>
            <a:endParaRPr lang="en-US" sz="3000" dirty="0"/>
          </a:p>
          <a:p>
            <a:pPr algn="just">
              <a:buFont typeface="Wingdings" panose="05000000000000000000" pitchFamily="2" charset="2"/>
              <a:buChar char="§"/>
            </a:pPr>
            <a:r>
              <a:rPr lang="en-US" sz="3000" dirty="0"/>
              <a:t>Emergence of Bangladesh as a nation-state</a:t>
            </a:r>
            <a:endParaRPr lang="en-US" sz="3000" dirty="0"/>
          </a:p>
          <a:p>
            <a:pPr algn="just"/>
            <a:endParaRPr lang="en-US" dirty="0">
              <a:solidFill>
                <a:schemeClr val="tx1"/>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8546" y="128951"/>
            <a:ext cx="11025608" cy="644771"/>
          </a:xfrm>
        </p:spPr>
        <p:txBody>
          <a:bodyPr>
            <a:normAutofit fontScale="90000"/>
          </a:bodyPr>
          <a:lstStyle/>
          <a:p>
            <a:r>
              <a:rPr lang="en-US" dirty="0">
                <a:solidFill>
                  <a:srgbClr val="002060"/>
                </a:solidFill>
              </a:rPr>
              <a:t>References : </a:t>
            </a:r>
            <a:endParaRPr lang="en-US" dirty="0">
              <a:solidFill>
                <a:srgbClr val="002060"/>
              </a:solidFill>
            </a:endParaRPr>
          </a:p>
        </p:txBody>
      </p:sp>
      <p:sp>
        <p:nvSpPr>
          <p:cNvPr id="3" name="Content Placeholder 2"/>
          <p:cNvSpPr>
            <a:spLocks noGrp="1"/>
          </p:cNvSpPr>
          <p:nvPr>
            <p:ph idx="1"/>
          </p:nvPr>
        </p:nvSpPr>
        <p:spPr>
          <a:xfrm>
            <a:off x="160020" y="949325"/>
            <a:ext cx="11633200" cy="5259070"/>
          </a:xfrm>
        </p:spPr>
        <p:style>
          <a:lnRef idx="1">
            <a:schemeClr val="accent2"/>
          </a:lnRef>
          <a:fillRef idx="2">
            <a:schemeClr val="accent2"/>
          </a:fillRef>
          <a:effectRef idx="1">
            <a:schemeClr val="accent2"/>
          </a:effectRef>
          <a:fontRef idx="minor">
            <a:schemeClr val="dk1"/>
          </a:fontRef>
        </p:style>
        <p:txBody>
          <a:bodyPr>
            <a:normAutofit lnSpcReduction="10000"/>
          </a:bodyPr>
          <a:lstStyle/>
          <a:p>
            <a:pPr algn="just">
              <a:buFont typeface="Wingdings" panose="05000000000000000000" pitchFamily="2" charset="2"/>
              <a:buChar char="Ø"/>
            </a:pPr>
            <a:r>
              <a:rPr lang="en-US" dirty="0" err="1"/>
              <a:t>Badruddin</a:t>
            </a:r>
            <a:r>
              <a:rPr lang="en-US" dirty="0"/>
              <a:t> Omar, </a:t>
            </a:r>
            <a:r>
              <a:rPr lang="en-US" i="1" dirty="0"/>
              <a:t>The Emergence of Bangladesh-The Rise of Bengali Nationalism</a:t>
            </a:r>
            <a:r>
              <a:rPr lang="en-US" dirty="0"/>
              <a:t> ,1958-1971  ( Oxford : Oxford University Press, 2006).</a:t>
            </a:r>
            <a:endParaRPr lang="en-US" sz="2400" u="sng" dirty="0"/>
          </a:p>
          <a:p>
            <a:pPr algn="just">
              <a:buFont typeface="Wingdings" panose="05000000000000000000" pitchFamily="2" charset="2"/>
              <a:buChar char="Ø"/>
            </a:pPr>
            <a:r>
              <a:rPr lang="en-US" dirty="0" err="1"/>
              <a:t>Rounaq</a:t>
            </a:r>
            <a:r>
              <a:rPr lang="en-US" dirty="0"/>
              <a:t> </a:t>
            </a:r>
            <a:r>
              <a:rPr lang="en-US" dirty="0" err="1"/>
              <a:t>Jahan</a:t>
            </a:r>
            <a:r>
              <a:rPr lang="en-US" dirty="0"/>
              <a:t>, </a:t>
            </a:r>
            <a:r>
              <a:rPr lang="en-US" i="1" dirty="0"/>
              <a:t>Pakistan: Failure in National Integration </a:t>
            </a:r>
            <a:r>
              <a:rPr lang="en-US" dirty="0"/>
              <a:t>(Dhaka: University Press Limited , 2018).</a:t>
            </a:r>
            <a:endParaRPr lang="en-US" dirty="0"/>
          </a:p>
          <a:p>
            <a:pPr algn="just">
              <a:buFont typeface="Wingdings" panose="05000000000000000000" pitchFamily="2" charset="2"/>
              <a:buChar char="Ø"/>
            </a:pPr>
            <a:r>
              <a:rPr lang="en-US" dirty="0"/>
              <a:t>Abul Mansur Ahmed, </a:t>
            </a:r>
            <a:r>
              <a:rPr lang="as-IN" i="1" dirty="0"/>
              <a:t>আমার দেখা রাজনীতির পঞ্চাশ বছর</a:t>
            </a:r>
            <a:r>
              <a:rPr lang="en-US" i="1" dirty="0"/>
              <a:t> </a:t>
            </a:r>
            <a:r>
              <a:rPr lang="en-US" dirty="0"/>
              <a:t>(</a:t>
            </a:r>
            <a:r>
              <a:rPr lang="en-US" i="1" dirty="0"/>
              <a:t>Fifty Years of Politics as I saw It). </a:t>
            </a:r>
            <a:r>
              <a:rPr lang="en-US" i="1" dirty="0" err="1"/>
              <a:t>M.Emdadul</a:t>
            </a:r>
            <a:r>
              <a:rPr lang="en-US" i="1" dirty="0"/>
              <a:t> </a:t>
            </a:r>
            <a:r>
              <a:rPr lang="en-US" i="1" dirty="0" err="1"/>
              <a:t>Haq</a:t>
            </a:r>
            <a:r>
              <a:rPr lang="en-US" i="1" dirty="0"/>
              <a:t>, “A Short History of Bangla”, The Daily Star</a:t>
            </a:r>
            <a:endParaRPr lang="en-US" i="1" dirty="0"/>
          </a:p>
          <a:p>
            <a:pPr algn="just">
              <a:buFont typeface="Wingdings" panose="05000000000000000000" pitchFamily="2" charset="2"/>
              <a:buChar char="Ø"/>
            </a:pPr>
            <a:r>
              <a:rPr lang="en-US" altLang="en-US" b="1" i="1" dirty="0"/>
              <a:t>Shahriar, S</a:t>
            </a:r>
            <a:r>
              <a:rPr lang="en-US" altLang="en-US" i="1" dirty="0"/>
              <a:t>. (2026). </a:t>
            </a:r>
            <a:r>
              <a:rPr lang="en-US" altLang="en-US" b="1" i="1" dirty="0"/>
              <a:t>The politico-cultural roots of Bangladesh: remembering the language movement through memoirs and autobiographical narratives</a:t>
            </a:r>
            <a:r>
              <a:rPr lang="en-US" altLang="en-US" i="1" dirty="0"/>
              <a:t>. </a:t>
            </a:r>
            <a:endParaRPr lang="en-US" altLang="en-US" i="1" dirty="0"/>
          </a:p>
          <a:p>
            <a:pPr marL="0" indent="0" algn="just">
              <a:buFont typeface="Wingdings" panose="05000000000000000000" pitchFamily="2" charset="2"/>
              <a:buNone/>
            </a:pPr>
            <a:r>
              <a:rPr lang="en-US" altLang="en-US" i="1" dirty="0"/>
              <a:t>Cogent Arts &amp; Humanities, 13(1). https://doi.org/10.1080/23311983.2026.2684824</a:t>
            </a:r>
            <a:endParaRPr lang="en-US" altLang="en-US" i="1" dirty="0"/>
          </a:p>
          <a:p>
            <a:pPr marL="0" indent="0" algn="just">
              <a:buNone/>
            </a:pPr>
            <a:r>
              <a:rPr lang="en-US" dirty="0"/>
              <a:t>     </a:t>
            </a:r>
            <a:endParaRPr lang="en-US" sz="2000" dirty="0"/>
          </a:p>
          <a:p>
            <a:pPr algn="just"/>
            <a:endParaRPr lang="en-US" sz="2400" dirty="0"/>
          </a:p>
          <a:p>
            <a:endParaRPr lang="en-US"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12013</Words>
  <Application>WPS Presentation</Application>
  <PresentationFormat>Widescreen</PresentationFormat>
  <Paragraphs>83</Paragraphs>
  <Slides>30</Slides>
  <Notes>0</Notes>
  <HiddenSlides>0</HiddenSlides>
  <MMClips>0</MMClips>
  <ScaleCrop>false</ScaleCrop>
  <HeadingPairs>
    <vt:vector size="6" baseType="variant">
      <vt:variant>
        <vt:lpstr>已用的字体</vt:lpstr>
      </vt:variant>
      <vt:variant>
        <vt:i4>10</vt:i4>
      </vt:variant>
      <vt:variant>
        <vt:lpstr>主题</vt:lpstr>
      </vt:variant>
      <vt:variant>
        <vt:i4>1</vt:i4>
      </vt:variant>
      <vt:variant>
        <vt:lpstr>幻灯片标题</vt:lpstr>
      </vt:variant>
      <vt:variant>
        <vt:i4>30</vt:i4>
      </vt:variant>
    </vt:vector>
  </HeadingPairs>
  <TitlesOfParts>
    <vt:vector size="41" baseType="lpstr">
      <vt:lpstr>Arial</vt:lpstr>
      <vt:lpstr>SimSun</vt:lpstr>
      <vt:lpstr>Wingdings</vt:lpstr>
      <vt:lpstr>Calibri</vt:lpstr>
      <vt:lpstr>Microsoft YaHei</vt:lpstr>
      <vt:lpstr>Arial Unicode MS</vt:lpstr>
      <vt:lpstr>Calibri Light</vt:lpstr>
      <vt:lpstr>Times New Roman</vt:lpstr>
      <vt:lpstr>Vrinda</vt:lpstr>
      <vt:lpstr>Segoe Print</vt:lpstr>
      <vt:lpstr>Office Theme</vt:lpstr>
      <vt:lpstr>PowerPoint 演示文稿</vt:lpstr>
      <vt:lpstr>PowerPoint 演示文稿</vt:lpstr>
      <vt:lpstr>PowerPoint 演示文稿</vt:lpstr>
      <vt:lpstr>PowerPoint 演示文稿</vt:lpstr>
      <vt:lpstr>The Problems &amp; Issues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Implications &amp; Achievements :</vt:lpstr>
      <vt:lpstr>PowerPoint 演示文稿</vt:lpstr>
      <vt:lpstr>PowerPoint 演示文稿</vt:lpstr>
      <vt:lpstr>PowerPoint 演示文稿</vt:lpstr>
      <vt:lpstr>Conclusions :</vt:lpstr>
      <vt:lpstr>PowerPoint 演示文稿</vt:lpstr>
      <vt:lpstr>References :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User</dc:creator>
  <cp:lastModifiedBy>NSU DHP DR. SALEH</cp:lastModifiedBy>
  <cp:revision>414</cp:revision>
  <dcterms:created xsi:type="dcterms:W3CDTF">2020-12-17T18:13:00Z</dcterms:created>
  <dcterms:modified xsi:type="dcterms:W3CDTF">2026-07-26T06:54:25Z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1033-12.1.0.26880</vt:lpwstr>
  </property>
  <property fmtid="{D5CDD505-2E9C-101B-9397-08002B2CF9AE}" pid="3" name="ICV">
    <vt:lpwstr>D1FA689D1BD64CFF944FDBB6089AAE9C_12</vt:lpwstr>
  </property>
</Properties>
</file>