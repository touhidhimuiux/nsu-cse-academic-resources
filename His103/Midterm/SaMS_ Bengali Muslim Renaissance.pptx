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5" r:id="rId3"/>
    <p:sldId id="292" r:id="rId4"/>
    <p:sldId id="296" r:id="rId5"/>
    <p:sldId id="257" r:id="rId6"/>
    <p:sldId id="273" r:id="rId7"/>
    <p:sldId id="297" r:id="rId8"/>
    <p:sldId id="258" r:id="rId9"/>
    <p:sldId id="298" r:id="rId10"/>
    <p:sldId id="266" r:id="rId11"/>
    <p:sldId id="275" r:id="rId12"/>
    <p:sldId id="283" r:id="rId13"/>
    <p:sldId id="285" r:id="rId14"/>
    <p:sldId id="299" r:id="rId15"/>
    <p:sldId id="276" r:id="rId16"/>
    <p:sldId id="274" r:id="rId17"/>
    <p:sldId id="268" r:id="rId18"/>
    <p:sldId id="261" r:id="rId19"/>
    <p:sldId id="259" r:id="rId20"/>
    <p:sldId id="260" r:id="rId21"/>
    <p:sldId id="278" r:id="rId22"/>
    <p:sldId id="300" r:id="rId23"/>
    <p:sldId id="280" r:id="rId24"/>
    <p:sldId id="286" r:id="rId25"/>
    <p:sldId id="287" r:id="rId26"/>
    <p:sldId id="293" r:id="rId27"/>
    <p:sldId id="28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FC3270-AC35-4A12-9980-FD328CDFE170}" type="doc">
      <dgm:prSet loTypeId="urn:microsoft.com/office/officeart/2005/8/layout/lProcess3" loCatId="process" qsTypeId="urn:microsoft.com/office/officeart/2005/8/quickstyle/3d1" qsCatId="3D" csTypeId="urn:microsoft.com/office/officeart/2005/8/colors/accent1_2" csCatId="accent1" phldr="1"/>
      <dgm:spPr/>
      <dgm:t>
        <a:bodyPr/>
        <a:lstStyle/>
        <a:p>
          <a:endParaRPr lang="en-US"/>
        </a:p>
      </dgm:t>
    </dgm:pt>
    <dgm:pt modelId="{8B2E49C7-7AE5-4620-B117-9C81D345856E}">
      <dgm:prSet>
        <dgm:style>
          <a:lnRef idx="2">
            <a:schemeClr val="dk1">
              <a:shade val="50000"/>
            </a:schemeClr>
          </a:lnRef>
          <a:fillRef idx="1">
            <a:schemeClr val="dk1"/>
          </a:fillRef>
          <a:effectRef idx="0">
            <a:schemeClr val="dk1"/>
          </a:effectRef>
          <a:fontRef idx="minor">
            <a:schemeClr val="lt1"/>
          </a:fontRef>
        </dgm:style>
      </dgm:prSet>
      <dgm:spPr/>
      <dgm:t>
        <a:bodyPr/>
        <a:lstStyle/>
        <a:p>
          <a:pPr rtl="0"/>
          <a:r>
            <a:rPr lang="en-US" b="1" dirty="0">
              <a:solidFill>
                <a:srgbClr val="FFFF00"/>
              </a:solidFill>
            </a:rPr>
            <a:t>SIR SYED AHMED KHAN</a:t>
          </a:r>
          <a:endParaRPr lang="en-US" dirty="0">
            <a:solidFill>
              <a:srgbClr val="FFFF00"/>
            </a:solidFill>
          </a:endParaRPr>
        </a:p>
      </dgm:t>
    </dgm:pt>
    <dgm:pt modelId="{CC6972FE-4E94-44E1-A07E-D0FD20A86E88}" type="parTrans" cxnId="{D23C6215-8F0F-489F-BC04-000057A30313}">
      <dgm:prSet/>
      <dgm:spPr/>
      <dgm:t>
        <a:bodyPr/>
        <a:lstStyle/>
        <a:p>
          <a:endParaRPr lang="en-US"/>
        </a:p>
      </dgm:t>
    </dgm:pt>
    <dgm:pt modelId="{A19D14A7-9325-4511-85B8-6A7E0DD35C2E}" type="sibTrans" cxnId="{D23C6215-8F0F-489F-BC04-000057A30313}">
      <dgm:prSet/>
      <dgm:spPr/>
      <dgm:t>
        <a:bodyPr/>
        <a:lstStyle/>
        <a:p>
          <a:endParaRPr lang="en-US"/>
        </a:p>
      </dgm:t>
    </dgm:pt>
    <dgm:pt modelId="{8FC9C40A-48BF-4D3B-8CAC-E598FE13B272}" type="pres">
      <dgm:prSet presAssocID="{2CFC3270-AC35-4A12-9980-FD328CDFE170}" presName="Name0" presStyleCnt="0">
        <dgm:presLayoutVars>
          <dgm:chPref val="3"/>
          <dgm:dir/>
          <dgm:animLvl val="lvl"/>
          <dgm:resizeHandles/>
        </dgm:presLayoutVars>
      </dgm:prSet>
      <dgm:spPr/>
    </dgm:pt>
    <dgm:pt modelId="{244C1C0B-2929-48DD-96B3-400AED7309DA}" type="pres">
      <dgm:prSet presAssocID="{8B2E49C7-7AE5-4620-B117-9C81D345856E}" presName="horFlow" presStyleCnt="0"/>
      <dgm:spPr/>
    </dgm:pt>
    <dgm:pt modelId="{50F4B568-E932-4BEF-9DBA-2D1360AC341C}" type="pres">
      <dgm:prSet presAssocID="{8B2E49C7-7AE5-4620-B117-9C81D345856E}" presName="bigChev" presStyleLbl="node1" presStyleIdx="0" presStyleCnt="1" custFlipVert="0" custScaleX="100000" custLinFactNeighborX="-163" custLinFactNeighborY="-1522"/>
      <dgm:spPr/>
    </dgm:pt>
  </dgm:ptLst>
  <dgm:cxnLst>
    <dgm:cxn modelId="{D23C6215-8F0F-489F-BC04-000057A30313}" srcId="{2CFC3270-AC35-4A12-9980-FD328CDFE170}" destId="{8B2E49C7-7AE5-4620-B117-9C81D345856E}" srcOrd="0" destOrd="0" parTransId="{CC6972FE-4E94-44E1-A07E-D0FD20A86E88}" sibTransId="{A19D14A7-9325-4511-85B8-6A7E0DD35C2E}"/>
    <dgm:cxn modelId="{E3B718F1-B493-4BD7-B2C1-16615E72A75A}" type="presOf" srcId="{8B2E49C7-7AE5-4620-B117-9C81D345856E}" destId="{50F4B568-E932-4BEF-9DBA-2D1360AC341C}" srcOrd="0" destOrd="0" presId="urn:microsoft.com/office/officeart/2005/8/layout/lProcess3"/>
    <dgm:cxn modelId="{CA513BFD-FDF4-43B2-BFE6-9C00C3048BEE}" type="presOf" srcId="{2CFC3270-AC35-4A12-9980-FD328CDFE170}" destId="{8FC9C40A-48BF-4D3B-8CAC-E598FE13B272}" srcOrd="0" destOrd="0" presId="urn:microsoft.com/office/officeart/2005/8/layout/lProcess3"/>
    <dgm:cxn modelId="{47B7CE22-A6F2-4C0B-978C-D2007D77695F}" type="presParOf" srcId="{8FC9C40A-48BF-4D3B-8CAC-E598FE13B272}" destId="{244C1C0B-2929-48DD-96B3-400AED7309DA}" srcOrd="0" destOrd="0" presId="urn:microsoft.com/office/officeart/2005/8/layout/lProcess3"/>
    <dgm:cxn modelId="{85DE990C-B3C5-498D-A31C-B9BE89C539E3}" type="presParOf" srcId="{244C1C0B-2929-48DD-96B3-400AED7309DA}" destId="{50F4B568-E932-4BEF-9DBA-2D1360AC341C}" srcOrd="0"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FC3270-AC35-4A12-9980-FD328CDFE170}" type="doc">
      <dgm:prSet loTypeId="urn:microsoft.com/office/officeart/2005/8/layout/lProcess3" loCatId="process" qsTypeId="urn:microsoft.com/office/officeart/2005/8/quickstyle/simple1" qsCatId="simple" csTypeId="urn:microsoft.com/office/officeart/2005/8/colors/accent1_2" csCatId="accent1"/>
      <dgm:spPr/>
      <dgm:t>
        <a:bodyPr/>
        <a:lstStyle/>
        <a:p>
          <a:endParaRPr lang="en-US"/>
        </a:p>
      </dgm:t>
    </dgm:pt>
    <dgm:pt modelId="{8B2E49C7-7AE5-4620-B117-9C81D345856E}">
      <dgm:prSet/>
      <dgm:spPr/>
      <dgm:t>
        <a:bodyPr/>
        <a:lstStyle/>
        <a:p>
          <a:pPr rtl="0"/>
          <a:r>
            <a:rPr lang="en-US" b="1" dirty="0">
              <a:solidFill>
                <a:schemeClr val="bg1"/>
              </a:solidFill>
            </a:rPr>
            <a:t>SIR SYED AHMED KHAN</a:t>
          </a:r>
          <a:endParaRPr lang="en-US" dirty="0">
            <a:solidFill>
              <a:schemeClr val="bg1"/>
            </a:solidFill>
          </a:endParaRPr>
        </a:p>
      </dgm:t>
    </dgm:pt>
    <dgm:pt modelId="{CC6972FE-4E94-44E1-A07E-D0FD20A86E88}" type="parTrans" cxnId="{D23C6215-8F0F-489F-BC04-000057A30313}">
      <dgm:prSet/>
      <dgm:spPr/>
      <dgm:t>
        <a:bodyPr/>
        <a:lstStyle/>
        <a:p>
          <a:endParaRPr lang="en-US"/>
        </a:p>
      </dgm:t>
    </dgm:pt>
    <dgm:pt modelId="{A19D14A7-9325-4511-85B8-6A7E0DD35C2E}" type="sibTrans" cxnId="{D23C6215-8F0F-489F-BC04-000057A30313}">
      <dgm:prSet/>
      <dgm:spPr/>
      <dgm:t>
        <a:bodyPr/>
        <a:lstStyle/>
        <a:p>
          <a:endParaRPr lang="en-US"/>
        </a:p>
      </dgm:t>
    </dgm:pt>
    <dgm:pt modelId="{8FC9C40A-48BF-4D3B-8CAC-E598FE13B272}" type="pres">
      <dgm:prSet presAssocID="{2CFC3270-AC35-4A12-9980-FD328CDFE170}" presName="Name0" presStyleCnt="0">
        <dgm:presLayoutVars>
          <dgm:chPref val="3"/>
          <dgm:dir/>
          <dgm:animLvl val="lvl"/>
          <dgm:resizeHandles/>
        </dgm:presLayoutVars>
      </dgm:prSet>
      <dgm:spPr/>
    </dgm:pt>
    <dgm:pt modelId="{244C1C0B-2929-48DD-96B3-400AED7309DA}" type="pres">
      <dgm:prSet presAssocID="{8B2E49C7-7AE5-4620-B117-9C81D345856E}" presName="horFlow" presStyleCnt="0"/>
      <dgm:spPr/>
    </dgm:pt>
    <dgm:pt modelId="{50F4B568-E932-4BEF-9DBA-2D1360AC341C}" type="pres">
      <dgm:prSet presAssocID="{8B2E49C7-7AE5-4620-B117-9C81D345856E}" presName="bigChev" presStyleLbl="node1" presStyleIdx="0" presStyleCnt="1" custLinFactY="-50584" custLinFactNeighborX="-1189" custLinFactNeighborY="-100000"/>
      <dgm:spPr/>
    </dgm:pt>
  </dgm:ptLst>
  <dgm:cxnLst>
    <dgm:cxn modelId="{D23C6215-8F0F-489F-BC04-000057A30313}" srcId="{2CFC3270-AC35-4A12-9980-FD328CDFE170}" destId="{8B2E49C7-7AE5-4620-B117-9C81D345856E}" srcOrd="0" destOrd="0" parTransId="{CC6972FE-4E94-44E1-A07E-D0FD20A86E88}" sibTransId="{A19D14A7-9325-4511-85B8-6A7E0DD35C2E}"/>
    <dgm:cxn modelId="{D5DC8530-D239-4397-869C-645A15E189CE}" type="presOf" srcId="{8B2E49C7-7AE5-4620-B117-9C81D345856E}" destId="{50F4B568-E932-4BEF-9DBA-2D1360AC341C}" srcOrd="0" destOrd="0" presId="urn:microsoft.com/office/officeart/2005/8/layout/lProcess3"/>
    <dgm:cxn modelId="{541B8A7A-9CF8-4971-94C7-C5918312D59C}" type="presOf" srcId="{2CFC3270-AC35-4A12-9980-FD328CDFE170}" destId="{8FC9C40A-48BF-4D3B-8CAC-E598FE13B272}" srcOrd="0" destOrd="0" presId="urn:microsoft.com/office/officeart/2005/8/layout/lProcess3"/>
    <dgm:cxn modelId="{2C148E77-40F8-4848-A655-319738450B2F}" type="presParOf" srcId="{8FC9C40A-48BF-4D3B-8CAC-E598FE13B272}" destId="{244C1C0B-2929-48DD-96B3-400AED7309DA}" srcOrd="0" destOrd="0" presId="urn:microsoft.com/office/officeart/2005/8/layout/lProcess3"/>
    <dgm:cxn modelId="{609277E2-270F-48B8-A3B3-CD1A41A54B26}" type="presParOf" srcId="{244C1C0B-2929-48DD-96B3-400AED7309DA}" destId="{50F4B568-E932-4BEF-9DBA-2D1360AC341C}" srcOrd="0"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39A554F-6256-475F-A86F-7103FD02A76C}" type="doc">
      <dgm:prSet loTypeId="urn:microsoft.com/office/officeart/2005/8/layout/default" loCatId="list" qsTypeId="urn:microsoft.com/office/officeart/2005/8/quickstyle/3d3" qsCatId="3D" csTypeId="urn:microsoft.com/office/officeart/2005/8/colors/accent1_2" csCatId="accent1" phldr="1"/>
      <dgm:spPr/>
      <dgm:t>
        <a:bodyPr/>
        <a:lstStyle/>
        <a:p>
          <a:endParaRPr lang="en-US"/>
        </a:p>
      </dgm:t>
    </dgm:pt>
    <dgm:pt modelId="{0D00B335-C5CF-462D-B4FF-45CAF911C596}">
      <dgm:prSet/>
      <dgm:spPr/>
      <dgm:t>
        <a:bodyPr/>
        <a:lstStyle/>
        <a:p>
          <a:pPr rtl="0"/>
          <a:r>
            <a:rPr lang="en-US" b="1" dirty="0">
              <a:solidFill>
                <a:srgbClr val="C00000"/>
              </a:solidFill>
            </a:rPr>
            <a:t>SIR SYED AHMED KHAN SET UP A SCHOOL IN ALIGARH IN 1875</a:t>
          </a:r>
        </a:p>
      </dgm:t>
    </dgm:pt>
    <dgm:pt modelId="{8750049D-E5C7-48ED-86AF-D3C3B2ED016F}" type="parTrans" cxnId="{52447098-4C2C-43DC-B0A0-4FB33E14B820}">
      <dgm:prSet/>
      <dgm:spPr/>
      <dgm:t>
        <a:bodyPr/>
        <a:lstStyle/>
        <a:p>
          <a:endParaRPr lang="en-US"/>
        </a:p>
      </dgm:t>
    </dgm:pt>
    <dgm:pt modelId="{57667A6D-DB09-4336-AF6F-1BA92EA2D890}" type="sibTrans" cxnId="{52447098-4C2C-43DC-B0A0-4FB33E14B820}">
      <dgm:prSet/>
      <dgm:spPr/>
      <dgm:t>
        <a:bodyPr/>
        <a:lstStyle/>
        <a:p>
          <a:endParaRPr lang="en-US"/>
        </a:p>
      </dgm:t>
    </dgm:pt>
    <dgm:pt modelId="{84A22A8E-780F-4599-9955-72B7BBBEC894}">
      <dgm:prSet/>
      <dgm:spPr/>
      <dgm:t>
        <a:bodyPr/>
        <a:lstStyle/>
        <a:p>
          <a:pPr rtl="0"/>
          <a:r>
            <a:rPr lang="en-US" b="1" dirty="0">
              <a:solidFill>
                <a:srgbClr val="C00000"/>
              </a:solidFill>
            </a:rPr>
            <a:t>THIS THEN BECAME MOHAMMEDAN ANGLO ORIENTAL COLLEGE (MAO)</a:t>
          </a:r>
        </a:p>
      </dgm:t>
    </dgm:pt>
    <dgm:pt modelId="{D745897E-9F01-4623-A088-E28F903DAFF2}" type="parTrans" cxnId="{18C7CF4F-1013-48A1-89DD-F1BE8A0215AE}">
      <dgm:prSet/>
      <dgm:spPr/>
      <dgm:t>
        <a:bodyPr/>
        <a:lstStyle/>
        <a:p>
          <a:endParaRPr lang="en-US"/>
        </a:p>
      </dgm:t>
    </dgm:pt>
    <dgm:pt modelId="{772A790B-0721-4EBA-BF6C-D8C09B19FB8A}" type="sibTrans" cxnId="{18C7CF4F-1013-48A1-89DD-F1BE8A0215AE}">
      <dgm:prSet/>
      <dgm:spPr/>
      <dgm:t>
        <a:bodyPr/>
        <a:lstStyle/>
        <a:p>
          <a:endParaRPr lang="en-US"/>
        </a:p>
      </dgm:t>
    </dgm:pt>
    <dgm:pt modelId="{78D01324-35E3-4DFD-A8F8-4C563EBCB1B1}">
      <dgm:prSet/>
      <dgm:spPr/>
      <dgm:t>
        <a:bodyPr/>
        <a:lstStyle/>
        <a:p>
          <a:pPr rtl="0"/>
          <a:r>
            <a:rPr lang="en-US" b="1" dirty="0">
              <a:solidFill>
                <a:srgbClr val="C00000"/>
              </a:solidFill>
            </a:rPr>
            <a:t>MOHAMMEDAN ANGLO ORIENTAL COLLEGE NOW IS KNOWN AS Aligarh Muslim University (AMU)</a:t>
          </a:r>
        </a:p>
      </dgm:t>
    </dgm:pt>
    <dgm:pt modelId="{7892C07D-C66A-4C6E-806E-C4445B1A658D}" type="parTrans" cxnId="{527D1A62-D9C2-41D1-B7AC-175B25DAA3B1}">
      <dgm:prSet/>
      <dgm:spPr/>
      <dgm:t>
        <a:bodyPr/>
        <a:lstStyle/>
        <a:p>
          <a:endParaRPr lang="en-US"/>
        </a:p>
      </dgm:t>
    </dgm:pt>
    <dgm:pt modelId="{F31337CF-5818-4F40-9CD7-F4D366112F42}" type="sibTrans" cxnId="{527D1A62-D9C2-41D1-B7AC-175B25DAA3B1}">
      <dgm:prSet/>
      <dgm:spPr/>
      <dgm:t>
        <a:bodyPr/>
        <a:lstStyle/>
        <a:p>
          <a:endParaRPr lang="en-US"/>
        </a:p>
      </dgm:t>
    </dgm:pt>
    <dgm:pt modelId="{5B87EE73-1B4C-4C6A-A85C-C82C98E036DD}">
      <dgm:prSet/>
      <dgm:spPr/>
      <dgm:t>
        <a:bodyPr/>
        <a:lstStyle/>
        <a:p>
          <a:pPr rtl="0"/>
          <a:r>
            <a:rPr lang="en-US" b="1" dirty="0">
              <a:solidFill>
                <a:srgbClr val="C00000"/>
              </a:solidFill>
            </a:rPr>
            <a:t>‘AMU’ STANDS FOR ALIGARH MUSLIM UNIVERSITY</a:t>
          </a:r>
        </a:p>
      </dgm:t>
    </dgm:pt>
    <dgm:pt modelId="{F5351240-4BF6-4CA0-9FD7-EFF8BC43A076}" type="parTrans" cxnId="{A1F49C0A-0CD8-4620-AABB-34134B61CBA1}">
      <dgm:prSet/>
      <dgm:spPr/>
      <dgm:t>
        <a:bodyPr/>
        <a:lstStyle/>
        <a:p>
          <a:endParaRPr lang="en-US"/>
        </a:p>
      </dgm:t>
    </dgm:pt>
    <dgm:pt modelId="{43CE2E2B-0477-4FB6-B365-682999CC79C0}" type="sibTrans" cxnId="{A1F49C0A-0CD8-4620-AABB-34134B61CBA1}">
      <dgm:prSet/>
      <dgm:spPr/>
      <dgm:t>
        <a:bodyPr/>
        <a:lstStyle/>
        <a:p>
          <a:endParaRPr lang="en-US"/>
        </a:p>
      </dgm:t>
    </dgm:pt>
    <dgm:pt modelId="{6C548624-DC42-42E4-94C4-3F227F7D3C59}">
      <dgm:prSet/>
      <dgm:spPr/>
      <dgm:t>
        <a:bodyPr/>
        <a:lstStyle/>
        <a:p>
          <a:pPr rtl="0"/>
          <a:r>
            <a:rPr lang="en-US" b="1" dirty="0">
              <a:solidFill>
                <a:srgbClr val="C00000"/>
              </a:solidFill>
            </a:rPr>
            <a:t> HE WANTED  THE MUSLIMS TO GET ENGLISH AND TECHNICAL EDUCATION</a:t>
          </a:r>
        </a:p>
      </dgm:t>
    </dgm:pt>
    <dgm:pt modelId="{E419B795-F125-4E21-90AB-6C3E48656CBC}" type="parTrans" cxnId="{C1EA8761-6FB3-425B-8915-25EC345A0644}">
      <dgm:prSet/>
      <dgm:spPr/>
      <dgm:t>
        <a:bodyPr/>
        <a:lstStyle/>
        <a:p>
          <a:endParaRPr lang="en-US"/>
        </a:p>
      </dgm:t>
    </dgm:pt>
    <dgm:pt modelId="{C6A8FBB2-AE04-4CBB-9C7A-04438F3FE63D}" type="sibTrans" cxnId="{C1EA8761-6FB3-425B-8915-25EC345A0644}">
      <dgm:prSet/>
      <dgm:spPr/>
      <dgm:t>
        <a:bodyPr/>
        <a:lstStyle/>
        <a:p>
          <a:endParaRPr lang="en-US"/>
        </a:p>
      </dgm:t>
    </dgm:pt>
    <dgm:pt modelId="{9793152C-E2EF-4C0C-BE38-122516EE11C3}">
      <dgm:prSet/>
      <dgm:spPr/>
      <dgm:t>
        <a:bodyPr/>
        <a:lstStyle/>
        <a:p>
          <a:pPr rtl="0"/>
          <a:r>
            <a:rPr lang="en-US" b="1" dirty="0">
              <a:solidFill>
                <a:srgbClr val="C00000"/>
              </a:solidFill>
            </a:rPr>
            <a:t>THIS WOULD HELP THEM IN PROGRESSING FORWARD EARN MONEY AND RESPECT </a:t>
          </a:r>
        </a:p>
      </dgm:t>
    </dgm:pt>
    <dgm:pt modelId="{C330C1B2-3E9F-41C4-B8C0-48FC09699D3B}" type="parTrans" cxnId="{26BC84D2-46FB-438A-AB00-9882D090242C}">
      <dgm:prSet/>
      <dgm:spPr/>
      <dgm:t>
        <a:bodyPr/>
        <a:lstStyle/>
        <a:p>
          <a:endParaRPr lang="en-US"/>
        </a:p>
      </dgm:t>
    </dgm:pt>
    <dgm:pt modelId="{6122EFBF-361C-4A93-A7A8-9E6142475A25}" type="sibTrans" cxnId="{26BC84D2-46FB-438A-AB00-9882D090242C}">
      <dgm:prSet/>
      <dgm:spPr/>
      <dgm:t>
        <a:bodyPr/>
        <a:lstStyle/>
        <a:p>
          <a:endParaRPr lang="en-US"/>
        </a:p>
      </dgm:t>
    </dgm:pt>
    <dgm:pt modelId="{E71126FD-6311-4FF3-AF76-AF208801CCC6}">
      <dgm:prSet/>
      <dgm:spPr/>
      <dgm:t>
        <a:bodyPr/>
        <a:lstStyle/>
        <a:p>
          <a:pPr rtl="0"/>
          <a:r>
            <a:rPr lang="en-US" b="1" dirty="0">
              <a:solidFill>
                <a:srgbClr val="C00000"/>
              </a:solidFill>
            </a:rPr>
            <a:t>LIKE OTHER COMMUNITIES AND BECOME PROFESSIONALS</a:t>
          </a:r>
        </a:p>
      </dgm:t>
    </dgm:pt>
    <dgm:pt modelId="{9D7456A8-C410-4175-A8F0-A3B24E138C67}" type="parTrans" cxnId="{AB054733-A696-4DC6-8FC3-C486ECB236F5}">
      <dgm:prSet/>
      <dgm:spPr/>
      <dgm:t>
        <a:bodyPr/>
        <a:lstStyle/>
        <a:p>
          <a:endParaRPr lang="en-US"/>
        </a:p>
      </dgm:t>
    </dgm:pt>
    <dgm:pt modelId="{B5C8404F-AB8A-42EB-A118-6C4E93D8C8E8}" type="sibTrans" cxnId="{AB054733-A696-4DC6-8FC3-C486ECB236F5}">
      <dgm:prSet/>
      <dgm:spPr/>
      <dgm:t>
        <a:bodyPr/>
        <a:lstStyle/>
        <a:p>
          <a:endParaRPr lang="en-US"/>
        </a:p>
      </dgm:t>
    </dgm:pt>
    <dgm:pt modelId="{F2B1BEE0-A9C5-431C-BF9D-91BCF76DF017}">
      <dgm:prSet/>
      <dgm:spPr/>
      <dgm:t>
        <a:bodyPr/>
        <a:lstStyle/>
        <a:p>
          <a:pPr rtl="0"/>
          <a:r>
            <a:rPr lang="en-US" b="1" dirty="0">
              <a:solidFill>
                <a:srgbClr val="C00000"/>
              </a:solidFill>
            </a:rPr>
            <a:t>WHAT RAJA RAM MOHAN ROY DID FOR </a:t>
          </a:r>
          <a:r>
            <a:rPr lang="en-US" b="1">
              <a:solidFill>
                <a:srgbClr val="C00000"/>
              </a:solidFill>
            </a:rPr>
            <a:t>THE HINDUS, </a:t>
          </a:r>
          <a:r>
            <a:rPr lang="en-US" b="1" dirty="0">
              <a:solidFill>
                <a:srgbClr val="C00000"/>
              </a:solidFill>
            </a:rPr>
            <a:t>SIR SYED AHMED KHAN DID FOR THE MUSLIMS</a:t>
          </a:r>
        </a:p>
      </dgm:t>
    </dgm:pt>
    <dgm:pt modelId="{870D4CC8-0F7F-432C-97A1-502517429934}" type="parTrans" cxnId="{14DAC4D1-4314-4AE5-B0E6-90E2E7BD9700}">
      <dgm:prSet/>
      <dgm:spPr/>
      <dgm:t>
        <a:bodyPr/>
        <a:lstStyle/>
        <a:p>
          <a:endParaRPr lang="en-US"/>
        </a:p>
      </dgm:t>
    </dgm:pt>
    <dgm:pt modelId="{D60BFC90-E7DC-446D-B783-CF011E099CB9}" type="sibTrans" cxnId="{14DAC4D1-4314-4AE5-B0E6-90E2E7BD9700}">
      <dgm:prSet/>
      <dgm:spPr/>
      <dgm:t>
        <a:bodyPr/>
        <a:lstStyle/>
        <a:p>
          <a:endParaRPr lang="en-US"/>
        </a:p>
      </dgm:t>
    </dgm:pt>
    <dgm:pt modelId="{229A56A6-4271-4B5B-9688-E83083EB8BF1}" type="pres">
      <dgm:prSet presAssocID="{C39A554F-6256-475F-A86F-7103FD02A76C}" presName="diagram" presStyleCnt="0">
        <dgm:presLayoutVars>
          <dgm:dir/>
          <dgm:resizeHandles val="exact"/>
        </dgm:presLayoutVars>
      </dgm:prSet>
      <dgm:spPr/>
    </dgm:pt>
    <dgm:pt modelId="{8AFF2644-E5FE-4C85-9260-8E27D44979C0}" type="pres">
      <dgm:prSet presAssocID="{0D00B335-C5CF-462D-B4FF-45CAF911C596}" presName="node" presStyleLbl="node1" presStyleIdx="0" presStyleCnt="8">
        <dgm:presLayoutVars>
          <dgm:bulletEnabled val="1"/>
        </dgm:presLayoutVars>
      </dgm:prSet>
      <dgm:spPr/>
    </dgm:pt>
    <dgm:pt modelId="{F361B275-292C-4751-9DDB-2E931CE3419B}" type="pres">
      <dgm:prSet presAssocID="{57667A6D-DB09-4336-AF6F-1BA92EA2D890}" presName="sibTrans" presStyleCnt="0"/>
      <dgm:spPr/>
    </dgm:pt>
    <dgm:pt modelId="{5034B32F-D701-439D-A7C9-F2DAF054C9A4}" type="pres">
      <dgm:prSet presAssocID="{84A22A8E-780F-4599-9955-72B7BBBEC894}" presName="node" presStyleLbl="node1" presStyleIdx="1" presStyleCnt="8">
        <dgm:presLayoutVars>
          <dgm:bulletEnabled val="1"/>
        </dgm:presLayoutVars>
      </dgm:prSet>
      <dgm:spPr/>
    </dgm:pt>
    <dgm:pt modelId="{20F1A2DE-A555-4EB0-BFB7-C6ECC839D5A9}" type="pres">
      <dgm:prSet presAssocID="{772A790B-0721-4EBA-BF6C-D8C09B19FB8A}" presName="sibTrans" presStyleCnt="0"/>
      <dgm:spPr/>
    </dgm:pt>
    <dgm:pt modelId="{6B1F0925-8F6C-4614-A07B-2583C46DC7A2}" type="pres">
      <dgm:prSet presAssocID="{78D01324-35E3-4DFD-A8F8-4C563EBCB1B1}" presName="node" presStyleLbl="node1" presStyleIdx="2" presStyleCnt="8">
        <dgm:presLayoutVars>
          <dgm:bulletEnabled val="1"/>
        </dgm:presLayoutVars>
      </dgm:prSet>
      <dgm:spPr/>
    </dgm:pt>
    <dgm:pt modelId="{8D92D9A3-0DA3-4568-926B-45132C851219}" type="pres">
      <dgm:prSet presAssocID="{F31337CF-5818-4F40-9CD7-F4D366112F42}" presName="sibTrans" presStyleCnt="0"/>
      <dgm:spPr/>
    </dgm:pt>
    <dgm:pt modelId="{351C9505-63D3-4D14-BA0D-249A50C814EA}" type="pres">
      <dgm:prSet presAssocID="{5B87EE73-1B4C-4C6A-A85C-C82C98E036DD}" presName="node" presStyleLbl="node1" presStyleIdx="3" presStyleCnt="8">
        <dgm:presLayoutVars>
          <dgm:bulletEnabled val="1"/>
        </dgm:presLayoutVars>
      </dgm:prSet>
      <dgm:spPr/>
    </dgm:pt>
    <dgm:pt modelId="{E39A7902-4119-4C61-91BF-140B901C934A}" type="pres">
      <dgm:prSet presAssocID="{43CE2E2B-0477-4FB6-B365-682999CC79C0}" presName="sibTrans" presStyleCnt="0"/>
      <dgm:spPr/>
    </dgm:pt>
    <dgm:pt modelId="{85CC5AC7-D9C3-48C7-B53F-6B2E7D2B47B6}" type="pres">
      <dgm:prSet presAssocID="{6C548624-DC42-42E4-94C4-3F227F7D3C59}" presName="node" presStyleLbl="node1" presStyleIdx="4" presStyleCnt="8">
        <dgm:presLayoutVars>
          <dgm:bulletEnabled val="1"/>
        </dgm:presLayoutVars>
      </dgm:prSet>
      <dgm:spPr/>
    </dgm:pt>
    <dgm:pt modelId="{552289C0-65EB-4F51-9505-2D2845B2BDEC}" type="pres">
      <dgm:prSet presAssocID="{C6A8FBB2-AE04-4CBB-9C7A-04438F3FE63D}" presName="sibTrans" presStyleCnt="0"/>
      <dgm:spPr/>
    </dgm:pt>
    <dgm:pt modelId="{8ADBF3D7-CD06-496E-BB02-D3EC7614C263}" type="pres">
      <dgm:prSet presAssocID="{9793152C-E2EF-4C0C-BE38-122516EE11C3}" presName="node" presStyleLbl="node1" presStyleIdx="5" presStyleCnt="8">
        <dgm:presLayoutVars>
          <dgm:bulletEnabled val="1"/>
        </dgm:presLayoutVars>
      </dgm:prSet>
      <dgm:spPr/>
    </dgm:pt>
    <dgm:pt modelId="{98CFD09F-5507-438A-BF1A-09C19E672AC0}" type="pres">
      <dgm:prSet presAssocID="{6122EFBF-361C-4A93-A7A8-9E6142475A25}" presName="sibTrans" presStyleCnt="0"/>
      <dgm:spPr/>
    </dgm:pt>
    <dgm:pt modelId="{92F92717-1F96-422A-8834-885A84EA3E47}" type="pres">
      <dgm:prSet presAssocID="{E71126FD-6311-4FF3-AF76-AF208801CCC6}" presName="node" presStyleLbl="node1" presStyleIdx="6" presStyleCnt="8">
        <dgm:presLayoutVars>
          <dgm:bulletEnabled val="1"/>
        </dgm:presLayoutVars>
      </dgm:prSet>
      <dgm:spPr/>
    </dgm:pt>
    <dgm:pt modelId="{B7334168-3B40-47B3-9C8E-EB82F145B6A2}" type="pres">
      <dgm:prSet presAssocID="{B5C8404F-AB8A-42EB-A118-6C4E93D8C8E8}" presName="sibTrans" presStyleCnt="0"/>
      <dgm:spPr/>
    </dgm:pt>
    <dgm:pt modelId="{D7B329B8-036D-41AE-905B-744170934984}" type="pres">
      <dgm:prSet presAssocID="{F2B1BEE0-A9C5-431C-BF9D-91BCF76DF017}" presName="node" presStyleLbl="node1" presStyleIdx="7" presStyleCnt="8">
        <dgm:presLayoutVars>
          <dgm:bulletEnabled val="1"/>
        </dgm:presLayoutVars>
      </dgm:prSet>
      <dgm:spPr/>
    </dgm:pt>
  </dgm:ptLst>
  <dgm:cxnLst>
    <dgm:cxn modelId="{A1F49C0A-0CD8-4620-AABB-34134B61CBA1}" srcId="{C39A554F-6256-475F-A86F-7103FD02A76C}" destId="{5B87EE73-1B4C-4C6A-A85C-C82C98E036DD}" srcOrd="3" destOrd="0" parTransId="{F5351240-4BF6-4CA0-9FD7-EFF8BC43A076}" sibTransId="{43CE2E2B-0477-4FB6-B365-682999CC79C0}"/>
    <dgm:cxn modelId="{DAFAEF13-14C6-475B-B4E1-5F6481214C11}" type="presOf" srcId="{9793152C-E2EF-4C0C-BE38-122516EE11C3}" destId="{8ADBF3D7-CD06-496E-BB02-D3EC7614C263}" srcOrd="0" destOrd="0" presId="urn:microsoft.com/office/officeart/2005/8/layout/default"/>
    <dgm:cxn modelId="{692D5D15-DEE8-492B-A66A-B303E7866744}" type="presOf" srcId="{C39A554F-6256-475F-A86F-7103FD02A76C}" destId="{229A56A6-4271-4B5B-9688-E83083EB8BF1}" srcOrd="0" destOrd="0" presId="urn:microsoft.com/office/officeart/2005/8/layout/default"/>
    <dgm:cxn modelId="{6646571F-F6B9-41CA-9BD9-5E04D0352EB7}" type="presOf" srcId="{0D00B335-C5CF-462D-B4FF-45CAF911C596}" destId="{8AFF2644-E5FE-4C85-9260-8E27D44979C0}" srcOrd="0" destOrd="0" presId="urn:microsoft.com/office/officeart/2005/8/layout/default"/>
    <dgm:cxn modelId="{AB054733-A696-4DC6-8FC3-C486ECB236F5}" srcId="{C39A554F-6256-475F-A86F-7103FD02A76C}" destId="{E71126FD-6311-4FF3-AF76-AF208801CCC6}" srcOrd="6" destOrd="0" parTransId="{9D7456A8-C410-4175-A8F0-A3B24E138C67}" sibTransId="{B5C8404F-AB8A-42EB-A118-6C4E93D8C8E8}"/>
    <dgm:cxn modelId="{49536737-CA4B-4B2C-B958-7007E8FF75D1}" type="presOf" srcId="{F2B1BEE0-A9C5-431C-BF9D-91BCF76DF017}" destId="{D7B329B8-036D-41AE-905B-744170934984}" srcOrd="0" destOrd="0" presId="urn:microsoft.com/office/officeart/2005/8/layout/default"/>
    <dgm:cxn modelId="{C1EA8761-6FB3-425B-8915-25EC345A0644}" srcId="{C39A554F-6256-475F-A86F-7103FD02A76C}" destId="{6C548624-DC42-42E4-94C4-3F227F7D3C59}" srcOrd="4" destOrd="0" parTransId="{E419B795-F125-4E21-90AB-6C3E48656CBC}" sibTransId="{C6A8FBB2-AE04-4CBB-9C7A-04438F3FE63D}"/>
    <dgm:cxn modelId="{527D1A62-D9C2-41D1-B7AC-175B25DAA3B1}" srcId="{C39A554F-6256-475F-A86F-7103FD02A76C}" destId="{78D01324-35E3-4DFD-A8F8-4C563EBCB1B1}" srcOrd="2" destOrd="0" parTransId="{7892C07D-C66A-4C6E-806E-C4445B1A658D}" sibTransId="{F31337CF-5818-4F40-9CD7-F4D366112F42}"/>
    <dgm:cxn modelId="{C3FC1568-9588-4D71-B202-A0108E4F49FB}" type="presOf" srcId="{6C548624-DC42-42E4-94C4-3F227F7D3C59}" destId="{85CC5AC7-D9C3-48C7-B53F-6B2E7D2B47B6}" srcOrd="0" destOrd="0" presId="urn:microsoft.com/office/officeart/2005/8/layout/default"/>
    <dgm:cxn modelId="{18C7CF4F-1013-48A1-89DD-F1BE8A0215AE}" srcId="{C39A554F-6256-475F-A86F-7103FD02A76C}" destId="{84A22A8E-780F-4599-9955-72B7BBBEC894}" srcOrd="1" destOrd="0" parTransId="{D745897E-9F01-4623-A088-E28F903DAFF2}" sibTransId="{772A790B-0721-4EBA-BF6C-D8C09B19FB8A}"/>
    <dgm:cxn modelId="{52447098-4C2C-43DC-B0A0-4FB33E14B820}" srcId="{C39A554F-6256-475F-A86F-7103FD02A76C}" destId="{0D00B335-C5CF-462D-B4FF-45CAF911C596}" srcOrd="0" destOrd="0" parTransId="{8750049D-E5C7-48ED-86AF-D3C3B2ED016F}" sibTransId="{57667A6D-DB09-4336-AF6F-1BA92EA2D890}"/>
    <dgm:cxn modelId="{F2A6DBA7-4E2E-4D53-985F-38212D7F9A94}" type="presOf" srcId="{78D01324-35E3-4DFD-A8F8-4C563EBCB1B1}" destId="{6B1F0925-8F6C-4614-A07B-2583C46DC7A2}" srcOrd="0" destOrd="0" presId="urn:microsoft.com/office/officeart/2005/8/layout/default"/>
    <dgm:cxn modelId="{535551AA-674C-4BA3-B5D6-812E4361F6B7}" type="presOf" srcId="{E71126FD-6311-4FF3-AF76-AF208801CCC6}" destId="{92F92717-1F96-422A-8834-885A84EA3E47}" srcOrd="0" destOrd="0" presId="urn:microsoft.com/office/officeart/2005/8/layout/default"/>
    <dgm:cxn modelId="{FC14C0AA-DBEB-4BF6-859C-5E1BAFB03EC7}" type="presOf" srcId="{84A22A8E-780F-4599-9955-72B7BBBEC894}" destId="{5034B32F-D701-439D-A7C9-F2DAF054C9A4}" srcOrd="0" destOrd="0" presId="urn:microsoft.com/office/officeart/2005/8/layout/default"/>
    <dgm:cxn modelId="{C22F73CA-6D25-471F-8D2A-66C5472B7286}" type="presOf" srcId="{5B87EE73-1B4C-4C6A-A85C-C82C98E036DD}" destId="{351C9505-63D3-4D14-BA0D-249A50C814EA}" srcOrd="0" destOrd="0" presId="urn:microsoft.com/office/officeart/2005/8/layout/default"/>
    <dgm:cxn modelId="{14DAC4D1-4314-4AE5-B0E6-90E2E7BD9700}" srcId="{C39A554F-6256-475F-A86F-7103FD02A76C}" destId="{F2B1BEE0-A9C5-431C-BF9D-91BCF76DF017}" srcOrd="7" destOrd="0" parTransId="{870D4CC8-0F7F-432C-97A1-502517429934}" sibTransId="{D60BFC90-E7DC-446D-B783-CF011E099CB9}"/>
    <dgm:cxn modelId="{26BC84D2-46FB-438A-AB00-9882D090242C}" srcId="{C39A554F-6256-475F-A86F-7103FD02A76C}" destId="{9793152C-E2EF-4C0C-BE38-122516EE11C3}" srcOrd="5" destOrd="0" parTransId="{C330C1B2-3E9F-41C4-B8C0-48FC09699D3B}" sibTransId="{6122EFBF-361C-4A93-A7A8-9E6142475A25}"/>
    <dgm:cxn modelId="{80B48077-AB48-42F8-B3F0-834A7EAC90ED}" type="presParOf" srcId="{229A56A6-4271-4B5B-9688-E83083EB8BF1}" destId="{8AFF2644-E5FE-4C85-9260-8E27D44979C0}" srcOrd="0" destOrd="0" presId="urn:microsoft.com/office/officeart/2005/8/layout/default"/>
    <dgm:cxn modelId="{4E67F15A-9BAD-4B3A-A951-FDD331E5519F}" type="presParOf" srcId="{229A56A6-4271-4B5B-9688-E83083EB8BF1}" destId="{F361B275-292C-4751-9DDB-2E931CE3419B}" srcOrd="1" destOrd="0" presId="urn:microsoft.com/office/officeart/2005/8/layout/default"/>
    <dgm:cxn modelId="{C8BBF9F7-98E8-40C2-856C-6721E9FA16EC}" type="presParOf" srcId="{229A56A6-4271-4B5B-9688-E83083EB8BF1}" destId="{5034B32F-D701-439D-A7C9-F2DAF054C9A4}" srcOrd="2" destOrd="0" presId="urn:microsoft.com/office/officeart/2005/8/layout/default"/>
    <dgm:cxn modelId="{CCEE8CD5-C865-4B52-A3CD-FEA5DE33519C}" type="presParOf" srcId="{229A56A6-4271-4B5B-9688-E83083EB8BF1}" destId="{20F1A2DE-A555-4EB0-BFB7-C6ECC839D5A9}" srcOrd="3" destOrd="0" presId="urn:microsoft.com/office/officeart/2005/8/layout/default"/>
    <dgm:cxn modelId="{B1300BAC-DEA3-4004-BDB4-270837BD31D4}" type="presParOf" srcId="{229A56A6-4271-4B5B-9688-E83083EB8BF1}" destId="{6B1F0925-8F6C-4614-A07B-2583C46DC7A2}" srcOrd="4" destOrd="0" presId="urn:microsoft.com/office/officeart/2005/8/layout/default"/>
    <dgm:cxn modelId="{8F62E041-5607-4CD4-9FFF-14BEE6B9BCF6}" type="presParOf" srcId="{229A56A6-4271-4B5B-9688-E83083EB8BF1}" destId="{8D92D9A3-0DA3-4568-926B-45132C851219}" srcOrd="5" destOrd="0" presId="urn:microsoft.com/office/officeart/2005/8/layout/default"/>
    <dgm:cxn modelId="{07CFC434-672B-4188-8021-E89125F8F012}" type="presParOf" srcId="{229A56A6-4271-4B5B-9688-E83083EB8BF1}" destId="{351C9505-63D3-4D14-BA0D-249A50C814EA}" srcOrd="6" destOrd="0" presId="urn:microsoft.com/office/officeart/2005/8/layout/default"/>
    <dgm:cxn modelId="{B4120976-89FF-4A93-9238-506223284374}" type="presParOf" srcId="{229A56A6-4271-4B5B-9688-E83083EB8BF1}" destId="{E39A7902-4119-4C61-91BF-140B901C934A}" srcOrd="7" destOrd="0" presId="urn:microsoft.com/office/officeart/2005/8/layout/default"/>
    <dgm:cxn modelId="{FDE7E11F-4A61-4268-8A75-95482097F02E}" type="presParOf" srcId="{229A56A6-4271-4B5B-9688-E83083EB8BF1}" destId="{85CC5AC7-D9C3-48C7-B53F-6B2E7D2B47B6}" srcOrd="8" destOrd="0" presId="urn:microsoft.com/office/officeart/2005/8/layout/default"/>
    <dgm:cxn modelId="{0F36FC91-4314-4AFC-A6FC-884F376F132E}" type="presParOf" srcId="{229A56A6-4271-4B5B-9688-E83083EB8BF1}" destId="{552289C0-65EB-4F51-9505-2D2845B2BDEC}" srcOrd="9" destOrd="0" presId="urn:microsoft.com/office/officeart/2005/8/layout/default"/>
    <dgm:cxn modelId="{291F3EEB-1EAD-4D7C-981B-859574D0CF45}" type="presParOf" srcId="{229A56A6-4271-4B5B-9688-E83083EB8BF1}" destId="{8ADBF3D7-CD06-496E-BB02-D3EC7614C263}" srcOrd="10" destOrd="0" presId="urn:microsoft.com/office/officeart/2005/8/layout/default"/>
    <dgm:cxn modelId="{21A34EF0-7739-409A-BAC9-66EAE5E74087}" type="presParOf" srcId="{229A56A6-4271-4B5B-9688-E83083EB8BF1}" destId="{98CFD09F-5507-438A-BF1A-09C19E672AC0}" srcOrd="11" destOrd="0" presId="urn:microsoft.com/office/officeart/2005/8/layout/default"/>
    <dgm:cxn modelId="{17EEE0D8-4F7C-44C2-8113-20C03E811538}" type="presParOf" srcId="{229A56A6-4271-4B5B-9688-E83083EB8BF1}" destId="{92F92717-1F96-422A-8834-885A84EA3E47}" srcOrd="12" destOrd="0" presId="urn:microsoft.com/office/officeart/2005/8/layout/default"/>
    <dgm:cxn modelId="{A791F118-E68C-42F0-9130-67A640386289}" type="presParOf" srcId="{229A56A6-4271-4B5B-9688-E83083EB8BF1}" destId="{B7334168-3B40-47B3-9C8E-EB82F145B6A2}" srcOrd="13" destOrd="0" presId="urn:microsoft.com/office/officeart/2005/8/layout/default"/>
    <dgm:cxn modelId="{B84618F0-8064-40A6-95A3-F2AF76F6FA3F}" type="presParOf" srcId="{229A56A6-4271-4B5B-9688-E83083EB8BF1}" destId="{D7B329B8-036D-41AE-905B-744170934984}" srcOrd="14"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4D38CF6-3F38-42D4-A1FF-6D2993EBEEBF}"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974B722E-656B-42E7-A1A9-C9843442B1EC}">
      <dgm:prSet phldrT="[Text]" custT="1"/>
      <dgm:spPr/>
      <dgm:t>
        <a:bodyPr/>
        <a:lstStyle/>
        <a:p>
          <a:r>
            <a:rPr lang="en-US" sz="2000" dirty="0"/>
            <a:t>SEPARATE ELECTORATES</a:t>
          </a:r>
        </a:p>
      </dgm:t>
    </dgm:pt>
    <dgm:pt modelId="{73AA67FD-9D4B-42DD-83C1-1C337427F9EE}" type="parTrans" cxnId="{30929839-2316-4FAC-8201-8C3E74BA5961}">
      <dgm:prSet/>
      <dgm:spPr/>
      <dgm:t>
        <a:bodyPr/>
        <a:lstStyle/>
        <a:p>
          <a:endParaRPr lang="en-US"/>
        </a:p>
      </dgm:t>
    </dgm:pt>
    <dgm:pt modelId="{5CF40FA3-7E90-4D64-B53F-30B2CC0AE844}" type="sibTrans" cxnId="{30929839-2316-4FAC-8201-8C3E74BA5961}">
      <dgm:prSet/>
      <dgm:spPr/>
      <dgm:t>
        <a:bodyPr/>
        <a:lstStyle/>
        <a:p>
          <a:endParaRPr lang="en-US"/>
        </a:p>
      </dgm:t>
    </dgm:pt>
    <dgm:pt modelId="{438E3783-953F-46D8-912F-4747A4D1AC50}">
      <dgm:prSet phldrT="[Text]" custT="1"/>
      <dgm:spPr/>
      <dgm:t>
        <a:bodyPr/>
        <a:lstStyle/>
        <a:p>
          <a:r>
            <a:rPr lang="en-US" sz="2000" dirty="0"/>
            <a:t>GREATER WEIGHTAGE IN REPRESENTATION</a:t>
          </a:r>
        </a:p>
      </dgm:t>
    </dgm:pt>
    <dgm:pt modelId="{990DF5FA-46C6-4471-8C8D-0A1B3BBFCEA9}" type="parTrans" cxnId="{3AD6DC96-AA0F-4AC7-8ED0-BCB93CD70AAB}">
      <dgm:prSet/>
      <dgm:spPr/>
      <dgm:t>
        <a:bodyPr/>
        <a:lstStyle/>
        <a:p>
          <a:endParaRPr lang="en-US"/>
        </a:p>
      </dgm:t>
    </dgm:pt>
    <dgm:pt modelId="{C10F1386-63C5-4724-820D-894C4F1A25C5}" type="sibTrans" cxnId="{3AD6DC96-AA0F-4AC7-8ED0-BCB93CD70AAB}">
      <dgm:prSet/>
      <dgm:spPr/>
      <dgm:t>
        <a:bodyPr/>
        <a:lstStyle/>
        <a:p>
          <a:endParaRPr lang="en-US"/>
        </a:p>
      </dgm:t>
    </dgm:pt>
    <dgm:pt modelId="{26E6124B-7DE1-46F9-8B3E-CE9BBFA00259}">
      <dgm:prSet phldrT="[Text]" custT="1"/>
      <dgm:spPr/>
      <dgm:t>
        <a:bodyPr/>
        <a:lstStyle/>
        <a:p>
          <a:r>
            <a:rPr lang="en-US" sz="2000" dirty="0"/>
            <a:t>GREATER WEIGHTAGE IN MUNICIPALITY, COLLEGE AND UNIVERSITY</a:t>
          </a:r>
        </a:p>
      </dgm:t>
    </dgm:pt>
    <dgm:pt modelId="{0C84C8B6-6ABC-4302-BDE5-A31EBD53BA6F}" type="parTrans" cxnId="{09FB2102-90EB-4C2D-BC24-1522179ABDC4}">
      <dgm:prSet/>
      <dgm:spPr/>
      <dgm:t>
        <a:bodyPr/>
        <a:lstStyle/>
        <a:p>
          <a:endParaRPr lang="en-US"/>
        </a:p>
      </dgm:t>
    </dgm:pt>
    <dgm:pt modelId="{B26B0679-CFD6-4A1E-B963-A402F79559FD}" type="sibTrans" cxnId="{09FB2102-90EB-4C2D-BC24-1522179ABDC4}">
      <dgm:prSet/>
      <dgm:spPr/>
      <dgm:t>
        <a:bodyPr/>
        <a:lstStyle/>
        <a:p>
          <a:endParaRPr lang="en-US"/>
        </a:p>
      </dgm:t>
    </dgm:pt>
    <dgm:pt modelId="{7E566AB2-5C96-42E4-A5AB-745B2BC280BC}">
      <dgm:prSet phldrT="[Text]" custT="1"/>
      <dgm:spPr/>
      <dgm:t>
        <a:bodyPr/>
        <a:lstStyle/>
        <a:p>
          <a:r>
            <a:rPr lang="en-US" sz="2000" dirty="0"/>
            <a:t>SETTING UP MUSLIM UNIVERSITIES</a:t>
          </a:r>
        </a:p>
      </dgm:t>
    </dgm:pt>
    <dgm:pt modelId="{C333ED37-9B64-46EA-A5CF-B4AB0028D257}" type="parTrans" cxnId="{B9183D15-D0E9-4404-BC5E-25C9527C4E6D}">
      <dgm:prSet/>
      <dgm:spPr/>
      <dgm:t>
        <a:bodyPr/>
        <a:lstStyle/>
        <a:p>
          <a:endParaRPr lang="en-US"/>
        </a:p>
      </dgm:t>
    </dgm:pt>
    <dgm:pt modelId="{583F16B6-2909-4121-94AC-CF81A019A13B}" type="sibTrans" cxnId="{B9183D15-D0E9-4404-BC5E-25C9527C4E6D}">
      <dgm:prSet/>
      <dgm:spPr/>
      <dgm:t>
        <a:bodyPr/>
        <a:lstStyle/>
        <a:p>
          <a:endParaRPr lang="en-US"/>
        </a:p>
      </dgm:t>
    </dgm:pt>
    <dgm:pt modelId="{28DC96A5-EAD3-44A6-B713-998D39214A92}">
      <dgm:prSet phldrT="[Text]" custT="1"/>
      <dgm:spPr/>
      <dgm:t>
        <a:bodyPr/>
        <a:lstStyle/>
        <a:p>
          <a:r>
            <a:rPr lang="en-US" sz="2000" dirty="0"/>
            <a:t>MORE JOBS IN CIVIL SERVICES, ARMY AND JUDICIARY</a:t>
          </a:r>
        </a:p>
      </dgm:t>
    </dgm:pt>
    <dgm:pt modelId="{E3AFDF2D-C89C-404F-9280-F8880E601EA1}" type="parTrans" cxnId="{1C6EA7AC-CF73-4EE1-A10F-EC34DA3C1036}">
      <dgm:prSet/>
      <dgm:spPr/>
      <dgm:t>
        <a:bodyPr/>
        <a:lstStyle/>
        <a:p>
          <a:endParaRPr lang="en-US"/>
        </a:p>
      </dgm:t>
    </dgm:pt>
    <dgm:pt modelId="{23766FA2-933B-4782-998E-8320956BD43A}" type="sibTrans" cxnId="{1C6EA7AC-CF73-4EE1-A10F-EC34DA3C1036}">
      <dgm:prSet/>
      <dgm:spPr/>
      <dgm:t>
        <a:bodyPr/>
        <a:lstStyle/>
        <a:p>
          <a:endParaRPr lang="en-US"/>
        </a:p>
      </dgm:t>
    </dgm:pt>
    <dgm:pt modelId="{1D23E301-64B3-4F6B-8998-D2423FF7608A}" type="pres">
      <dgm:prSet presAssocID="{84D38CF6-3F38-42D4-A1FF-6D2993EBEEBF}" presName="cycle" presStyleCnt="0">
        <dgm:presLayoutVars>
          <dgm:dir/>
          <dgm:resizeHandles val="exact"/>
        </dgm:presLayoutVars>
      </dgm:prSet>
      <dgm:spPr/>
    </dgm:pt>
    <dgm:pt modelId="{B20EE03A-6583-4CD7-B1B8-F31A46DEEFE1}" type="pres">
      <dgm:prSet presAssocID="{974B722E-656B-42E7-A1A9-C9843442B1EC}" presName="node" presStyleLbl="node1" presStyleIdx="0" presStyleCnt="5" custScaleX="123168" custScaleY="126715" custRadScaleRad="101818" custRadScaleInc="-4000">
        <dgm:presLayoutVars>
          <dgm:bulletEnabled val="1"/>
        </dgm:presLayoutVars>
      </dgm:prSet>
      <dgm:spPr/>
    </dgm:pt>
    <dgm:pt modelId="{808D43AF-231F-44BD-99EB-FE9C7AC16FDF}" type="pres">
      <dgm:prSet presAssocID="{5CF40FA3-7E90-4D64-B53F-30B2CC0AE844}" presName="sibTrans" presStyleLbl="sibTrans2D1" presStyleIdx="0" presStyleCnt="5"/>
      <dgm:spPr/>
    </dgm:pt>
    <dgm:pt modelId="{5523F5D6-9DF4-4A56-90F2-87ABAC742E95}" type="pres">
      <dgm:prSet presAssocID="{5CF40FA3-7E90-4D64-B53F-30B2CC0AE844}" presName="connectorText" presStyleLbl="sibTrans2D1" presStyleIdx="0" presStyleCnt="5"/>
      <dgm:spPr/>
    </dgm:pt>
    <dgm:pt modelId="{372EBB45-8C1A-47E4-991F-E1B31E75B7C6}" type="pres">
      <dgm:prSet presAssocID="{438E3783-953F-46D8-912F-4747A4D1AC50}" presName="node" presStyleLbl="node1" presStyleIdx="1" presStyleCnt="5" custScaleX="158238" custScaleY="136095" custRadScaleRad="131425" custRadScaleInc="-28721">
        <dgm:presLayoutVars>
          <dgm:bulletEnabled val="1"/>
        </dgm:presLayoutVars>
      </dgm:prSet>
      <dgm:spPr/>
    </dgm:pt>
    <dgm:pt modelId="{1CEEA5C5-A75A-4FC0-A9DD-114EE7BB6451}" type="pres">
      <dgm:prSet presAssocID="{C10F1386-63C5-4724-820D-894C4F1A25C5}" presName="sibTrans" presStyleLbl="sibTrans2D1" presStyleIdx="1" presStyleCnt="5"/>
      <dgm:spPr/>
    </dgm:pt>
    <dgm:pt modelId="{90B67E8A-AA00-4C9C-BB78-3E402DB0934E}" type="pres">
      <dgm:prSet presAssocID="{C10F1386-63C5-4724-820D-894C4F1A25C5}" presName="connectorText" presStyleLbl="sibTrans2D1" presStyleIdx="1" presStyleCnt="5"/>
      <dgm:spPr/>
    </dgm:pt>
    <dgm:pt modelId="{6F988D17-3EEE-45AB-97E5-9E3FE9DB6B0F}" type="pres">
      <dgm:prSet presAssocID="{26E6124B-7DE1-46F9-8B3E-CE9BBFA00259}" presName="node" presStyleLbl="node1" presStyleIdx="2" presStyleCnt="5" custScaleX="144296" custScaleY="130831" custRadScaleRad="116990" custRadScaleInc="-45846">
        <dgm:presLayoutVars>
          <dgm:bulletEnabled val="1"/>
        </dgm:presLayoutVars>
      </dgm:prSet>
      <dgm:spPr/>
    </dgm:pt>
    <dgm:pt modelId="{82E4D2DD-27E8-45C8-8370-BE2DAA533DB3}" type="pres">
      <dgm:prSet presAssocID="{B26B0679-CFD6-4A1E-B963-A402F79559FD}" presName="sibTrans" presStyleLbl="sibTrans2D1" presStyleIdx="2" presStyleCnt="5"/>
      <dgm:spPr/>
    </dgm:pt>
    <dgm:pt modelId="{2700EB3C-7630-4603-9FB8-20BFDA936E5A}" type="pres">
      <dgm:prSet presAssocID="{B26B0679-CFD6-4A1E-B963-A402F79559FD}" presName="connectorText" presStyleLbl="sibTrans2D1" presStyleIdx="2" presStyleCnt="5"/>
      <dgm:spPr/>
    </dgm:pt>
    <dgm:pt modelId="{7428AF9C-973F-4E86-AFBF-1D5B33F15506}" type="pres">
      <dgm:prSet presAssocID="{7E566AB2-5C96-42E4-A5AB-745B2BC280BC}" presName="node" presStyleLbl="node1" presStyleIdx="3" presStyleCnt="5" custScaleX="135683" custScaleY="136825" custRadScaleRad="103173" custRadScaleInc="27901">
        <dgm:presLayoutVars>
          <dgm:bulletEnabled val="1"/>
        </dgm:presLayoutVars>
      </dgm:prSet>
      <dgm:spPr/>
    </dgm:pt>
    <dgm:pt modelId="{B87B9A88-D1EF-46C4-9EDB-A89F7C14535D}" type="pres">
      <dgm:prSet presAssocID="{583F16B6-2909-4121-94AC-CF81A019A13B}" presName="sibTrans" presStyleLbl="sibTrans2D1" presStyleIdx="3" presStyleCnt="5"/>
      <dgm:spPr/>
    </dgm:pt>
    <dgm:pt modelId="{01342D1D-DFA1-42AC-A2A9-FCABD7478FDD}" type="pres">
      <dgm:prSet presAssocID="{583F16B6-2909-4121-94AC-CF81A019A13B}" presName="connectorText" presStyleLbl="sibTrans2D1" presStyleIdx="3" presStyleCnt="5"/>
      <dgm:spPr/>
    </dgm:pt>
    <dgm:pt modelId="{85AF8EB3-31DA-455C-893A-3A29CD743648}" type="pres">
      <dgm:prSet presAssocID="{28DC96A5-EAD3-44A6-B713-998D39214A92}" presName="node" presStyleLbl="node1" presStyleIdx="4" presStyleCnt="5" custScaleX="124747" custScaleY="135202" custRadScaleRad="144350" custRadScaleInc="13515">
        <dgm:presLayoutVars>
          <dgm:bulletEnabled val="1"/>
        </dgm:presLayoutVars>
      </dgm:prSet>
      <dgm:spPr/>
    </dgm:pt>
    <dgm:pt modelId="{AA34815B-9FA8-4C31-84CA-3261E62E2C64}" type="pres">
      <dgm:prSet presAssocID="{23766FA2-933B-4782-998E-8320956BD43A}" presName="sibTrans" presStyleLbl="sibTrans2D1" presStyleIdx="4" presStyleCnt="5"/>
      <dgm:spPr/>
    </dgm:pt>
    <dgm:pt modelId="{80A23ED4-3B20-4D6C-947A-82A41050A43F}" type="pres">
      <dgm:prSet presAssocID="{23766FA2-933B-4782-998E-8320956BD43A}" presName="connectorText" presStyleLbl="sibTrans2D1" presStyleIdx="4" presStyleCnt="5"/>
      <dgm:spPr/>
    </dgm:pt>
  </dgm:ptLst>
  <dgm:cxnLst>
    <dgm:cxn modelId="{09FB2102-90EB-4C2D-BC24-1522179ABDC4}" srcId="{84D38CF6-3F38-42D4-A1FF-6D2993EBEEBF}" destId="{26E6124B-7DE1-46F9-8B3E-CE9BBFA00259}" srcOrd="2" destOrd="0" parTransId="{0C84C8B6-6ABC-4302-BDE5-A31EBD53BA6F}" sibTransId="{B26B0679-CFD6-4A1E-B963-A402F79559FD}"/>
    <dgm:cxn modelId="{B9183D15-D0E9-4404-BC5E-25C9527C4E6D}" srcId="{84D38CF6-3F38-42D4-A1FF-6D2993EBEEBF}" destId="{7E566AB2-5C96-42E4-A5AB-745B2BC280BC}" srcOrd="3" destOrd="0" parTransId="{C333ED37-9B64-46EA-A5CF-B4AB0028D257}" sibTransId="{583F16B6-2909-4121-94AC-CF81A019A13B}"/>
    <dgm:cxn modelId="{0DC7CE1B-36FA-4B95-B0D3-CA1413DD85E2}" type="presOf" srcId="{23766FA2-933B-4782-998E-8320956BD43A}" destId="{80A23ED4-3B20-4D6C-947A-82A41050A43F}" srcOrd="1" destOrd="0" presId="urn:microsoft.com/office/officeart/2005/8/layout/cycle2"/>
    <dgm:cxn modelId="{75438E31-F75E-4D0F-AAA9-EC3D2660ACEC}" type="presOf" srcId="{23766FA2-933B-4782-998E-8320956BD43A}" destId="{AA34815B-9FA8-4C31-84CA-3261E62E2C64}" srcOrd="0" destOrd="0" presId="urn:microsoft.com/office/officeart/2005/8/layout/cycle2"/>
    <dgm:cxn modelId="{82CAEA38-8545-4446-AD43-B0DEF2C83032}" type="presOf" srcId="{5CF40FA3-7E90-4D64-B53F-30B2CC0AE844}" destId="{5523F5D6-9DF4-4A56-90F2-87ABAC742E95}" srcOrd="1" destOrd="0" presId="urn:microsoft.com/office/officeart/2005/8/layout/cycle2"/>
    <dgm:cxn modelId="{30929839-2316-4FAC-8201-8C3E74BA5961}" srcId="{84D38CF6-3F38-42D4-A1FF-6D2993EBEEBF}" destId="{974B722E-656B-42E7-A1A9-C9843442B1EC}" srcOrd="0" destOrd="0" parTransId="{73AA67FD-9D4B-42DD-83C1-1C337427F9EE}" sibTransId="{5CF40FA3-7E90-4D64-B53F-30B2CC0AE844}"/>
    <dgm:cxn modelId="{772DF840-61C6-4DC8-9789-E430C5D4D823}" type="presOf" srcId="{438E3783-953F-46D8-912F-4747A4D1AC50}" destId="{372EBB45-8C1A-47E4-991F-E1B31E75B7C6}" srcOrd="0" destOrd="0" presId="urn:microsoft.com/office/officeart/2005/8/layout/cycle2"/>
    <dgm:cxn modelId="{52F8E95B-EA9C-4DBE-82CE-CF5F2E3A359E}" type="presOf" srcId="{B26B0679-CFD6-4A1E-B963-A402F79559FD}" destId="{82E4D2DD-27E8-45C8-8370-BE2DAA533DB3}" srcOrd="0" destOrd="0" presId="urn:microsoft.com/office/officeart/2005/8/layout/cycle2"/>
    <dgm:cxn modelId="{B4BFA26B-ECB1-4E72-834B-31129B094387}" type="presOf" srcId="{C10F1386-63C5-4724-820D-894C4F1A25C5}" destId="{1CEEA5C5-A75A-4FC0-A9DD-114EE7BB6451}" srcOrd="0" destOrd="0" presId="urn:microsoft.com/office/officeart/2005/8/layout/cycle2"/>
    <dgm:cxn modelId="{65997050-41EF-4907-80EA-4751759BBACE}" type="presOf" srcId="{583F16B6-2909-4121-94AC-CF81A019A13B}" destId="{B87B9A88-D1EF-46C4-9EDB-A89F7C14535D}" srcOrd="0" destOrd="0" presId="urn:microsoft.com/office/officeart/2005/8/layout/cycle2"/>
    <dgm:cxn modelId="{97878370-CCB7-4DF1-867F-25073FCEA1D3}" type="presOf" srcId="{C10F1386-63C5-4724-820D-894C4F1A25C5}" destId="{90B67E8A-AA00-4C9C-BB78-3E402DB0934E}" srcOrd="1" destOrd="0" presId="urn:microsoft.com/office/officeart/2005/8/layout/cycle2"/>
    <dgm:cxn modelId="{62213879-AD4D-4C14-ABC5-069CAC1F844B}" type="presOf" srcId="{974B722E-656B-42E7-A1A9-C9843442B1EC}" destId="{B20EE03A-6583-4CD7-B1B8-F31A46DEEFE1}" srcOrd="0" destOrd="0" presId="urn:microsoft.com/office/officeart/2005/8/layout/cycle2"/>
    <dgm:cxn modelId="{5427E584-1703-407D-9847-605D9D26BF2C}" type="presOf" srcId="{B26B0679-CFD6-4A1E-B963-A402F79559FD}" destId="{2700EB3C-7630-4603-9FB8-20BFDA936E5A}" srcOrd="1" destOrd="0" presId="urn:microsoft.com/office/officeart/2005/8/layout/cycle2"/>
    <dgm:cxn modelId="{981C8C91-E874-4032-B1F8-C697DC0FC50D}" type="presOf" srcId="{583F16B6-2909-4121-94AC-CF81A019A13B}" destId="{01342D1D-DFA1-42AC-A2A9-FCABD7478FDD}" srcOrd="1" destOrd="0" presId="urn:microsoft.com/office/officeart/2005/8/layout/cycle2"/>
    <dgm:cxn modelId="{3AD6DC96-AA0F-4AC7-8ED0-BCB93CD70AAB}" srcId="{84D38CF6-3F38-42D4-A1FF-6D2993EBEEBF}" destId="{438E3783-953F-46D8-912F-4747A4D1AC50}" srcOrd="1" destOrd="0" parTransId="{990DF5FA-46C6-4471-8C8D-0A1B3BBFCEA9}" sibTransId="{C10F1386-63C5-4724-820D-894C4F1A25C5}"/>
    <dgm:cxn modelId="{1C6EA7AC-CF73-4EE1-A10F-EC34DA3C1036}" srcId="{84D38CF6-3F38-42D4-A1FF-6D2993EBEEBF}" destId="{28DC96A5-EAD3-44A6-B713-998D39214A92}" srcOrd="4" destOrd="0" parTransId="{E3AFDF2D-C89C-404F-9280-F8880E601EA1}" sibTransId="{23766FA2-933B-4782-998E-8320956BD43A}"/>
    <dgm:cxn modelId="{83FB62AD-11A6-4D12-85B5-A6F8E421094F}" type="presOf" srcId="{5CF40FA3-7E90-4D64-B53F-30B2CC0AE844}" destId="{808D43AF-231F-44BD-99EB-FE9C7AC16FDF}" srcOrd="0" destOrd="0" presId="urn:microsoft.com/office/officeart/2005/8/layout/cycle2"/>
    <dgm:cxn modelId="{759BBEB3-99C6-479B-B8FA-A840FE2E142C}" type="presOf" srcId="{7E566AB2-5C96-42E4-A5AB-745B2BC280BC}" destId="{7428AF9C-973F-4E86-AFBF-1D5B33F15506}" srcOrd="0" destOrd="0" presId="urn:microsoft.com/office/officeart/2005/8/layout/cycle2"/>
    <dgm:cxn modelId="{D47C70D4-08D3-4D9E-9C0D-D08004E00554}" type="presOf" srcId="{84D38CF6-3F38-42D4-A1FF-6D2993EBEEBF}" destId="{1D23E301-64B3-4F6B-8998-D2423FF7608A}" srcOrd="0" destOrd="0" presId="urn:microsoft.com/office/officeart/2005/8/layout/cycle2"/>
    <dgm:cxn modelId="{C86332E7-F6DE-4208-B300-FA19671EC00B}" type="presOf" srcId="{28DC96A5-EAD3-44A6-B713-998D39214A92}" destId="{85AF8EB3-31DA-455C-893A-3A29CD743648}" srcOrd="0" destOrd="0" presId="urn:microsoft.com/office/officeart/2005/8/layout/cycle2"/>
    <dgm:cxn modelId="{E3EA40FE-3ACA-4512-8ABA-84AF8E1C3C65}" type="presOf" srcId="{26E6124B-7DE1-46F9-8B3E-CE9BBFA00259}" destId="{6F988D17-3EEE-45AB-97E5-9E3FE9DB6B0F}" srcOrd="0" destOrd="0" presId="urn:microsoft.com/office/officeart/2005/8/layout/cycle2"/>
    <dgm:cxn modelId="{FC5FDE05-6B10-4EFC-9606-6A034B01765E}" type="presParOf" srcId="{1D23E301-64B3-4F6B-8998-D2423FF7608A}" destId="{B20EE03A-6583-4CD7-B1B8-F31A46DEEFE1}" srcOrd="0" destOrd="0" presId="urn:microsoft.com/office/officeart/2005/8/layout/cycle2"/>
    <dgm:cxn modelId="{E3DEB8DE-D29E-494C-A52B-05CB40DCFC5B}" type="presParOf" srcId="{1D23E301-64B3-4F6B-8998-D2423FF7608A}" destId="{808D43AF-231F-44BD-99EB-FE9C7AC16FDF}" srcOrd="1" destOrd="0" presId="urn:microsoft.com/office/officeart/2005/8/layout/cycle2"/>
    <dgm:cxn modelId="{517CBA73-FFBA-4488-93F9-E9C6EB7D7010}" type="presParOf" srcId="{808D43AF-231F-44BD-99EB-FE9C7AC16FDF}" destId="{5523F5D6-9DF4-4A56-90F2-87ABAC742E95}" srcOrd="0" destOrd="0" presId="urn:microsoft.com/office/officeart/2005/8/layout/cycle2"/>
    <dgm:cxn modelId="{9D662CD7-D8CF-4A36-8EE9-358D95A6E0CD}" type="presParOf" srcId="{1D23E301-64B3-4F6B-8998-D2423FF7608A}" destId="{372EBB45-8C1A-47E4-991F-E1B31E75B7C6}" srcOrd="2" destOrd="0" presId="urn:microsoft.com/office/officeart/2005/8/layout/cycle2"/>
    <dgm:cxn modelId="{E0CC3C05-7720-47CF-B295-9D7DCE3DA9AB}" type="presParOf" srcId="{1D23E301-64B3-4F6B-8998-D2423FF7608A}" destId="{1CEEA5C5-A75A-4FC0-A9DD-114EE7BB6451}" srcOrd="3" destOrd="0" presId="urn:microsoft.com/office/officeart/2005/8/layout/cycle2"/>
    <dgm:cxn modelId="{B8DD702B-8D10-4AE6-BC23-5B6D480FA439}" type="presParOf" srcId="{1CEEA5C5-A75A-4FC0-A9DD-114EE7BB6451}" destId="{90B67E8A-AA00-4C9C-BB78-3E402DB0934E}" srcOrd="0" destOrd="0" presId="urn:microsoft.com/office/officeart/2005/8/layout/cycle2"/>
    <dgm:cxn modelId="{390F5037-BC9B-41AF-92D2-70D26370B612}" type="presParOf" srcId="{1D23E301-64B3-4F6B-8998-D2423FF7608A}" destId="{6F988D17-3EEE-45AB-97E5-9E3FE9DB6B0F}" srcOrd="4" destOrd="0" presId="urn:microsoft.com/office/officeart/2005/8/layout/cycle2"/>
    <dgm:cxn modelId="{4FEF8B57-2872-43BE-BD06-F0667065D285}" type="presParOf" srcId="{1D23E301-64B3-4F6B-8998-D2423FF7608A}" destId="{82E4D2DD-27E8-45C8-8370-BE2DAA533DB3}" srcOrd="5" destOrd="0" presId="urn:microsoft.com/office/officeart/2005/8/layout/cycle2"/>
    <dgm:cxn modelId="{C3791C06-706F-41C3-821A-0CD90E4E75F0}" type="presParOf" srcId="{82E4D2DD-27E8-45C8-8370-BE2DAA533DB3}" destId="{2700EB3C-7630-4603-9FB8-20BFDA936E5A}" srcOrd="0" destOrd="0" presId="urn:microsoft.com/office/officeart/2005/8/layout/cycle2"/>
    <dgm:cxn modelId="{ED478AA6-CD7D-40E2-892E-B078D9243872}" type="presParOf" srcId="{1D23E301-64B3-4F6B-8998-D2423FF7608A}" destId="{7428AF9C-973F-4E86-AFBF-1D5B33F15506}" srcOrd="6" destOrd="0" presId="urn:microsoft.com/office/officeart/2005/8/layout/cycle2"/>
    <dgm:cxn modelId="{18F6F0B0-7D91-492C-8429-0ABC208F7FED}" type="presParOf" srcId="{1D23E301-64B3-4F6B-8998-D2423FF7608A}" destId="{B87B9A88-D1EF-46C4-9EDB-A89F7C14535D}" srcOrd="7" destOrd="0" presId="urn:microsoft.com/office/officeart/2005/8/layout/cycle2"/>
    <dgm:cxn modelId="{CD18A3CA-8319-4BD2-84B5-54D77E3F67B8}" type="presParOf" srcId="{B87B9A88-D1EF-46C4-9EDB-A89F7C14535D}" destId="{01342D1D-DFA1-42AC-A2A9-FCABD7478FDD}" srcOrd="0" destOrd="0" presId="urn:microsoft.com/office/officeart/2005/8/layout/cycle2"/>
    <dgm:cxn modelId="{9604E23F-0FAF-4DBC-9FB2-8CCE51E993A6}" type="presParOf" srcId="{1D23E301-64B3-4F6B-8998-D2423FF7608A}" destId="{85AF8EB3-31DA-455C-893A-3A29CD743648}" srcOrd="8" destOrd="0" presId="urn:microsoft.com/office/officeart/2005/8/layout/cycle2"/>
    <dgm:cxn modelId="{14429CB1-CB11-4E65-A7D8-25C5C718E8F9}" type="presParOf" srcId="{1D23E301-64B3-4F6B-8998-D2423FF7608A}" destId="{AA34815B-9FA8-4C31-84CA-3261E62E2C64}" srcOrd="9" destOrd="0" presId="urn:microsoft.com/office/officeart/2005/8/layout/cycle2"/>
    <dgm:cxn modelId="{E25B6CCE-BDD5-4837-963A-1542C53BBAA5}" type="presParOf" srcId="{AA34815B-9FA8-4C31-84CA-3261E62E2C64}" destId="{80A23ED4-3B20-4D6C-947A-82A41050A43F}"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4B568-E932-4BEF-9DBA-2D1360AC341C}">
      <dsp:nvSpPr>
        <dsp:cNvPr id="0" name=""/>
        <dsp:cNvSpPr/>
      </dsp:nvSpPr>
      <dsp:spPr>
        <a:xfrm>
          <a:off x="0" y="0"/>
          <a:ext cx="10784080" cy="4313632"/>
        </a:xfrm>
        <a:prstGeom prst="chevron">
          <a:avLst/>
        </a:prstGeom>
        <a:solidFill>
          <a:schemeClr val="dk1"/>
        </a:solidFill>
        <a:ln w="12700" cap="flat" cmpd="sng" algn="ctr">
          <a:solidFill>
            <a:schemeClr val="dk1">
              <a:shade val="50000"/>
            </a:schemeClr>
          </a:solidFill>
          <a:prstDash val="solid"/>
          <a:miter lim="800000"/>
        </a:ln>
        <a:effectLst/>
        <a:scene3d>
          <a:camera prst="orthographicFront"/>
          <a:lightRig rig="flat" dir="t"/>
        </a:scene3d>
        <a:sp3d/>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82550" tIns="41275" rIns="0" bIns="41275" numCol="1" spcCol="1270" anchor="ctr" anchorCtr="0">
          <a:noAutofit/>
        </a:bodyPr>
        <a:lstStyle/>
        <a:p>
          <a:pPr marL="0" lvl="0" indent="0" algn="ctr" defTabSz="2889250" rtl="0">
            <a:lnSpc>
              <a:spcPct val="90000"/>
            </a:lnSpc>
            <a:spcBef>
              <a:spcPct val="0"/>
            </a:spcBef>
            <a:spcAft>
              <a:spcPct val="35000"/>
            </a:spcAft>
            <a:buNone/>
          </a:pPr>
          <a:r>
            <a:rPr lang="en-US" sz="6500" b="1" kern="1200" dirty="0">
              <a:solidFill>
                <a:srgbClr val="FFFF00"/>
              </a:solidFill>
            </a:rPr>
            <a:t>SIR SYED AHMED KHAN</a:t>
          </a:r>
          <a:endParaRPr lang="en-US" sz="6500" kern="1200" dirty="0">
            <a:solidFill>
              <a:srgbClr val="FFFF00"/>
            </a:solidFill>
          </a:endParaRPr>
        </a:p>
      </dsp:txBody>
      <dsp:txXfrm>
        <a:off x="2156816" y="0"/>
        <a:ext cx="6470448" cy="43136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4B568-E932-4BEF-9DBA-2D1360AC341C}">
      <dsp:nvSpPr>
        <dsp:cNvPr id="0" name=""/>
        <dsp:cNvSpPr/>
      </dsp:nvSpPr>
      <dsp:spPr>
        <a:xfrm>
          <a:off x="0" y="233099"/>
          <a:ext cx="4004830" cy="1601932"/>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990" tIns="23495" rIns="0" bIns="23495" numCol="1" spcCol="1270" anchor="ctr" anchorCtr="0">
          <a:noAutofit/>
        </a:bodyPr>
        <a:lstStyle/>
        <a:p>
          <a:pPr marL="0" lvl="0" indent="0" algn="ctr" defTabSz="1644650" rtl="0">
            <a:lnSpc>
              <a:spcPct val="90000"/>
            </a:lnSpc>
            <a:spcBef>
              <a:spcPct val="0"/>
            </a:spcBef>
            <a:spcAft>
              <a:spcPct val="35000"/>
            </a:spcAft>
            <a:buNone/>
          </a:pPr>
          <a:r>
            <a:rPr lang="en-US" sz="3700" b="1" kern="1200" dirty="0">
              <a:solidFill>
                <a:schemeClr val="bg1"/>
              </a:solidFill>
            </a:rPr>
            <a:t>SIR SYED AHMED KHAN</a:t>
          </a:r>
          <a:endParaRPr lang="en-US" sz="3700" kern="1200" dirty="0">
            <a:solidFill>
              <a:schemeClr val="bg1"/>
            </a:solidFill>
          </a:endParaRPr>
        </a:p>
      </dsp:txBody>
      <dsp:txXfrm>
        <a:off x="800966" y="233099"/>
        <a:ext cx="2402898" cy="16019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FF2644-E5FE-4C85-9260-8E27D44979C0}">
      <dsp:nvSpPr>
        <dsp:cNvPr id="0" name=""/>
        <dsp:cNvSpPr/>
      </dsp:nvSpPr>
      <dsp:spPr>
        <a:xfrm>
          <a:off x="2678" y="218777"/>
          <a:ext cx="2125265" cy="1275159"/>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solidFill>
                <a:srgbClr val="C00000"/>
              </a:solidFill>
            </a:rPr>
            <a:t>SIR SYED AHMED KHAN SET UP A SCHOOL IN ALIGARH IN 1875</a:t>
          </a:r>
        </a:p>
      </dsp:txBody>
      <dsp:txXfrm>
        <a:off x="2678" y="218777"/>
        <a:ext cx="2125265" cy="1275159"/>
      </dsp:txXfrm>
    </dsp:sp>
    <dsp:sp modelId="{5034B32F-D701-439D-A7C9-F2DAF054C9A4}">
      <dsp:nvSpPr>
        <dsp:cNvPr id="0" name=""/>
        <dsp:cNvSpPr/>
      </dsp:nvSpPr>
      <dsp:spPr>
        <a:xfrm>
          <a:off x="2340471" y="218777"/>
          <a:ext cx="2125265" cy="1275159"/>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solidFill>
                <a:srgbClr val="C00000"/>
              </a:solidFill>
            </a:rPr>
            <a:t>THIS THEN BECAME MOHAMMEDAN ANGLO ORIENTAL COLLEGE (MAO)</a:t>
          </a:r>
        </a:p>
      </dsp:txBody>
      <dsp:txXfrm>
        <a:off x="2340471" y="218777"/>
        <a:ext cx="2125265" cy="1275159"/>
      </dsp:txXfrm>
    </dsp:sp>
    <dsp:sp modelId="{6B1F0925-8F6C-4614-A07B-2583C46DC7A2}">
      <dsp:nvSpPr>
        <dsp:cNvPr id="0" name=""/>
        <dsp:cNvSpPr/>
      </dsp:nvSpPr>
      <dsp:spPr>
        <a:xfrm>
          <a:off x="4678263" y="218777"/>
          <a:ext cx="2125265" cy="1275159"/>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solidFill>
                <a:srgbClr val="C00000"/>
              </a:solidFill>
            </a:rPr>
            <a:t>MOHAMMEDAN ANGLO ORIENTAL COLLEGE NOW IS KNOWN AS Aligarh Muslim University (AMU)</a:t>
          </a:r>
        </a:p>
      </dsp:txBody>
      <dsp:txXfrm>
        <a:off x="4678263" y="218777"/>
        <a:ext cx="2125265" cy="1275159"/>
      </dsp:txXfrm>
    </dsp:sp>
    <dsp:sp modelId="{351C9505-63D3-4D14-BA0D-249A50C814EA}">
      <dsp:nvSpPr>
        <dsp:cNvPr id="0" name=""/>
        <dsp:cNvSpPr/>
      </dsp:nvSpPr>
      <dsp:spPr>
        <a:xfrm>
          <a:off x="7016055" y="218777"/>
          <a:ext cx="2125265" cy="1275159"/>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solidFill>
                <a:srgbClr val="C00000"/>
              </a:solidFill>
            </a:rPr>
            <a:t>‘AMU’ STANDS FOR ALIGARH MUSLIM UNIVERSITY</a:t>
          </a:r>
        </a:p>
      </dsp:txBody>
      <dsp:txXfrm>
        <a:off x="7016055" y="218777"/>
        <a:ext cx="2125265" cy="1275159"/>
      </dsp:txXfrm>
    </dsp:sp>
    <dsp:sp modelId="{85CC5AC7-D9C3-48C7-B53F-6B2E7D2B47B6}">
      <dsp:nvSpPr>
        <dsp:cNvPr id="0" name=""/>
        <dsp:cNvSpPr/>
      </dsp:nvSpPr>
      <dsp:spPr>
        <a:xfrm>
          <a:off x="2678" y="1706463"/>
          <a:ext cx="2125265" cy="1275159"/>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solidFill>
                <a:srgbClr val="C00000"/>
              </a:solidFill>
            </a:rPr>
            <a:t> HE WANTED  THE MUSLIMS TO GET ENGLISH AND TECHNICAL EDUCATION</a:t>
          </a:r>
        </a:p>
      </dsp:txBody>
      <dsp:txXfrm>
        <a:off x="2678" y="1706463"/>
        <a:ext cx="2125265" cy="1275159"/>
      </dsp:txXfrm>
    </dsp:sp>
    <dsp:sp modelId="{8ADBF3D7-CD06-496E-BB02-D3EC7614C263}">
      <dsp:nvSpPr>
        <dsp:cNvPr id="0" name=""/>
        <dsp:cNvSpPr/>
      </dsp:nvSpPr>
      <dsp:spPr>
        <a:xfrm>
          <a:off x="2340471" y="1706463"/>
          <a:ext cx="2125265" cy="1275159"/>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solidFill>
                <a:srgbClr val="C00000"/>
              </a:solidFill>
            </a:rPr>
            <a:t>THIS WOULD HELP THEM IN PROGRESSING FORWARD EARN MONEY AND RESPECT </a:t>
          </a:r>
        </a:p>
      </dsp:txBody>
      <dsp:txXfrm>
        <a:off x="2340471" y="1706463"/>
        <a:ext cx="2125265" cy="1275159"/>
      </dsp:txXfrm>
    </dsp:sp>
    <dsp:sp modelId="{92F92717-1F96-422A-8834-885A84EA3E47}">
      <dsp:nvSpPr>
        <dsp:cNvPr id="0" name=""/>
        <dsp:cNvSpPr/>
      </dsp:nvSpPr>
      <dsp:spPr>
        <a:xfrm>
          <a:off x="4678263" y="1706463"/>
          <a:ext cx="2125265" cy="1275159"/>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solidFill>
                <a:srgbClr val="C00000"/>
              </a:solidFill>
            </a:rPr>
            <a:t>LIKE OTHER COMMUNITIES AND BECOME PROFESSIONALS</a:t>
          </a:r>
        </a:p>
      </dsp:txBody>
      <dsp:txXfrm>
        <a:off x="4678263" y="1706463"/>
        <a:ext cx="2125265" cy="1275159"/>
      </dsp:txXfrm>
    </dsp:sp>
    <dsp:sp modelId="{D7B329B8-036D-41AE-905B-744170934984}">
      <dsp:nvSpPr>
        <dsp:cNvPr id="0" name=""/>
        <dsp:cNvSpPr/>
      </dsp:nvSpPr>
      <dsp:spPr>
        <a:xfrm>
          <a:off x="7016055" y="1706463"/>
          <a:ext cx="2125265" cy="1275159"/>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b="1" kern="1200" dirty="0">
              <a:solidFill>
                <a:srgbClr val="C00000"/>
              </a:solidFill>
            </a:rPr>
            <a:t>WHAT RAJA RAM MOHAN ROY DID FOR </a:t>
          </a:r>
          <a:r>
            <a:rPr lang="en-US" sz="1500" b="1" kern="1200">
              <a:solidFill>
                <a:srgbClr val="C00000"/>
              </a:solidFill>
            </a:rPr>
            <a:t>THE HINDUS, </a:t>
          </a:r>
          <a:r>
            <a:rPr lang="en-US" sz="1500" b="1" kern="1200" dirty="0">
              <a:solidFill>
                <a:srgbClr val="C00000"/>
              </a:solidFill>
            </a:rPr>
            <a:t>SIR SYED AHMED KHAN DID FOR THE MUSLIMS</a:t>
          </a:r>
        </a:p>
      </dsp:txBody>
      <dsp:txXfrm>
        <a:off x="7016055" y="1706463"/>
        <a:ext cx="2125265" cy="12751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0EE03A-6583-4CD7-B1B8-F31A46DEEFE1}">
      <dsp:nvSpPr>
        <dsp:cNvPr id="0" name=""/>
        <dsp:cNvSpPr/>
      </dsp:nvSpPr>
      <dsp:spPr>
        <a:xfrm>
          <a:off x="3331294" y="-267929"/>
          <a:ext cx="2086968" cy="214706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SEPARATE ELECTORATES</a:t>
          </a:r>
        </a:p>
      </dsp:txBody>
      <dsp:txXfrm>
        <a:off x="3636923" y="46502"/>
        <a:ext cx="1475710" cy="1518207"/>
      </dsp:txXfrm>
    </dsp:sp>
    <dsp:sp modelId="{808D43AF-231F-44BD-99EB-FE9C7AC16FDF}">
      <dsp:nvSpPr>
        <dsp:cNvPr id="0" name=""/>
        <dsp:cNvSpPr/>
      </dsp:nvSpPr>
      <dsp:spPr>
        <a:xfrm rot="1058841">
          <a:off x="5434482" y="883642"/>
          <a:ext cx="168783" cy="5718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5435673" y="990339"/>
        <a:ext cx="118148" cy="343118"/>
      </dsp:txXfrm>
    </dsp:sp>
    <dsp:sp modelId="{372EBB45-8C1A-47E4-991F-E1B31E75B7C6}">
      <dsp:nvSpPr>
        <dsp:cNvPr id="0" name=""/>
        <dsp:cNvSpPr/>
      </dsp:nvSpPr>
      <dsp:spPr>
        <a:xfrm>
          <a:off x="5591905" y="466287"/>
          <a:ext cx="2681197" cy="230600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GREATER WEIGHTAGE IN REPRESENTATION</a:t>
          </a:r>
        </a:p>
      </dsp:txBody>
      <dsp:txXfrm>
        <a:off x="5984557" y="803993"/>
        <a:ext cx="1895893" cy="1630592"/>
      </dsp:txXfrm>
    </dsp:sp>
    <dsp:sp modelId="{1CEEA5C5-A75A-4FC0-A9DD-114EE7BB6451}">
      <dsp:nvSpPr>
        <dsp:cNvPr id="0" name=""/>
        <dsp:cNvSpPr/>
      </dsp:nvSpPr>
      <dsp:spPr>
        <a:xfrm rot="5982430">
          <a:off x="6507244" y="2791324"/>
          <a:ext cx="351713" cy="5718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10800000">
        <a:off x="6568896" y="2853694"/>
        <a:ext cx="246199" cy="343118"/>
      </dsp:txXfrm>
    </dsp:sp>
    <dsp:sp modelId="{6F988D17-3EEE-45AB-97E5-9E3FE9DB6B0F}">
      <dsp:nvSpPr>
        <dsp:cNvPr id="0" name=""/>
        <dsp:cNvSpPr/>
      </dsp:nvSpPr>
      <dsp:spPr>
        <a:xfrm>
          <a:off x="5215629" y="3401025"/>
          <a:ext cx="2444963" cy="221681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GREATER WEIGHTAGE IN MUNICIPALITY, COLLEGE AND UNIVERSITY</a:t>
          </a:r>
        </a:p>
      </dsp:txBody>
      <dsp:txXfrm>
        <a:off x="5573686" y="3725669"/>
        <a:ext cx="1728849" cy="1567523"/>
      </dsp:txXfrm>
    </dsp:sp>
    <dsp:sp modelId="{82E4D2DD-27E8-45C8-8370-BE2DAA533DB3}">
      <dsp:nvSpPr>
        <dsp:cNvPr id="0" name=""/>
        <dsp:cNvSpPr/>
      </dsp:nvSpPr>
      <dsp:spPr>
        <a:xfrm rot="10791752">
          <a:off x="4283592" y="4227879"/>
          <a:ext cx="658643" cy="5718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10800000">
        <a:off x="4455151" y="4342045"/>
        <a:ext cx="487084" cy="343118"/>
      </dsp:txXfrm>
    </dsp:sp>
    <dsp:sp modelId="{7428AF9C-973F-4E86-AFBF-1D5B33F15506}">
      <dsp:nvSpPr>
        <dsp:cNvPr id="0" name=""/>
        <dsp:cNvSpPr/>
      </dsp:nvSpPr>
      <dsp:spPr>
        <a:xfrm>
          <a:off x="1673892" y="3358916"/>
          <a:ext cx="2299023" cy="231837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SETTING UP MUSLIM UNIVERSITIES</a:t>
          </a:r>
        </a:p>
      </dsp:txBody>
      <dsp:txXfrm>
        <a:off x="2010576" y="3698434"/>
        <a:ext cx="1625655" cy="1639338"/>
      </dsp:txXfrm>
    </dsp:sp>
    <dsp:sp modelId="{B87B9A88-D1EF-46C4-9EDB-A89F7C14535D}">
      <dsp:nvSpPr>
        <dsp:cNvPr id="0" name=""/>
        <dsp:cNvSpPr/>
      </dsp:nvSpPr>
      <dsp:spPr>
        <a:xfrm rot="14718030">
          <a:off x="1986685" y="2847940"/>
          <a:ext cx="400118" cy="5718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10800000">
        <a:off x="2071781" y="3016839"/>
        <a:ext cx="280083" cy="343118"/>
      </dsp:txXfrm>
    </dsp:sp>
    <dsp:sp modelId="{85AF8EB3-31DA-455C-893A-3A29CD743648}">
      <dsp:nvSpPr>
        <dsp:cNvPr id="0" name=""/>
        <dsp:cNvSpPr/>
      </dsp:nvSpPr>
      <dsp:spPr>
        <a:xfrm>
          <a:off x="495925" y="610080"/>
          <a:ext cx="2113723" cy="229087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MORE JOBS IN CIVIL SERVICES, ARMY AND JUDICIARY</a:t>
          </a:r>
        </a:p>
      </dsp:txBody>
      <dsp:txXfrm>
        <a:off x="805473" y="945571"/>
        <a:ext cx="1494627" cy="1619891"/>
      </dsp:txXfrm>
    </dsp:sp>
    <dsp:sp modelId="{AA34815B-9FA8-4C31-84CA-3261E62E2C64}">
      <dsp:nvSpPr>
        <dsp:cNvPr id="0" name=""/>
        <dsp:cNvSpPr/>
      </dsp:nvSpPr>
      <dsp:spPr>
        <a:xfrm rot="20483774">
          <a:off x="2730702" y="995820"/>
          <a:ext cx="459086" cy="5718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2734300" y="1132161"/>
        <a:ext cx="321360" cy="343118"/>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BFB641B-52AE-4ACD-8C05-58740A295595}"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8354F5-8371-420E-85FF-7D170795DBF8}" type="slidenum">
              <a:rPr lang="en-US" smtClean="0"/>
              <a:t>‹#›</a:t>
            </a:fld>
            <a:endParaRPr lang="en-US"/>
          </a:p>
        </p:txBody>
      </p:sp>
    </p:spTree>
    <p:extLst>
      <p:ext uri="{BB962C8B-B14F-4D97-AF65-F5344CB8AC3E}">
        <p14:creationId xmlns:p14="http://schemas.microsoft.com/office/powerpoint/2010/main" val="2997398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FB641B-52AE-4ACD-8C05-58740A295595}"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8354F5-8371-420E-85FF-7D170795DBF8}" type="slidenum">
              <a:rPr lang="en-US" smtClean="0"/>
              <a:t>‹#›</a:t>
            </a:fld>
            <a:endParaRPr lang="en-US"/>
          </a:p>
        </p:txBody>
      </p:sp>
    </p:spTree>
    <p:extLst>
      <p:ext uri="{BB962C8B-B14F-4D97-AF65-F5344CB8AC3E}">
        <p14:creationId xmlns:p14="http://schemas.microsoft.com/office/powerpoint/2010/main" val="1793006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FB641B-52AE-4ACD-8C05-58740A295595}"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8354F5-8371-420E-85FF-7D170795DBF8}" type="slidenum">
              <a:rPr lang="en-US" smtClean="0"/>
              <a:t>‹#›</a:t>
            </a:fld>
            <a:endParaRPr lang="en-US"/>
          </a:p>
        </p:txBody>
      </p:sp>
    </p:spTree>
    <p:extLst>
      <p:ext uri="{BB962C8B-B14F-4D97-AF65-F5344CB8AC3E}">
        <p14:creationId xmlns:p14="http://schemas.microsoft.com/office/powerpoint/2010/main" val="3519592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FB641B-52AE-4ACD-8C05-58740A295595}"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8354F5-8371-420E-85FF-7D170795DBF8}" type="slidenum">
              <a:rPr lang="en-US" smtClean="0"/>
              <a:t>‹#›</a:t>
            </a:fld>
            <a:endParaRPr lang="en-US"/>
          </a:p>
        </p:txBody>
      </p:sp>
    </p:spTree>
    <p:extLst>
      <p:ext uri="{BB962C8B-B14F-4D97-AF65-F5344CB8AC3E}">
        <p14:creationId xmlns:p14="http://schemas.microsoft.com/office/powerpoint/2010/main" val="3856348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FB641B-52AE-4ACD-8C05-58740A295595}"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8354F5-8371-420E-85FF-7D170795DBF8}" type="slidenum">
              <a:rPr lang="en-US" smtClean="0"/>
              <a:t>‹#›</a:t>
            </a:fld>
            <a:endParaRPr lang="en-US"/>
          </a:p>
        </p:txBody>
      </p:sp>
    </p:spTree>
    <p:extLst>
      <p:ext uri="{BB962C8B-B14F-4D97-AF65-F5344CB8AC3E}">
        <p14:creationId xmlns:p14="http://schemas.microsoft.com/office/powerpoint/2010/main" val="4066923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FB641B-52AE-4ACD-8C05-58740A295595}"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8354F5-8371-420E-85FF-7D170795DBF8}" type="slidenum">
              <a:rPr lang="en-US" smtClean="0"/>
              <a:t>‹#›</a:t>
            </a:fld>
            <a:endParaRPr lang="en-US"/>
          </a:p>
        </p:txBody>
      </p:sp>
    </p:spTree>
    <p:extLst>
      <p:ext uri="{BB962C8B-B14F-4D97-AF65-F5344CB8AC3E}">
        <p14:creationId xmlns:p14="http://schemas.microsoft.com/office/powerpoint/2010/main" val="4111926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FB641B-52AE-4ACD-8C05-58740A295595}"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8354F5-8371-420E-85FF-7D170795DBF8}" type="slidenum">
              <a:rPr lang="en-US" smtClean="0"/>
              <a:t>‹#›</a:t>
            </a:fld>
            <a:endParaRPr lang="en-US"/>
          </a:p>
        </p:txBody>
      </p:sp>
    </p:spTree>
    <p:extLst>
      <p:ext uri="{BB962C8B-B14F-4D97-AF65-F5344CB8AC3E}">
        <p14:creationId xmlns:p14="http://schemas.microsoft.com/office/powerpoint/2010/main" val="2113185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FB641B-52AE-4ACD-8C05-58740A295595}"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8354F5-8371-420E-85FF-7D170795DBF8}" type="slidenum">
              <a:rPr lang="en-US" smtClean="0"/>
              <a:t>‹#›</a:t>
            </a:fld>
            <a:endParaRPr lang="en-US"/>
          </a:p>
        </p:txBody>
      </p:sp>
    </p:spTree>
    <p:extLst>
      <p:ext uri="{BB962C8B-B14F-4D97-AF65-F5344CB8AC3E}">
        <p14:creationId xmlns:p14="http://schemas.microsoft.com/office/powerpoint/2010/main" val="3442559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FB641B-52AE-4ACD-8C05-58740A295595}"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8354F5-8371-420E-85FF-7D170795DBF8}" type="slidenum">
              <a:rPr lang="en-US" smtClean="0"/>
              <a:t>‹#›</a:t>
            </a:fld>
            <a:endParaRPr lang="en-US"/>
          </a:p>
        </p:txBody>
      </p:sp>
    </p:spTree>
    <p:extLst>
      <p:ext uri="{BB962C8B-B14F-4D97-AF65-F5344CB8AC3E}">
        <p14:creationId xmlns:p14="http://schemas.microsoft.com/office/powerpoint/2010/main" val="3118483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FB641B-52AE-4ACD-8C05-58740A295595}"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8354F5-8371-420E-85FF-7D170795DBF8}" type="slidenum">
              <a:rPr lang="en-US" smtClean="0"/>
              <a:t>‹#›</a:t>
            </a:fld>
            <a:endParaRPr lang="en-US"/>
          </a:p>
        </p:txBody>
      </p:sp>
    </p:spTree>
    <p:extLst>
      <p:ext uri="{BB962C8B-B14F-4D97-AF65-F5344CB8AC3E}">
        <p14:creationId xmlns:p14="http://schemas.microsoft.com/office/powerpoint/2010/main" val="1818288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FB641B-52AE-4ACD-8C05-58740A295595}"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8354F5-8371-420E-85FF-7D170795DBF8}" type="slidenum">
              <a:rPr lang="en-US" smtClean="0"/>
              <a:t>‹#›</a:t>
            </a:fld>
            <a:endParaRPr lang="en-US"/>
          </a:p>
        </p:txBody>
      </p:sp>
    </p:spTree>
    <p:extLst>
      <p:ext uri="{BB962C8B-B14F-4D97-AF65-F5344CB8AC3E}">
        <p14:creationId xmlns:p14="http://schemas.microsoft.com/office/powerpoint/2010/main" val="3322439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FB641B-52AE-4ACD-8C05-58740A295595}" type="datetimeFigureOut">
              <a:rPr lang="en-US" smtClean="0"/>
              <a:t>6/28/2026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354F5-8371-420E-85FF-7D170795DBF8}" type="slidenum">
              <a:rPr lang="en-US" smtClean="0"/>
              <a:t>‹#›</a:t>
            </a:fld>
            <a:endParaRPr lang="en-US"/>
          </a:p>
        </p:txBody>
      </p:sp>
    </p:spTree>
    <p:extLst>
      <p:ext uri="{BB962C8B-B14F-4D97-AF65-F5344CB8AC3E}">
        <p14:creationId xmlns:p14="http://schemas.microsoft.com/office/powerpoint/2010/main" val="3339344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saleh.shahriar@northsouth.edu"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jpeg"/><Relationship Id="rId13" Type="http://schemas.microsoft.com/office/2007/relationships/diagramDrawing" Target="../diagrams/drawing3.xml"/><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diagramColors" Target="../diagrams/colors3.xml"/><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diagramColors" Target="../diagrams/colors2.xml"/><Relationship Id="rId11" Type="http://schemas.openxmlformats.org/officeDocument/2006/relationships/diagramQuickStyle" Target="../diagrams/quickStyle3.xml"/><Relationship Id="rId5" Type="http://schemas.openxmlformats.org/officeDocument/2006/relationships/diagramQuickStyle" Target="../diagrams/quickStyle2.xml"/><Relationship Id="rId10" Type="http://schemas.openxmlformats.org/officeDocument/2006/relationships/diagramLayout" Target="../diagrams/layout3.xml"/><Relationship Id="rId4" Type="http://schemas.openxmlformats.org/officeDocument/2006/relationships/diagramLayout" Target="../diagrams/layout2.xml"/><Relationship Id="rId9" Type="http://schemas.openxmlformats.org/officeDocument/2006/relationships/diagramData" Target="../diagrams/data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en.banglapedia.org/index.php?title=Tagore,_Rabindranath"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en.banglapedia.org/index.php/Muslim_Sahitya-Samaj"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48139" y="1854558"/>
            <a:ext cx="11026181" cy="1493949"/>
          </a:xfrm>
        </p:spPr>
        <p:txBody>
          <a:bodyPr>
            <a:normAutofit/>
          </a:bodyPr>
          <a:lstStyle/>
          <a:p>
            <a:r>
              <a:rPr lang="en-US" sz="6600" dirty="0">
                <a:solidFill>
                  <a:srgbClr val="002060"/>
                </a:solidFill>
              </a:rPr>
              <a:t>Bengali Muslim Renaissance </a:t>
            </a:r>
          </a:p>
        </p:txBody>
      </p:sp>
    </p:spTree>
    <p:extLst>
      <p:ext uri="{BB962C8B-B14F-4D97-AF65-F5344CB8AC3E}">
        <p14:creationId xmlns:p14="http://schemas.microsoft.com/office/powerpoint/2010/main" val="189569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863470" cy="4351338"/>
          </a:xfrm>
        </p:spPr>
        <p:txBody>
          <a:bodyPr/>
          <a:lstStyle/>
          <a:p>
            <a:pPr marL="0" indent="0" algn="ctr">
              <a:buNone/>
            </a:pPr>
            <a:endParaRPr lang="en-US" b="1" dirty="0"/>
          </a:p>
          <a:p>
            <a:pPr marL="0" indent="0" algn="ctr">
              <a:buNone/>
            </a:pPr>
            <a:r>
              <a:rPr lang="en-US" b="1" dirty="0"/>
              <a:t>By </a:t>
            </a:r>
          </a:p>
          <a:p>
            <a:pPr marL="0" indent="0" algn="ctr">
              <a:buNone/>
            </a:pPr>
            <a:r>
              <a:rPr lang="en-US" b="1" dirty="0"/>
              <a:t>Dr. </a:t>
            </a:r>
            <a:r>
              <a:rPr lang="en-US" b="1" dirty="0" err="1"/>
              <a:t>Saleh</a:t>
            </a:r>
            <a:r>
              <a:rPr lang="en-US" b="1" dirty="0"/>
              <a:t> Md. Shahriar</a:t>
            </a:r>
            <a:br>
              <a:rPr lang="en-US" b="1" dirty="0"/>
            </a:br>
            <a:r>
              <a:rPr lang="en-US" b="1"/>
              <a:t>Assistant Professor, </a:t>
            </a:r>
            <a:r>
              <a:rPr lang="en-US" b="1" dirty="0"/>
              <a:t>DHP</a:t>
            </a:r>
            <a:br>
              <a:rPr lang="en-US" b="1" dirty="0"/>
            </a:br>
            <a:r>
              <a:rPr lang="en-US" b="1" dirty="0"/>
              <a:t>North South University </a:t>
            </a:r>
            <a:br>
              <a:rPr lang="en-US" b="1" dirty="0"/>
            </a:br>
            <a:r>
              <a:rPr lang="en-US" b="1" dirty="0"/>
              <a:t>Dhaka, Bangladesh</a:t>
            </a:r>
          </a:p>
          <a:p>
            <a:pPr marL="0" indent="0" algn="ctr">
              <a:buNone/>
            </a:pPr>
            <a:r>
              <a:rPr lang="en-US" b="1" dirty="0"/>
              <a:t>Initial: </a:t>
            </a:r>
            <a:r>
              <a:rPr lang="en-US" b="1" dirty="0" err="1"/>
              <a:t>SaMS</a:t>
            </a:r>
            <a:r>
              <a:rPr lang="en-US" b="1" dirty="0"/>
              <a:t> , Room# NAC 1031</a:t>
            </a:r>
            <a:br>
              <a:rPr lang="en-US" b="1" dirty="0"/>
            </a:br>
            <a:r>
              <a:rPr lang="en-US" b="1" dirty="0"/>
              <a:t>Email: </a:t>
            </a:r>
            <a:r>
              <a:rPr lang="en-US" b="1" dirty="0">
                <a:hlinkClick r:id="rId2"/>
              </a:rPr>
              <a:t>saleh.shahriar@northsouth.edu</a:t>
            </a:r>
            <a:br>
              <a:rPr lang="en-US" b="1" dirty="0"/>
            </a:br>
            <a:br>
              <a:rPr lang="en-US" b="1" dirty="0"/>
            </a:br>
            <a:endParaRPr lang="en-US" dirty="0"/>
          </a:p>
          <a:p>
            <a:endParaRPr lang="en-US" dirty="0"/>
          </a:p>
        </p:txBody>
      </p:sp>
    </p:spTree>
    <p:extLst>
      <p:ext uri="{BB962C8B-B14F-4D97-AF65-F5344CB8AC3E}">
        <p14:creationId xmlns:p14="http://schemas.microsoft.com/office/powerpoint/2010/main" val="1395848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535722"/>
            <a:ext cx="11155017" cy="4692799"/>
          </a:xfrm>
        </p:spPr>
        <p:txBody>
          <a:bodyPr/>
          <a:lstStyle/>
          <a:p>
            <a:pPr algn="just"/>
            <a:r>
              <a:rPr lang="en-US" dirty="0"/>
              <a:t>The Bengal renaissance, the conviction of the triumph of ‘</a:t>
            </a:r>
            <a:r>
              <a:rPr lang="en-US" dirty="0" err="1"/>
              <a:t>nava</a:t>
            </a:r>
            <a:r>
              <a:rPr lang="en-US" dirty="0"/>
              <a:t> </a:t>
            </a:r>
            <a:r>
              <a:rPr lang="en-US" dirty="0" err="1"/>
              <a:t>yuga</a:t>
            </a:r>
            <a:r>
              <a:rPr lang="en-US" dirty="0"/>
              <a:t>’ (new age) and ideas of alternative modernity had contributed in defining the cultural process of 19th century Bengal (</a:t>
            </a:r>
            <a:r>
              <a:rPr lang="en-US" dirty="0" err="1"/>
              <a:t>Anindita</a:t>
            </a:r>
            <a:r>
              <a:rPr lang="en-US" dirty="0"/>
              <a:t> Ghoshal, </a:t>
            </a:r>
            <a:r>
              <a:rPr lang="en-US" dirty="0">
                <a:solidFill>
                  <a:srgbClr val="FF0000"/>
                </a:solidFill>
              </a:rPr>
              <a:t>“Introduction”, </a:t>
            </a:r>
            <a:r>
              <a:rPr lang="en-US" dirty="0"/>
              <a:t>see her book titled, </a:t>
            </a:r>
            <a:r>
              <a:rPr lang="en-US" i="1" dirty="0"/>
              <a:t>Refugees, Borders and Identities, </a:t>
            </a:r>
            <a:r>
              <a:rPr lang="en-US" dirty="0"/>
              <a:t>2021</a:t>
            </a:r>
            <a:r>
              <a:rPr lang="en-US" i="1" dirty="0"/>
              <a:t>, </a:t>
            </a:r>
            <a:r>
              <a:rPr lang="en-US" dirty="0"/>
              <a:t>Rutledge: London</a:t>
            </a:r>
            <a:r>
              <a:rPr lang="en-US" i="1" dirty="0"/>
              <a:t>,  </a:t>
            </a:r>
            <a:r>
              <a:rPr lang="en-US" dirty="0"/>
              <a:t>page-11). </a:t>
            </a:r>
          </a:p>
          <a:p>
            <a:pPr marL="0" indent="0" algn="just">
              <a:buNone/>
            </a:pPr>
            <a:endParaRPr lang="en-US" dirty="0"/>
          </a:p>
          <a:p>
            <a:pPr algn="just"/>
            <a:r>
              <a:rPr lang="en-US" dirty="0"/>
              <a:t>It is to be emphasized here that the “</a:t>
            </a:r>
            <a:r>
              <a:rPr lang="en-US" dirty="0">
                <a:solidFill>
                  <a:srgbClr val="FF0000"/>
                </a:solidFill>
              </a:rPr>
              <a:t>Introduction”</a:t>
            </a:r>
            <a:r>
              <a:rPr lang="en-US" dirty="0"/>
              <a:t> ( pages 1-41) of the book,  written by Dr. </a:t>
            </a:r>
            <a:r>
              <a:rPr lang="en-US" dirty="0" err="1"/>
              <a:t>Anindita</a:t>
            </a:r>
            <a:r>
              <a:rPr lang="en-US" dirty="0"/>
              <a:t> Ghosal,  is a compulsory reading for all the students. The book has already been shared in the Canvas. </a:t>
            </a:r>
            <a:r>
              <a:rPr lang="en-US" dirty="0">
                <a:solidFill>
                  <a:srgbClr val="FF0000"/>
                </a:solidFill>
              </a:rPr>
              <a:t>PLEASE read the “Introduction” with great care and serious attention. </a:t>
            </a:r>
          </a:p>
          <a:p>
            <a:pPr marL="0" indent="0">
              <a:buNone/>
            </a:pPr>
            <a:endParaRPr lang="en-US" dirty="0"/>
          </a:p>
        </p:txBody>
      </p:sp>
    </p:spTree>
    <p:extLst>
      <p:ext uri="{BB962C8B-B14F-4D97-AF65-F5344CB8AC3E}">
        <p14:creationId xmlns:p14="http://schemas.microsoft.com/office/powerpoint/2010/main" val="2967753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574431"/>
            <a:ext cx="10955215" cy="5602532"/>
          </a:xfrm>
        </p:spPr>
        <p:txBody>
          <a:bodyPr>
            <a:normAutofit lnSpcReduction="10000"/>
          </a:bodyPr>
          <a:lstStyle/>
          <a:p>
            <a:pPr algn="just"/>
            <a:r>
              <a:rPr lang="en-US" dirty="0"/>
              <a:t>There were </a:t>
            </a:r>
            <a:r>
              <a:rPr lang="en-US" dirty="0">
                <a:solidFill>
                  <a:srgbClr val="FF0000"/>
                </a:solidFill>
              </a:rPr>
              <a:t>four aspects </a:t>
            </a:r>
            <a:r>
              <a:rPr lang="en-US" dirty="0"/>
              <a:t>of the </a:t>
            </a:r>
            <a:r>
              <a:rPr lang="en-US" dirty="0">
                <a:solidFill>
                  <a:srgbClr val="FF0000"/>
                </a:solidFill>
              </a:rPr>
              <a:t>Renaissance movement</a:t>
            </a:r>
            <a:r>
              <a:rPr lang="en-US" dirty="0"/>
              <a:t>, which the Bengali intelligentsia developed systematically throughout the nineteenth century. </a:t>
            </a:r>
          </a:p>
          <a:p>
            <a:pPr algn="just">
              <a:buFont typeface="Wingdings" panose="05000000000000000000" pitchFamily="2" charset="2"/>
              <a:buChar char="Ø"/>
            </a:pPr>
            <a:r>
              <a:rPr lang="en-US" dirty="0">
                <a:solidFill>
                  <a:srgbClr val="FF0000"/>
                </a:solidFill>
              </a:rPr>
              <a:t>First,</a:t>
            </a:r>
            <a:r>
              <a:rPr lang="en-US" dirty="0"/>
              <a:t> there was the modernization of the Bengali language and the simultaneous birth of a new </a:t>
            </a:r>
            <a:r>
              <a:rPr lang="en-US" dirty="0" err="1"/>
              <a:t>Bangali</a:t>
            </a:r>
            <a:r>
              <a:rPr lang="en-US" dirty="0"/>
              <a:t> literature. </a:t>
            </a:r>
          </a:p>
          <a:p>
            <a:pPr algn="just">
              <a:buFont typeface="Wingdings" panose="05000000000000000000" pitchFamily="2" charset="2"/>
              <a:buChar char="Ø"/>
            </a:pPr>
            <a:r>
              <a:rPr lang="en-US" dirty="0">
                <a:solidFill>
                  <a:srgbClr val="FF0000"/>
                </a:solidFill>
              </a:rPr>
              <a:t>Secondly,</a:t>
            </a:r>
            <a:r>
              <a:rPr lang="en-US" dirty="0"/>
              <a:t> there was the </a:t>
            </a:r>
            <a:r>
              <a:rPr lang="en-US" dirty="0">
                <a:solidFill>
                  <a:srgbClr val="FF0000"/>
                </a:solidFill>
              </a:rPr>
              <a:t>rediscovery </a:t>
            </a:r>
            <a:r>
              <a:rPr lang="en-US" dirty="0"/>
              <a:t>of, and identification with an Indian classical era hailed as a </a:t>
            </a:r>
            <a:r>
              <a:rPr lang="en-US" dirty="0">
                <a:solidFill>
                  <a:srgbClr val="FF0000"/>
                </a:solidFill>
              </a:rPr>
              <a:t>golden age </a:t>
            </a:r>
            <a:r>
              <a:rPr lang="en-US" dirty="0"/>
              <a:t>which placed </a:t>
            </a:r>
            <a:r>
              <a:rPr lang="en-US" dirty="0">
                <a:solidFill>
                  <a:srgbClr val="FF0000"/>
                </a:solidFill>
              </a:rPr>
              <a:t>South Asian civilization </a:t>
            </a:r>
            <a:r>
              <a:rPr lang="en-US" dirty="0"/>
              <a:t>on a par with the grandeur of </a:t>
            </a:r>
            <a:r>
              <a:rPr lang="en-US" dirty="0">
                <a:solidFill>
                  <a:srgbClr val="FF0000"/>
                </a:solidFill>
              </a:rPr>
              <a:t>Greece and Rome</a:t>
            </a:r>
            <a:r>
              <a:rPr lang="en-US" dirty="0"/>
              <a:t>. </a:t>
            </a:r>
          </a:p>
          <a:p>
            <a:pPr algn="just">
              <a:buFont typeface="Wingdings" panose="05000000000000000000" pitchFamily="2" charset="2"/>
              <a:buChar char="Ø"/>
            </a:pPr>
            <a:r>
              <a:rPr lang="en-US" dirty="0">
                <a:solidFill>
                  <a:srgbClr val="FF0000"/>
                </a:solidFill>
              </a:rPr>
              <a:t>Thirdly,</a:t>
            </a:r>
            <a:r>
              <a:rPr lang="en-US" dirty="0"/>
              <a:t> there was the </a:t>
            </a:r>
            <a:r>
              <a:rPr lang="en-US" dirty="0" err="1"/>
              <a:t>Sreerampore</a:t>
            </a:r>
            <a:r>
              <a:rPr lang="en-US" dirty="0"/>
              <a:t> missionary interpretation of the Protestation Reformation, which Indians applied creatively to their own historic situation. </a:t>
            </a:r>
          </a:p>
          <a:p>
            <a:pPr algn="just">
              <a:buFont typeface="Wingdings" panose="05000000000000000000" pitchFamily="2" charset="2"/>
              <a:buChar char="Ø"/>
            </a:pPr>
            <a:r>
              <a:rPr lang="en-US" dirty="0">
                <a:solidFill>
                  <a:srgbClr val="FF0000"/>
                </a:solidFill>
              </a:rPr>
              <a:t>And finally</a:t>
            </a:r>
            <a:r>
              <a:rPr lang="en-US" dirty="0"/>
              <a:t>, there was the </a:t>
            </a:r>
            <a:r>
              <a:rPr lang="en-US" dirty="0">
                <a:solidFill>
                  <a:srgbClr val="FF0000"/>
                </a:solidFill>
              </a:rPr>
              <a:t>secular view of universal progress </a:t>
            </a:r>
            <a:r>
              <a:rPr lang="en-US" dirty="0"/>
              <a:t>on which India's hope lay not in resurrecting the past but in projecting the </a:t>
            </a:r>
            <a:r>
              <a:rPr lang="en-US" dirty="0">
                <a:solidFill>
                  <a:srgbClr val="FF0000"/>
                </a:solidFill>
              </a:rPr>
              <a:t>golden age into the future.</a:t>
            </a:r>
          </a:p>
          <a:p>
            <a:endParaRPr lang="en-US" dirty="0"/>
          </a:p>
        </p:txBody>
      </p:sp>
    </p:spTree>
    <p:extLst>
      <p:ext uri="{BB962C8B-B14F-4D97-AF65-F5344CB8AC3E}">
        <p14:creationId xmlns:p14="http://schemas.microsoft.com/office/powerpoint/2010/main" val="339554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8923" y="1596979"/>
            <a:ext cx="11579551" cy="3245477"/>
          </a:xfrm>
        </p:spPr>
        <p:txBody>
          <a:bodyPr anchor="ctr">
            <a:normAutofit/>
          </a:bodyPr>
          <a:lstStyle/>
          <a:p>
            <a:pPr marL="0" indent="0" algn="just">
              <a:buNone/>
            </a:pPr>
            <a:r>
              <a:rPr lang="en-US" dirty="0"/>
              <a:t>THE Bengal Muslim Renaissance refers to a socio-cultural, educational and religious reform movement during the nineteenth and early twentieth century in undivided India's Bengal province. </a:t>
            </a:r>
            <a:r>
              <a:rPr lang="en-US" dirty="0">
                <a:solidFill>
                  <a:srgbClr val="FF0000"/>
                </a:solidFill>
              </a:rPr>
              <a:t>It is said to have begun with Sir </a:t>
            </a:r>
            <a:r>
              <a:rPr lang="en-US" dirty="0" err="1">
                <a:solidFill>
                  <a:srgbClr val="FF0000"/>
                </a:solidFill>
              </a:rPr>
              <a:t>Sayed</a:t>
            </a:r>
            <a:r>
              <a:rPr lang="en-US" dirty="0">
                <a:solidFill>
                  <a:srgbClr val="FF0000"/>
                </a:solidFill>
              </a:rPr>
              <a:t> Ahmed</a:t>
            </a:r>
            <a:r>
              <a:rPr lang="en-US" dirty="0"/>
              <a:t> (1817-1898). </a:t>
            </a:r>
          </a:p>
        </p:txBody>
      </p:sp>
    </p:spTree>
    <p:extLst>
      <p:ext uri="{BB962C8B-B14F-4D97-AF65-F5344CB8AC3E}">
        <p14:creationId xmlns:p14="http://schemas.microsoft.com/office/powerpoint/2010/main" val="2330648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136611926"/>
              </p:ext>
            </p:extLst>
          </p:nvPr>
        </p:nvGraphicFramePr>
        <p:xfrm>
          <a:off x="838200" y="1825625"/>
          <a:ext cx="1078408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5118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124684B-AD12-4C9D-81A2-AEB64696B62A}"/>
              </a:ext>
            </a:extLst>
          </p:cNvPr>
          <p:cNvPicPr>
            <a:picLocks noGrp="1" noChangeAspect="1"/>
          </p:cNvPicPr>
          <p:nvPr>
            <p:ph idx="1"/>
          </p:nvPr>
        </p:nvPicPr>
        <p:blipFill>
          <a:blip r:embed="rId2"/>
          <a:stretch>
            <a:fillRect/>
          </a:stretch>
        </p:blipFill>
        <p:spPr>
          <a:xfrm>
            <a:off x="1855303" y="384314"/>
            <a:ext cx="7938053" cy="5413893"/>
          </a:xfrm>
          <a:prstGeom prst="rect">
            <a:avLst/>
          </a:prstGeom>
        </p:spPr>
      </p:pic>
    </p:spTree>
    <p:extLst>
      <p:ext uri="{BB962C8B-B14F-4D97-AF65-F5344CB8AC3E}">
        <p14:creationId xmlns:p14="http://schemas.microsoft.com/office/powerpoint/2010/main" val="1527220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4558" y="1179444"/>
            <a:ext cx="11582400" cy="4492486"/>
          </a:xfrm>
        </p:spPr>
        <p:txBody>
          <a:bodyPr anchor="ctr">
            <a:normAutofit/>
          </a:bodyPr>
          <a:lstStyle/>
          <a:p>
            <a:pPr algn="just">
              <a:buFont typeface="Wingdings" panose="05000000000000000000" pitchFamily="2" charset="2"/>
              <a:buChar char="§"/>
            </a:pPr>
            <a:r>
              <a:rPr lang="en-US" dirty="0"/>
              <a:t>Muslim Renaissance in Bengal begins with Sir Syed Ahmad Khan . </a:t>
            </a:r>
          </a:p>
          <a:p>
            <a:pPr algn="just">
              <a:buFont typeface="Wingdings" panose="05000000000000000000" pitchFamily="2" charset="2"/>
              <a:buChar char="§"/>
            </a:pPr>
            <a:r>
              <a:rPr lang="en-US" dirty="0"/>
              <a:t>He helped the Muslims to learn English to compete with the Hindus during the British period. They lagged behind the Hindus as they did not cooperate with the British when the British conquered India from the Mughals. </a:t>
            </a:r>
          </a:p>
          <a:p>
            <a:pPr algn="just">
              <a:buFont typeface="Wingdings" panose="05000000000000000000" pitchFamily="2" charset="2"/>
              <a:buChar char="§"/>
            </a:pPr>
            <a:r>
              <a:rPr lang="en-US" dirty="0"/>
              <a:t>The Muslims believed that as long as the non-believers ruled India, the subcontinent was a 'Dar-ul-</a:t>
            </a:r>
            <a:r>
              <a:rPr lang="en-US" dirty="0" err="1"/>
              <a:t>Harb</a:t>
            </a:r>
            <a:r>
              <a:rPr lang="en-US" dirty="0"/>
              <a:t>' for Muslims and it was the duty of all to wage struggle against the British rule in order to regain the lost. </a:t>
            </a:r>
          </a:p>
          <a:p>
            <a:endParaRPr lang="en-US" dirty="0"/>
          </a:p>
        </p:txBody>
      </p:sp>
    </p:spTree>
    <p:extLst>
      <p:ext uri="{BB962C8B-B14F-4D97-AF65-F5344CB8AC3E}">
        <p14:creationId xmlns:p14="http://schemas.microsoft.com/office/powerpoint/2010/main" val="2144081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DD0222-B594-4A77-8B78-7FBE71BFE54F}"/>
              </a:ext>
            </a:extLst>
          </p:cNvPr>
          <p:cNvSpPr>
            <a:spLocks noGrp="1"/>
          </p:cNvSpPr>
          <p:nvPr>
            <p:ph idx="1"/>
          </p:nvPr>
        </p:nvSpPr>
        <p:spPr>
          <a:xfrm>
            <a:off x="838199" y="2438399"/>
            <a:ext cx="11141765" cy="2398643"/>
          </a:xfrm>
        </p:spPr>
        <p:txBody>
          <a:bodyPr/>
          <a:lstStyle/>
          <a:p>
            <a:pPr algn="just"/>
            <a:r>
              <a:rPr lang="en-US" dirty="0">
                <a:latin typeface="Times New Roman" panose="02020603050405020304" pitchFamily="18" charset="0"/>
                <a:cs typeface="Times New Roman" panose="02020603050405020304" pitchFamily="18" charset="0"/>
              </a:rPr>
              <a:t>His writings, both academic and journalistic, initiate an informed debate on the social, cultural, religious, and political dynamics of the relationship between the Muslims, the Hindus, and the British (For details, please see, </a:t>
            </a:r>
            <a:r>
              <a:rPr lang="en-US" dirty="0" err="1">
                <a:latin typeface="Times New Roman" panose="02020603050405020304" pitchFamily="18" charset="0"/>
                <a:cs typeface="Times New Roman" panose="02020603050405020304" pitchFamily="18" charset="0"/>
              </a:rPr>
              <a:t>Shafey</a:t>
            </a:r>
            <a:r>
              <a:rPr lang="en-US" dirty="0">
                <a:latin typeface="Times New Roman" panose="02020603050405020304" pitchFamily="18" charset="0"/>
                <a:cs typeface="Times New Roman" panose="02020603050405020304" pitchFamily="18" charset="0"/>
              </a:rPr>
              <a:t> Kidwai’s book entitled, </a:t>
            </a:r>
            <a:r>
              <a:rPr lang="en-US" i="1" dirty="0">
                <a:latin typeface="Times New Roman" panose="02020603050405020304" pitchFamily="18" charset="0"/>
                <a:cs typeface="Times New Roman" panose="02020603050405020304" pitchFamily="18" charset="0"/>
              </a:rPr>
              <a:t>Sir Syed Ahmed Khan: Reason , Religion &amp; Nation</a:t>
            </a:r>
            <a:r>
              <a:rPr lang="en-US" dirty="0">
                <a:latin typeface="Times New Roman" panose="02020603050405020304" pitchFamily="18" charset="0"/>
                <a:cs typeface="Times New Roman" panose="02020603050405020304" pitchFamily="18" charset="0"/>
              </a:rPr>
              <a:t>, London: Routledge, 2021).</a:t>
            </a:r>
          </a:p>
        </p:txBody>
      </p:sp>
    </p:spTree>
    <p:extLst>
      <p:ext uri="{BB962C8B-B14F-4D97-AF65-F5344CB8AC3E}">
        <p14:creationId xmlns:p14="http://schemas.microsoft.com/office/powerpoint/2010/main" val="1842908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Aligarh Movement </a:t>
            </a:r>
            <a:r>
              <a:rPr lang="en-US" dirty="0"/>
              <a:t>of Sir Syed Ahmed Khan</a:t>
            </a:r>
          </a:p>
        </p:txBody>
      </p:sp>
      <p:sp>
        <p:nvSpPr>
          <p:cNvPr id="3" name="Content Placeholder 2"/>
          <p:cNvSpPr>
            <a:spLocks noGrp="1"/>
          </p:cNvSpPr>
          <p:nvPr>
            <p:ph idx="1"/>
          </p:nvPr>
        </p:nvSpPr>
        <p:spPr>
          <a:xfrm>
            <a:off x="472867" y="1791442"/>
            <a:ext cx="11246266" cy="4351338"/>
          </a:xfrm>
        </p:spPr>
        <p:txBody>
          <a:bodyPr anchor="ctr">
            <a:normAutofit/>
          </a:bodyPr>
          <a:lstStyle/>
          <a:p>
            <a:pPr marL="0" indent="0" algn="just">
              <a:buNone/>
            </a:pPr>
            <a:r>
              <a:rPr lang="en-US" dirty="0"/>
              <a:t>To bring a change in the Muslim attitude , Sir Syed Ahmed Khan launched </a:t>
            </a:r>
            <a:r>
              <a:rPr lang="en-US" i="1" dirty="0">
                <a:solidFill>
                  <a:srgbClr val="FF0000"/>
                </a:solidFill>
              </a:rPr>
              <a:t>Islamic Renaissance </a:t>
            </a:r>
            <a:r>
              <a:rPr lang="en-US" dirty="0"/>
              <a:t>through his Aligarh Movement. For him, </a:t>
            </a:r>
            <a:r>
              <a:rPr lang="en-US" dirty="0">
                <a:solidFill>
                  <a:srgbClr val="FF0000"/>
                </a:solidFill>
              </a:rPr>
              <a:t>Western science and technology </a:t>
            </a:r>
            <a:r>
              <a:rPr lang="en-US" dirty="0"/>
              <a:t>strengthened Islamic convictions, since Islam was not dialectically opposed to</a:t>
            </a:r>
            <a:r>
              <a:rPr lang="en-US" dirty="0">
                <a:solidFill>
                  <a:srgbClr val="FF0000"/>
                </a:solidFill>
              </a:rPr>
              <a:t> reason</a:t>
            </a:r>
            <a:r>
              <a:rPr lang="en-US" dirty="0"/>
              <a:t>. Our focus will be on the work and activity of Sir Syed Ahmed Khan. </a:t>
            </a:r>
          </a:p>
          <a:p>
            <a:pPr marL="0" indent="0" algn="just">
              <a:buNone/>
            </a:pPr>
            <a:endParaRPr lang="en-US" dirty="0"/>
          </a:p>
        </p:txBody>
      </p:sp>
    </p:spTree>
    <p:extLst>
      <p:ext uri="{BB962C8B-B14F-4D97-AF65-F5344CB8AC3E}">
        <p14:creationId xmlns:p14="http://schemas.microsoft.com/office/powerpoint/2010/main" val="3184221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374" y="365126"/>
            <a:ext cx="10819457" cy="1038672"/>
          </a:xfrm>
        </p:spPr>
        <p:txBody>
          <a:bodyPr/>
          <a:lstStyle/>
          <a:p>
            <a:r>
              <a:rPr lang="en-US" dirty="0">
                <a:solidFill>
                  <a:srgbClr val="002060"/>
                </a:solidFill>
              </a:rPr>
              <a:t>Sir Syed Ahmed intends to achieve two goals:</a:t>
            </a:r>
          </a:p>
        </p:txBody>
      </p:sp>
      <p:sp>
        <p:nvSpPr>
          <p:cNvPr id="5" name="Content Placeholder 4"/>
          <p:cNvSpPr>
            <a:spLocks noGrp="1"/>
          </p:cNvSpPr>
          <p:nvPr>
            <p:ph idx="1"/>
          </p:nvPr>
        </p:nvSpPr>
        <p:spPr>
          <a:xfrm>
            <a:off x="346105" y="1486969"/>
            <a:ext cx="11257760" cy="3835308"/>
          </a:xfrm>
        </p:spPr>
        <p:style>
          <a:lnRef idx="2">
            <a:schemeClr val="dk1"/>
          </a:lnRef>
          <a:fillRef idx="1">
            <a:schemeClr val="lt1"/>
          </a:fillRef>
          <a:effectRef idx="0">
            <a:schemeClr val="dk1"/>
          </a:effectRef>
          <a:fontRef idx="minor">
            <a:schemeClr val="dk1"/>
          </a:fontRef>
        </p:style>
        <p:txBody>
          <a:bodyPr>
            <a:normAutofit/>
          </a:bodyPr>
          <a:lstStyle/>
          <a:p>
            <a:pPr algn="just"/>
            <a:r>
              <a:rPr lang="en-US" sz="3200" dirty="0">
                <a:solidFill>
                  <a:srgbClr val="FF0000"/>
                </a:solidFill>
              </a:rPr>
              <a:t>Firstly, </a:t>
            </a:r>
            <a:r>
              <a:rPr lang="en-US" sz="3200" dirty="0">
                <a:solidFill>
                  <a:schemeClr val="tx1"/>
                </a:solidFill>
              </a:rPr>
              <a:t>he wanted to minimize all grounds of animosity which the Muslims were likely to harbor against the British.</a:t>
            </a:r>
          </a:p>
          <a:p>
            <a:pPr marL="0" indent="0" algn="just">
              <a:buNone/>
            </a:pPr>
            <a:endParaRPr lang="en-US" sz="3200" dirty="0">
              <a:solidFill>
                <a:schemeClr val="tx1"/>
              </a:solidFill>
            </a:endParaRPr>
          </a:p>
          <a:p>
            <a:pPr algn="just"/>
            <a:r>
              <a:rPr lang="en-US" sz="3200" dirty="0">
                <a:solidFill>
                  <a:srgbClr val="FF0000"/>
                </a:solidFill>
              </a:rPr>
              <a:t>Secondly, </a:t>
            </a:r>
            <a:r>
              <a:rPr lang="en-US" sz="3200" dirty="0">
                <a:solidFill>
                  <a:schemeClr val="tx1"/>
                </a:solidFill>
              </a:rPr>
              <a:t>he wanted to remove all doubts from the British mind that Muslims were not likely to be loyal to the British because their religion did not permit them to adopt such an attitude. </a:t>
            </a:r>
          </a:p>
        </p:txBody>
      </p:sp>
    </p:spTree>
    <p:extLst>
      <p:ext uri="{BB962C8B-B14F-4D97-AF65-F5344CB8AC3E}">
        <p14:creationId xmlns:p14="http://schemas.microsoft.com/office/powerpoint/2010/main" val="2181505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SYED AHMED KHAN\syed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3455" y="-1"/>
            <a:ext cx="2396836" cy="3656191"/>
          </a:xfrm>
          <a:prstGeom prst="rect">
            <a:avLst/>
          </a:prstGeom>
        </p:spPr>
        <p:style>
          <a:lnRef idx="3">
            <a:schemeClr val="lt1"/>
          </a:lnRef>
          <a:fillRef idx="1">
            <a:schemeClr val="accent3"/>
          </a:fillRef>
          <a:effectRef idx="1">
            <a:schemeClr val="accent3"/>
          </a:effectRef>
          <a:fontRef idx="minor">
            <a:schemeClr val="lt1"/>
          </a:fontRef>
        </p:style>
      </p:pic>
      <p:graphicFrame>
        <p:nvGraphicFramePr>
          <p:cNvPr id="4" name="Diagram 3"/>
          <p:cNvGraphicFramePr/>
          <p:nvPr/>
        </p:nvGraphicFramePr>
        <p:xfrm>
          <a:off x="4238626" y="-34638"/>
          <a:ext cx="4004830" cy="6892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26" name="Picture 2" descr="E:\SYED AHMED KHAN\syed1.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1" y="-1"/>
            <a:ext cx="2666999" cy="3657601"/>
          </a:xfrm>
          <a:prstGeom prst="rect">
            <a:avLst/>
          </a:prstGeom>
        </p:spPr>
        <p:style>
          <a:lnRef idx="3">
            <a:schemeClr val="lt1"/>
          </a:lnRef>
          <a:fillRef idx="1">
            <a:schemeClr val="accent3"/>
          </a:fillRef>
          <a:effectRef idx="1">
            <a:schemeClr val="accent3"/>
          </a:effectRef>
          <a:fontRef idx="minor">
            <a:schemeClr val="lt1"/>
          </a:fontRef>
        </p:style>
      </p:pic>
      <p:graphicFrame>
        <p:nvGraphicFramePr>
          <p:cNvPr id="3" name="Diagram 2"/>
          <p:cNvGraphicFramePr/>
          <p:nvPr/>
        </p:nvGraphicFramePr>
        <p:xfrm>
          <a:off x="1496291" y="3505200"/>
          <a:ext cx="9144000" cy="320040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84611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animEffect transition="in" filter="fade">
                                      <p:cBhvr>
                                        <p:cTn id="9" dur="500"/>
                                        <p:tgtEl>
                                          <p:spTgt spid="1026"/>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31"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1000" fill="hold"/>
                                        <p:tgtEl>
                                          <p:spTgt spid="3"/>
                                        </p:tgtEl>
                                        <p:attrNameLst>
                                          <p:attrName>ppt_w</p:attrName>
                                        </p:attrNameLst>
                                      </p:cBhvr>
                                      <p:tavLst>
                                        <p:tav tm="0">
                                          <p:val>
                                            <p:fltVal val="0"/>
                                          </p:val>
                                        </p:tav>
                                        <p:tav tm="100000">
                                          <p:val>
                                            <p:strVal val="#ppt_w"/>
                                          </p:val>
                                        </p:tav>
                                      </p:tavLst>
                                    </p:anim>
                                    <p:anim calcmode="lin" valueType="num">
                                      <p:cBhvr>
                                        <p:cTn id="27" dur="1000" fill="hold"/>
                                        <p:tgtEl>
                                          <p:spTgt spid="3"/>
                                        </p:tgtEl>
                                        <p:attrNameLst>
                                          <p:attrName>ppt_h</p:attrName>
                                        </p:attrNameLst>
                                      </p:cBhvr>
                                      <p:tavLst>
                                        <p:tav tm="0">
                                          <p:val>
                                            <p:fltVal val="0"/>
                                          </p:val>
                                        </p:tav>
                                        <p:tav tm="100000">
                                          <p:val>
                                            <p:strVal val="#ppt_h"/>
                                          </p:val>
                                        </p:tav>
                                      </p:tavLst>
                                    </p:anim>
                                    <p:anim calcmode="lin" valueType="num">
                                      <p:cBhvr>
                                        <p:cTn id="28" dur="1000" fill="hold"/>
                                        <p:tgtEl>
                                          <p:spTgt spid="3"/>
                                        </p:tgtEl>
                                        <p:attrNameLst>
                                          <p:attrName>style.rotation</p:attrName>
                                        </p:attrNameLst>
                                      </p:cBhvr>
                                      <p:tavLst>
                                        <p:tav tm="0">
                                          <p:val>
                                            <p:fltVal val="90"/>
                                          </p:val>
                                        </p:tav>
                                        <p:tav tm="100000">
                                          <p:val>
                                            <p:fltVal val="0"/>
                                          </p:val>
                                        </p:tav>
                                      </p:tavLst>
                                    </p:anim>
                                    <p:animEffect transition="in" filter="fade">
                                      <p:cBhvr>
                                        <p:cTn id="2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3"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921" y="348034"/>
            <a:ext cx="7567114" cy="617641"/>
          </a:xfrm>
        </p:spPr>
        <p:txBody>
          <a:bodyPr>
            <a:normAutofit fontScale="90000"/>
          </a:bodyPr>
          <a:lstStyle/>
          <a:p>
            <a:r>
              <a:rPr lang="en-US" dirty="0">
                <a:solidFill>
                  <a:srgbClr val="002060"/>
                </a:solidFill>
              </a:rPr>
              <a:t>Causes of the Indian Revolt of 1857:</a:t>
            </a:r>
          </a:p>
        </p:txBody>
      </p:sp>
      <p:sp>
        <p:nvSpPr>
          <p:cNvPr id="3" name="Content Placeholder 2"/>
          <p:cNvSpPr>
            <a:spLocks noGrp="1"/>
          </p:cNvSpPr>
          <p:nvPr>
            <p:ph idx="1"/>
          </p:nvPr>
        </p:nvSpPr>
        <p:spPr>
          <a:xfrm>
            <a:off x="1881809" y="1378226"/>
            <a:ext cx="9799328" cy="5131740"/>
          </a:xfrm>
        </p:spPr>
        <p:style>
          <a:lnRef idx="2">
            <a:schemeClr val="accent1"/>
          </a:lnRef>
          <a:fillRef idx="1">
            <a:schemeClr val="lt1"/>
          </a:fillRef>
          <a:effectRef idx="0">
            <a:schemeClr val="accent1"/>
          </a:effectRef>
          <a:fontRef idx="minor">
            <a:schemeClr val="dk1"/>
          </a:fontRef>
        </p:style>
        <p:txBody>
          <a:bodyPr>
            <a:normAutofit/>
          </a:bodyPr>
          <a:lstStyle/>
          <a:p>
            <a:pPr marL="0" indent="0" algn="just">
              <a:buNone/>
            </a:pPr>
            <a:r>
              <a:rPr lang="en-US" dirty="0"/>
              <a:t>Sir </a:t>
            </a:r>
            <a:r>
              <a:rPr lang="en-US" dirty="0">
                <a:solidFill>
                  <a:schemeClr val="tx1"/>
                </a:solidFill>
              </a:rPr>
              <a:t>Syed Ahmed Khan wrote a monograph, titled</a:t>
            </a:r>
            <a:r>
              <a:rPr lang="en-US" i="1" dirty="0">
                <a:solidFill>
                  <a:schemeClr val="tx1"/>
                </a:solidFill>
              </a:rPr>
              <a:t>, Causes of the Indian Revolt </a:t>
            </a:r>
            <a:r>
              <a:rPr lang="en-US" dirty="0">
                <a:solidFill>
                  <a:schemeClr val="tx1"/>
                </a:solidFill>
              </a:rPr>
              <a:t>and he tried  to find out the following  root causes of the first war of Independence: </a:t>
            </a:r>
          </a:p>
          <a:p>
            <a:pPr marL="0" indent="0" algn="just">
              <a:buNone/>
            </a:pPr>
            <a:endParaRPr lang="en-US" dirty="0">
              <a:solidFill>
                <a:srgbClr val="0070C0"/>
              </a:solidFill>
            </a:endParaRPr>
          </a:p>
          <a:p>
            <a:pPr marL="0" indent="0" algn="just">
              <a:buNone/>
            </a:pPr>
            <a:r>
              <a:rPr lang="en-US" i="1" dirty="0">
                <a:solidFill>
                  <a:srgbClr val="0070C0"/>
                </a:solidFill>
              </a:rPr>
              <a:t>I. Non-representation of the Indians in the legislative councils </a:t>
            </a:r>
          </a:p>
          <a:p>
            <a:pPr marL="571500" indent="-571500" algn="just">
              <a:buAutoNum type="romanUcPeriod" startAt="2"/>
            </a:pPr>
            <a:r>
              <a:rPr lang="en-US" i="1" dirty="0">
                <a:solidFill>
                  <a:srgbClr val="0070C0"/>
                </a:solidFill>
              </a:rPr>
              <a:t>Forcible conversion of Indians to Christianity </a:t>
            </a:r>
          </a:p>
          <a:p>
            <a:pPr marL="571500" indent="-571500" algn="just">
              <a:buAutoNum type="romanUcPeriod" startAt="2"/>
            </a:pPr>
            <a:r>
              <a:rPr lang="en-US" i="1" dirty="0">
                <a:solidFill>
                  <a:srgbClr val="0070C0"/>
                </a:solidFill>
              </a:rPr>
              <a:t>Mismanagement of the Indian Army</a:t>
            </a:r>
          </a:p>
          <a:p>
            <a:pPr marL="571500" indent="-571500" algn="just">
              <a:buAutoNum type="romanUcPeriod" startAt="2"/>
            </a:pPr>
            <a:r>
              <a:rPr lang="en-US" i="1" dirty="0">
                <a:solidFill>
                  <a:srgbClr val="0070C0"/>
                </a:solidFill>
              </a:rPr>
              <a:t>  British negligence to the Muslims community interests </a:t>
            </a:r>
          </a:p>
          <a:p>
            <a:pPr marL="0" indent="0" algn="just">
              <a:buNone/>
            </a:pPr>
            <a:r>
              <a:rPr lang="en-US" i="1" dirty="0">
                <a:solidFill>
                  <a:srgbClr val="0070C0"/>
                </a:solidFill>
              </a:rPr>
              <a:t>V. And many other ill-advised measures of the Government which created large scale dissatisfaction among the various sections of society.</a:t>
            </a:r>
          </a:p>
        </p:txBody>
      </p:sp>
    </p:spTree>
    <p:extLst>
      <p:ext uri="{BB962C8B-B14F-4D97-AF65-F5344CB8AC3E}">
        <p14:creationId xmlns:p14="http://schemas.microsoft.com/office/powerpoint/2010/main" val="2666378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28211-5281-4CAD-A824-C52C191265F5}"/>
              </a:ext>
            </a:extLst>
          </p:cNvPr>
          <p:cNvSpPr>
            <a:spLocks noGrp="1"/>
          </p:cNvSpPr>
          <p:nvPr>
            <p:ph idx="1"/>
          </p:nvPr>
        </p:nvSpPr>
        <p:spPr>
          <a:xfrm>
            <a:off x="838200" y="1825625"/>
            <a:ext cx="10515600" cy="3289714"/>
          </a:xfrm>
        </p:spPr>
        <p:txBody>
          <a:bodyPr>
            <a:normAutofit/>
          </a:bodyPr>
          <a:lstStyle/>
          <a:p>
            <a:pPr algn="just"/>
            <a:r>
              <a:rPr lang="en-US" dirty="0"/>
              <a:t>In his book </a:t>
            </a:r>
            <a:r>
              <a:rPr lang="en-US" i="1" dirty="0"/>
              <a:t>The Causes of the Indian Revolt </a:t>
            </a:r>
            <a:r>
              <a:rPr lang="en-US" dirty="0"/>
              <a:t>(1858), Sir Syed demands Indian representation on the Viceroy’s Legislative Council, and a few years later he joined the British Indian Association for the safeguarding of the interests of Indians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Shafey</a:t>
            </a:r>
            <a:r>
              <a:rPr lang="en-US" dirty="0">
                <a:latin typeface="Times New Roman" panose="02020603050405020304" pitchFamily="18" charset="0"/>
                <a:cs typeface="Times New Roman" panose="02020603050405020304" pitchFamily="18" charset="0"/>
              </a:rPr>
              <a:t> Kidwai’s book entitled, </a:t>
            </a:r>
            <a:r>
              <a:rPr lang="en-US" i="1" dirty="0">
                <a:latin typeface="Times New Roman" panose="02020603050405020304" pitchFamily="18" charset="0"/>
                <a:cs typeface="Times New Roman" panose="02020603050405020304" pitchFamily="18" charset="0"/>
              </a:rPr>
              <a:t>Sir Syed Ahmed Khan: Reason , Religion &amp; Nation</a:t>
            </a:r>
            <a:r>
              <a:rPr lang="en-US" dirty="0">
                <a:latin typeface="Times New Roman" panose="02020603050405020304" pitchFamily="18" charset="0"/>
                <a:cs typeface="Times New Roman" panose="02020603050405020304" pitchFamily="18" charset="0"/>
              </a:rPr>
              <a:t>, London: Routledge, 2021, page-118)</a:t>
            </a:r>
            <a:endParaRPr lang="en-US" dirty="0"/>
          </a:p>
        </p:txBody>
      </p:sp>
    </p:spTree>
    <p:extLst>
      <p:ext uri="{BB962C8B-B14F-4D97-AF65-F5344CB8AC3E}">
        <p14:creationId xmlns:p14="http://schemas.microsoft.com/office/powerpoint/2010/main" val="3099769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7521"/>
          </a:xfrm>
        </p:spPr>
        <p:txBody>
          <a:bodyPr/>
          <a:lstStyle/>
          <a:p>
            <a:r>
              <a:rPr lang="en-US" dirty="0">
                <a:solidFill>
                  <a:srgbClr val="002060"/>
                </a:solidFill>
              </a:rPr>
              <a:t>Sir Syed Ahmed Khan’s Religious Reformation: </a:t>
            </a:r>
          </a:p>
        </p:txBody>
      </p:sp>
      <p:pic>
        <p:nvPicPr>
          <p:cNvPr id="4" name="Content Placeholder 3"/>
          <p:cNvPicPr>
            <a:picLocks noGrp="1" noChangeAspect="1"/>
          </p:cNvPicPr>
          <p:nvPr>
            <p:ph idx="1"/>
          </p:nvPr>
        </p:nvPicPr>
        <p:blipFill>
          <a:blip r:embed="rId2"/>
          <a:stretch>
            <a:fillRect/>
          </a:stretch>
        </p:blipFill>
        <p:spPr>
          <a:xfrm>
            <a:off x="1577009" y="1300767"/>
            <a:ext cx="9448800" cy="4852206"/>
          </a:xfrm>
          <a:prstGeom prst="rect">
            <a:avLst/>
          </a:prstGeom>
        </p:spPr>
      </p:pic>
    </p:spTree>
    <p:extLst>
      <p:ext uri="{BB962C8B-B14F-4D97-AF65-F5344CB8AC3E}">
        <p14:creationId xmlns:p14="http://schemas.microsoft.com/office/powerpoint/2010/main" val="364330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304" y="365126"/>
            <a:ext cx="11022496" cy="942382"/>
          </a:xfrm>
        </p:spPr>
        <p:txBody>
          <a:bodyPr/>
          <a:lstStyle/>
          <a:p>
            <a:r>
              <a:rPr lang="en-US" dirty="0">
                <a:solidFill>
                  <a:srgbClr val="002060"/>
                </a:solidFill>
              </a:rPr>
              <a:t>Sir Syed Ahmed Khan’s  Educational Reforms</a:t>
            </a:r>
            <a:r>
              <a:rPr lang="en-US" dirty="0"/>
              <a:t>: </a:t>
            </a:r>
          </a:p>
        </p:txBody>
      </p:sp>
      <p:sp>
        <p:nvSpPr>
          <p:cNvPr id="3" name="Content Placeholder 2"/>
          <p:cNvSpPr>
            <a:spLocks noGrp="1"/>
          </p:cNvSpPr>
          <p:nvPr>
            <p:ph idx="1"/>
          </p:nvPr>
        </p:nvSpPr>
        <p:spPr>
          <a:xfrm>
            <a:off x="1219200" y="1307508"/>
            <a:ext cx="10702182" cy="4869455"/>
          </a:xfrm>
        </p:spPr>
        <p:txBody>
          <a:bodyPr/>
          <a:lstStyle/>
          <a:p>
            <a:pPr algn="just"/>
            <a:r>
              <a:rPr lang="en-US" dirty="0"/>
              <a:t> Sir Syed Ahmed Khan pledged with the Muslims to remain loyal to the British and not participate in the Congress movement. He felt that the Muslim community should remain aloof from all kinds of political agitation because by taking active role in the Indian Mutiny of 1857 they had already placed themselves in danger by arousing British antagonism. </a:t>
            </a:r>
          </a:p>
          <a:p>
            <a:pPr algn="just"/>
            <a:r>
              <a:rPr lang="en-US" dirty="0"/>
              <a:t>The only path that lay before the Muslims, according to Sir Syed, was that of equipping themselves with English education. </a:t>
            </a:r>
          </a:p>
          <a:p>
            <a:pPr algn="just"/>
            <a:r>
              <a:rPr lang="en-US" dirty="0"/>
              <a:t>He established the Anglo-Oriental College in 1875 which later became the well-known Muslim university of Aligarh (For details, See professor Khalid bin Sayeed, </a:t>
            </a:r>
            <a:r>
              <a:rPr lang="en-US" i="1" dirty="0">
                <a:solidFill>
                  <a:srgbClr val="002060"/>
                </a:solidFill>
              </a:rPr>
              <a:t>The Political System of Pakistan</a:t>
            </a:r>
            <a:r>
              <a:rPr lang="en-US" dirty="0"/>
              <a:t>, Oxford, 1967). </a:t>
            </a:r>
          </a:p>
          <a:p>
            <a:endParaRPr lang="en-US" dirty="0"/>
          </a:p>
        </p:txBody>
      </p:sp>
    </p:spTree>
    <p:extLst>
      <p:ext uri="{BB962C8B-B14F-4D97-AF65-F5344CB8AC3E}">
        <p14:creationId xmlns:p14="http://schemas.microsoft.com/office/powerpoint/2010/main" val="2210771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162177929"/>
              </p:ext>
            </p:extLst>
          </p:nvPr>
        </p:nvGraphicFramePr>
        <p:xfrm>
          <a:off x="1524000" y="1247686"/>
          <a:ext cx="9144000" cy="56103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p:cNvSpPr/>
          <p:nvPr/>
        </p:nvSpPr>
        <p:spPr>
          <a:xfrm>
            <a:off x="1295401" y="1"/>
            <a:ext cx="10452841" cy="584775"/>
          </a:xfrm>
          <a:prstGeom prst="rect">
            <a:avLst/>
          </a:prstGeom>
          <a:noFill/>
        </p:spPr>
        <p:txBody>
          <a:bodyPr wrap="square" lIns="91440" tIns="45720" rIns="91440" bIns="45720">
            <a:spAutoFit/>
          </a:bodyPr>
          <a:lstStyle/>
          <a:p>
            <a:pPr algn="ctr"/>
            <a:r>
              <a:rPr lang="en-US" sz="3200" b="1" dirty="0">
                <a:ln w="24500" cmpd="dbl">
                  <a:solidFill>
                    <a:schemeClr val="accent2">
                      <a:shade val="85000"/>
                      <a:satMod val="155000"/>
                    </a:schemeClr>
                  </a:solidFill>
                  <a:prstDash val="solid"/>
                  <a:miter lim="800000"/>
                </a:ln>
                <a:solidFill>
                  <a:srgbClr val="FFC000"/>
                </a:solidFill>
                <a:effectLst>
                  <a:outerShdw blurRad="38100" dist="38100" dir="7020000" algn="tl">
                    <a:srgbClr val="000000">
                      <a:alpha val="35000"/>
                    </a:srgbClr>
                  </a:outerShdw>
                </a:effectLst>
              </a:rPr>
              <a:t>DEMANDS AT THE SHIMLA CONFERENCE</a:t>
            </a:r>
          </a:p>
        </p:txBody>
      </p:sp>
    </p:spTree>
    <p:extLst>
      <p:ext uri="{BB962C8B-B14F-4D97-AF65-F5344CB8AC3E}">
        <p14:creationId xmlns:p14="http://schemas.microsoft.com/office/powerpoint/2010/main" val="2445659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B20EE03A-6583-4CD7-B1B8-F31A46DEEFE1}"/>
                                            </p:graphicEl>
                                          </p:spTgt>
                                        </p:tgtEl>
                                        <p:attrNameLst>
                                          <p:attrName>style.visibility</p:attrName>
                                        </p:attrNameLst>
                                      </p:cBhvr>
                                      <p:to>
                                        <p:strVal val="visible"/>
                                      </p:to>
                                    </p:set>
                                    <p:animEffect transition="in" filter="fade">
                                      <p:cBhvr>
                                        <p:cTn id="7" dur="500"/>
                                        <p:tgtEl>
                                          <p:spTgt spid="4">
                                            <p:graphicEl>
                                              <a:dgm id="{B20EE03A-6583-4CD7-B1B8-F31A46DEEFE1}"/>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808D43AF-231F-44BD-99EB-FE9C7AC16FDF}"/>
                                            </p:graphicEl>
                                          </p:spTgt>
                                        </p:tgtEl>
                                        <p:attrNameLst>
                                          <p:attrName>style.visibility</p:attrName>
                                        </p:attrNameLst>
                                      </p:cBhvr>
                                      <p:to>
                                        <p:strVal val="visible"/>
                                      </p:to>
                                    </p:set>
                                    <p:animEffect transition="in" filter="fade">
                                      <p:cBhvr>
                                        <p:cTn id="12" dur="500"/>
                                        <p:tgtEl>
                                          <p:spTgt spid="4">
                                            <p:graphicEl>
                                              <a:dgm id="{808D43AF-231F-44BD-99EB-FE9C7AC16FDF}"/>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graphicEl>
                                              <a:dgm id="{372EBB45-8C1A-47E4-991F-E1B31E75B7C6}"/>
                                            </p:graphicEl>
                                          </p:spTgt>
                                        </p:tgtEl>
                                        <p:attrNameLst>
                                          <p:attrName>style.visibility</p:attrName>
                                        </p:attrNameLst>
                                      </p:cBhvr>
                                      <p:to>
                                        <p:strVal val="visible"/>
                                      </p:to>
                                    </p:set>
                                    <p:animEffect transition="in" filter="fade">
                                      <p:cBhvr>
                                        <p:cTn id="15" dur="500"/>
                                        <p:tgtEl>
                                          <p:spTgt spid="4">
                                            <p:graphicEl>
                                              <a:dgm id="{372EBB45-8C1A-47E4-991F-E1B31E75B7C6}"/>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graphicEl>
                                              <a:dgm id="{1CEEA5C5-A75A-4FC0-A9DD-114EE7BB6451}"/>
                                            </p:graphicEl>
                                          </p:spTgt>
                                        </p:tgtEl>
                                        <p:attrNameLst>
                                          <p:attrName>style.visibility</p:attrName>
                                        </p:attrNameLst>
                                      </p:cBhvr>
                                      <p:to>
                                        <p:strVal val="visible"/>
                                      </p:to>
                                    </p:set>
                                    <p:animEffect transition="in" filter="fade">
                                      <p:cBhvr>
                                        <p:cTn id="20" dur="500"/>
                                        <p:tgtEl>
                                          <p:spTgt spid="4">
                                            <p:graphicEl>
                                              <a:dgm id="{1CEEA5C5-A75A-4FC0-A9DD-114EE7BB6451}"/>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graphicEl>
                                              <a:dgm id="{6F988D17-3EEE-45AB-97E5-9E3FE9DB6B0F}"/>
                                            </p:graphicEl>
                                          </p:spTgt>
                                        </p:tgtEl>
                                        <p:attrNameLst>
                                          <p:attrName>style.visibility</p:attrName>
                                        </p:attrNameLst>
                                      </p:cBhvr>
                                      <p:to>
                                        <p:strVal val="visible"/>
                                      </p:to>
                                    </p:set>
                                    <p:animEffect transition="in" filter="fade">
                                      <p:cBhvr>
                                        <p:cTn id="23" dur="500"/>
                                        <p:tgtEl>
                                          <p:spTgt spid="4">
                                            <p:graphicEl>
                                              <a:dgm id="{6F988D17-3EEE-45AB-97E5-9E3FE9DB6B0F}"/>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graphicEl>
                                              <a:dgm id="{82E4D2DD-27E8-45C8-8370-BE2DAA533DB3}"/>
                                            </p:graphicEl>
                                          </p:spTgt>
                                        </p:tgtEl>
                                        <p:attrNameLst>
                                          <p:attrName>style.visibility</p:attrName>
                                        </p:attrNameLst>
                                      </p:cBhvr>
                                      <p:to>
                                        <p:strVal val="visible"/>
                                      </p:to>
                                    </p:set>
                                    <p:animEffect transition="in" filter="fade">
                                      <p:cBhvr>
                                        <p:cTn id="28" dur="500"/>
                                        <p:tgtEl>
                                          <p:spTgt spid="4">
                                            <p:graphicEl>
                                              <a:dgm id="{82E4D2DD-27E8-45C8-8370-BE2DAA533DB3}"/>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graphicEl>
                                              <a:dgm id="{7428AF9C-973F-4E86-AFBF-1D5B33F15506}"/>
                                            </p:graphicEl>
                                          </p:spTgt>
                                        </p:tgtEl>
                                        <p:attrNameLst>
                                          <p:attrName>style.visibility</p:attrName>
                                        </p:attrNameLst>
                                      </p:cBhvr>
                                      <p:to>
                                        <p:strVal val="visible"/>
                                      </p:to>
                                    </p:set>
                                    <p:animEffect transition="in" filter="fade">
                                      <p:cBhvr>
                                        <p:cTn id="31" dur="500"/>
                                        <p:tgtEl>
                                          <p:spTgt spid="4">
                                            <p:graphicEl>
                                              <a:dgm id="{7428AF9C-973F-4E86-AFBF-1D5B33F15506}"/>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graphicEl>
                                              <a:dgm id="{B87B9A88-D1EF-46C4-9EDB-A89F7C14535D}"/>
                                            </p:graphicEl>
                                          </p:spTgt>
                                        </p:tgtEl>
                                        <p:attrNameLst>
                                          <p:attrName>style.visibility</p:attrName>
                                        </p:attrNameLst>
                                      </p:cBhvr>
                                      <p:to>
                                        <p:strVal val="visible"/>
                                      </p:to>
                                    </p:set>
                                    <p:animEffect transition="in" filter="fade">
                                      <p:cBhvr>
                                        <p:cTn id="36" dur="500"/>
                                        <p:tgtEl>
                                          <p:spTgt spid="4">
                                            <p:graphicEl>
                                              <a:dgm id="{B87B9A88-D1EF-46C4-9EDB-A89F7C14535D}"/>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graphicEl>
                                              <a:dgm id="{85AF8EB3-31DA-455C-893A-3A29CD743648}"/>
                                            </p:graphicEl>
                                          </p:spTgt>
                                        </p:tgtEl>
                                        <p:attrNameLst>
                                          <p:attrName>style.visibility</p:attrName>
                                        </p:attrNameLst>
                                      </p:cBhvr>
                                      <p:to>
                                        <p:strVal val="visible"/>
                                      </p:to>
                                    </p:set>
                                    <p:animEffect transition="in" filter="fade">
                                      <p:cBhvr>
                                        <p:cTn id="39" dur="500"/>
                                        <p:tgtEl>
                                          <p:spTgt spid="4">
                                            <p:graphicEl>
                                              <a:dgm id="{85AF8EB3-31DA-455C-893A-3A29CD743648}"/>
                                            </p:graphic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
                                            <p:graphicEl>
                                              <a:dgm id="{AA34815B-9FA8-4C31-84CA-3261E62E2C64}"/>
                                            </p:graphicEl>
                                          </p:spTgt>
                                        </p:tgtEl>
                                        <p:attrNameLst>
                                          <p:attrName>style.visibility</p:attrName>
                                        </p:attrNameLst>
                                      </p:cBhvr>
                                      <p:to>
                                        <p:strVal val="visible"/>
                                      </p:to>
                                    </p:set>
                                    <p:animEffect transition="in" filter="fade">
                                      <p:cBhvr>
                                        <p:cTn id="42" dur="500"/>
                                        <p:tgtEl>
                                          <p:spTgt spid="4">
                                            <p:graphicEl>
                                              <a:dgm id="{AA34815B-9FA8-4C31-84CA-3261E62E2C64}"/>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Other Muslim reformers at a glance</a:t>
            </a:r>
            <a:r>
              <a:rPr lang="en-US" dirty="0"/>
              <a:t>:</a:t>
            </a:r>
          </a:p>
        </p:txBody>
      </p:sp>
      <p:sp>
        <p:nvSpPr>
          <p:cNvPr id="3" name="Content Placeholder 2"/>
          <p:cNvSpPr>
            <a:spLocks noGrp="1"/>
          </p:cNvSpPr>
          <p:nvPr>
            <p:ph idx="1"/>
          </p:nvPr>
        </p:nvSpPr>
        <p:spPr/>
        <p:txBody>
          <a:bodyPr anchor="ctr"/>
          <a:lstStyle/>
          <a:p>
            <a:pPr algn="just"/>
            <a:r>
              <a:rPr lang="en-US" dirty="0"/>
              <a:t>It was </a:t>
            </a:r>
            <a:r>
              <a:rPr lang="en-US" dirty="0" err="1"/>
              <a:t>Nawab</a:t>
            </a:r>
            <a:r>
              <a:rPr lang="en-US" dirty="0"/>
              <a:t> Abdul </a:t>
            </a:r>
            <a:r>
              <a:rPr lang="en-US" dirty="0" err="1"/>
              <a:t>Latif</a:t>
            </a:r>
            <a:r>
              <a:rPr lang="en-US" dirty="0"/>
              <a:t> (1828-1893) who in fact initiated the renaissance or the reawakening movement of the Muslims in Bengal. He was a social worker and pioneer of Muslim reawakening in 19th century Bengal. </a:t>
            </a:r>
            <a:r>
              <a:rPr lang="en-US" dirty="0" err="1"/>
              <a:t>Nawab</a:t>
            </a:r>
            <a:r>
              <a:rPr lang="en-US" dirty="0"/>
              <a:t> Abdul </a:t>
            </a:r>
            <a:r>
              <a:rPr lang="en-US" dirty="0" err="1"/>
              <a:t>Latif</a:t>
            </a:r>
            <a:r>
              <a:rPr lang="en-US" dirty="0"/>
              <a:t> (1828-1893) is considered as the architect and Khan </a:t>
            </a:r>
            <a:r>
              <a:rPr lang="en-US" dirty="0" err="1"/>
              <a:t>Bahadur</a:t>
            </a:r>
            <a:r>
              <a:rPr lang="en-US" dirty="0"/>
              <a:t> </a:t>
            </a:r>
            <a:r>
              <a:rPr lang="en-US" dirty="0" err="1"/>
              <a:t>Ahsanullah</a:t>
            </a:r>
            <a:r>
              <a:rPr lang="en-US" dirty="0"/>
              <a:t> (1873-1965) was one of the pioneers of the Renaissance in Bengal.</a:t>
            </a:r>
          </a:p>
          <a:p>
            <a:endParaRPr lang="en-US" dirty="0"/>
          </a:p>
        </p:txBody>
      </p:sp>
    </p:spTree>
    <p:extLst>
      <p:ext uri="{BB962C8B-B14F-4D97-AF65-F5344CB8AC3E}">
        <p14:creationId xmlns:p14="http://schemas.microsoft.com/office/powerpoint/2010/main" val="1445227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6"/>
            <a:ext cx="10515600" cy="1104752"/>
          </a:xfrm>
        </p:spPr>
        <p:txBody>
          <a:bodyPr/>
          <a:lstStyle/>
          <a:p>
            <a:r>
              <a:rPr lang="en-US" dirty="0"/>
              <a:t>Syed Ismail Hossain </a:t>
            </a:r>
            <a:r>
              <a:rPr lang="en-US" dirty="0" err="1"/>
              <a:t>Shiraji</a:t>
            </a:r>
            <a:endParaRPr lang="en-US" dirty="0"/>
          </a:p>
        </p:txBody>
      </p:sp>
      <p:sp>
        <p:nvSpPr>
          <p:cNvPr id="3" name="Content Placeholder 2"/>
          <p:cNvSpPr>
            <a:spLocks noGrp="1"/>
          </p:cNvSpPr>
          <p:nvPr>
            <p:ph idx="1"/>
          </p:nvPr>
        </p:nvSpPr>
        <p:spPr/>
        <p:txBody>
          <a:bodyPr anchor="ctr"/>
          <a:lstStyle/>
          <a:p>
            <a:pPr algn="just"/>
            <a:r>
              <a:rPr lang="en-US" dirty="0"/>
              <a:t>Syed Ismail Hossain </a:t>
            </a:r>
            <a:r>
              <a:rPr lang="en-US" dirty="0" err="1"/>
              <a:t>Shiraji</a:t>
            </a:r>
            <a:r>
              <a:rPr lang="en-US" dirty="0"/>
              <a:t> (1880-1931) was born in </a:t>
            </a:r>
            <a:r>
              <a:rPr lang="en-US" dirty="0" err="1"/>
              <a:t>Sirajganj</a:t>
            </a:r>
            <a:r>
              <a:rPr lang="en-US" dirty="0"/>
              <a:t>, </a:t>
            </a:r>
            <a:r>
              <a:rPr lang="en-US" dirty="0" err="1"/>
              <a:t>Pabna</a:t>
            </a:r>
            <a:r>
              <a:rPr lang="en-US" dirty="0"/>
              <a:t>. He was a writer, orator and peasant leader. He was anti British and organized movements against the British. He suffixed the term </a:t>
            </a:r>
            <a:r>
              <a:rPr lang="en-US" dirty="0" err="1"/>
              <a:t>Shiraji</a:t>
            </a:r>
            <a:r>
              <a:rPr lang="en-US" dirty="0"/>
              <a:t> with his name for his love of the place where he was born in the year 1880 and died in 1931. Ismail Hossain </a:t>
            </a:r>
            <a:r>
              <a:rPr lang="en-US" dirty="0" err="1"/>
              <a:t>Shiraji</a:t>
            </a:r>
            <a:r>
              <a:rPr lang="en-US" dirty="0"/>
              <a:t> also inspired the Rebel Poet </a:t>
            </a:r>
            <a:r>
              <a:rPr lang="en-US" dirty="0" err="1"/>
              <a:t>Kazi</a:t>
            </a:r>
            <a:r>
              <a:rPr lang="en-US" dirty="0"/>
              <a:t> </a:t>
            </a:r>
            <a:r>
              <a:rPr lang="en-US" dirty="0" err="1"/>
              <a:t>Nazrul</a:t>
            </a:r>
            <a:r>
              <a:rPr lang="en-US" dirty="0"/>
              <a:t> Islam (1899 -1976). Poet </a:t>
            </a:r>
            <a:r>
              <a:rPr lang="en-US" dirty="0" err="1"/>
              <a:t>Nazrul</a:t>
            </a:r>
            <a:r>
              <a:rPr lang="en-US" dirty="0"/>
              <a:t>, born 19 years after his birth, was greatly inspired by his speech and the books he published at that time, most of which were anti-British and caused </a:t>
            </a:r>
            <a:r>
              <a:rPr lang="en-US" dirty="0" err="1"/>
              <a:t>Siraji</a:t>
            </a:r>
            <a:r>
              <a:rPr lang="en-US" dirty="0"/>
              <a:t> to suffer much at the hand of the British who imprisoned him and then confiscated his book </a:t>
            </a:r>
            <a:r>
              <a:rPr lang="en-US" i="1" dirty="0"/>
              <a:t>Anal </a:t>
            </a:r>
            <a:r>
              <a:rPr lang="en-US" i="1" dirty="0" err="1"/>
              <a:t>Probaho</a:t>
            </a:r>
            <a:r>
              <a:rPr lang="en-US" dirty="0"/>
              <a:t> (</a:t>
            </a:r>
            <a:r>
              <a:rPr lang="en-US" i="1" dirty="0"/>
              <a:t>Waves of Fire</a:t>
            </a:r>
            <a:r>
              <a:rPr lang="en-US" dirty="0"/>
              <a:t>).</a:t>
            </a:r>
          </a:p>
          <a:p>
            <a:endParaRPr lang="en-US" dirty="0"/>
          </a:p>
        </p:txBody>
      </p:sp>
    </p:spTree>
    <p:extLst>
      <p:ext uri="{BB962C8B-B14F-4D97-AF65-F5344CB8AC3E}">
        <p14:creationId xmlns:p14="http://schemas.microsoft.com/office/powerpoint/2010/main" val="70972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Syed Ismail Hossain </a:t>
            </a:r>
            <a:r>
              <a:rPr lang="en-US" dirty="0" err="1"/>
              <a:t>Shiraji</a:t>
            </a:r>
            <a:r>
              <a:rPr lang="en-US" dirty="0"/>
              <a:t> </a:t>
            </a:r>
          </a:p>
        </p:txBody>
      </p:sp>
      <p:pic>
        <p:nvPicPr>
          <p:cNvPr id="4" name="Content Placeholder 3"/>
          <p:cNvPicPr>
            <a:picLocks noGrp="1" noChangeAspect="1"/>
          </p:cNvPicPr>
          <p:nvPr>
            <p:ph idx="1"/>
          </p:nvPr>
        </p:nvPicPr>
        <p:blipFill>
          <a:blip r:embed="rId2"/>
          <a:stretch>
            <a:fillRect/>
          </a:stretch>
        </p:blipFill>
        <p:spPr>
          <a:xfrm>
            <a:off x="4264351" y="2082006"/>
            <a:ext cx="3379461" cy="3838575"/>
          </a:xfrm>
          <a:prstGeom prst="rect">
            <a:avLst/>
          </a:prstGeom>
        </p:spPr>
      </p:pic>
    </p:spTree>
    <p:extLst>
      <p:ext uri="{BB962C8B-B14F-4D97-AF65-F5344CB8AC3E}">
        <p14:creationId xmlns:p14="http://schemas.microsoft.com/office/powerpoint/2010/main" val="2229649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93656"/>
          </a:xfrm>
        </p:spPr>
        <p:txBody>
          <a:bodyPr/>
          <a:lstStyle/>
          <a:p>
            <a:r>
              <a:rPr lang="en-US" dirty="0" err="1"/>
              <a:t>Kazi</a:t>
            </a:r>
            <a:r>
              <a:rPr lang="en-US" dirty="0"/>
              <a:t> </a:t>
            </a:r>
            <a:r>
              <a:rPr lang="en-US" dirty="0" err="1"/>
              <a:t>Nazrul</a:t>
            </a:r>
            <a:r>
              <a:rPr lang="en-US" dirty="0"/>
              <a:t> Islam </a:t>
            </a:r>
          </a:p>
        </p:txBody>
      </p:sp>
      <p:sp>
        <p:nvSpPr>
          <p:cNvPr id="5" name="Content Placeholder 4"/>
          <p:cNvSpPr>
            <a:spLocks noGrp="1"/>
          </p:cNvSpPr>
          <p:nvPr>
            <p:ph idx="1"/>
          </p:nvPr>
        </p:nvSpPr>
        <p:spPr>
          <a:xfrm>
            <a:off x="838200" y="1358782"/>
            <a:ext cx="10515600" cy="4843819"/>
          </a:xfrm>
        </p:spPr>
        <p:txBody>
          <a:bodyPr/>
          <a:lstStyle/>
          <a:p>
            <a:pPr marL="0" indent="0">
              <a:buNone/>
            </a:pPr>
            <a:r>
              <a:rPr lang="en-US" b="1" dirty="0"/>
              <a:t>Islam, </a:t>
            </a:r>
            <a:r>
              <a:rPr lang="en-US" b="1" dirty="0" err="1"/>
              <a:t>Kazi</a:t>
            </a:r>
            <a:r>
              <a:rPr lang="en-US" b="1" dirty="0"/>
              <a:t> </a:t>
            </a:r>
            <a:r>
              <a:rPr lang="en-US" b="1" dirty="0" err="1"/>
              <a:t>Nazrul</a:t>
            </a:r>
            <a:r>
              <a:rPr lang="en-US" dirty="0"/>
              <a:t> (1899-1976) national poet of Bangladesh, called the 'rebel poet' for his brave resistance to </a:t>
            </a:r>
            <a:r>
              <a:rPr lang="en-US" dirty="0">
                <a:solidFill>
                  <a:srgbClr val="FF0000"/>
                </a:solidFill>
              </a:rPr>
              <a:t>all forms of repression</a:t>
            </a:r>
            <a:r>
              <a:rPr lang="en-US" dirty="0"/>
              <a:t>. His poetry, with its vibrant rhythms and iconoclastic themes, forms a striking contrast to </a:t>
            </a:r>
            <a:r>
              <a:rPr lang="en-US" u="sng" cap="small" dirty="0" err="1">
                <a:hlinkClick r:id="rId2" tooltip="Tagore, Rabindranath"/>
              </a:rPr>
              <a:t>rabindranath</a:t>
            </a:r>
            <a:r>
              <a:rPr lang="en-US" u="sng" cap="small" dirty="0">
                <a:hlinkClick r:id="rId2" tooltip="Tagore, Rabindranath"/>
              </a:rPr>
              <a:t> </a:t>
            </a:r>
            <a:r>
              <a:rPr lang="en-US" u="sng" cap="small" dirty="0" err="1">
                <a:hlinkClick r:id="rId2" tooltip="Tagore, Rabindranath"/>
              </a:rPr>
              <a:t>tagore</a:t>
            </a:r>
            <a:r>
              <a:rPr lang="en-US" cap="small" dirty="0" err="1">
                <a:hlinkClick r:id="rId2" tooltip="Tagore, Rabindranath"/>
              </a:rPr>
              <a:t>'s</a:t>
            </a:r>
            <a:r>
              <a:rPr lang="en-US" dirty="0"/>
              <a:t> poetry. Though he had great regard and admiration for the older poets and writers, he did not </a:t>
            </a:r>
            <a:r>
              <a:rPr lang="en-US" dirty="0">
                <a:solidFill>
                  <a:srgbClr val="FF0000"/>
                </a:solidFill>
              </a:rPr>
              <a:t>imitate </a:t>
            </a:r>
            <a:r>
              <a:rPr lang="en-US" dirty="0"/>
              <a:t>any poet or writer, even not Rabindranath, though it was a fashion of the day.</a:t>
            </a:r>
          </a:p>
          <a:p>
            <a:pPr marL="0" indent="0">
              <a:buNone/>
            </a:pPr>
            <a:endParaRPr lang="en-US" dirty="0"/>
          </a:p>
        </p:txBody>
      </p:sp>
      <p:pic>
        <p:nvPicPr>
          <p:cNvPr id="3" name="Picture 2"/>
          <p:cNvPicPr>
            <a:picLocks noChangeAspect="1"/>
          </p:cNvPicPr>
          <p:nvPr/>
        </p:nvPicPr>
        <p:blipFill>
          <a:blip r:embed="rId3"/>
          <a:stretch>
            <a:fillRect/>
          </a:stretch>
        </p:blipFill>
        <p:spPr>
          <a:xfrm>
            <a:off x="6229884" y="3845607"/>
            <a:ext cx="2544820" cy="2657743"/>
          </a:xfrm>
          <a:prstGeom prst="rect">
            <a:avLst/>
          </a:prstGeom>
        </p:spPr>
      </p:pic>
    </p:spTree>
    <p:extLst>
      <p:ext uri="{BB962C8B-B14F-4D97-AF65-F5344CB8AC3E}">
        <p14:creationId xmlns:p14="http://schemas.microsoft.com/office/powerpoint/2010/main" val="31209680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DD26F3-6826-4F14-9E95-9E04D53E1F37}"/>
              </a:ext>
            </a:extLst>
          </p:cNvPr>
          <p:cNvSpPr>
            <a:spLocks noGrp="1"/>
          </p:cNvSpPr>
          <p:nvPr>
            <p:ph idx="1"/>
          </p:nvPr>
        </p:nvSpPr>
        <p:spPr>
          <a:xfrm>
            <a:off x="2582333" y="2531533"/>
            <a:ext cx="6714067" cy="1600199"/>
          </a:xfrm>
        </p:spPr>
        <p:txBody>
          <a:bodyPr/>
          <a:lstStyle/>
          <a:p>
            <a:pPr marL="0" indent="0">
              <a:buNone/>
            </a:pPr>
            <a:r>
              <a:rPr lang="as-IN" b="1" u="none" strike="noStrike" dirty="0">
                <a:solidFill>
                  <a:srgbClr val="FF0000"/>
                </a:solidFill>
                <a:effectLst/>
                <a:latin typeface="Google Sans"/>
              </a:rPr>
              <a:t>মোরা এক বৃন্তে দু'টি কুসুম হিন্দু-মুসলমান।</a:t>
            </a:r>
            <a:br>
              <a:rPr lang="as-IN" dirty="0">
                <a:solidFill>
                  <a:srgbClr val="FF0000"/>
                </a:solidFill>
              </a:rPr>
            </a:br>
            <a:r>
              <a:rPr lang="as-IN" b="1" u="none" strike="noStrike" dirty="0">
                <a:solidFill>
                  <a:srgbClr val="FF0000"/>
                </a:solidFill>
                <a:effectLst/>
                <a:latin typeface="Google Sans"/>
              </a:rPr>
              <a:t>মুসলিম তার নয়ন-মণি, হিন্দু তাহার প্রাণ॥</a:t>
            </a:r>
            <a:endParaRPr lang="en-US" dirty="0">
              <a:solidFill>
                <a:srgbClr val="FF0000"/>
              </a:solidFill>
            </a:endParaRPr>
          </a:p>
        </p:txBody>
      </p:sp>
    </p:spTree>
    <p:extLst>
      <p:ext uri="{BB962C8B-B14F-4D97-AF65-F5344CB8AC3E}">
        <p14:creationId xmlns:p14="http://schemas.microsoft.com/office/powerpoint/2010/main" val="806553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t>Through literature, journalism and political activism, </a:t>
            </a:r>
            <a:r>
              <a:rPr lang="en-US" dirty="0" err="1"/>
              <a:t>Nazrul</a:t>
            </a:r>
            <a:r>
              <a:rPr lang="en-US" dirty="0"/>
              <a:t> fought against </a:t>
            </a:r>
            <a:r>
              <a:rPr lang="en-US" dirty="0">
                <a:solidFill>
                  <a:srgbClr val="FF0000"/>
                </a:solidFill>
              </a:rPr>
              <a:t>foreign rule, communalism, imperialism, colonialism, fundamentalism and exploitation</a:t>
            </a:r>
            <a:r>
              <a:rPr lang="en-US" dirty="0"/>
              <a:t>. </a:t>
            </a:r>
          </a:p>
          <a:p>
            <a:pPr algn="just"/>
            <a:r>
              <a:rPr lang="en-US" dirty="0"/>
              <a:t>In response, the British colonial government proscribed his books and newspapers and put him </a:t>
            </a:r>
            <a:r>
              <a:rPr lang="en-US" dirty="0">
                <a:solidFill>
                  <a:srgbClr val="FF0000"/>
                </a:solidFill>
              </a:rPr>
              <a:t>behind bars</a:t>
            </a:r>
            <a:r>
              <a:rPr lang="en-US" dirty="0"/>
              <a:t>. Through his written </a:t>
            </a:r>
            <a:r>
              <a:rPr lang="en-US" i="1" dirty="0" err="1"/>
              <a:t>Rajbandir</a:t>
            </a:r>
            <a:r>
              <a:rPr lang="en-US" i="1" dirty="0"/>
              <a:t> </a:t>
            </a:r>
            <a:r>
              <a:rPr lang="en-US" i="1" dirty="0" err="1"/>
              <a:t>Jabanbandi</a:t>
            </a:r>
            <a:r>
              <a:rPr lang="en-US" i="1" dirty="0"/>
              <a:t> </a:t>
            </a:r>
            <a:r>
              <a:rPr lang="en-US" dirty="0"/>
              <a:t>(a political prisoner’s deposition) and his 40-day hunger strike, </a:t>
            </a:r>
            <a:r>
              <a:rPr lang="en-US" dirty="0" err="1"/>
              <a:t>Nazrul</a:t>
            </a:r>
            <a:r>
              <a:rPr lang="en-US" dirty="0"/>
              <a:t> protested against the harassment. In support of him, Rabindranath dedicated one of his books to him.</a:t>
            </a:r>
          </a:p>
        </p:txBody>
      </p:sp>
    </p:spTree>
    <p:extLst>
      <p:ext uri="{BB962C8B-B14F-4D97-AF65-F5344CB8AC3E}">
        <p14:creationId xmlns:p14="http://schemas.microsoft.com/office/powerpoint/2010/main" val="3452499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469" y="309093"/>
            <a:ext cx="11477001" cy="1275008"/>
          </a:xfrm>
        </p:spPr>
        <p:txBody>
          <a:bodyPr>
            <a:normAutofit fontScale="90000"/>
          </a:bodyPr>
          <a:lstStyle/>
          <a:p>
            <a:r>
              <a:rPr lang="en-US" b="1" dirty="0">
                <a:solidFill>
                  <a:srgbClr val="002060"/>
                </a:solidFill>
              </a:rPr>
              <a:t>The Freedom of Intellect Movement in Bengali Muslim Thought, 1926-1938: </a:t>
            </a:r>
            <a:endParaRPr lang="en-US" dirty="0">
              <a:solidFill>
                <a:srgbClr val="002060"/>
              </a:solidFill>
            </a:endParaRPr>
          </a:p>
        </p:txBody>
      </p:sp>
      <p:sp>
        <p:nvSpPr>
          <p:cNvPr id="3" name="Content Placeholder 2"/>
          <p:cNvSpPr>
            <a:spLocks noGrp="1"/>
          </p:cNvSpPr>
          <p:nvPr>
            <p:ph idx="1"/>
          </p:nvPr>
        </p:nvSpPr>
        <p:spPr>
          <a:xfrm>
            <a:off x="495656" y="1648495"/>
            <a:ext cx="11348814" cy="4528467"/>
          </a:xfrm>
        </p:spPr>
        <p:txBody>
          <a:bodyPr anchor="ctr"/>
          <a:lstStyle/>
          <a:p>
            <a:pPr marL="0" indent="0" algn="just">
              <a:buNone/>
            </a:pPr>
            <a:r>
              <a:rPr lang="en-US" dirty="0"/>
              <a:t>The Freedom of Intellect Movement(</a:t>
            </a:r>
            <a:r>
              <a:rPr lang="en-US" dirty="0" err="1">
                <a:solidFill>
                  <a:srgbClr val="FF0000"/>
                </a:solidFill>
              </a:rPr>
              <a:t>Buddhir</a:t>
            </a:r>
            <a:r>
              <a:rPr lang="en-US" dirty="0">
                <a:solidFill>
                  <a:srgbClr val="FF0000"/>
                </a:solidFill>
              </a:rPr>
              <a:t> </a:t>
            </a:r>
            <a:r>
              <a:rPr lang="en-US" dirty="0" err="1">
                <a:solidFill>
                  <a:srgbClr val="FF0000"/>
                </a:solidFill>
              </a:rPr>
              <a:t>Mukti</a:t>
            </a:r>
            <a:r>
              <a:rPr lang="en-US" dirty="0">
                <a:solidFill>
                  <a:srgbClr val="FF0000"/>
                </a:solidFill>
              </a:rPr>
              <a:t> </a:t>
            </a:r>
            <a:r>
              <a:rPr lang="en-US" dirty="0" err="1">
                <a:solidFill>
                  <a:srgbClr val="FF0000"/>
                </a:solidFill>
              </a:rPr>
              <a:t>Andolan</a:t>
            </a:r>
            <a:r>
              <a:rPr lang="en-US" dirty="0"/>
              <a:t>) was a Bengal Renaissance Movement advocating rationality against religious and social dogma in Bengali Muslim society. It was spearheaded by intellectuals in the University of Dhaka during the British Raj.</a:t>
            </a:r>
          </a:p>
          <a:p>
            <a:pPr marL="0" indent="0" algn="just">
              <a:buNone/>
            </a:pPr>
            <a:r>
              <a:rPr lang="en-US" dirty="0"/>
              <a:t>Notable members included </a:t>
            </a:r>
            <a:r>
              <a:rPr lang="en-US" dirty="0" err="1"/>
              <a:t>Kazi</a:t>
            </a:r>
            <a:r>
              <a:rPr lang="en-US" dirty="0"/>
              <a:t> Abdul </a:t>
            </a:r>
            <a:r>
              <a:rPr lang="en-US" dirty="0" err="1"/>
              <a:t>Wadud</a:t>
            </a:r>
            <a:r>
              <a:rPr lang="en-US" dirty="0"/>
              <a:t>, </a:t>
            </a:r>
            <a:r>
              <a:rPr lang="en-US" dirty="0" err="1"/>
              <a:t>Abul</a:t>
            </a:r>
            <a:r>
              <a:rPr lang="en-US" dirty="0"/>
              <a:t> </a:t>
            </a:r>
            <a:r>
              <a:rPr lang="en-US" dirty="0" err="1"/>
              <a:t>Fazal</a:t>
            </a:r>
            <a:r>
              <a:rPr lang="en-US" dirty="0"/>
              <a:t>, Muhammad </a:t>
            </a:r>
            <a:r>
              <a:rPr lang="en-US" dirty="0" err="1"/>
              <a:t>Shahidullah</a:t>
            </a:r>
            <a:r>
              <a:rPr lang="en-US" dirty="0"/>
              <a:t>, </a:t>
            </a:r>
            <a:r>
              <a:rPr lang="en-US" dirty="0" err="1"/>
              <a:t>Qazi</a:t>
            </a:r>
            <a:r>
              <a:rPr lang="en-US" dirty="0"/>
              <a:t> </a:t>
            </a:r>
            <a:r>
              <a:rPr lang="en-US" dirty="0" err="1"/>
              <a:t>Motahar</a:t>
            </a:r>
            <a:r>
              <a:rPr lang="en-US" dirty="0"/>
              <a:t> Hossain, </a:t>
            </a:r>
            <a:r>
              <a:rPr lang="en-US" dirty="0" err="1"/>
              <a:t>Kazi</a:t>
            </a:r>
            <a:r>
              <a:rPr lang="en-US" dirty="0"/>
              <a:t> </a:t>
            </a:r>
            <a:r>
              <a:rPr lang="en-US" dirty="0" err="1"/>
              <a:t>Nazrul</a:t>
            </a:r>
            <a:r>
              <a:rPr lang="en-US" dirty="0"/>
              <a:t> Islam and Abdul </a:t>
            </a:r>
            <a:r>
              <a:rPr lang="en-US" dirty="0" err="1"/>
              <a:t>Quadir</a:t>
            </a:r>
            <a:r>
              <a:rPr lang="en-US" dirty="0"/>
              <a:t>.</a:t>
            </a:r>
          </a:p>
        </p:txBody>
      </p:sp>
    </p:spTree>
    <p:extLst>
      <p:ext uri="{BB962C8B-B14F-4D97-AF65-F5344CB8AC3E}">
        <p14:creationId xmlns:p14="http://schemas.microsoft.com/office/powerpoint/2010/main" val="7194112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8385"/>
            <a:ext cx="11035748" cy="5638578"/>
          </a:xfrm>
        </p:spPr>
        <p:txBody>
          <a:bodyPr>
            <a:normAutofit/>
          </a:bodyPr>
          <a:lstStyle/>
          <a:p>
            <a:pPr algn="just"/>
            <a:r>
              <a:rPr lang="en-US" dirty="0"/>
              <a:t>Shikha the mouthpiece of the M</a:t>
            </a:r>
            <a:r>
              <a:rPr lang="en-US" dirty="0">
                <a:hlinkClick r:id="rId2" tooltip="Muslim Sahitya-Samaj">
                  <a:extLst>
                    <a:ext uri="{A12FA001-AC4F-418D-AE19-62706E023703}">
                      <ahyp:hlinkClr xmlns:ahyp="http://schemas.microsoft.com/office/drawing/2018/hyperlinkcolor" val="tx"/>
                    </a:ext>
                  </a:extLst>
                </a:hlinkClick>
              </a:rPr>
              <a:t>uslim Sahitya-</a:t>
            </a:r>
            <a:r>
              <a:rPr lang="en-US" dirty="0" err="1">
                <a:hlinkClick r:id="rId2" tooltip="Muslim Sahitya-Samaj">
                  <a:extLst>
                    <a:ext uri="{A12FA001-AC4F-418D-AE19-62706E023703}">
                      <ahyp:hlinkClr xmlns:ahyp="http://schemas.microsoft.com/office/drawing/2018/hyperlinkcolor" val="tx"/>
                    </a:ext>
                  </a:extLst>
                </a:hlinkClick>
              </a:rPr>
              <a:t>Samaj</a:t>
            </a:r>
            <a:r>
              <a:rPr lang="en-US" dirty="0"/>
              <a:t> or literary society founded in Dhaka in 1926. </a:t>
            </a:r>
            <a:r>
              <a:rPr lang="en-US" dirty="0" err="1"/>
              <a:t>Shikha</a:t>
            </a:r>
            <a:r>
              <a:rPr lang="en-US" dirty="0"/>
              <a:t> was totally different from other contemporary periodicals. It drew due attention of the intellectuals with its very first issue. As it contained reports on the year-long activities of the Muslim </a:t>
            </a:r>
            <a:r>
              <a:rPr lang="en-US" dirty="0" err="1"/>
              <a:t>Sahitya-Samaj</a:t>
            </a:r>
            <a:r>
              <a:rPr lang="en-US" dirty="0"/>
              <a:t>, it naturally attracted the keen interest of its readers. </a:t>
            </a:r>
          </a:p>
          <a:p>
            <a:pPr algn="just"/>
            <a:r>
              <a:rPr lang="en-US" dirty="0"/>
              <a:t>The mast of every issue of the journal carried this slogan: </a:t>
            </a:r>
            <a:r>
              <a:rPr lang="en-US" dirty="0">
                <a:solidFill>
                  <a:srgbClr val="FF0000"/>
                </a:solidFill>
              </a:rPr>
              <a:t>'Where knowledge is limited, intellect is inert, freedom is impossible.'(</a:t>
            </a:r>
            <a:r>
              <a:rPr lang="as-IN" dirty="0">
                <a:solidFill>
                  <a:srgbClr val="FF0000"/>
                </a:solidFill>
              </a:rPr>
              <a:t>‘জ্ঞান যেখানে সীমাবদ্ধ, বুদ্ধি সেখানে আড়ষ্ট, মুক্তি সেখানে অসম্ভব’ </a:t>
            </a:r>
            <a:r>
              <a:rPr lang="en-US" dirty="0"/>
              <a:t>).This slogan was regarded by the journal's writers as their motto or guiding principle.</a:t>
            </a:r>
          </a:p>
        </p:txBody>
      </p:sp>
    </p:spTree>
    <p:extLst>
      <p:ext uri="{BB962C8B-B14F-4D97-AF65-F5344CB8AC3E}">
        <p14:creationId xmlns:p14="http://schemas.microsoft.com/office/powerpoint/2010/main" val="42475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953037"/>
            <a:ext cx="11087637" cy="4572000"/>
          </a:xfrm>
        </p:spPr>
        <p:txBody>
          <a:bodyPr>
            <a:normAutofit/>
          </a:bodyPr>
          <a:lstStyle/>
          <a:p>
            <a:pPr algn="just"/>
            <a:r>
              <a:rPr lang="en-US" dirty="0"/>
              <a:t>Some enlightened Muslim groups like the Muslim Sahitya </a:t>
            </a:r>
            <a:r>
              <a:rPr lang="en-US" dirty="0" err="1"/>
              <a:t>Samaj</a:t>
            </a:r>
            <a:r>
              <a:rPr lang="en-US" dirty="0"/>
              <a:t> (founded in Dacca in 1926) launched parallel movements against such communal positions. </a:t>
            </a:r>
          </a:p>
          <a:p>
            <a:pPr algn="just"/>
            <a:r>
              <a:rPr lang="en-US" dirty="0"/>
              <a:t>The </a:t>
            </a:r>
            <a:r>
              <a:rPr lang="en-US" i="1" dirty="0" err="1">
                <a:solidFill>
                  <a:srgbClr val="FF0000"/>
                </a:solidFill>
              </a:rPr>
              <a:t>Buddhir</a:t>
            </a:r>
            <a:r>
              <a:rPr lang="en-US" i="1" dirty="0">
                <a:solidFill>
                  <a:srgbClr val="FF0000"/>
                </a:solidFill>
              </a:rPr>
              <a:t> Mukti </a:t>
            </a:r>
            <a:r>
              <a:rPr lang="en-US" i="1" dirty="0" err="1">
                <a:solidFill>
                  <a:srgbClr val="FF0000"/>
                </a:solidFill>
              </a:rPr>
              <a:t>Andolon</a:t>
            </a:r>
            <a:r>
              <a:rPr lang="en-US" i="1" dirty="0">
                <a:solidFill>
                  <a:srgbClr val="FF0000"/>
                </a:solidFill>
              </a:rPr>
              <a:t> </a:t>
            </a:r>
            <a:r>
              <a:rPr lang="en-US" dirty="0"/>
              <a:t>(movement for the emancipation of the intellect) tried to connect the idea of Muslim identity with the concept of ‘Pan-Indian identity’ through its mouthpiece </a:t>
            </a:r>
            <a:r>
              <a:rPr lang="en-US" dirty="0" err="1"/>
              <a:t>Siksha</a:t>
            </a:r>
            <a:r>
              <a:rPr lang="en-US" dirty="0"/>
              <a:t>. </a:t>
            </a:r>
            <a:r>
              <a:rPr lang="en-US" dirty="0" err="1"/>
              <a:t>Kazi</a:t>
            </a:r>
            <a:r>
              <a:rPr lang="en-US" dirty="0"/>
              <a:t> Abdul </a:t>
            </a:r>
            <a:r>
              <a:rPr lang="en-US" dirty="0" err="1"/>
              <a:t>Wadud</a:t>
            </a:r>
            <a:r>
              <a:rPr lang="en-US" dirty="0"/>
              <a:t>, one of its leading members, argued, a ‘Bengali Muslim is a human being first by the right of his birth, then a Bengali by being made of the soil of Bengal, and then a Muslim, and a Bengali Muslim last’ (</a:t>
            </a:r>
            <a:r>
              <a:rPr lang="en-US" dirty="0" err="1">
                <a:solidFill>
                  <a:srgbClr val="002060"/>
                </a:solidFill>
              </a:rPr>
              <a:t>Anindita</a:t>
            </a:r>
            <a:r>
              <a:rPr lang="en-US" dirty="0">
                <a:solidFill>
                  <a:srgbClr val="002060"/>
                </a:solidFill>
              </a:rPr>
              <a:t> </a:t>
            </a:r>
            <a:r>
              <a:rPr lang="en-US" dirty="0" err="1">
                <a:solidFill>
                  <a:srgbClr val="002060"/>
                </a:solidFill>
              </a:rPr>
              <a:t>Ghoshal</a:t>
            </a:r>
            <a:r>
              <a:rPr lang="en-US" dirty="0"/>
              <a:t>, </a:t>
            </a:r>
            <a:r>
              <a:rPr lang="en-US" i="1" dirty="0">
                <a:solidFill>
                  <a:srgbClr val="002060"/>
                </a:solidFill>
              </a:rPr>
              <a:t>Refugees, Borders and Identities</a:t>
            </a:r>
            <a:r>
              <a:rPr lang="en-US" i="1" dirty="0"/>
              <a:t>, </a:t>
            </a:r>
            <a:r>
              <a:rPr lang="en-US" dirty="0"/>
              <a:t>London,  2021</a:t>
            </a:r>
            <a:r>
              <a:rPr lang="en-US" i="1" dirty="0"/>
              <a:t>, </a:t>
            </a:r>
            <a:r>
              <a:rPr lang="en-US" dirty="0"/>
              <a:t>pages 16-17).</a:t>
            </a:r>
          </a:p>
          <a:p>
            <a:pPr marL="0" indent="0" algn="just">
              <a:buNone/>
            </a:pPr>
            <a:endParaRPr lang="en-US" dirty="0"/>
          </a:p>
          <a:p>
            <a:pPr algn="just"/>
            <a:endParaRPr lang="en-US" dirty="0"/>
          </a:p>
        </p:txBody>
      </p:sp>
    </p:spTree>
    <p:extLst>
      <p:ext uri="{BB962C8B-B14F-4D97-AF65-F5344CB8AC3E}">
        <p14:creationId xmlns:p14="http://schemas.microsoft.com/office/powerpoint/2010/main" val="2655528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246692" y="1256232"/>
            <a:ext cx="3028416" cy="4425468"/>
          </a:xfrm>
          <a:prstGeom prst="rect">
            <a:avLst/>
          </a:prstGeom>
        </p:spPr>
      </p:pic>
      <p:pic>
        <p:nvPicPr>
          <p:cNvPr id="5" name="Picture 4"/>
          <p:cNvPicPr>
            <a:picLocks noChangeAspect="1"/>
          </p:cNvPicPr>
          <p:nvPr/>
        </p:nvPicPr>
        <p:blipFill rotWithShape="1">
          <a:blip r:embed="rId3"/>
          <a:srcRect b="25340"/>
          <a:stretch/>
        </p:blipFill>
        <p:spPr>
          <a:xfrm>
            <a:off x="154546" y="2315911"/>
            <a:ext cx="8092146" cy="3008119"/>
          </a:xfrm>
          <a:prstGeom prst="rect">
            <a:avLst/>
          </a:prstGeom>
        </p:spPr>
      </p:pic>
    </p:spTree>
    <p:extLst>
      <p:ext uri="{BB962C8B-B14F-4D97-AF65-F5344CB8AC3E}">
        <p14:creationId xmlns:p14="http://schemas.microsoft.com/office/powerpoint/2010/main" val="845234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808</TotalTime>
  <Words>1756</Words>
  <Application>Microsoft Office PowerPoint</Application>
  <PresentationFormat>Widescreen</PresentationFormat>
  <Paragraphs>71</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Calibri Light</vt:lpstr>
      <vt:lpstr>Google Sans</vt:lpstr>
      <vt:lpstr>Times New Roman</vt:lpstr>
      <vt:lpstr>Wingdings</vt:lpstr>
      <vt:lpstr>Office Theme</vt:lpstr>
      <vt:lpstr>Bengali Muslim Renaissance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Aligarh Movement of Sir Syed Ahmed Khan</vt:lpstr>
      <vt:lpstr>Sir Syed Ahmed intends to achieve two goals:</vt:lpstr>
      <vt:lpstr>PowerPoint Presentation</vt:lpstr>
      <vt:lpstr>Causes of the Indian Revolt of 1857:</vt:lpstr>
      <vt:lpstr>PowerPoint Presentation</vt:lpstr>
      <vt:lpstr>Sir Syed Ahmed Khan’s Religious Reformation: </vt:lpstr>
      <vt:lpstr>Sir Syed Ahmed Khan’s  Educational Reforms: </vt:lpstr>
      <vt:lpstr>PowerPoint Presentation</vt:lpstr>
      <vt:lpstr>Other Muslim reformers at a glance:</vt:lpstr>
      <vt:lpstr>Syed Ismail Hossain Shiraji</vt:lpstr>
      <vt:lpstr>Syed Ismail Hossain Shiraji </vt:lpstr>
      <vt:lpstr>Kazi Nazrul Islam </vt:lpstr>
      <vt:lpstr>PowerPoint Presentation</vt:lpstr>
      <vt:lpstr>PowerPoint Presentation</vt:lpstr>
      <vt:lpstr>The Freedom of Intellect Movement in Bengali Muslim Thought, 1926-1938: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Bengal Muslim Renaissance</dc:title>
  <dc:creator>User</dc:creator>
  <cp:lastModifiedBy>NSU DHP DR. SALEH</cp:lastModifiedBy>
  <cp:revision>372</cp:revision>
  <dcterms:created xsi:type="dcterms:W3CDTF">2020-11-24T13:27:39Z</dcterms:created>
  <dcterms:modified xsi:type="dcterms:W3CDTF">2026-06-28T06:33:38Z</dcterms:modified>
</cp:coreProperties>
</file>