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64" r:id="rId1"/>
  </p:sldMasterIdLst>
  <p:sldIdLst>
    <p:sldId id="256" r:id="rId2"/>
    <p:sldId id="262" r:id="rId3"/>
    <p:sldId id="323" r:id="rId4"/>
    <p:sldId id="259" r:id="rId5"/>
    <p:sldId id="260" r:id="rId6"/>
    <p:sldId id="317" r:id="rId7"/>
    <p:sldId id="318" r:id="rId8"/>
    <p:sldId id="316" r:id="rId9"/>
    <p:sldId id="321" r:id="rId10"/>
    <p:sldId id="274" r:id="rId11"/>
    <p:sldId id="275" r:id="rId12"/>
    <p:sldId id="320" r:id="rId13"/>
    <p:sldId id="266" r:id="rId14"/>
    <p:sldId id="269" r:id="rId15"/>
    <p:sldId id="267" r:id="rId16"/>
    <p:sldId id="322" r:id="rId17"/>
    <p:sldId id="291" r:id="rId18"/>
    <p:sldId id="310" r:id="rId19"/>
    <p:sldId id="293" r:id="rId20"/>
    <p:sldId id="295" r:id="rId21"/>
    <p:sldId id="297" r:id="rId22"/>
    <p:sldId id="300" r:id="rId23"/>
    <p:sldId id="299" r:id="rId24"/>
    <p:sldId id="306" r:id="rId25"/>
    <p:sldId id="308" r:id="rId26"/>
    <p:sldId id="312" r:id="rId27"/>
    <p:sldId id="314" r:id="rId28"/>
    <p:sldId id="315" r:id="rId29"/>
    <p:sldId id="289"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5" d="100"/>
          <a:sy n="85" d="100"/>
        </p:scale>
        <p:origin x="180" y="8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5E12B20-861D-4AFF-8521-965162476F4D}" type="datetimeFigureOut">
              <a:rPr lang="en-US" smtClean="0"/>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5D714B-6183-4B7E-9C68-ED42FBACD97F}" type="slidenum">
              <a:rPr lang="en-US" smtClean="0"/>
              <a:t>‹#›</a:t>
            </a:fld>
            <a:endParaRPr lang="en-US"/>
          </a:p>
        </p:txBody>
      </p:sp>
    </p:spTree>
    <p:extLst>
      <p:ext uri="{BB962C8B-B14F-4D97-AF65-F5344CB8AC3E}">
        <p14:creationId xmlns:p14="http://schemas.microsoft.com/office/powerpoint/2010/main" val="1276991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5E12B20-861D-4AFF-8521-965162476F4D}" type="datetimeFigureOut">
              <a:rPr lang="en-US" smtClean="0"/>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5D714B-6183-4B7E-9C68-ED42FBACD97F}" type="slidenum">
              <a:rPr lang="en-US" smtClean="0"/>
              <a:t>‹#›</a:t>
            </a:fld>
            <a:endParaRPr lang="en-US"/>
          </a:p>
        </p:txBody>
      </p:sp>
    </p:spTree>
    <p:extLst>
      <p:ext uri="{BB962C8B-B14F-4D97-AF65-F5344CB8AC3E}">
        <p14:creationId xmlns:p14="http://schemas.microsoft.com/office/powerpoint/2010/main" val="3238102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5E12B20-861D-4AFF-8521-965162476F4D}" type="datetimeFigureOut">
              <a:rPr lang="en-US" smtClean="0"/>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5D714B-6183-4B7E-9C68-ED42FBACD97F}" type="slidenum">
              <a:rPr lang="en-US" smtClean="0"/>
              <a:t>‹#›</a:t>
            </a:fld>
            <a:endParaRPr lang="en-US"/>
          </a:p>
        </p:txBody>
      </p:sp>
    </p:spTree>
    <p:extLst>
      <p:ext uri="{BB962C8B-B14F-4D97-AF65-F5344CB8AC3E}">
        <p14:creationId xmlns:p14="http://schemas.microsoft.com/office/powerpoint/2010/main" val="22014970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5E12B20-861D-4AFF-8521-965162476F4D}" type="datetimeFigureOut">
              <a:rPr lang="en-US" smtClean="0"/>
              <a:t>6/9/2026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5D714B-6183-4B7E-9C68-ED42FBACD97F}" type="slidenum">
              <a:rPr lang="en-US" smtClean="0"/>
              <a:t>‹#›</a:t>
            </a:fld>
            <a:endParaRPr lang="en-US"/>
          </a:p>
        </p:txBody>
      </p:sp>
    </p:spTree>
    <p:extLst>
      <p:ext uri="{BB962C8B-B14F-4D97-AF65-F5344CB8AC3E}">
        <p14:creationId xmlns:p14="http://schemas.microsoft.com/office/powerpoint/2010/main" val="15554149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5E12B20-861D-4AFF-8521-965162476F4D}" type="datetimeFigureOut">
              <a:rPr lang="en-US" smtClean="0"/>
              <a:t>6/9/2026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15D714B-6183-4B7E-9C68-ED42FBACD97F}" type="slidenum">
              <a:rPr lang="en-US" smtClean="0"/>
              <a:t>‹#›</a:t>
            </a:fld>
            <a:endParaRPr lang="en-US"/>
          </a:p>
        </p:txBody>
      </p:sp>
    </p:spTree>
    <p:extLst>
      <p:ext uri="{BB962C8B-B14F-4D97-AF65-F5344CB8AC3E}">
        <p14:creationId xmlns:p14="http://schemas.microsoft.com/office/powerpoint/2010/main" val="29250630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5E12B20-861D-4AFF-8521-965162476F4D}" type="datetimeFigureOut">
              <a:rPr lang="en-US" smtClean="0"/>
              <a:t>6/9/2026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15D714B-6183-4B7E-9C68-ED42FBACD97F}" type="slidenum">
              <a:rPr lang="en-US" smtClean="0"/>
              <a:t>‹#›</a:t>
            </a:fld>
            <a:endParaRPr lang="en-US"/>
          </a:p>
        </p:txBody>
      </p:sp>
    </p:spTree>
    <p:extLst>
      <p:ext uri="{BB962C8B-B14F-4D97-AF65-F5344CB8AC3E}">
        <p14:creationId xmlns:p14="http://schemas.microsoft.com/office/powerpoint/2010/main" val="18363129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5E12B20-861D-4AFF-8521-965162476F4D}" type="datetimeFigureOut">
              <a:rPr lang="en-US" smtClean="0"/>
              <a:t>6/9/2026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15D714B-6183-4B7E-9C68-ED42FBACD97F}" type="slidenum">
              <a:rPr lang="en-US" smtClean="0"/>
              <a:t>‹#›</a:t>
            </a:fld>
            <a:endParaRPr lang="en-US"/>
          </a:p>
        </p:txBody>
      </p:sp>
    </p:spTree>
    <p:extLst>
      <p:ext uri="{BB962C8B-B14F-4D97-AF65-F5344CB8AC3E}">
        <p14:creationId xmlns:p14="http://schemas.microsoft.com/office/powerpoint/2010/main" val="14543288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5E12B20-861D-4AFF-8521-965162476F4D}" type="datetimeFigureOut">
              <a:rPr lang="en-US" smtClean="0"/>
              <a:t>6/9/2026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5D714B-6183-4B7E-9C68-ED42FBACD97F}" type="slidenum">
              <a:rPr lang="en-US" smtClean="0"/>
              <a:t>‹#›</a:t>
            </a:fld>
            <a:endParaRPr lang="en-US"/>
          </a:p>
        </p:txBody>
      </p:sp>
    </p:spTree>
    <p:extLst>
      <p:ext uri="{BB962C8B-B14F-4D97-AF65-F5344CB8AC3E}">
        <p14:creationId xmlns:p14="http://schemas.microsoft.com/office/powerpoint/2010/main" val="1936071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5E12B20-861D-4AFF-8521-965162476F4D}" type="datetimeFigureOut">
              <a:rPr lang="en-US" smtClean="0"/>
              <a:t>6/9/2026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5D714B-6183-4B7E-9C68-ED42FBACD97F}" type="slidenum">
              <a:rPr lang="en-US" smtClean="0"/>
              <a:t>‹#›</a:t>
            </a:fld>
            <a:endParaRPr lang="en-US"/>
          </a:p>
        </p:txBody>
      </p:sp>
    </p:spTree>
    <p:extLst>
      <p:ext uri="{BB962C8B-B14F-4D97-AF65-F5344CB8AC3E}">
        <p14:creationId xmlns:p14="http://schemas.microsoft.com/office/powerpoint/2010/main" val="16235339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5E12B20-861D-4AFF-8521-965162476F4D}" type="datetimeFigureOut">
              <a:rPr lang="en-US" smtClean="0"/>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5D714B-6183-4B7E-9C68-ED42FBACD97F}" type="slidenum">
              <a:rPr lang="en-US" smtClean="0"/>
              <a:t>‹#›</a:t>
            </a:fld>
            <a:endParaRPr lang="en-US"/>
          </a:p>
        </p:txBody>
      </p:sp>
    </p:spTree>
    <p:extLst>
      <p:ext uri="{BB962C8B-B14F-4D97-AF65-F5344CB8AC3E}">
        <p14:creationId xmlns:p14="http://schemas.microsoft.com/office/powerpoint/2010/main" val="750432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5E12B20-861D-4AFF-8521-965162476F4D}" type="datetimeFigureOut">
              <a:rPr lang="en-US" smtClean="0"/>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5D714B-6183-4B7E-9C68-ED42FBACD97F}" type="slidenum">
              <a:rPr lang="en-US" smtClean="0"/>
              <a:t>‹#›</a:t>
            </a:fld>
            <a:endParaRPr lang="en-US"/>
          </a:p>
        </p:txBody>
      </p:sp>
    </p:spTree>
    <p:extLst>
      <p:ext uri="{BB962C8B-B14F-4D97-AF65-F5344CB8AC3E}">
        <p14:creationId xmlns:p14="http://schemas.microsoft.com/office/powerpoint/2010/main" val="42450109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5E12B20-861D-4AFF-8521-965162476F4D}" type="datetimeFigureOut">
              <a:rPr lang="en-US" smtClean="0"/>
              <a:t>6/9/2026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5D714B-6183-4B7E-9C68-ED42FBACD97F}" type="slidenum">
              <a:rPr lang="en-US" smtClean="0"/>
              <a:t>‹#›</a:t>
            </a:fld>
            <a:endParaRPr lang="en-US"/>
          </a:p>
        </p:txBody>
      </p:sp>
    </p:spTree>
    <p:extLst>
      <p:ext uri="{BB962C8B-B14F-4D97-AF65-F5344CB8AC3E}">
        <p14:creationId xmlns:p14="http://schemas.microsoft.com/office/powerpoint/2010/main" val="2824588999"/>
      </p:ext>
    </p:extLst>
  </p:cSld>
  <p:clrMap bg1="lt1" tx1="dk1" bg2="lt2" tx2="dk2" accent1="accent1" accent2="accent2" accent3="accent3" accent4="accent4" accent5="accent5" accent6="accent6" hlink="hlink" folHlink="folHlink"/>
  <p:sldLayoutIdLst>
    <p:sldLayoutId id="2147484065" r:id="rId1"/>
    <p:sldLayoutId id="2147484066" r:id="rId2"/>
    <p:sldLayoutId id="2147484067" r:id="rId3"/>
    <p:sldLayoutId id="2147484068" r:id="rId4"/>
    <p:sldLayoutId id="2147484069" r:id="rId5"/>
    <p:sldLayoutId id="2147484070" r:id="rId6"/>
    <p:sldLayoutId id="2147484071" r:id="rId7"/>
    <p:sldLayoutId id="2147484072" r:id="rId8"/>
    <p:sldLayoutId id="2147484073" r:id="rId9"/>
    <p:sldLayoutId id="2147484074" r:id="rId10"/>
    <p:sldLayoutId id="214748407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1.xml"/><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495655" y="376015"/>
            <a:ext cx="10818976" cy="5734227"/>
          </a:xfrm>
        </p:spPr>
        <p:txBody>
          <a:bodyPr>
            <a:normAutofit/>
          </a:bodyPr>
          <a:lstStyle/>
          <a:p>
            <a:endParaRPr lang="en-US" sz="3600" dirty="0"/>
          </a:p>
          <a:p>
            <a:r>
              <a:rPr lang="en-US" sz="3600" i="1"/>
              <a:t>Emergence </a:t>
            </a:r>
            <a:r>
              <a:rPr lang="en-US" sz="3600" i="1" dirty="0"/>
              <a:t>of Bangladesh </a:t>
            </a:r>
            <a:endParaRPr lang="en-US" sz="3600" dirty="0"/>
          </a:p>
          <a:p>
            <a:r>
              <a:rPr lang="en-US" sz="3600" dirty="0"/>
              <a:t>North South University</a:t>
            </a:r>
          </a:p>
          <a:p>
            <a:r>
              <a:rPr lang="en-US" sz="3600" dirty="0"/>
              <a:t>Dhaka, Bangladesh </a:t>
            </a:r>
          </a:p>
          <a:p>
            <a:r>
              <a:rPr lang="en-US" sz="3600" dirty="0"/>
              <a:t>HIS 103</a:t>
            </a:r>
          </a:p>
          <a:p>
            <a:endParaRPr lang="en-US" sz="3600" dirty="0"/>
          </a:p>
          <a:p>
            <a:endParaRPr lang="en-US" sz="3600" dirty="0"/>
          </a:p>
          <a:p>
            <a:endParaRPr lang="en-US" sz="3600" dirty="0"/>
          </a:p>
          <a:p>
            <a:endParaRPr lang="en-US" sz="3600" dirty="0"/>
          </a:p>
          <a:p>
            <a:endParaRPr lang="en-US" sz="3600" dirty="0"/>
          </a:p>
          <a:p>
            <a:endParaRPr lang="en-US" sz="3600" dirty="0"/>
          </a:p>
          <a:p>
            <a:endParaRPr lang="en-US" sz="3600" dirty="0"/>
          </a:p>
          <a:p>
            <a:endParaRPr lang="en-US" sz="3600" dirty="0"/>
          </a:p>
          <a:p>
            <a:endParaRPr lang="en-US" sz="3600" dirty="0"/>
          </a:p>
        </p:txBody>
      </p:sp>
    </p:spTree>
    <p:extLst>
      <p:ext uri="{BB962C8B-B14F-4D97-AF65-F5344CB8AC3E}">
        <p14:creationId xmlns:p14="http://schemas.microsoft.com/office/powerpoint/2010/main" val="2772427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48177" y="2833510"/>
            <a:ext cx="10196293" cy="1004711"/>
          </a:xfrm>
        </p:spPr>
        <p:txBody>
          <a:bodyPr>
            <a:normAutofit/>
          </a:bodyPr>
          <a:lstStyle/>
          <a:p>
            <a:pPr marL="0" indent="0">
              <a:buNone/>
            </a:pPr>
            <a:r>
              <a:rPr lang="en-US" sz="3200" dirty="0"/>
              <a:t> The Battle of </a:t>
            </a:r>
            <a:r>
              <a:rPr lang="en-US" sz="3200" dirty="0" err="1"/>
              <a:t>Palashi</a:t>
            </a:r>
            <a:r>
              <a:rPr lang="en-US" sz="3200" dirty="0"/>
              <a:t> for Drug Money &amp; Colonial Takeover </a:t>
            </a:r>
          </a:p>
        </p:txBody>
      </p:sp>
    </p:spTree>
    <p:extLst>
      <p:ext uri="{BB962C8B-B14F-4D97-AF65-F5344CB8AC3E}">
        <p14:creationId xmlns:p14="http://schemas.microsoft.com/office/powerpoint/2010/main" val="35013995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5040E-E6CA-4583-8484-906B473AFAA5}"/>
              </a:ext>
            </a:extLst>
          </p:cNvPr>
          <p:cNvSpPr>
            <a:spLocks noGrp="1"/>
          </p:cNvSpPr>
          <p:nvPr>
            <p:ph type="title"/>
          </p:nvPr>
        </p:nvSpPr>
        <p:spPr>
          <a:xfrm>
            <a:off x="838200" y="2348089"/>
            <a:ext cx="10515600" cy="3454400"/>
          </a:xfrm>
        </p:spPr>
        <p:txBody>
          <a:bodyPr/>
          <a:lstStyle/>
          <a:p>
            <a:pPr algn="ctr"/>
            <a:r>
              <a:rPr lang="en-US" b="1" dirty="0"/>
              <a:t>Part-1</a:t>
            </a:r>
          </a:p>
        </p:txBody>
      </p:sp>
    </p:spTree>
    <p:extLst>
      <p:ext uri="{BB962C8B-B14F-4D97-AF65-F5344CB8AC3E}">
        <p14:creationId xmlns:p14="http://schemas.microsoft.com/office/powerpoint/2010/main" val="674328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p:cNvSpPr>
            <a:spLocks noGrp="1"/>
          </p:cNvSpPr>
          <p:nvPr>
            <p:ph idx="1"/>
          </p:nvPr>
        </p:nvSpPr>
        <p:spPr>
          <a:xfrm>
            <a:off x="581113" y="247829"/>
            <a:ext cx="11451365" cy="5640224"/>
          </a:xfrm>
        </p:spPr>
        <p:txBody>
          <a:bodyPr>
            <a:normAutofit/>
          </a:bodyPr>
          <a:lstStyle/>
          <a:p>
            <a:pPr marL="0" indent="0">
              <a:buNone/>
            </a:pPr>
            <a:endParaRPr lang="en-US" dirty="0"/>
          </a:p>
          <a:p>
            <a:r>
              <a:rPr lang="en-US" sz="2800" dirty="0"/>
              <a:t>The British East India Company (BEIC) was founded in 1600</a:t>
            </a:r>
          </a:p>
          <a:p>
            <a:r>
              <a:rPr lang="en-US" sz="2800" dirty="0"/>
              <a:t>The Company received a “Loyal Charter” from Queen Elizabeth 1 to trade in Indices </a:t>
            </a:r>
          </a:p>
          <a:p>
            <a:r>
              <a:rPr lang="en-US" sz="2800" dirty="0"/>
              <a:t>Initially, the focus of the Company was trade, not empire-building</a:t>
            </a:r>
          </a:p>
          <a:p>
            <a:r>
              <a:rPr lang="en-US" sz="2800" dirty="0"/>
              <a:t>Competition and conflict with the Portuguese and Dutch companies </a:t>
            </a:r>
          </a:p>
          <a:p>
            <a:r>
              <a:rPr lang="en-US" sz="2800" dirty="0"/>
              <a:t> Trading of basic commodities like salt, spices, tea, silk, opium </a:t>
            </a:r>
          </a:p>
          <a:p>
            <a:r>
              <a:rPr lang="en-US" dirty="0"/>
              <a:t>In 1600, the British merchants founded the British East India Company to facilitate taking part in the flourishing opium trade. The victory of </a:t>
            </a:r>
            <a:r>
              <a:rPr lang="en-US" dirty="0" err="1"/>
              <a:t>Plassey</a:t>
            </a:r>
            <a:r>
              <a:rPr lang="en-US" dirty="0"/>
              <a:t> in 1757 provided the British East India Company with </a:t>
            </a:r>
            <a:r>
              <a:rPr lang="en-US" dirty="0">
                <a:solidFill>
                  <a:srgbClr val="FF0000"/>
                </a:solidFill>
              </a:rPr>
              <a:t>a stronger political hold </a:t>
            </a:r>
            <a:r>
              <a:rPr lang="en-US" dirty="0"/>
              <a:t>over the opium trade in Patna and the surrounding poppy growing areas.</a:t>
            </a:r>
            <a:endParaRPr lang="en-US" sz="2800" dirty="0"/>
          </a:p>
          <a:p>
            <a:endParaRPr lang="en-US" sz="2800" dirty="0"/>
          </a:p>
        </p:txBody>
      </p:sp>
    </p:spTree>
    <p:extLst>
      <p:ext uri="{BB962C8B-B14F-4D97-AF65-F5344CB8AC3E}">
        <p14:creationId xmlns:p14="http://schemas.microsoft.com/office/powerpoint/2010/main" val="20342386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4740" y="282011"/>
            <a:ext cx="11280449" cy="6110243"/>
          </a:xfrm>
        </p:spPr>
        <p:txBody>
          <a:bodyPr>
            <a:normAutofit fontScale="55000" lnSpcReduction="20000"/>
          </a:bodyPr>
          <a:lstStyle/>
          <a:p>
            <a:r>
              <a:rPr lang="en-US" sz="5100" dirty="0"/>
              <a:t>In partnership with Dutch and the Portuguese, the English </a:t>
            </a:r>
            <a:r>
              <a:rPr lang="en-US" sz="5100" dirty="0">
                <a:solidFill>
                  <a:srgbClr val="FF0000"/>
                </a:solidFill>
              </a:rPr>
              <a:t>maritime</a:t>
            </a:r>
            <a:r>
              <a:rPr lang="en-US" sz="5100" dirty="0"/>
              <a:t> trader initially came into the Indian Subcontinent. </a:t>
            </a:r>
          </a:p>
          <a:p>
            <a:r>
              <a:rPr lang="en-US" sz="5100" dirty="0"/>
              <a:t>The British </a:t>
            </a:r>
            <a:r>
              <a:rPr lang="en-US" sz="5100" dirty="0">
                <a:solidFill>
                  <a:srgbClr val="FF0000"/>
                </a:solidFill>
              </a:rPr>
              <a:t>naval exploration </a:t>
            </a:r>
            <a:r>
              <a:rPr lang="en-US" sz="5100" dirty="0"/>
              <a:t>goes back to King Henry the VIII from 1491 to 1547</a:t>
            </a:r>
          </a:p>
          <a:p>
            <a:r>
              <a:rPr lang="en-US" sz="5100" dirty="0"/>
              <a:t>In 1613, the English merchant succeeded in securing permission from Emperor Jahangir to establish their </a:t>
            </a:r>
            <a:r>
              <a:rPr lang="en-US" sz="5100" dirty="0">
                <a:solidFill>
                  <a:srgbClr val="FF0000"/>
                </a:solidFill>
              </a:rPr>
              <a:t>first business base </a:t>
            </a:r>
            <a:r>
              <a:rPr lang="en-US" sz="5100" dirty="0"/>
              <a:t>at </a:t>
            </a:r>
            <a:r>
              <a:rPr lang="en-US" sz="5100" dirty="0" err="1"/>
              <a:t>Surat</a:t>
            </a:r>
            <a:endParaRPr lang="en-US" sz="5100" dirty="0"/>
          </a:p>
          <a:p>
            <a:r>
              <a:rPr lang="en-US" sz="5100" dirty="0"/>
              <a:t>In 1639, the BEIC established its business base in Madras</a:t>
            </a:r>
          </a:p>
          <a:p>
            <a:r>
              <a:rPr lang="en-US" sz="5100" dirty="0">
                <a:solidFill>
                  <a:srgbClr val="FF0000"/>
                </a:solidFill>
              </a:rPr>
              <a:t>In 1690, the BEIC secured trade facilities in Kolkata from the </a:t>
            </a:r>
            <a:r>
              <a:rPr lang="en-US" sz="5100" dirty="0" err="1">
                <a:solidFill>
                  <a:srgbClr val="FF0000"/>
                </a:solidFill>
              </a:rPr>
              <a:t>Nawab</a:t>
            </a:r>
            <a:r>
              <a:rPr lang="en-US" sz="5100" dirty="0">
                <a:solidFill>
                  <a:srgbClr val="FF0000"/>
                </a:solidFill>
              </a:rPr>
              <a:t> of Bengal against the payment of </a:t>
            </a:r>
            <a:r>
              <a:rPr lang="en-US" sz="5100" dirty="0" err="1">
                <a:solidFill>
                  <a:srgbClr val="FF0000"/>
                </a:solidFill>
              </a:rPr>
              <a:t>Rs</a:t>
            </a:r>
            <a:r>
              <a:rPr lang="en-US" sz="5100" dirty="0">
                <a:solidFill>
                  <a:srgbClr val="FF0000"/>
                </a:solidFill>
              </a:rPr>
              <a:t>. 1200/-per year</a:t>
            </a:r>
          </a:p>
          <a:p>
            <a:r>
              <a:rPr lang="en-US" sz="5100" dirty="0"/>
              <a:t>In 1717, the English got the </a:t>
            </a:r>
            <a:r>
              <a:rPr lang="en-US" sz="5100" dirty="0">
                <a:solidFill>
                  <a:srgbClr val="FF0000"/>
                </a:solidFill>
              </a:rPr>
              <a:t>free trade access </a:t>
            </a:r>
            <a:r>
              <a:rPr lang="en-US" sz="5100" dirty="0"/>
              <a:t>in Bengal except for paying an annual sum of </a:t>
            </a:r>
            <a:r>
              <a:rPr lang="en-US" sz="5100" dirty="0" err="1"/>
              <a:t>Rs</a:t>
            </a:r>
            <a:r>
              <a:rPr lang="en-US" sz="5100" dirty="0"/>
              <a:t>. 3000/- payable to imperial treasury at </a:t>
            </a:r>
            <a:r>
              <a:rPr lang="en-US" sz="5100" dirty="0" err="1"/>
              <a:t>Hoogly</a:t>
            </a:r>
            <a:r>
              <a:rPr lang="en-US" sz="5100" dirty="0"/>
              <a:t>. </a:t>
            </a:r>
          </a:p>
          <a:p>
            <a:endParaRPr lang="en-US" dirty="0"/>
          </a:p>
          <a:p>
            <a:pPr marL="0" indent="0">
              <a:buNone/>
            </a:pPr>
            <a:endParaRPr lang="en-US" dirty="0"/>
          </a:p>
          <a:p>
            <a:pPr marL="0" indent="0">
              <a:buNone/>
            </a:pPr>
            <a:br>
              <a:rPr lang="en-US" dirty="0"/>
            </a:br>
            <a:endParaRPr lang="en-US" dirty="0"/>
          </a:p>
          <a:p>
            <a:endParaRPr lang="en-US" dirty="0"/>
          </a:p>
        </p:txBody>
      </p:sp>
    </p:spTree>
    <p:extLst>
      <p:ext uri="{BB962C8B-B14F-4D97-AF65-F5344CB8AC3E}">
        <p14:creationId xmlns:p14="http://schemas.microsoft.com/office/powerpoint/2010/main" val="4645689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DC0BF561-A502-4A59-B11A-E503ACFE0B03}"/>
              </a:ext>
            </a:extLst>
          </p:cNvPr>
          <p:cNvPicPr>
            <a:picLocks noGrp="1" noChangeAspect="1"/>
          </p:cNvPicPr>
          <p:nvPr>
            <p:ph idx="1"/>
          </p:nvPr>
        </p:nvPicPr>
        <p:blipFill>
          <a:blip r:embed="rId2"/>
          <a:stretch>
            <a:fillRect/>
          </a:stretch>
        </p:blipFill>
        <p:spPr>
          <a:xfrm>
            <a:off x="2160104" y="1325217"/>
            <a:ext cx="7041046" cy="4657277"/>
          </a:xfrm>
          <a:prstGeom prst="rect">
            <a:avLst/>
          </a:prstGeom>
        </p:spPr>
      </p:pic>
    </p:spTree>
    <p:extLst>
      <p:ext uri="{BB962C8B-B14F-4D97-AF65-F5344CB8AC3E}">
        <p14:creationId xmlns:p14="http://schemas.microsoft.com/office/powerpoint/2010/main" val="26294659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F90EAF87-5BFF-4D64-9A9D-69BAFB57D96D}"/>
              </a:ext>
            </a:extLst>
          </p:cNvPr>
          <p:cNvPicPr>
            <a:picLocks noGrp="1" noChangeAspect="1"/>
          </p:cNvPicPr>
          <p:nvPr>
            <p:ph idx="1"/>
          </p:nvPr>
        </p:nvPicPr>
        <p:blipFill>
          <a:blip r:embed="rId2"/>
          <a:stretch>
            <a:fillRect/>
          </a:stretch>
        </p:blipFill>
        <p:spPr>
          <a:xfrm>
            <a:off x="3776871" y="1043747"/>
            <a:ext cx="3727562" cy="4351338"/>
          </a:xfrm>
          <a:prstGeom prst="rect">
            <a:avLst/>
          </a:prstGeom>
        </p:spPr>
      </p:pic>
    </p:spTree>
    <p:extLst>
      <p:ext uri="{BB962C8B-B14F-4D97-AF65-F5344CB8AC3E}">
        <p14:creationId xmlns:p14="http://schemas.microsoft.com/office/powerpoint/2010/main" val="10222907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113A458-D6D8-4078-86C0-06C7C022FEE0}"/>
              </a:ext>
            </a:extLst>
          </p:cNvPr>
          <p:cNvSpPr>
            <a:spLocks noGrp="1"/>
          </p:cNvSpPr>
          <p:nvPr>
            <p:ph idx="1"/>
          </p:nvPr>
        </p:nvSpPr>
        <p:spPr>
          <a:xfrm>
            <a:off x="344557" y="291547"/>
            <a:ext cx="11463129" cy="6374295"/>
          </a:xfrm>
        </p:spPr>
        <p:txBody>
          <a:bodyPr>
            <a:normAutofit/>
          </a:bodyPr>
          <a:lstStyle/>
          <a:p>
            <a:pPr marL="0" indent="0">
              <a:buNone/>
            </a:pPr>
            <a:r>
              <a:rPr lang="en-US" dirty="0"/>
              <a:t> Nawab lost the battle, his life, and kingdom. Clive had around 3,000 troops and 10 small cannons against the Nawab’s 62,000 troops and 50 large cannons. </a:t>
            </a:r>
          </a:p>
          <a:p>
            <a:pPr marL="0" indent="0">
              <a:buNone/>
            </a:pPr>
            <a:r>
              <a:rPr lang="en-US" dirty="0"/>
              <a:t>Mir </a:t>
            </a:r>
            <a:r>
              <a:rPr lang="en-US" dirty="0" err="1"/>
              <a:t>Jafar</a:t>
            </a:r>
            <a:r>
              <a:rPr lang="en-US" dirty="0"/>
              <a:t> and two other generals, Rai </a:t>
            </a:r>
            <a:r>
              <a:rPr lang="en-US" dirty="0" err="1"/>
              <a:t>Durlabh</a:t>
            </a:r>
            <a:r>
              <a:rPr lang="en-US" dirty="0"/>
              <a:t> and </a:t>
            </a:r>
            <a:r>
              <a:rPr lang="en-US" dirty="0" err="1"/>
              <a:t>Yar</a:t>
            </a:r>
            <a:r>
              <a:rPr lang="en-US" dirty="0"/>
              <a:t> </a:t>
            </a:r>
            <a:r>
              <a:rPr lang="en-US" dirty="0" err="1"/>
              <a:t>Lutuf</a:t>
            </a:r>
            <a:r>
              <a:rPr lang="en-US" dirty="0"/>
              <a:t> Khan, with 30,000 infantry and 20,000 cavalry troops, abstained from fighting after a few hours when Clive’s victory was imminent and inevitable. With 62,000 troops the Nawab should have won the battle before Mir </a:t>
            </a:r>
            <a:r>
              <a:rPr lang="en-US" dirty="0" err="1"/>
              <a:t>Jafar</a:t>
            </a:r>
            <a:r>
              <a:rPr lang="en-US" dirty="0"/>
              <a:t> and two other generals decided to remain inactive. The  Nawab also had the support of a small French infantry and artillery. At the end of the day, Clive’s and his officer’s military genius, and his troops’ advanced training, discipline, and </a:t>
            </a:r>
            <a:r>
              <a:rPr lang="en-US" dirty="0" err="1"/>
              <a:t>valour</a:t>
            </a:r>
            <a:r>
              <a:rPr lang="en-US" dirty="0"/>
              <a:t>, along with the Company’s military organization, not Mir </a:t>
            </a:r>
            <a:r>
              <a:rPr lang="en-US" dirty="0" err="1"/>
              <a:t>Jafar’s</a:t>
            </a:r>
            <a:r>
              <a:rPr lang="en-US" dirty="0"/>
              <a:t> (and Rai </a:t>
            </a:r>
            <a:r>
              <a:rPr lang="en-US" dirty="0" err="1"/>
              <a:t>Durlabh’s</a:t>
            </a:r>
            <a:r>
              <a:rPr lang="en-US" dirty="0"/>
              <a:t> and </a:t>
            </a:r>
            <a:r>
              <a:rPr lang="en-US" dirty="0" err="1"/>
              <a:t>Yar</a:t>
            </a:r>
            <a:r>
              <a:rPr lang="en-US" dirty="0"/>
              <a:t> </a:t>
            </a:r>
            <a:r>
              <a:rPr lang="en-US" dirty="0" err="1"/>
              <a:t>Lutuf</a:t>
            </a:r>
            <a:r>
              <a:rPr lang="en-US" dirty="0"/>
              <a:t> Khan’s) treachery sealed the fate of the Nawab.</a:t>
            </a:r>
          </a:p>
        </p:txBody>
      </p:sp>
    </p:spTree>
    <p:extLst>
      <p:ext uri="{BB962C8B-B14F-4D97-AF65-F5344CB8AC3E}">
        <p14:creationId xmlns:p14="http://schemas.microsoft.com/office/powerpoint/2010/main" val="41526405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C38C68F-BA0C-419C-8921-D1843DCD21BD}"/>
              </a:ext>
            </a:extLst>
          </p:cNvPr>
          <p:cNvSpPr>
            <a:spLocks noGrp="1"/>
          </p:cNvSpPr>
          <p:nvPr>
            <p:ph idx="1"/>
          </p:nvPr>
        </p:nvSpPr>
        <p:spPr>
          <a:xfrm>
            <a:off x="838199" y="1073427"/>
            <a:ext cx="11088757" cy="3631096"/>
          </a:xfrm>
        </p:spPr>
        <p:txBody>
          <a:bodyPr/>
          <a:lstStyle/>
          <a:p>
            <a:pPr marL="0" indent="0">
              <a:buNone/>
            </a:pPr>
            <a:r>
              <a:rPr lang="en-US" dirty="0"/>
              <a:t>The debacle came soon after the Nawab’s troops and artillery had managed to push Clive and his men to a defensive position in the </a:t>
            </a:r>
            <a:r>
              <a:rPr lang="en-US" dirty="0">
                <a:solidFill>
                  <a:srgbClr val="FF0000"/>
                </a:solidFill>
              </a:rPr>
              <a:t>mango grove of Plassey</a:t>
            </a:r>
            <a:r>
              <a:rPr lang="en-US" dirty="0"/>
              <a:t>. By noon, suddenly a heavy rainstorm engulfed Plassey and surrounding areas, turning the Nawab’s artillery totally ineffective. While Clive’s troops covered their guns and gunpowder with tarpaulins to protect them from the rainstorm – which lasted for a couple of hours – the Nawab’s army had no such contingencies. Their guns being totally useless with rain-soaked gunpowder, the Nawab lost the battle.</a:t>
            </a:r>
          </a:p>
        </p:txBody>
      </p:sp>
    </p:spTree>
    <p:extLst>
      <p:ext uri="{BB962C8B-B14F-4D97-AF65-F5344CB8AC3E}">
        <p14:creationId xmlns:p14="http://schemas.microsoft.com/office/powerpoint/2010/main" val="33544381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36733" y="282011"/>
            <a:ext cx="11579551" cy="6486258"/>
          </a:xfrm>
          <a:prstGeom prst="rect">
            <a:avLst/>
          </a:prstGeom>
        </p:spPr>
      </p:pic>
    </p:spTree>
    <p:extLst>
      <p:ext uri="{BB962C8B-B14F-4D97-AF65-F5344CB8AC3E}">
        <p14:creationId xmlns:p14="http://schemas.microsoft.com/office/powerpoint/2010/main" val="42816701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Content Placeholder 2"/>
          <p:cNvPicPr>
            <a:picLocks noGrp="1" noChangeAspect="1"/>
          </p:cNvPicPr>
          <p:nvPr>
            <p:ph idx="1"/>
          </p:nvPr>
        </p:nvPicPr>
        <p:blipFill rotWithShape="1">
          <a:blip r:embed="rId2"/>
          <a:srcRect l="77" t="29934" r="-77" b="-940"/>
          <a:stretch/>
        </p:blipFill>
        <p:spPr>
          <a:xfrm>
            <a:off x="264921" y="444382"/>
            <a:ext cx="11485546" cy="6246976"/>
          </a:xfrm>
          <a:prstGeom prst="rect">
            <a:avLst/>
          </a:prstGeom>
        </p:spPr>
      </p:pic>
    </p:spTree>
    <p:extLst>
      <p:ext uri="{BB962C8B-B14F-4D97-AF65-F5344CB8AC3E}">
        <p14:creationId xmlns:p14="http://schemas.microsoft.com/office/powerpoint/2010/main" val="20577330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9F39BA01-ADA7-439E-BF9B-E849669311EB}"/>
              </a:ext>
            </a:extLst>
          </p:cNvPr>
          <p:cNvPicPr>
            <a:picLocks noGrp="1" noChangeAspect="1"/>
          </p:cNvPicPr>
          <p:nvPr>
            <p:ph idx="1"/>
          </p:nvPr>
        </p:nvPicPr>
        <p:blipFill>
          <a:blip r:embed="rId2"/>
          <a:stretch>
            <a:fillRect/>
          </a:stretch>
        </p:blipFill>
        <p:spPr>
          <a:xfrm>
            <a:off x="1507414" y="251791"/>
            <a:ext cx="3982319" cy="6056244"/>
          </a:xfrm>
          <a:prstGeom prst="rect">
            <a:avLst/>
          </a:prstGeom>
        </p:spPr>
      </p:pic>
      <p:pic>
        <p:nvPicPr>
          <p:cNvPr id="8" name="Picture 7">
            <a:extLst>
              <a:ext uri="{FF2B5EF4-FFF2-40B4-BE49-F238E27FC236}">
                <a16:creationId xmlns:a16="http://schemas.microsoft.com/office/drawing/2014/main" id="{548866EF-3249-4881-A35E-B79AE01E2CA1}"/>
              </a:ext>
            </a:extLst>
          </p:cNvPr>
          <p:cNvPicPr>
            <a:picLocks noChangeAspect="1"/>
          </p:cNvPicPr>
          <p:nvPr/>
        </p:nvPicPr>
        <p:blipFill>
          <a:blip r:embed="rId3"/>
          <a:stretch>
            <a:fillRect/>
          </a:stretch>
        </p:blipFill>
        <p:spPr>
          <a:xfrm>
            <a:off x="5593866" y="251791"/>
            <a:ext cx="4714875" cy="6056244"/>
          </a:xfrm>
          <a:prstGeom prst="rect">
            <a:avLst/>
          </a:prstGeom>
        </p:spPr>
      </p:pic>
    </p:spTree>
    <p:extLst>
      <p:ext uri="{BB962C8B-B14F-4D97-AF65-F5344CB8AC3E}">
        <p14:creationId xmlns:p14="http://schemas.microsoft.com/office/powerpoint/2010/main" val="19908177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2217" y="762503"/>
            <a:ext cx="9390924" cy="5475927"/>
          </a:xfrm>
        </p:spPr>
        <p:txBody>
          <a:bodyPr/>
          <a:lstStyle/>
          <a:p>
            <a:pPr marL="0" indent="0">
              <a:buNone/>
            </a:pPr>
            <a:r>
              <a:rPr lang="en-US" dirty="0"/>
              <a:t>Regulating Act, 1773: </a:t>
            </a:r>
          </a:p>
          <a:p>
            <a:pPr marL="0" indent="0">
              <a:buNone/>
            </a:pPr>
            <a:endParaRPr lang="en-US" dirty="0"/>
          </a:p>
          <a:p>
            <a:pPr algn="just"/>
            <a:r>
              <a:rPr lang="en-US" dirty="0"/>
              <a:t>BEIC’s corruption and nepotism</a:t>
            </a:r>
          </a:p>
          <a:p>
            <a:pPr algn="just"/>
            <a:r>
              <a:rPr lang="en-US" dirty="0"/>
              <a:t>Financial crisis</a:t>
            </a:r>
          </a:p>
          <a:p>
            <a:pPr algn="just"/>
            <a:r>
              <a:rPr lang="en-US" dirty="0"/>
              <a:t>Famine of 1770 (</a:t>
            </a:r>
            <a:r>
              <a:rPr lang="as-IN" dirty="0"/>
              <a:t>ছিয়াত্তরের মন্বন্তর</a:t>
            </a:r>
            <a:r>
              <a:rPr lang="en-US" dirty="0"/>
              <a:t>)  </a:t>
            </a:r>
          </a:p>
          <a:p>
            <a:pPr algn="just"/>
            <a:r>
              <a:rPr lang="en-US" dirty="0"/>
              <a:t>Robert Clive’s </a:t>
            </a:r>
            <a:r>
              <a:rPr lang="en-US" dirty="0">
                <a:solidFill>
                  <a:srgbClr val="FF0000"/>
                </a:solidFill>
              </a:rPr>
              <a:t>dual rule </a:t>
            </a:r>
            <a:r>
              <a:rPr lang="en-US" dirty="0"/>
              <a:t>(the company had </a:t>
            </a:r>
            <a:r>
              <a:rPr lang="en-US" dirty="0" err="1"/>
              <a:t>Diwani</a:t>
            </a:r>
            <a:r>
              <a:rPr lang="en-US" dirty="0"/>
              <a:t> rights in Bengal  while the </a:t>
            </a:r>
            <a:r>
              <a:rPr lang="en-US" dirty="0" err="1"/>
              <a:t>Nawab</a:t>
            </a:r>
            <a:r>
              <a:rPr lang="en-US" dirty="0"/>
              <a:t> had </a:t>
            </a:r>
            <a:r>
              <a:rPr lang="en-US" dirty="0" err="1"/>
              <a:t>Nizamat</a:t>
            </a:r>
            <a:r>
              <a:rPr lang="en-US" dirty="0"/>
              <a:t> rights (judicial and policing rights) as secured from the Mughal Emperor) </a:t>
            </a:r>
          </a:p>
          <a:p>
            <a:pPr algn="just"/>
            <a:r>
              <a:rPr lang="en-US" dirty="0"/>
              <a:t> BEIC’s victory and the defeat of Mir </a:t>
            </a:r>
            <a:r>
              <a:rPr lang="en-US" dirty="0" err="1"/>
              <a:t>Kashim</a:t>
            </a:r>
            <a:r>
              <a:rPr lang="en-US" dirty="0"/>
              <a:t> in the Battle of </a:t>
            </a:r>
            <a:r>
              <a:rPr lang="en-US" dirty="0" err="1">
                <a:solidFill>
                  <a:srgbClr val="FF0000"/>
                </a:solidFill>
              </a:rPr>
              <a:t>Buxer</a:t>
            </a:r>
            <a:r>
              <a:rPr lang="en-US" dirty="0">
                <a:solidFill>
                  <a:srgbClr val="FF0000"/>
                </a:solidFill>
              </a:rPr>
              <a:t> of 1764</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11180268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03312" y="572568"/>
            <a:ext cx="10647155" cy="5675831"/>
          </a:xfrm>
        </p:spPr>
        <p:txBody>
          <a:bodyPr>
            <a:normAutofit/>
          </a:bodyPr>
          <a:lstStyle/>
          <a:p>
            <a:pPr marL="0" indent="0">
              <a:buNone/>
            </a:pPr>
            <a:r>
              <a:rPr lang="en-US" dirty="0">
                <a:solidFill>
                  <a:srgbClr val="FF0000"/>
                </a:solidFill>
              </a:rPr>
              <a:t>T</a:t>
            </a:r>
            <a:r>
              <a:rPr lang="en-US" sz="2800" dirty="0">
                <a:solidFill>
                  <a:srgbClr val="FF0000"/>
                </a:solidFill>
              </a:rPr>
              <a:t>he Regulating Act of 1773:</a:t>
            </a:r>
          </a:p>
          <a:p>
            <a:pPr marL="0" indent="0">
              <a:buNone/>
            </a:pPr>
            <a:endParaRPr lang="en-US" sz="2800" dirty="0">
              <a:solidFill>
                <a:srgbClr val="FF0000"/>
              </a:solidFill>
            </a:endParaRPr>
          </a:p>
          <a:p>
            <a:pPr marL="0" indent="0" algn="just">
              <a:buNone/>
            </a:pPr>
            <a:r>
              <a:rPr lang="en-US" sz="2800" dirty="0"/>
              <a:t>The regulating Act of 1773 was passed by the British Parliament </a:t>
            </a:r>
            <a:r>
              <a:rPr lang="en-US" sz="2800" dirty="0">
                <a:solidFill>
                  <a:srgbClr val="FF0000"/>
                </a:solidFill>
              </a:rPr>
              <a:t>to control</a:t>
            </a:r>
            <a:r>
              <a:rPr lang="en-US" sz="2800" dirty="0"/>
              <a:t> the territories of the East India Company majorly in Bengal. This act was passed due to the misgovernment by the British East India government that introduced a situation of bankruptcy and the government had to interfere with the affairs of the Company. </a:t>
            </a:r>
          </a:p>
        </p:txBody>
      </p:sp>
    </p:spTree>
    <p:extLst>
      <p:ext uri="{BB962C8B-B14F-4D97-AF65-F5344CB8AC3E}">
        <p14:creationId xmlns:p14="http://schemas.microsoft.com/office/powerpoint/2010/main" val="14390094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87117" y="341832"/>
            <a:ext cx="10630064" cy="6298249"/>
          </a:xfrm>
        </p:spPr>
        <p:txBody>
          <a:bodyPr/>
          <a:lstStyle/>
          <a:p>
            <a:pPr marL="0" indent="0">
              <a:buNone/>
            </a:pPr>
            <a:r>
              <a:rPr lang="en-US" u="sng" dirty="0"/>
              <a:t>Main Provisions of the Regulating Act of 1773:</a:t>
            </a:r>
          </a:p>
          <a:p>
            <a:r>
              <a:rPr lang="en-US" dirty="0"/>
              <a:t>This act permitted the company to retain its territorial possessions in India but sought to regulate the activities and functioning of the company. </a:t>
            </a:r>
          </a:p>
          <a:p>
            <a:r>
              <a:rPr lang="en-US" dirty="0"/>
              <a:t>The act provided for the appointment of a</a:t>
            </a:r>
            <a:r>
              <a:rPr lang="en-US" dirty="0">
                <a:solidFill>
                  <a:srgbClr val="FF0000"/>
                </a:solidFill>
              </a:rPr>
              <a:t> Governor-General </a:t>
            </a:r>
            <a:r>
              <a:rPr lang="en-US" dirty="0"/>
              <a:t>along with four </a:t>
            </a:r>
            <a:r>
              <a:rPr lang="en-US" dirty="0" err="1"/>
              <a:t>Councillors</a:t>
            </a:r>
            <a:r>
              <a:rPr lang="en-US" dirty="0"/>
              <a:t> in the Presidency of Fort William (Calcutta), jointly called the </a:t>
            </a:r>
            <a:r>
              <a:rPr lang="en-US" dirty="0">
                <a:solidFill>
                  <a:srgbClr val="FF0000"/>
                </a:solidFill>
              </a:rPr>
              <a:t>Governor-General in Council.  Warren Hastings </a:t>
            </a:r>
            <a:r>
              <a:rPr lang="en-US" dirty="0"/>
              <a:t>was appointed as the Governor-General.</a:t>
            </a:r>
          </a:p>
          <a:p>
            <a:r>
              <a:rPr lang="en-US" dirty="0">
                <a:solidFill>
                  <a:srgbClr val="FF0000"/>
                </a:solidFill>
              </a:rPr>
              <a:t>The company directors were elected for a period of five years and one-fourth of them were to retire every year. Also, they could not be re-elected.</a:t>
            </a:r>
          </a:p>
          <a:p>
            <a:r>
              <a:rPr lang="en-US" dirty="0"/>
              <a:t>A supreme court was established in Calcutta. Judges were to come from England. </a:t>
            </a:r>
          </a:p>
          <a:p>
            <a:endParaRPr lang="en-US" dirty="0"/>
          </a:p>
          <a:p>
            <a:pPr marL="0" indent="0">
              <a:buNone/>
            </a:pPr>
            <a:endParaRPr lang="en-US" dirty="0"/>
          </a:p>
        </p:txBody>
      </p:sp>
    </p:spTree>
    <p:extLst>
      <p:ext uri="{BB962C8B-B14F-4D97-AF65-F5344CB8AC3E}">
        <p14:creationId xmlns:p14="http://schemas.microsoft.com/office/powerpoint/2010/main" val="20582344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8FEE13-E1F6-4E43-B541-A2AFE5BE7BF2}"/>
              </a:ext>
            </a:extLst>
          </p:cNvPr>
          <p:cNvSpPr>
            <a:spLocks noGrp="1"/>
          </p:cNvSpPr>
          <p:nvPr>
            <p:ph type="title"/>
          </p:nvPr>
        </p:nvSpPr>
        <p:spPr>
          <a:xfrm>
            <a:off x="838200" y="2190043"/>
            <a:ext cx="10515600" cy="2088445"/>
          </a:xfrm>
        </p:spPr>
        <p:txBody>
          <a:bodyPr/>
          <a:lstStyle/>
          <a:p>
            <a:pPr algn="ctr"/>
            <a:r>
              <a:rPr lang="en-US" b="1" dirty="0"/>
              <a:t>Part-2</a:t>
            </a:r>
          </a:p>
        </p:txBody>
      </p:sp>
    </p:spTree>
    <p:extLst>
      <p:ext uri="{BB962C8B-B14F-4D97-AF65-F5344CB8AC3E}">
        <p14:creationId xmlns:p14="http://schemas.microsoft.com/office/powerpoint/2010/main" val="18040337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3116" y="743484"/>
            <a:ext cx="11032072" cy="3273039"/>
          </a:xfrm>
        </p:spPr>
        <p:txBody>
          <a:bodyPr anchor="t">
            <a:normAutofit/>
          </a:bodyPr>
          <a:lstStyle/>
          <a:p>
            <a:pPr algn="just"/>
            <a:br>
              <a:rPr lang="en-US" sz="2400" dirty="0">
                <a:latin typeface="Times New Roman" panose="02020603050405020304" pitchFamily="18" charset="0"/>
                <a:cs typeface="Times New Roman" panose="02020603050405020304" pitchFamily="18" charset="0"/>
              </a:rPr>
            </a:b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Abul</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Fazl</a:t>
            </a:r>
            <a:r>
              <a:rPr lang="en-US" sz="2800" dirty="0">
                <a:latin typeface="Times New Roman" panose="02020603050405020304" pitchFamily="18" charset="0"/>
                <a:cs typeface="Times New Roman" panose="02020603050405020304" pitchFamily="18" charset="0"/>
              </a:rPr>
              <a:t>,  the historian of Akbar’s time and the writer of the</a:t>
            </a:r>
            <a:r>
              <a:rPr lang="en-US" sz="2800" dirty="0">
                <a:solidFill>
                  <a:srgbClr val="FF0000"/>
                </a:solidFill>
                <a:latin typeface="Times New Roman" panose="02020603050405020304" pitchFamily="18" charset="0"/>
                <a:cs typeface="Times New Roman" panose="02020603050405020304" pitchFamily="18" charset="0"/>
              </a:rPr>
              <a:t> </a:t>
            </a:r>
            <a:r>
              <a:rPr lang="en-US" sz="2800" i="1" dirty="0" err="1">
                <a:solidFill>
                  <a:srgbClr val="FF0000"/>
                </a:solidFill>
                <a:latin typeface="Times New Roman" panose="02020603050405020304" pitchFamily="18" charset="0"/>
                <a:cs typeface="Times New Roman" panose="02020603050405020304" pitchFamily="18" charset="0"/>
              </a:rPr>
              <a:t>Akbarnamah</a:t>
            </a:r>
            <a:r>
              <a:rPr lang="en-US" sz="2800" dirty="0">
                <a:solidFill>
                  <a:srgbClr val="FF0000"/>
                </a:solidFill>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claimed that poppy was one of the most valuable crops and an </a:t>
            </a:r>
            <a:r>
              <a:rPr lang="en-US" sz="2800" dirty="0">
                <a:solidFill>
                  <a:srgbClr val="FF0000"/>
                </a:solidFill>
                <a:latin typeface="Times New Roman" panose="02020603050405020304" pitchFamily="18" charset="0"/>
                <a:cs typeface="Times New Roman" panose="02020603050405020304" pitchFamily="18" charset="0"/>
              </a:rPr>
              <a:t>important source of revenue</a:t>
            </a:r>
            <a:r>
              <a:rPr lang="en-US" sz="2800" dirty="0">
                <a:latin typeface="Times New Roman" panose="02020603050405020304" pitchFamily="18" charset="0"/>
                <a:cs typeface="Times New Roman" panose="02020603050405020304" pitchFamily="18" charset="0"/>
              </a:rPr>
              <a:t> during the time of Akbar. Between 1653 and 1708, opium was one of the </a:t>
            </a:r>
            <a:r>
              <a:rPr lang="en-US" sz="2800" dirty="0">
                <a:solidFill>
                  <a:srgbClr val="FF0000"/>
                </a:solidFill>
                <a:latin typeface="Times New Roman" panose="02020603050405020304" pitchFamily="18" charset="0"/>
                <a:cs typeface="Times New Roman" panose="02020603050405020304" pitchFamily="18" charset="0"/>
              </a:rPr>
              <a:t>exportable commodities </a:t>
            </a:r>
            <a:r>
              <a:rPr lang="en-US" sz="2800" dirty="0">
                <a:latin typeface="Times New Roman" panose="02020603050405020304" pitchFamily="18" charset="0"/>
                <a:cs typeface="Times New Roman" panose="02020603050405020304" pitchFamily="18" charset="0"/>
              </a:rPr>
              <a:t>of the Mughal kingdom. Given the varied information, it is difficult to arrive at a conclusion that the Mughals had any monopoly in the opium trade . </a:t>
            </a:r>
          </a:p>
        </p:txBody>
      </p:sp>
      <p:sp>
        <p:nvSpPr>
          <p:cNvPr id="3" name="Content Placeholder 2"/>
          <p:cNvSpPr>
            <a:spLocks noGrp="1"/>
          </p:cNvSpPr>
          <p:nvPr>
            <p:ph idx="1"/>
          </p:nvPr>
        </p:nvSpPr>
        <p:spPr>
          <a:xfrm>
            <a:off x="684211" y="128188"/>
            <a:ext cx="10920977" cy="521292"/>
          </a:xfrm>
        </p:spPr>
        <p:txBody>
          <a:bodyPr anchor="t">
            <a:normAutofit/>
          </a:bodyPr>
          <a:lstStyle/>
          <a:p>
            <a:pPr marL="0" indent="0">
              <a:buNone/>
            </a:pPr>
            <a:r>
              <a:rPr lang="en-US" sz="2800" dirty="0">
                <a:solidFill>
                  <a:srgbClr val="FF0000"/>
                </a:solidFill>
              </a:rPr>
              <a:t>MUGHAL DRUG POLICY </a:t>
            </a:r>
          </a:p>
        </p:txBody>
      </p:sp>
    </p:spTree>
    <p:extLst>
      <p:ext uri="{BB962C8B-B14F-4D97-AF65-F5344CB8AC3E}">
        <p14:creationId xmlns:p14="http://schemas.microsoft.com/office/powerpoint/2010/main" val="19570847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orient="vert"/>
          </p:nvPr>
        </p:nvSpPr>
        <p:spPr/>
        <p:txBody>
          <a:bodyPr/>
          <a:lstStyle/>
          <a:p>
            <a:pPr algn="ctr"/>
            <a:r>
              <a:rPr lang="en-US" dirty="0"/>
              <a:t> </a:t>
            </a:r>
          </a:p>
        </p:txBody>
      </p:sp>
      <p:sp>
        <p:nvSpPr>
          <p:cNvPr id="10" name="Vertical Text Placeholder 9"/>
          <p:cNvSpPr>
            <a:spLocks noGrp="1"/>
          </p:cNvSpPr>
          <p:nvPr>
            <p:ph type="body" orient="vert" idx="1"/>
          </p:nvPr>
        </p:nvSpPr>
        <p:spPr>
          <a:xfrm>
            <a:off x="-3799" y="333286"/>
            <a:ext cx="11523529" cy="6524714"/>
          </a:xfrm>
        </p:spPr>
        <p:txBody>
          <a:bodyPr/>
          <a:lstStyle/>
          <a:p>
            <a:r>
              <a:rPr lang="en-US" dirty="0"/>
              <a:t>Poppy cultivation </a:t>
            </a:r>
          </a:p>
        </p:txBody>
      </p:sp>
      <p:pic>
        <p:nvPicPr>
          <p:cNvPr id="4" name="Content Placeholder 3"/>
          <p:cNvPicPr>
            <a:picLocks noGrp="1" noChangeAspect="1"/>
          </p:cNvPicPr>
          <p:nvPr>
            <p:ph idx="4294967295"/>
          </p:nvPr>
        </p:nvPicPr>
        <p:blipFill>
          <a:blip r:embed="rId2"/>
          <a:stretch>
            <a:fillRect/>
          </a:stretch>
        </p:blipFill>
        <p:spPr>
          <a:xfrm>
            <a:off x="-1" y="407988"/>
            <a:ext cx="5016381" cy="3386137"/>
          </a:xfrm>
          <a:prstGeom prst="rect">
            <a:avLst/>
          </a:prstGeom>
        </p:spPr>
      </p:pic>
      <p:pic>
        <p:nvPicPr>
          <p:cNvPr id="5" name="Picture 4"/>
          <p:cNvPicPr>
            <a:picLocks noChangeAspect="1"/>
          </p:cNvPicPr>
          <p:nvPr/>
        </p:nvPicPr>
        <p:blipFill>
          <a:blip r:embed="rId3"/>
          <a:stretch>
            <a:fillRect/>
          </a:stretch>
        </p:blipFill>
        <p:spPr>
          <a:xfrm>
            <a:off x="5101841" y="442785"/>
            <a:ext cx="5460761" cy="3248998"/>
          </a:xfrm>
          <a:prstGeom prst="rect">
            <a:avLst/>
          </a:prstGeom>
        </p:spPr>
      </p:pic>
      <p:pic>
        <p:nvPicPr>
          <p:cNvPr id="6" name="Picture 5"/>
          <p:cNvPicPr>
            <a:picLocks noChangeAspect="1"/>
          </p:cNvPicPr>
          <p:nvPr/>
        </p:nvPicPr>
        <p:blipFill>
          <a:blip r:embed="rId4"/>
          <a:stretch>
            <a:fillRect/>
          </a:stretch>
        </p:blipFill>
        <p:spPr>
          <a:xfrm>
            <a:off x="136734" y="3794125"/>
            <a:ext cx="10425868" cy="3063875"/>
          </a:xfrm>
          <a:prstGeom prst="rect">
            <a:avLst/>
          </a:prstGeom>
        </p:spPr>
      </p:pic>
    </p:spTree>
    <p:extLst>
      <p:ext uri="{BB962C8B-B14F-4D97-AF65-F5344CB8AC3E}">
        <p14:creationId xmlns:p14="http://schemas.microsoft.com/office/powerpoint/2010/main" val="11831309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911" y="0"/>
            <a:ext cx="11964113" cy="6622991"/>
          </a:xfrm>
        </p:spPr>
        <p:txBody>
          <a:bodyPr anchor="ctr">
            <a:normAutofit/>
          </a:bodyPr>
          <a:lstStyle/>
          <a:p>
            <a:pPr algn="ctr"/>
            <a:r>
              <a:rPr lang="en-US" sz="2000" u="sng" dirty="0">
                <a:solidFill>
                  <a:srgbClr val="FF0000"/>
                </a:solidFill>
                <a:latin typeface="Times New Roman" panose="02020603050405020304" pitchFamily="18" charset="0"/>
                <a:cs typeface="Times New Roman" panose="02020603050405020304" pitchFamily="18" charset="0"/>
              </a:rPr>
              <a:t>British colonial drug policy</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1. At the time of growth and development of the opium monopoly in Bengal from 1773 to 1856, the economic condition of the poppy farmers </a:t>
            </a:r>
            <a:r>
              <a:rPr lang="en-US" sz="2000" i="1" dirty="0">
                <a:latin typeface="Times New Roman" panose="02020603050405020304" pitchFamily="18" charset="0"/>
                <a:cs typeface="Times New Roman" panose="02020603050405020304" pitchFamily="18" charset="0"/>
              </a:rPr>
              <a:t>(</a:t>
            </a:r>
            <a:r>
              <a:rPr lang="en-US" sz="2000" i="1" dirty="0" err="1">
                <a:latin typeface="Times New Roman" panose="02020603050405020304" pitchFamily="18" charset="0"/>
                <a:cs typeface="Times New Roman" panose="02020603050405020304" pitchFamily="18" charset="0"/>
              </a:rPr>
              <a:t>ryots</a:t>
            </a:r>
            <a:r>
              <a:rPr lang="en-US" sz="2000" i="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had deteriorated and tension had erupted between the local </a:t>
            </a:r>
            <a:r>
              <a:rPr lang="en-US" sz="2000" i="1" dirty="0" err="1">
                <a:latin typeface="Times New Roman" panose="02020603050405020304" pitchFamily="18" charset="0"/>
                <a:cs typeface="Times New Roman" panose="02020603050405020304" pitchFamily="18" charset="0"/>
              </a:rPr>
              <a:t>zamindars</a:t>
            </a:r>
            <a:r>
              <a:rPr lang="en-US" sz="2000" i="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(landlords) and the colonial authorities. This conflict aided in the eventual uprising of 1857, also known as the Indian '</a:t>
            </a:r>
            <a:r>
              <a:rPr lang="en-US" sz="2000" dirty="0" err="1">
                <a:latin typeface="Times New Roman" panose="02020603050405020304" pitchFamily="18" charset="0"/>
                <a:cs typeface="Times New Roman" panose="02020603050405020304" pitchFamily="18" charset="0"/>
              </a:rPr>
              <a:t>Sepoy</a:t>
            </a:r>
            <a:r>
              <a:rPr lang="en-US" sz="2000" dirty="0">
                <a:latin typeface="Times New Roman" panose="02020603050405020304" pitchFamily="18" charset="0"/>
                <a:cs typeface="Times New Roman" panose="02020603050405020304" pitchFamily="18" charset="0"/>
              </a:rPr>
              <a:t> Mutiny’. In an attempt to further control the private cultivation of opium poppies and the free trade </a:t>
            </a:r>
            <a:r>
              <a:rPr lang="en-US" sz="2000" b="1" dirty="0">
                <a:latin typeface="Times New Roman" panose="02020603050405020304" pitchFamily="18" charset="0"/>
                <a:cs typeface="Times New Roman" panose="02020603050405020304" pitchFamily="18" charset="0"/>
              </a:rPr>
              <a:t>in </a:t>
            </a:r>
            <a:r>
              <a:rPr lang="en-US" sz="2000" dirty="0">
                <a:latin typeface="Times New Roman" panose="02020603050405020304" pitchFamily="18" charset="0"/>
                <a:cs typeface="Times New Roman" panose="02020603050405020304" pitchFamily="18" charset="0"/>
              </a:rPr>
              <a:t>opium, the government adopted the Opium Act of 1857 and the Opium Act of 1878.</a:t>
            </a: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2. The colonial drug laws applied a </a:t>
            </a:r>
            <a:r>
              <a:rPr lang="en-US" sz="2000" dirty="0">
                <a:solidFill>
                  <a:srgbClr val="FF0000"/>
                </a:solidFill>
                <a:latin typeface="Times New Roman" panose="02020603050405020304" pitchFamily="18" charset="0"/>
                <a:cs typeface="Times New Roman" panose="02020603050405020304" pitchFamily="18" charset="0"/>
              </a:rPr>
              <a:t>double standard, </a:t>
            </a:r>
            <a:r>
              <a:rPr lang="en-US" sz="2000" dirty="0">
                <a:latin typeface="Times New Roman" panose="02020603050405020304" pitchFamily="18" charset="0"/>
                <a:cs typeface="Times New Roman" panose="02020603050405020304" pitchFamily="18" charset="0"/>
              </a:rPr>
              <a:t>as they allowed the imperial authorities to appropriate revenue</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from </a:t>
            </a:r>
            <a:r>
              <a:rPr lang="en-US" sz="2000" dirty="0">
                <a:solidFill>
                  <a:srgbClr val="FF0000"/>
                </a:solidFill>
                <a:latin typeface="Times New Roman" panose="02020603050405020304" pitchFamily="18" charset="0"/>
                <a:cs typeface="Times New Roman" panose="02020603050405020304" pitchFamily="18" charset="0"/>
              </a:rPr>
              <a:t>the state-run opium monopoly</a:t>
            </a:r>
            <a:r>
              <a:rPr lang="en-US" sz="2000" dirty="0">
                <a:latin typeface="Times New Roman" panose="02020603050405020304" pitchFamily="18" charset="0"/>
                <a:cs typeface="Times New Roman" panose="02020603050405020304" pitchFamily="18" charset="0"/>
              </a:rPr>
              <a:t>, while pushing the private traders to become involved in the contraband trade.</a:t>
            </a: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3. The Indian opium trade flourished until the late nineteenth century, when China emerged as a major market for the supply of opium from India</a:t>
            </a: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Thus, the history of the drug trade in Asia has </a:t>
            </a:r>
            <a:r>
              <a:rPr lang="en-US" sz="2000" dirty="0">
                <a:solidFill>
                  <a:srgbClr val="FF0000"/>
                </a:solidFill>
                <a:latin typeface="Times New Roman" panose="02020603050405020304" pitchFamily="18" charset="0"/>
                <a:cs typeface="Times New Roman" panose="02020603050405020304" pitchFamily="18" charset="0"/>
              </a:rPr>
              <a:t>a complex political background with numerous cross-regional connections.</a:t>
            </a:r>
          </a:p>
        </p:txBody>
      </p:sp>
    </p:spTree>
    <p:extLst>
      <p:ext uri="{BB962C8B-B14F-4D97-AF65-F5344CB8AC3E}">
        <p14:creationId xmlns:p14="http://schemas.microsoft.com/office/powerpoint/2010/main" val="9083013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192000" cy="6751178"/>
          </a:xfrm>
        </p:spPr>
        <p:txBody>
          <a:bodyPr anchor="t"/>
          <a:lstStyle/>
          <a:p>
            <a:r>
              <a:rPr lang="en-US" dirty="0">
                <a:latin typeface="AdvOT1ef757c0"/>
              </a:rPr>
              <a:t> </a:t>
            </a:r>
            <a:br>
              <a:rPr lang="en-US" dirty="0">
                <a:latin typeface="AdvOT1ef757c0"/>
              </a:rPr>
            </a:br>
            <a:endParaRPr lang="en-US" dirty="0"/>
          </a:p>
        </p:txBody>
      </p:sp>
      <p:pic>
        <p:nvPicPr>
          <p:cNvPr id="1026" name="Picture 2" descr="Inside the Drug War in Southeast Asia - YouTub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33002" y="888763"/>
            <a:ext cx="7221196" cy="4871102"/>
          </a:xfrm>
          <a:prstGeom prst="rect">
            <a:avLst/>
          </a:prstGeom>
          <a:noFill/>
          <a:extLst>
            <a:ext uri="{909E8E84-426E-40DD-AFC4-6F175D3DCCD1}">
              <a14:hiddenFill xmlns:a14="http://schemas.microsoft.com/office/drawing/2010/main">
                <a:solidFill>
                  <a:srgbClr val="FFFFFF"/>
                </a:solidFill>
              </a14:hiddenFill>
            </a:ext>
          </a:extLst>
        </p:spPr>
      </p:pic>
      <p:sp>
        <p:nvSpPr>
          <p:cNvPr id="4" name="Content Placeholder 3"/>
          <p:cNvSpPr>
            <a:spLocks noGrp="1"/>
          </p:cNvSpPr>
          <p:nvPr>
            <p:ph idx="1"/>
          </p:nvPr>
        </p:nvSpPr>
        <p:spPr>
          <a:xfrm>
            <a:off x="2333002" y="324741"/>
            <a:ext cx="7639940" cy="5771862"/>
          </a:xfrm>
        </p:spPr>
        <p:txBody>
          <a:bodyPr/>
          <a:lstStyle/>
          <a:p>
            <a:pPr marL="0" indent="0">
              <a:buNone/>
            </a:pPr>
            <a:r>
              <a:rPr lang="en-US" dirty="0"/>
              <a:t>Golden Triangle </a:t>
            </a:r>
          </a:p>
        </p:txBody>
      </p:sp>
    </p:spTree>
    <p:extLst>
      <p:ext uri="{BB962C8B-B14F-4D97-AF65-F5344CB8AC3E}">
        <p14:creationId xmlns:p14="http://schemas.microsoft.com/office/powerpoint/2010/main" val="3185599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6046" y="160336"/>
            <a:ext cx="11751890" cy="6189189"/>
          </a:xfrm>
        </p:spPr>
        <p:txBody>
          <a:bodyPr>
            <a:normAutofit/>
          </a:bodyPr>
          <a:lstStyle/>
          <a:p>
            <a:r>
              <a:rPr lang="en-US" sz="2400" dirty="0"/>
              <a:t>Golden Crescent </a:t>
            </a:r>
          </a:p>
        </p:txBody>
      </p:sp>
      <p:sp>
        <p:nvSpPr>
          <p:cNvPr id="3" name="AutoShape 2" descr="Xinjiang police fight the flow of guns, drugs and terrorist media from  across border - Global Time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Xinjiang police fight the flow of guns, drugs and terrorist media from  across border - Global Times"/>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6" descr="Xinjiang police fight the flow of guns, drugs and terrorist media from  across border - Global Times"/>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8" descr="Xinjiang police fight the flow of guns, drugs and terrorist media from  across border - Global Times"/>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AutoShape 10" descr="Xinjiang police fight the flow of guns, drugs and terrorist media from  across border - Global Times"/>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AutoShape 14" descr="Golden Crescent - Alchetron, The Free Social Encyclopedia"/>
          <p:cNvSpPr>
            <a:spLocks noChangeAspect="1" noChangeArrowheads="1"/>
          </p:cNvSpPr>
          <p:nvPr/>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AutoShape 16" descr="Golden Crescent - Alchetron, The Free Social Encyclopedia"/>
          <p:cNvSpPr>
            <a:spLocks noChangeAspect="1" noChangeArrowheads="1"/>
          </p:cNvSpPr>
          <p:nvPr/>
        </p:nvSpPr>
        <p:spPr bwMode="auto">
          <a:xfrm>
            <a:off x="1069975" y="769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AutoShape 18" descr="Golden Crescent - Alchetron, The Free Social Encyclopedia"/>
          <p:cNvSpPr>
            <a:spLocks noChangeAspect="1" noChangeArrowheads="1"/>
          </p:cNvSpPr>
          <p:nvPr/>
        </p:nvSpPr>
        <p:spPr bwMode="auto">
          <a:xfrm>
            <a:off x="1222375" y="922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AutoShape 20" descr="Golden Crescent - Alchetron, The Free Social Encyclopedia"/>
          <p:cNvSpPr>
            <a:spLocks noChangeAspect="1" noChangeArrowheads="1"/>
          </p:cNvSpPr>
          <p:nvPr/>
        </p:nvSpPr>
        <p:spPr bwMode="auto">
          <a:xfrm>
            <a:off x="1374775" y="1074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070" name="Picture 22" descr="Golden Crescent - Alchetron, The Free Social Encyclopedi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85929" y="769937"/>
            <a:ext cx="7990317" cy="46480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807601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8189" y="991313"/>
            <a:ext cx="11759012" cy="5614585"/>
          </a:xfrm>
        </p:spPr>
        <p:txBody>
          <a:bodyPr>
            <a:normAutofit/>
          </a:bodyPr>
          <a:lstStyle/>
          <a:p>
            <a:br>
              <a:rPr lang="en-US" sz="2800" dirty="0"/>
            </a:br>
            <a:endParaRPr lang="en-US" sz="2800" dirty="0"/>
          </a:p>
        </p:txBody>
      </p:sp>
      <p:pic>
        <p:nvPicPr>
          <p:cNvPr id="3" name="Picture 2"/>
          <p:cNvPicPr>
            <a:picLocks noChangeAspect="1"/>
          </p:cNvPicPr>
          <p:nvPr/>
        </p:nvPicPr>
        <p:blipFill>
          <a:blip r:embed="rId2"/>
          <a:stretch>
            <a:fillRect/>
          </a:stretch>
        </p:blipFill>
        <p:spPr>
          <a:xfrm>
            <a:off x="1598065" y="1196411"/>
            <a:ext cx="7742488" cy="4948015"/>
          </a:xfrm>
          <a:prstGeom prst="rect">
            <a:avLst/>
          </a:prstGeom>
        </p:spPr>
      </p:pic>
    </p:spTree>
    <p:extLst>
      <p:ext uri="{BB962C8B-B14F-4D97-AF65-F5344CB8AC3E}">
        <p14:creationId xmlns:p14="http://schemas.microsoft.com/office/powerpoint/2010/main" val="6501287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5378" y="1375873"/>
            <a:ext cx="10581802" cy="4358883"/>
          </a:xfrm>
        </p:spPr>
        <p:txBody>
          <a:bodyPr anchor="t">
            <a:normAutofit fontScale="90000"/>
          </a:bodyPr>
          <a:lstStyle/>
          <a:p>
            <a:pPr marL="342900" indent="-342900">
              <a:buFont typeface="Wingdings" panose="05000000000000000000" pitchFamily="2" charset="2"/>
              <a:buChar char="§"/>
            </a:pPr>
            <a:r>
              <a:rPr lang="en-US" sz="2200" dirty="0">
                <a:latin typeface="Times New Roman" panose="02020603050405020304" pitchFamily="18" charset="0"/>
                <a:cs typeface="Times New Roman" panose="02020603050405020304" pitchFamily="18" charset="0"/>
              </a:rPr>
              <a:t>The Arab physicians, who had learnt the </a:t>
            </a:r>
            <a:r>
              <a:rPr lang="en-US" sz="2200" dirty="0">
                <a:solidFill>
                  <a:srgbClr val="FF0000"/>
                </a:solidFill>
                <a:latin typeface="Times New Roman" panose="02020603050405020304" pitchFamily="18" charset="0"/>
                <a:cs typeface="Times New Roman" panose="02020603050405020304" pitchFamily="18" charset="0"/>
              </a:rPr>
              <a:t>medicinal application of opium </a:t>
            </a:r>
            <a:r>
              <a:rPr lang="en-US" sz="2200" i="1" dirty="0">
                <a:latin typeface="Times New Roman" panose="02020603050405020304" pitchFamily="18" charset="0"/>
                <a:cs typeface="Times New Roman" panose="02020603050405020304" pitchFamily="18" charset="0"/>
              </a:rPr>
              <a:t>(Papaver </a:t>
            </a:r>
            <a:r>
              <a:rPr lang="en-US" sz="2200" i="1" dirty="0" err="1">
                <a:latin typeface="Times New Roman" panose="02020603050405020304" pitchFamily="18" charset="0"/>
                <a:cs typeface="Times New Roman" panose="02020603050405020304" pitchFamily="18" charset="0"/>
              </a:rPr>
              <a:t>Somniferum</a:t>
            </a:r>
            <a:r>
              <a:rPr lang="en-US" sz="2200" i="1"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from the Greeks, came in contact with India from the eighth century AD.</a:t>
            </a:r>
            <a:br>
              <a:rPr lang="en-US" sz="2200" dirty="0">
                <a:latin typeface="Times New Roman" panose="02020603050405020304" pitchFamily="18" charset="0"/>
                <a:cs typeface="Times New Roman" panose="02020603050405020304" pitchFamily="18" charset="0"/>
              </a:rPr>
            </a:b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In collaboration with Dutch, Portuguese and then the English trading companies, a group of private traders evolved in sporadic poppy cultivation in some parts of India in the sixteenth and seventeenth centuries. </a:t>
            </a:r>
            <a:br>
              <a:rPr lang="en-US" sz="2200" dirty="0">
                <a:latin typeface="Times New Roman" panose="02020603050405020304" pitchFamily="18" charset="0"/>
                <a:cs typeface="Times New Roman" panose="02020603050405020304" pitchFamily="18" charset="0"/>
              </a:rPr>
            </a:br>
            <a:br>
              <a:rPr lang="en-US" sz="2200" dirty="0">
                <a:latin typeface="Times New Roman" panose="02020603050405020304" pitchFamily="18" charset="0"/>
                <a:cs typeface="Times New Roman" panose="02020603050405020304" pitchFamily="18" charset="0"/>
              </a:rPr>
            </a:b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With the establishment of political rule, the British East India Company </a:t>
            </a:r>
            <a:r>
              <a:rPr lang="en-US" sz="2200" dirty="0">
                <a:solidFill>
                  <a:srgbClr val="FF0000"/>
                </a:solidFill>
                <a:latin typeface="Times New Roman" panose="02020603050405020304" pitchFamily="18" charset="0"/>
                <a:cs typeface="Times New Roman" panose="02020603050405020304" pitchFamily="18" charset="0"/>
              </a:rPr>
              <a:t>eventually expelled </a:t>
            </a:r>
            <a:r>
              <a:rPr lang="en-US" sz="2200" dirty="0">
                <a:latin typeface="Times New Roman" panose="02020603050405020304" pitchFamily="18" charset="0"/>
                <a:cs typeface="Times New Roman" panose="02020603050405020304" pitchFamily="18" charset="0"/>
              </a:rPr>
              <a:t>all other parties from the opium trade and came in conflict with the local zamindars that attempted to resist the large scale </a:t>
            </a:r>
            <a:r>
              <a:rPr lang="en-US" sz="2200" dirty="0">
                <a:solidFill>
                  <a:srgbClr val="FF0000"/>
                </a:solidFill>
                <a:latin typeface="Times New Roman" panose="02020603050405020304" pitchFamily="18" charset="0"/>
                <a:cs typeface="Times New Roman" panose="02020603050405020304" pitchFamily="18" charset="0"/>
              </a:rPr>
              <a:t>conversion of fertile land into poppy cultivation</a:t>
            </a:r>
            <a:r>
              <a:rPr lang="en-US" sz="2200" dirty="0">
                <a:latin typeface="Times New Roman" panose="02020603050405020304" pitchFamily="18" charset="0"/>
                <a:cs typeface="Times New Roman" panose="02020603050405020304" pitchFamily="18" charset="0"/>
              </a:rPr>
              <a:t>. This rift eventually contributed to the great </a:t>
            </a:r>
            <a:r>
              <a:rPr lang="en-US" sz="2200" dirty="0">
                <a:solidFill>
                  <a:srgbClr val="FF0000"/>
                </a:solidFill>
                <a:latin typeface="Times New Roman" panose="02020603050405020304" pitchFamily="18" charset="0"/>
                <a:cs typeface="Times New Roman" panose="02020603050405020304" pitchFamily="18" charset="0"/>
              </a:rPr>
              <a:t>uprising of 1857 </a:t>
            </a:r>
            <a:r>
              <a:rPr lang="en-US" sz="2200" dirty="0">
                <a:latin typeface="Times New Roman" panose="02020603050405020304" pitchFamily="18" charset="0"/>
                <a:cs typeface="Times New Roman" panose="02020603050405020304" pitchFamily="18" charset="0"/>
              </a:rPr>
              <a:t>in the </a:t>
            </a:r>
            <a:r>
              <a:rPr lang="en-US" sz="2200" dirty="0">
                <a:solidFill>
                  <a:srgbClr val="00B0F0"/>
                </a:solidFill>
                <a:latin typeface="Times New Roman" panose="02020603050405020304" pitchFamily="18" charset="0"/>
                <a:cs typeface="Times New Roman" panose="02020603050405020304" pitchFamily="18" charset="0"/>
              </a:rPr>
              <a:t>poppy growing areas</a:t>
            </a:r>
            <a:br>
              <a:rPr lang="en-US" sz="2200" dirty="0"/>
            </a:br>
            <a:br>
              <a:rPr lang="en-US" sz="2000" dirty="0"/>
            </a:br>
            <a:br>
              <a:rPr lang="en-US" sz="2000" dirty="0"/>
            </a:br>
            <a:br>
              <a:rPr lang="en-US" sz="2000" dirty="0"/>
            </a:br>
            <a:br>
              <a:rPr lang="en-US" sz="2000" dirty="0"/>
            </a:br>
            <a:br>
              <a:rPr lang="en-US" sz="2000" dirty="0"/>
            </a:br>
            <a:br>
              <a:rPr lang="en-US" sz="2000" dirty="0"/>
            </a:br>
            <a:br>
              <a:rPr lang="en-US" sz="2000" dirty="0"/>
            </a:br>
            <a:br>
              <a:rPr lang="en-US" sz="2000" dirty="0"/>
            </a:br>
            <a:br>
              <a:rPr lang="en-US" sz="2000" dirty="0"/>
            </a:br>
            <a:br>
              <a:rPr lang="en-US" sz="2000" dirty="0"/>
            </a:br>
            <a:br>
              <a:rPr lang="en-US" sz="2000" dirty="0"/>
            </a:br>
            <a:br>
              <a:rPr lang="en-US" sz="2000" dirty="0"/>
            </a:br>
            <a:endParaRPr lang="en-US" sz="2000" dirty="0"/>
          </a:p>
        </p:txBody>
      </p:sp>
      <p:sp>
        <p:nvSpPr>
          <p:cNvPr id="3" name="Content Placeholder 2"/>
          <p:cNvSpPr>
            <a:spLocks noGrp="1"/>
          </p:cNvSpPr>
          <p:nvPr>
            <p:ph idx="1"/>
          </p:nvPr>
        </p:nvSpPr>
        <p:spPr>
          <a:xfrm>
            <a:off x="684212" y="170916"/>
            <a:ext cx="10365500" cy="1435693"/>
          </a:xfrm>
        </p:spPr>
        <p:txBody>
          <a:bodyPr>
            <a:normAutofit/>
          </a:bodyPr>
          <a:lstStyle/>
          <a:p>
            <a:pPr marL="0" indent="0">
              <a:buNone/>
            </a:pPr>
            <a:r>
              <a:rPr lang="en-US" sz="3600" dirty="0"/>
              <a:t>Bengal opium traffic 1773-1856</a:t>
            </a:r>
          </a:p>
        </p:txBody>
      </p:sp>
    </p:spTree>
    <p:extLst>
      <p:ext uri="{BB962C8B-B14F-4D97-AF65-F5344CB8AC3E}">
        <p14:creationId xmlns:p14="http://schemas.microsoft.com/office/powerpoint/2010/main" val="14183244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4211" y="1524000"/>
            <a:ext cx="11271355" cy="4470399"/>
          </a:xfrm>
        </p:spPr>
        <p:txBody>
          <a:bodyPr>
            <a:normAutofit/>
          </a:bodyPr>
          <a:lstStyle/>
          <a:p>
            <a:pPr algn="just"/>
            <a:r>
              <a:rPr lang="en-US" sz="2400" dirty="0">
                <a:latin typeface="Times New Roman" panose="02020603050405020304" pitchFamily="18" charset="0"/>
                <a:cs typeface="Times New Roman" panose="02020603050405020304" pitchFamily="18" charset="0"/>
              </a:rPr>
              <a:t>To organize the opium enterprise, the government of the East</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India Company in 1763 established the so-called 'Gentlemen's</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monopoly' run by the Patna Council. It consisted of Company</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officials, who entered the business directly and distributed money</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through Indian agents </a:t>
            </a:r>
            <a:r>
              <a:rPr lang="en-US" sz="2400" i="1" dirty="0">
                <a:latin typeface="Times New Roman" panose="02020603050405020304" pitchFamily="18" charset="0"/>
                <a:cs typeface="Times New Roman" panose="02020603050405020304" pitchFamily="18" charset="0"/>
              </a:rPr>
              <a:t>(</a:t>
            </a:r>
            <a:r>
              <a:rPr lang="en-US" sz="2400" i="1" dirty="0" err="1">
                <a:latin typeface="Times New Roman" panose="02020603050405020304" pitchFamily="18" charset="0"/>
                <a:cs typeface="Times New Roman" panose="02020603050405020304" pitchFamily="18" charset="0"/>
              </a:rPr>
              <a:t>gumastas</a:t>
            </a:r>
            <a:r>
              <a:rPr lang="en-US" sz="2400" i="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amongst farmers to grow opium poppies. The employees received their salaries from the profits they made individually in the opium monopoly.</a:t>
            </a:r>
          </a:p>
        </p:txBody>
      </p:sp>
    </p:spTree>
    <p:extLst>
      <p:ext uri="{BB962C8B-B14F-4D97-AF65-F5344CB8AC3E}">
        <p14:creationId xmlns:p14="http://schemas.microsoft.com/office/powerpoint/2010/main" val="33214780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7938" y="433926"/>
            <a:ext cx="11168806" cy="6195701"/>
          </a:xfrm>
        </p:spPr>
        <p:txBody>
          <a:bodyPr anchor="t">
            <a:normAutofit/>
          </a:bodyPr>
          <a:lstStyle/>
          <a:p>
            <a:r>
              <a:rPr lang="en-US" sz="3600" b="1" u="sng" dirty="0"/>
              <a:t>Business consortium in opium:</a:t>
            </a:r>
            <a:br>
              <a:rPr lang="en-US" sz="2800" dirty="0"/>
            </a:br>
            <a:r>
              <a:rPr lang="en-US" sz="2800" dirty="0">
                <a:latin typeface="Times-Roman"/>
              </a:rPr>
              <a:t>In an attempt to establish a business consortium in opium, the East India authorities in 1765 allowed other European companies to participate in a joint venture under one general agent. </a:t>
            </a:r>
            <a:r>
              <a:rPr lang="en-US" sz="2800" dirty="0">
                <a:solidFill>
                  <a:srgbClr val="FF0000"/>
                </a:solidFill>
                <a:latin typeface="Times-Roman"/>
              </a:rPr>
              <a:t>Malpractice and corruption of officials </a:t>
            </a:r>
            <a:r>
              <a:rPr lang="en-US" sz="2800" dirty="0">
                <a:latin typeface="Times-Roman"/>
              </a:rPr>
              <a:t>affected this </a:t>
            </a:r>
            <a:r>
              <a:rPr lang="en-US" sz="2800" dirty="0" err="1">
                <a:latin typeface="Times-Roman"/>
              </a:rPr>
              <a:t>system,when</a:t>
            </a:r>
            <a:r>
              <a:rPr lang="en-US" sz="2800" dirty="0">
                <a:latin typeface="Times-Roman"/>
              </a:rPr>
              <a:t> the respective companies started to 'trade clandestinely on their own account in the drug.</a:t>
            </a:r>
            <a:br>
              <a:rPr lang="en-US" sz="2800" dirty="0">
                <a:latin typeface="Times-Roman"/>
              </a:rPr>
            </a:br>
            <a:br>
              <a:rPr lang="en-US" sz="2800" u="sng" dirty="0">
                <a:latin typeface="Times-Roman"/>
              </a:rPr>
            </a:br>
            <a:r>
              <a:rPr lang="en-US" sz="2800" u="sng" dirty="0">
                <a:latin typeface="Times-Roman"/>
              </a:rPr>
              <a:t>INCREASE OF POPPY LAND CULTIVATION:</a:t>
            </a:r>
            <a:br>
              <a:rPr lang="en-US" sz="2800" u="sng" dirty="0">
                <a:latin typeface="Times-Roman"/>
              </a:rPr>
            </a:br>
            <a:r>
              <a:rPr lang="en-US" sz="2800" dirty="0"/>
              <a:t>Under the joint venture, the land under poppy cultivation was increased from </a:t>
            </a:r>
            <a:r>
              <a:rPr lang="en-US" sz="2800" dirty="0">
                <a:solidFill>
                  <a:srgbClr val="FF0000"/>
                </a:solidFill>
              </a:rPr>
              <a:t>283,000 hectares in 1765-6, to 303,500 </a:t>
            </a:r>
            <a:r>
              <a:rPr lang="en-US" sz="2800" dirty="0"/>
              <a:t>hectares in the following year</a:t>
            </a:r>
            <a:r>
              <a:rPr lang="en-US" sz="2800" dirty="0">
                <a:solidFill>
                  <a:srgbClr val="FF0000"/>
                </a:solidFill>
              </a:rPr>
              <a:t>. This large-scale conversion of paddy fields into poppy cultivation contributed to a famine in Bengal in 1770</a:t>
            </a:r>
            <a:r>
              <a:rPr lang="en-US" sz="2800" dirty="0"/>
              <a:t>. This famine caused the </a:t>
            </a:r>
            <a:r>
              <a:rPr lang="en-US" sz="2800" dirty="0">
                <a:solidFill>
                  <a:srgbClr val="FF0000"/>
                </a:solidFill>
              </a:rPr>
              <a:t>death of 10 million </a:t>
            </a:r>
            <a:r>
              <a:rPr lang="en-US" sz="2800" dirty="0"/>
              <a:t>people in an area that had been traditionally known as the 'Golden Bengal' due to its natural resources.</a:t>
            </a:r>
            <a:endParaRPr lang="en-US" sz="2800" u="sng" dirty="0"/>
          </a:p>
        </p:txBody>
      </p:sp>
    </p:spTree>
    <p:extLst>
      <p:ext uri="{BB962C8B-B14F-4D97-AF65-F5344CB8AC3E}">
        <p14:creationId xmlns:p14="http://schemas.microsoft.com/office/powerpoint/2010/main" val="31632088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4391377" y="689836"/>
            <a:ext cx="7360355" cy="4875586"/>
          </a:xfrm>
          <a:prstGeom prst="rect">
            <a:avLst/>
          </a:prstGeom>
        </p:spPr>
      </p:pic>
      <p:sp>
        <p:nvSpPr>
          <p:cNvPr id="2" name="Title 1"/>
          <p:cNvSpPr>
            <a:spLocks noGrp="1"/>
          </p:cNvSpPr>
          <p:nvPr>
            <p:ph type="title"/>
          </p:nvPr>
        </p:nvSpPr>
        <p:spPr>
          <a:xfrm>
            <a:off x="684211" y="689836"/>
            <a:ext cx="11067521" cy="5304564"/>
          </a:xfrm>
        </p:spPr>
        <p:txBody>
          <a:bodyPr/>
          <a:lstStyle/>
          <a:p>
            <a:r>
              <a:rPr lang="en-US" dirty="0"/>
              <a:t>Poppy Growing </a:t>
            </a:r>
            <a:br>
              <a:rPr lang="en-US" dirty="0"/>
            </a:br>
            <a:r>
              <a:rPr lang="en-US" dirty="0"/>
              <a:t>Areas     </a:t>
            </a:r>
          </a:p>
        </p:txBody>
      </p:sp>
    </p:spTree>
    <p:extLst>
      <p:ext uri="{BB962C8B-B14F-4D97-AF65-F5344CB8AC3E}">
        <p14:creationId xmlns:p14="http://schemas.microsoft.com/office/powerpoint/2010/main" val="41482017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715911" y="925056"/>
            <a:ext cx="9130614" cy="4597638"/>
          </a:xfrm>
          <a:prstGeom prst="rect">
            <a:avLst/>
          </a:prstGeom>
        </p:spPr>
      </p:pic>
    </p:spTree>
    <p:extLst>
      <p:ext uri="{BB962C8B-B14F-4D97-AF65-F5344CB8AC3E}">
        <p14:creationId xmlns:p14="http://schemas.microsoft.com/office/powerpoint/2010/main" val="12488825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82126"/>
            <a:ext cx="10515600" cy="645460"/>
          </a:xfrm>
        </p:spPr>
        <p:txBody>
          <a:bodyPr>
            <a:normAutofit fontScale="90000"/>
          </a:bodyPr>
          <a:lstStyle/>
          <a:p>
            <a:r>
              <a:rPr lang="en-US" b="1" dirty="0"/>
              <a:t>References (Books): </a:t>
            </a:r>
          </a:p>
        </p:txBody>
      </p:sp>
      <p:sp>
        <p:nvSpPr>
          <p:cNvPr id="3" name="Content Placeholder 2"/>
          <p:cNvSpPr>
            <a:spLocks noGrp="1"/>
          </p:cNvSpPr>
          <p:nvPr>
            <p:ph idx="1"/>
          </p:nvPr>
        </p:nvSpPr>
        <p:spPr>
          <a:xfrm>
            <a:off x="2259106" y="1825625"/>
            <a:ext cx="9094694" cy="2133189"/>
          </a:xfrm>
        </p:spPr>
        <p:txBody>
          <a:bodyPr/>
          <a:lstStyle/>
          <a:p>
            <a:r>
              <a:rPr lang="en-US" dirty="0" err="1"/>
              <a:t>Tapanmohan</a:t>
            </a:r>
            <a:r>
              <a:rPr lang="en-US" dirty="0"/>
              <a:t> </a:t>
            </a:r>
            <a:r>
              <a:rPr lang="en-US" dirty="0" err="1"/>
              <a:t>Chottopadhai</a:t>
            </a:r>
            <a:r>
              <a:rPr lang="en-US" i="1" dirty="0"/>
              <a:t>, </a:t>
            </a:r>
            <a:r>
              <a:rPr lang="en-US" i="1" dirty="0" err="1"/>
              <a:t>Polashir</a:t>
            </a:r>
            <a:r>
              <a:rPr lang="en-US" i="1" dirty="0"/>
              <a:t> </a:t>
            </a:r>
            <a:r>
              <a:rPr lang="en-US" i="1" dirty="0" err="1"/>
              <a:t>Juddo</a:t>
            </a:r>
            <a:r>
              <a:rPr lang="en-US" i="1" dirty="0"/>
              <a:t> </a:t>
            </a:r>
          </a:p>
          <a:p>
            <a:r>
              <a:rPr lang="en-US" dirty="0"/>
              <a:t>M. </a:t>
            </a:r>
            <a:r>
              <a:rPr lang="en-US" dirty="0" err="1"/>
              <a:t>Emdadul</a:t>
            </a:r>
            <a:r>
              <a:rPr lang="en-US" dirty="0"/>
              <a:t> </a:t>
            </a:r>
            <a:r>
              <a:rPr lang="en-US" dirty="0" err="1"/>
              <a:t>Haq</a:t>
            </a:r>
            <a:r>
              <a:rPr lang="en-US" dirty="0"/>
              <a:t>, </a:t>
            </a:r>
            <a:r>
              <a:rPr lang="en-US" i="1" dirty="0"/>
              <a:t>Drugs in South Asia</a:t>
            </a:r>
          </a:p>
          <a:p>
            <a:endParaRPr lang="en-US" i="1" dirty="0"/>
          </a:p>
        </p:txBody>
      </p:sp>
    </p:spTree>
    <p:extLst>
      <p:ext uri="{BB962C8B-B14F-4D97-AF65-F5344CB8AC3E}">
        <p14:creationId xmlns:p14="http://schemas.microsoft.com/office/powerpoint/2010/main" val="24851156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95372" y="2521009"/>
            <a:ext cx="7999844" cy="1109973"/>
          </a:xfrm>
        </p:spPr>
        <p:txBody>
          <a:bodyPr/>
          <a:lstStyle/>
          <a:p>
            <a:r>
              <a:rPr lang="en-US" dirty="0"/>
              <a:t>Questions and Answers</a:t>
            </a:r>
          </a:p>
        </p:txBody>
      </p:sp>
    </p:spTree>
    <p:extLst>
      <p:ext uri="{BB962C8B-B14F-4D97-AF65-F5344CB8AC3E}">
        <p14:creationId xmlns:p14="http://schemas.microsoft.com/office/powerpoint/2010/main" val="40019212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1191</TotalTime>
  <Words>731</Words>
  <Application>Microsoft Office PowerPoint</Application>
  <PresentationFormat>Widescreen</PresentationFormat>
  <Paragraphs>67</Paragraphs>
  <Slides>29</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29</vt:i4>
      </vt:variant>
    </vt:vector>
  </HeadingPairs>
  <TitlesOfParts>
    <vt:vector size="37" baseType="lpstr">
      <vt:lpstr>AdvOT1ef757c0</vt:lpstr>
      <vt:lpstr>Arial</vt:lpstr>
      <vt:lpstr>Calibri</vt:lpstr>
      <vt:lpstr>Calibri Light</vt:lpstr>
      <vt:lpstr>Times New Roman</vt:lpstr>
      <vt:lpstr>Times-Roman</vt:lpstr>
      <vt:lpstr>Wingdings</vt:lpstr>
      <vt:lpstr>Office Theme</vt:lpstr>
      <vt:lpstr>PowerPoint Presentation</vt:lpstr>
      <vt:lpstr>PowerPoint Presentation</vt:lpstr>
      <vt:lpstr>Part-1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Part-2</vt:lpstr>
      <vt:lpstr>   Abul Fazl,  the historian of Akbar’s time and the writer of the Akbarnamah claimed that poppy was one of the most valuable crops and an important source of revenue during the time of Akbar. Between 1653 and 1708, opium was one of the exportable commodities of the Mughal kingdom. Given the varied information, it is difficult to arrive at a conclusion that the Mughals had any monopoly in the opium trade . </vt:lpstr>
      <vt:lpstr> </vt:lpstr>
      <vt:lpstr>British colonial drug policy 1. At the time of growth and development of the opium monopoly in Bengal from 1773 to 1856, the economic condition of the poppy farmers (ryots) had deteriorated and tension had erupted between the local zamindars (landlords) and the colonial authorities. This conflict aided in the eventual uprising of 1857, also known as the Indian 'Sepoy Mutiny’. In an attempt to further control the private cultivation of opium poppies and the free trade in opium, the government adopted the Opium Act of 1857 and the Opium Act of 1878.  2. The colonial drug laws applied a double standard, as they allowed the imperial authorities to appropriate revenue  from the state-run opium monopoly, while pushing the private traders to become involved in the contraband trade.  3. The Indian opium trade flourished until the late nineteenth century, when China emerged as a major market for the supply of opium from India  Thus, the history of the drug trade in Asia has a complex political background with numerous cross-regional connections.</vt:lpstr>
      <vt:lpstr>  </vt:lpstr>
      <vt:lpstr>Golden Crescent </vt:lpstr>
      <vt:lpstr> </vt:lpstr>
      <vt:lpstr>The Arab physicians, who had learnt the medicinal application of opium (Papaver Somniferum) from the Greeks, came in contact with India from the eighth century AD.  In collaboration with Dutch, Portuguese and then the English trading companies, a group of private traders evolved in sporadic poppy cultivation in some parts of India in the sixteenth and seventeenth centuries.    With the establishment of political rule, the British East India Company eventually expelled all other parties from the opium trade and came in conflict with the local zamindars that attempted to resist the large scale conversion of fertile land into poppy cultivation. This rift eventually contributed to the great uprising of 1857 in the poppy growing areas             </vt:lpstr>
      <vt:lpstr>To organize the opium enterprise, the government of the East India Company in 1763 established the so-called 'Gentlemen's monopoly' run by the Patna Council. It consisted of Company officials, who entered the business directly and distributed money through Indian agents (gumastas) amongst farmers to grow opium poppies. The employees received their salaries from the profits they made individually in the opium monopoly.</vt:lpstr>
      <vt:lpstr>Business consortium in opium: In an attempt to establish a business consortium in opium, the East India authorities in 1765 allowed other European companies to participate in a joint venture under one general agent. Malpractice and corruption of officials affected this system,when the respective companies started to 'trade clandestinely on their own account in the drug.  INCREASE OF POPPY LAND CULTIVATION: Under the joint venture, the land under poppy cultivation was increased from 283,000 hectares in 1765-6, to 303,500 hectares in the following year. This large-scale conversion of paddy fields into poppy cultivation contributed to a famine in Bengal in 1770. This famine caused the death of 10 million people in an area that had been traditionally known as the 'Golden Bengal' due to its natural resources.</vt:lpstr>
      <vt:lpstr>Poppy Growing  Areas     </vt:lpstr>
      <vt:lpstr>PowerPoint Presentation</vt:lpstr>
      <vt:lpstr>References (Books): </vt:lpstr>
      <vt:lpstr>Questions and Answers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NSU</cp:lastModifiedBy>
  <cp:revision>424</cp:revision>
  <dcterms:created xsi:type="dcterms:W3CDTF">2020-10-31T12:22:58Z</dcterms:created>
  <dcterms:modified xsi:type="dcterms:W3CDTF">2026-06-09T06:44:17Z</dcterms:modified>
</cp:coreProperties>
</file>