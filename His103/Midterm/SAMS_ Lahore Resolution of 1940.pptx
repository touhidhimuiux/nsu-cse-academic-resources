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73" r:id="rId4"/>
    <p:sldId id="277" r:id="rId5"/>
    <p:sldId id="278" r:id="rId6"/>
    <p:sldId id="257" r:id="rId7"/>
    <p:sldId id="265" r:id="rId8"/>
    <p:sldId id="258" r:id="rId9"/>
    <p:sldId id="276" r:id="rId10"/>
    <p:sldId id="263" r:id="rId11"/>
    <p:sldId id="274" r:id="rId12"/>
    <p:sldId id="260" r:id="rId13"/>
    <p:sldId id="275" r:id="rId14"/>
    <p:sldId id="262" r:id="rId15"/>
    <p:sldId id="259" r:id="rId16"/>
    <p:sldId id="261" r:id="rId17"/>
    <p:sldId id="271" r:id="rId18"/>
    <p:sldId id="272" r:id="rId19"/>
    <p:sldId id="266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0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2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51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0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68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3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4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57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2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9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41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F0728-A76F-450F-A429-9EAB3BD3861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B014C-5C94-4C0F-AFFD-D75B4EC58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3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banglapedia.org/index.php?title=Fourteen_Point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en.banglapedia.org/index.php?title=Jinnah,_Mohammed_Ali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8403" y="1254369"/>
            <a:ext cx="10964255" cy="5052426"/>
          </a:xfrm>
        </p:spPr>
        <p:txBody>
          <a:bodyPr>
            <a:normAutofit/>
          </a:bodyPr>
          <a:lstStyle/>
          <a:p>
            <a:pPr algn="l"/>
            <a:r>
              <a:rPr lang="en-US" sz="5400" dirty="0"/>
              <a:t> </a:t>
            </a:r>
            <a:r>
              <a:rPr lang="en-US" sz="5400" i="1" dirty="0"/>
              <a:t>Emergence of Bangladesh </a:t>
            </a:r>
            <a:endParaRPr lang="en-US" sz="5400" dirty="0"/>
          </a:p>
          <a:p>
            <a:pPr algn="l"/>
            <a:r>
              <a:rPr lang="en-US" sz="5400" dirty="0"/>
              <a:t>North South University</a:t>
            </a:r>
          </a:p>
          <a:p>
            <a:pPr algn="l"/>
            <a:r>
              <a:rPr lang="en-US" sz="5400" dirty="0"/>
              <a:t>Dhaka, Bangladesh </a:t>
            </a:r>
          </a:p>
          <a:p>
            <a:pPr algn="l"/>
            <a:r>
              <a:rPr lang="en-US" sz="5400" dirty="0"/>
              <a:t>HIS 103</a:t>
            </a:r>
          </a:p>
        </p:txBody>
      </p:sp>
    </p:spTree>
    <p:extLst>
      <p:ext uri="{BB962C8B-B14F-4D97-AF65-F5344CB8AC3E}">
        <p14:creationId xmlns:p14="http://schemas.microsoft.com/office/powerpoint/2010/main" val="416190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1094704"/>
            <a:ext cx="9822287" cy="1983347"/>
          </a:xfrm>
        </p:spPr>
        <p:txBody>
          <a:bodyPr>
            <a:normAutofit/>
          </a:bodyPr>
          <a:lstStyle/>
          <a:p>
            <a:r>
              <a:rPr lang="en-US" sz="5400" dirty="0"/>
              <a:t>Lahore Resolution/Pakistan Resolution of 1940</a:t>
            </a:r>
          </a:p>
        </p:txBody>
      </p:sp>
    </p:spTree>
    <p:extLst>
      <p:ext uri="{BB962C8B-B14F-4D97-AF65-F5344CB8AC3E}">
        <p14:creationId xmlns:p14="http://schemas.microsoft.com/office/powerpoint/2010/main" val="192189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15" y="476518"/>
            <a:ext cx="11539470" cy="5700445"/>
          </a:xfrm>
        </p:spPr>
        <p:txBody>
          <a:bodyPr/>
          <a:lstStyle/>
          <a:p>
            <a:pPr marL="0" indent="0" fontAlgn="base">
              <a:buNone/>
            </a:pPr>
            <a:r>
              <a:rPr lang="en-US" i="1" dirty="0"/>
              <a:t>1.       </a:t>
            </a:r>
            <a:r>
              <a:rPr lang="en-US" i="1" dirty="0">
                <a:solidFill>
                  <a:srgbClr val="FF0000"/>
                </a:solidFill>
              </a:rPr>
              <a:t>Who passed the Lahore Resolution?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2.       Whose demand was said to be first demanding Pakistan?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3.       When was the name of country first coined?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4.       Who coined the term Pakistan for the first time?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5.       What is the background of Lahore resolution?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6.       What are the principal clauses of Lahore Resolution?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7.       What is the importance of Lahore Resolution?</a:t>
            </a:r>
          </a:p>
          <a:p>
            <a:pPr marL="0" indent="0" fontAlgn="base">
              <a:buNone/>
            </a:pPr>
            <a:r>
              <a:rPr lang="en-US" i="1" dirty="0">
                <a:solidFill>
                  <a:srgbClr val="FF0000"/>
                </a:solidFill>
              </a:rPr>
              <a:t>8.       What was the impact of the Lahore Resolution?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52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245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Background: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588" y="1107584"/>
            <a:ext cx="9396211" cy="4146995"/>
          </a:xfrm>
        </p:spPr>
        <p:txBody>
          <a:bodyPr/>
          <a:lstStyle/>
          <a:p>
            <a:r>
              <a:rPr lang="en-US" dirty="0"/>
              <a:t>Nehru reports , 1929</a:t>
            </a:r>
          </a:p>
          <a:p>
            <a:r>
              <a:rPr lang="en-US" dirty="0"/>
              <a:t>Fourteen points of Jinnah, 1929 [For details, please see, </a:t>
            </a:r>
            <a:r>
              <a:rPr lang="en-US" dirty="0">
                <a:hlinkClick r:id="rId2"/>
              </a:rPr>
              <a:t>https://en.banglapedia.org/index.php?title=Fourteen_Points</a:t>
            </a:r>
            <a:r>
              <a:rPr lang="en-US" dirty="0"/>
              <a:t>]</a:t>
            </a:r>
          </a:p>
          <a:p>
            <a:r>
              <a:rPr lang="en-US" dirty="0"/>
              <a:t>Communal Award, 1932</a:t>
            </a:r>
          </a:p>
          <a:p>
            <a:r>
              <a:rPr lang="en-US" dirty="0"/>
              <a:t>The Government of India Act, 1935</a:t>
            </a:r>
          </a:p>
          <a:p>
            <a:r>
              <a:rPr lang="en-US" dirty="0"/>
              <a:t>Fear of Congress rule in 1937 election </a:t>
            </a:r>
          </a:p>
          <a:p>
            <a:r>
              <a:rPr lang="en-US" dirty="0"/>
              <a:t>Hindu-Muslim Communal Conflicts </a:t>
            </a:r>
          </a:p>
        </p:txBody>
      </p:sp>
    </p:spTree>
    <p:extLst>
      <p:ext uri="{BB962C8B-B14F-4D97-AF65-F5344CB8AC3E}">
        <p14:creationId xmlns:p14="http://schemas.microsoft.com/office/powerpoint/2010/main" val="143847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641" y="304923"/>
            <a:ext cx="4056845" cy="3146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223" y="304923"/>
            <a:ext cx="2886008" cy="3571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485" y="124618"/>
            <a:ext cx="3253653" cy="34943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rcRect r="23617"/>
          <a:stretch/>
        </p:blipFill>
        <p:spPr>
          <a:xfrm>
            <a:off x="888641" y="3618963"/>
            <a:ext cx="2949861" cy="30961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845" y="3747314"/>
            <a:ext cx="4021465" cy="29239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8287" y="3703412"/>
            <a:ext cx="3838846" cy="301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560" y="360608"/>
            <a:ext cx="11374452" cy="582489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1940 </a:t>
            </a:r>
            <a:r>
              <a:rPr lang="en-US" cap="small" dirty="0" err="1">
                <a:hlinkClick r:id="rId2" tooltip="Jinnah, Mohammed Ali"/>
              </a:rPr>
              <a:t>mohammed</a:t>
            </a:r>
            <a:r>
              <a:rPr lang="en-US" cap="small" dirty="0">
                <a:hlinkClick r:id="rId2" tooltip="Jinnah, Mohammed Ali"/>
              </a:rPr>
              <a:t> </a:t>
            </a:r>
            <a:r>
              <a:rPr lang="en-US" cap="small" dirty="0" err="1">
                <a:hlinkClick r:id="rId2" tooltip="Jinnah, Mohammed Ali"/>
              </a:rPr>
              <a:t>ali</a:t>
            </a:r>
            <a:r>
              <a:rPr lang="en-US" cap="small" dirty="0">
                <a:hlinkClick r:id="rId2" tooltip="Jinnah, Mohammed Ali"/>
              </a:rPr>
              <a:t> </a:t>
            </a:r>
            <a:r>
              <a:rPr lang="en-US" cap="small" dirty="0" err="1">
                <a:hlinkClick r:id="rId2" tooltip="Jinnah, Mohammed Ali"/>
              </a:rPr>
              <a:t>jinnah</a:t>
            </a:r>
            <a:r>
              <a:rPr lang="en-US" dirty="0"/>
              <a:t> called a general session of the </a:t>
            </a:r>
            <a:r>
              <a:rPr lang="en-US" dirty="0">
                <a:solidFill>
                  <a:srgbClr val="FF0000"/>
                </a:solidFill>
              </a:rPr>
              <a:t>All India Muslim League </a:t>
            </a:r>
            <a:r>
              <a:rPr lang="en-US" dirty="0"/>
              <a:t>in Lahore to discuss the situation that had arisen due to the </a:t>
            </a:r>
            <a:r>
              <a:rPr lang="en-US" dirty="0">
                <a:solidFill>
                  <a:srgbClr val="FF0000"/>
                </a:solidFill>
              </a:rPr>
              <a:t>outbreak of the Second World War </a:t>
            </a:r>
            <a:r>
              <a:rPr lang="en-US" dirty="0"/>
              <a:t>and the Government of India joining the war without taking the opinion of the Indian leaders, and also to analyze the reasons that led to the </a:t>
            </a:r>
            <a:r>
              <a:rPr lang="en-US" dirty="0">
                <a:solidFill>
                  <a:srgbClr val="FF0000"/>
                </a:solidFill>
              </a:rPr>
              <a:t>defeat</a:t>
            </a:r>
            <a:r>
              <a:rPr lang="en-US" dirty="0"/>
              <a:t> of the Muslim League in the general election of 1937 in the Muslim majority provinces.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17070"/>
          <a:stretch/>
        </p:blipFill>
        <p:spPr>
          <a:xfrm>
            <a:off x="3199798" y="2756750"/>
            <a:ext cx="4540405" cy="350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3792"/>
            <a:ext cx="10515600" cy="5623171"/>
          </a:xfrm>
        </p:spPr>
        <p:txBody>
          <a:bodyPr/>
          <a:lstStyle/>
          <a:p>
            <a:pPr algn="just"/>
            <a:r>
              <a:rPr lang="en-US" dirty="0"/>
              <a:t>The Lahore Resolution commonly known as the ’Pakistan Resolution’ was a formal political statement adopted by the Muslim League at the occasion of its three-day general session on 22-24 March 1940 that called for </a:t>
            </a:r>
            <a:r>
              <a:rPr lang="en-US" dirty="0">
                <a:solidFill>
                  <a:srgbClr val="FF0000"/>
                </a:solidFill>
              </a:rPr>
              <a:t>greater Muslim autonomy in British India</a:t>
            </a:r>
            <a:r>
              <a:rPr lang="en-US" dirty="0"/>
              <a:t>. This has been largely interpreted as </a:t>
            </a:r>
            <a:r>
              <a:rPr lang="en-US" dirty="0">
                <a:solidFill>
                  <a:srgbClr val="FF0000"/>
                </a:solidFill>
              </a:rPr>
              <a:t>a demand for a separate Muslim state, </a:t>
            </a:r>
            <a:r>
              <a:rPr lang="en-US" i="1" dirty="0">
                <a:solidFill>
                  <a:srgbClr val="FF0000"/>
                </a:solidFill>
              </a:rPr>
              <a:t>Pakistan</a:t>
            </a:r>
            <a:r>
              <a:rPr lang="en-US" dirty="0"/>
              <a:t>. The resolution was presented by </a:t>
            </a:r>
            <a:r>
              <a:rPr lang="en-US" dirty="0">
                <a:solidFill>
                  <a:srgbClr val="FF0000"/>
                </a:solidFill>
              </a:rPr>
              <a:t>A. K. </a:t>
            </a:r>
            <a:r>
              <a:rPr lang="en-US" dirty="0" err="1">
                <a:solidFill>
                  <a:srgbClr val="FF0000"/>
                </a:solidFill>
              </a:rPr>
              <a:t>Fazlul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Huq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227" y="3039788"/>
            <a:ext cx="3880460" cy="285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1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489397"/>
            <a:ext cx="11500834" cy="5975797"/>
          </a:xfrm>
        </p:spPr>
        <p:txBody>
          <a:bodyPr>
            <a:normAutofit/>
          </a:bodyPr>
          <a:lstStyle/>
          <a:p>
            <a:r>
              <a:rPr lang="en-US" dirty="0"/>
              <a:t>Jinnah, in his speech, criticized the Congress and the nationalist Muslims, and espoused the Two-Nation Theory and the reasons for the demand for separate Muslim homelands. </a:t>
            </a:r>
            <a:r>
              <a:rPr lang="en-US" dirty="0">
                <a:solidFill>
                  <a:srgbClr val="FF0000"/>
                </a:solidFill>
              </a:rPr>
              <a:t>Two-Nation Theory was the basis for the Lahore Resolution.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Lahore Resolution was presented by A. K. </a:t>
            </a:r>
            <a:r>
              <a:rPr lang="en-US" dirty="0" err="1"/>
              <a:t>Fazlul</a:t>
            </a:r>
            <a:r>
              <a:rPr lang="en-US" dirty="0"/>
              <a:t> </a:t>
            </a:r>
            <a:r>
              <a:rPr lang="en-US" dirty="0" err="1"/>
              <a:t>Haq</a:t>
            </a:r>
            <a:r>
              <a:rPr lang="en-US" dirty="0"/>
              <a:t>, the then chief minister of Bengal on the </a:t>
            </a:r>
            <a:r>
              <a:rPr lang="en-US" dirty="0">
                <a:solidFill>
                  <a:srgbClr val="FF0000"/>
                </a:solidFill>
              </a:rPr>
              <a:t>23 March , 1940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8321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743" y="115160"/>
            <a:ext cx="6762750" cy="1152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34" y="1921969"/>
            <a:ext cx="3813487" cy="1571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227" y="1267685"/>
            <a:ext cx="6045759" cy="328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521" y="1683025"/>
            <a:ext cx="2924427" cy="373445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E6D6AB-9BDD-411A-AD56-1352B3FC6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7323" y="450574"/>
            <a:ext cx="6879120" cy="584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2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580" y="334851"/>
            <a:ext cx="11230378" cy="597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37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8404"/>
            <a:ext cx="10715714" cy="51685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Lahore Resolution ran as follows: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“That the areas in which the Muslims are numerically in a majority as in the North-Western and Eastern zones of India should be grouped to constitute </a:t>
            </a:r>
            <a:r>
              <a:rPr lang="en-US" b="1" dirty="0">
                <a:solidFill>
                  <a:srgbClr val="FF0000"/>
                </a:solidFill>
              </a:rPr>
              <a:t>'independent states' </a:t>
            </a:r>
            <a:r>
              <a:rPr lang="en-US" dirty="0">
                <a:solidFill>
                  <a:srgbClr val="0070C0"/>
                </a:solidFill>
              </a:rPr>
              <a:t>in which the constituent units shall be autonomous and sovereign”.</a:t>
            </a:r>
          </a:p>
          <a:p>
            <a:pPr marL="0" indent="0">
              <a:buNone/>
            </a:pPr>
            <a:r>
              <a:rPr lang="en-US" dirty="0"/>
              <a:t>( Source: K. B. </a:t>
            </a:r>
            <a:r>
              <a:rPr lang="en-US" dirty="0" err="1"/>
              <a:t>Sayeed</a:t>
            </a:r>
            <a:r>
              <a:rPr lang="en-US" dirty="0"/>
              <a:t>, </a:t>
            </a:r>
            <a:r>
              <a:rPr lang="en-US" i="1" dirty="0"/>
              <a:t>The Political System of Pakistan</a:t>
            </a:r>
            <a:r>
              <a:rPr lang="en-US" dirty="0"/>
              <a:t>, Oxford: Oxford University Press, 1967, Page 40).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00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101" y="772733"/>
            <a:ext cx="8744755" cy="471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46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461474"/>
            <a:ext cx="11091729" cy="5715490"/>
          </a:xfrm>
        </p:spPr>
        <p:txBody>
          <a:bodyPr/>
          <a:lstStyle/>
          <a:p>
            <a:pPr algn="just"/>
            <a:r>
              <a:rPr lang="en-US" dirty="0"/>
              <a:t>The Hindu Press dubbed it as the 'Pakistan Demand', after the scheme invented by </a:t>
            </a:r>
            <a:r>
              <a:rPr lang="en-US" dirty="0" err="1"/>
              <a:t>Rahmat</a:t>
            </a:r>
            <a:r>
              <a:rPr lang="en-US" dirty="0"/>
              <a:t> Ali, an Indian Muslim living at Cambridge. </a:t>
            </a:r>
            <a:r>
              <a:rPr lang="en-US" dirty="0">
                <a:solidFill>
                  <a:srgbClr val="FF0000"/>
                </a:solidFill>
              </a:rPr>
              <a:t>Choudhury </a:t>
            </a:r>
            <a:r>
              <a:rPr lang="en-US" dirty="0" err="1">
                <a:solidFill>
                  <a:srgbClr val="FF0000"/>
                </a:solidFill>
              </a:rPr>
              <a:t>Rahmat</a:t>
            </a:r>
            <a:r>
              <a:rPr lang="en-US" dirty="0">
                <a:solidFill>
                  <a:srgbClr val="FF0000"/>
                </a:solidFill>
              </a:rPr>
              <a:t> Ali ,</a:t>
            </a:r>
            <a:r>
              <a:rPr lang="en-US" dirty="0"/>
              <a:t> when he was a student at Cambridge, suggested the word </a:t>
            </a:r>
            <a:r>
              <a:rPr lang="en-US" i="1" dirty="0"/>
              <a:t>Pakistan </a:t>
            </a:r>
            <a:r>
              <a:rPr lang="en-US" dirty="0"/>
              <a:t>in a pamphlet published in January, </a:t>
            </a:r>
            <a:r>
              <a:rPr lang="en-US" dirty="0">
                <a:solidFill>
                  <a:srgbClr val="FF0000"/>
                </a:solidFill>
              </a:rPr>
              <a:t>1933</a:t>
            </a:r>
            <a:r>
              <a:rPr lang="en-US" dirty="0"/>
              <a:t>. Sir Muhammad Iqbal also advocated his Islamic ideological basis of a state.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19" y="2871387"/>
            <a:ext cx="9389112" cy="28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85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With the passage of this Resolution, the Muslims of the sub-continent changed their demand from </a:t>
            </a:r>
            <a:r>
              <a:rPr lang="en-US" dirty="0">
                <a:solidFill>
                  <a:srgbClr val="FF0000"/>
                </a:solidFill>
              </a:rPr>
              <a:t>“Separate Electorates” </a:t>
            </a:r>
            <a:r>
              <a:rPr lang="en-US" dirty="0"/>
              <a:t>to a “Separate State.”  This Resolution rejected the idea of a United India and the creation of an </a:t>
            </a:r>
            <a:r>
              <a:rPr lang="en-US" dirty="0">
                <a:solidFill>
                  <a:srgbClr val="FF0000"/>
                </a:solidFill>
              </a:rPr>
              <a:t>independent Muslim state was set as their ultimate goal</a:t>
            </a:r>
            <a:r>
              <a:rPr lang="en-US" dirty="0"/>
              <a:t>. It gave new energy and courage to the Muslims of the region who gathered around </a:t>
            </a:r>
            <a:r>
              <a:rPr lang="en-US" dirty="0">
                <a:solidFill>
                  <a:srgbClr val="FF0000"/>
                </a:solidFill>
              </a:rPr>
              <a:t>Quaid-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 err="1">
                <a:solidFill>
                  <a:srgbClr val="FF0000"/>
                </a:solidFill>
              </a:rPr>
              <a:t>Azam</a:t>
            </a:r>
            <a:r>
              <a:rPr lang="en-US" dirty="0">
                <a:solidFill>
                  <a:srgbClr val="FF0000"/>
                </a:solidFill>
              </a:rPr>
              <a:t> Muhammad Ali Jinnah </a:t>
            </a:r>
            <a:r>
              <a:rPr lang="en-US" dirty="0"/>
              <a:t>from the platform of the Muslim League to struggle for their freedom.</a:t>
            </a:r>
          </a:p>
        </p:txBody>
      </p:sp>
    </p:spTree>
    <p:extLst>
      <p:ext uri="{BB962C8B-B14F-4D97-AF65-F5344CB8AC3E}">
        <p14:creationId xmlns:p14="http://schemas.microsoft.com/office/powerpoint/2010/main" val="109076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930" y="1825625"/>
            <a:ext cx="10442712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Jinnah at first took the plural 's' of the Lahore Resolution as an 'obvious printing mistake'. </a:t>
            </a:r>
            <a:r>
              <a:rPr lang="en-US" sz="3200" dirty="0"/>
              <a:t>But when, on Abul Hashim's insistence, the original minute book was checked, Jinnah found under his own signature the plural </a:t>
            </a:r>
            <a:r>
              <a:rPr lang="en-US" sz="3200" dirty="0">
                <a:solidFill>
                  <a:srgbClr val="00B0F0"/>
                </a:solidFill>
              </a:rPr>
              <a:t>'s’. </a:t>
            </a:r>
          </a:p>
          <a:p>
            <a:pPr algn="just"/>
            <a:r>
              <a:rPr lang="en-US" sz="3200" dirty="0"/>
              <a:t>Abul Hashim claimed that he had suggested for erasing the word 'one' and replace it with 'a'. Jinnah is said to have accepted </a:t>
            </a:r>
            <a:r>
              <a:rPr lang="en-US" sz="3200" dirty="0" err="1"/>
              <a:t>Abul</a:t>
            </a:r>
            <a:r>
              <a:rPr lang="en-US" sz="3200" dirty="0"/>
              <a:t> </a:t>
            </a:r>
            <a:r>
              <a:rPr lang="en-US" sz="3200" dirty="0" err="1"/>
              <a:t>Hashim's</a:t>
            </a:r>
            <a:r>
              <a:rPr lang="en-US" sz="3200" dirty="0"/>
              <a:t> suggestion.</a:t>
            </a:r>
          </a:p>
        </p:txBody>
      </p:sp>
    </p:spTree>
    <p:extLst>
      <p:ext uri="{BB962C8B-B14F-4D97-AF65-F5344CB8AC3E}">
        <p14:creationId xmlns:p14="http://schemas.microsoft.com/office/powerpoint/2010/main" val="382488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4" r="2316" b="5163"/>
          <a:stretch/>
        </p:blipFill>
        <p:spPr>
          <a:xfrm>
            <a:off x="1725770" y="953037"/>
            <a:ext cx="9079606" cy="410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54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8642"/>
          <a:stretch/>
        </p:blipFill>
        <p:spPr>
          <a:xfrm>
            <a:off x="888642" y="927279"/>
            <a:ext cx="8603088" cy="465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01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920409" cy="771466"/>
          </a:xfrm>
        </p:spPr>
        <p:txBody>
          <a:bodyPr/>
          <a:lstStyle/>
          <a:p>
            <a:r>
              <a:rPr lang="en-US" i="1" dirty="0"/>
              <a:t>Reactions and pathways: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6592"/>
            <a:ext cx="10886630" cy="54180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new ray of </a:t>
            </a:r>
            <a:r>
              <a:rPr lang="en-US" dirty="0">
                <a:solidFill>
                  <a:srgbClr val="FF0000"/>
                </a:solidFill>
              </a:rPr>
              <a:t>hope</a:t>
            </a:r>
            <a:r>
              <a:rPr lang="en-US" dirty="0"/>
              <a:t> for the Muslims community </a:t>
            </a:r>
          </a:p>
          <a:p>
            <a:r>
              <a:rPr lang="en-US" dirty="0"/>
              <a:t>Dreams for  separate independent states</a:t>
            </a:r>
          </a:p>
          <a:p>
            <a:r>
              <a:rPr lang="en-US" dirty="0"/>
              <a:t>Majority Hindus refused the demand for separate homeland for the Muslims resulting in </a:t>
            </a:r>
            <a:r>
              <a:rPr lang="en-US" dirty="0">
                <a:solidFill>
                  <a:srgbClr val="FF0000"/>
                </a:solidFill>
              </a:rPr>
              <a:t>riots and communal violence ( “Introduction” of </a:t>
            </a:r>
            <a:r>
              <a:rPr lang="en-US" dirty="0" err="1">
                <a:solidFill>
                  <a:srgbClr val="FF0000"/>
                </a:solidFill>
              </a:rPr>
              <a:t>Anidita</a:t>
            </a:r>
            <a:r>
              <a:rPr lang="en-US" dirty="0">
                <a:solidFill>
                  <a:srgbClr val="FF0000"/>
                </a:solidFill>
              </a:rPr>
              <a:t> Ghosal)</a:t>
            </a:r>
          </a:p>
          <a:p>
            <a:r>
              <a:rPr lang="en-US" dirty="0"/>
              <a:t>The Lahore Resolution served as a </a:t>
            </a:r>
            <a:r>
              <a:rPr lang="en-US" dirty="0">
                <a:solidFill>
                  <a:srgbClr val="FF0000"/>
                </a:solidFill>
              </a:rPr>
              <a:t>political agenda </a:t>
            </a:r>
            <a:r>
              <a:rPr lang="en-US" dirty="0"/>
              <a:t>for the ML &amp; Muslims community </a:t>
            </a:r>
          </a:p>
          <a:p>
            <a:r>
              <a:rPr lang="en-US" dirty="0"/>
              <a:t>New leadership development ( Muhammad Ali Jinnah , AK </a:t>
            </a:r>
            <a:r>
              <a:rPr lang="en-US" dirty="0" err="1"/>
              <a:t>Fazlul</a:t>
            </a:r>
            <a:r>
              <a:rPr lang="en-US" dirty="0"/>
              <a:t> </a:t>
            </a:r>
            <a:r>
              <a:rPr lang="en-US" dirty="0" err="1"/>
              <a:t>Haq</a:t>
            </a:r>
            <a:r>
              <a:rPr lang="en-US" dirty="0"/>
              <a:t>)- for example, the rise of 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Jinnah as an ambassador of Hindu-Muslim Unity </a:t>
            </a:r>
            <a:r>
              <a:rPr lang="en-US" dirty="0"/>
              <a:t>( in 1916, </a:t>
            </a:r>
            <a:r>
              <a:rPr lang="en-US" dirty="0" err="1"/>
              <a:t>Laucknow</a:t>
            </a:r>
            <a:r>
              <a:rPr lang="en-US" dirty="0"/>
              <a:t> Pact) to a political leader in 1940</a:t>
            </a:r>
          </a:p>
          <a:p>
            <a:r>
              <a:rPr lang="en-US" dirty="0"/>
              <a:t>Growth of the Party </a:t>
            </a:r>
            <a:r>
              <a:rPr lang="en-US" dirty="0">
                <a:solidFill>
                  <a:srgbClr val="FF0000"/>
                </a:solidFill>
              </a:rPr>
              <a:t>system &amp; aggregations of diverse interests </a:t>
            </a:r>
            <a:r>
              <a:rPr lang="en-US" dirty="0"/>
              <a:t> </a:t>
            </a:r>
          </a:p>
          <a:p>
            <a:r>
              <a:rPr lang="en-US" dirty="0"/>
              <a:t>Seeds shown for </a:t>
            </a:r>
            <a:r>
              <a:rPr lang="en-US" dirty="0">
                <a:solidFill>
                  <a:srgbClr val="FF0000"/>
                </a:solidFill>
              </a:rPr>
              <a:t>independence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68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337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Suggested Books: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443" y="1223493"/>
            <a:ext cx="9634331" cy="4224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Sitka Display" panose="02000505000000020004" pitchFamily="2" charset="0"/>
              </a:rPr>
              <a:t>1. Harun or Rashid, </a:t>
            </a:r>
            <a:r>
              <a:rPr lang="en-US" sz="3200" i="1" dirty="0">
                <a:latin typeface="Sitka Display" panose="02000505000000020004" pitchFamily="2" charset="0"/>
              </a:rPr>
              <a:t>Foreshadowing of Bangladesh: Bengal Muslim League and Muslim Politics, 1936–1947 </a:t>
            </a:r>
            <a:endParaRPr lang="en-US" sz="3200" dirty="0">
              <a:latin typeface="Sitka Display" panose="02000505000000020004" pitchFamily="2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7030A0"/>
                </a:solidFill>
                <a:latin typeface="Sitka Display" panose="02000505000000020004" pitchFamily="2" charset="0"/>
              </a:rPr>
              <a:t>2. K.B. </a:t>
            </a:r>
            <a:r>
              <a:rPr lang="en-US" sz="3200" dirty="0" err="1">
                <a:solidFill>
                  <a:srgbClr val="7030A0"/>
                </a:solidFill>
                <a:latin typeface="Sitka Display" panose="02000505000000020004" pitchFamily="2" charset="0"/>
              </a:rPr>
              <a:t>Sayeed</a:t>
            </a:r>
            <a:r>
              <a:rPr lang="en-US" sz="3200" dirty="0">
                <a:solidFill>
                  <a:srgbClr val="7030A0"/>
                </a:solidFill>
                <a:latin typeface="Sitka Display" panose="02000505000000020004" pitchFamily="2" charset="0"/>
              </a:rPr>
              <a:t>, </a:t>
            </a:r>
            <a:r>
              <a:rPr lang="en-US" sz="3200" i="1" dirty="0">
                <a:solidFill>
                  <a:srgbClr val="7030A0"/>
                </a:solidFill>
                <a:latin typeface="Sitka Display" panose="02000505000000020004" pitchFamily="2" charset="0"/>
              </a:rPr>
              <a:t>Pakistan: The Formative Phase, 1857-1948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7030A0"/>
                </a:solidFill>
                <a:latin typeface="Sitka Display" panose="02000505000000020004" pitchFamily="2" charset="0"/>
              </a:rPr>
              <a:t>3. </a:t>
            </a:r>
            <a:r>
              <a:rPr lang="en-US" sz="3200" dirty="0" err="1">
                <a:solidFill>
                  <a:srgbClr val="7030A0"/>
                </a:solidFill>
                <a:latin typeface="Sitka Display" panose="02000505000000020004" pitchFamily="2" charset="0"/>
              </a:rPr>
              <a:t>K.B.Sayeed</a:t>
            </a:r>
            <a:r>
              <a:rPr lang="en-US" sz="3200" dirty="0">
                <a:solidFill>
                  <a:srgbClr val="7030A0"/>
                </a:solidFill>
                <a:latin typeface="Sitka Display" panose="02000505000000020004" pitchFamily="2" charset="0"/>
              </a:rPr>
              <a:t>, </a:t>
            </a:r>
            <a:r>
              <a:rPr lang="en-US" sz="3200" i="1" dirty="0">
                <a:solidFill>
                  <a:srgbClr val="7030A0"/>
                </a:solidFill>
                <a:latin typeface="Sitka Display" panose="02000505000000020004" pitchFamily="2" charset="0"/>
              </a:rPr>
              <a:t>The Political System of Pakistan</a:t>
            </a:r>
          </a:p>
          <a:p>
            <a:pPr marL="0" indent="0">
              <a:buNone/>
            </a:pPr>
            <a:r>
              <a:rPr lang="en-US" sz="3200" i="1" dirty="0">
                <a:latin typeface="Sitka Display" panose="02000505000000020004" pitchFamily="2" charset="0"/>
              </a:rPr>
              <a:t>4. </a:t>
            </a:r>
            <a:r>
              <a:rPr lang="en-US" sz="3200" b="1" i="1" dirty="0">
                <a:solidFill>
                  <a:srgbClr val="FF0000"/>
                </a:solidFill>
                <a:latin typeface="Sitka Display" panose="02000505000000020004" pitchFamily="2" charset="0"/>
              </a:rPr>
              <a:t>Ayesha Jalal, The Sole Spokesman: Jinnah, the Muslim League and the Demand for Pakistan</a:t>
            </a:r>
          </a:p>
          <a:p>
            <a:pPr marL="0" indent="0">
              <a:buNone/>
            </a:pPr>
            <a:r>
              <a:rPr lang="en-US" sz="3200" dirty="0">
                <a:latin typeface="Sitka Display" panose="02000505000000020004" pitchFamily="2" charset="0"/>
              </a:rPr>
              <a:t>5. </a:t>
            </a:r>
            <a:r>
              <a:rPr lang="en-US" sz="3200" dirty="0" err="1">
                <a:latin typeface="Sitka Display" panose="02000505000000020004" pitchFamily="2" charset="0"/>
              </a:rPr>
              <a:t>Istiaq</a:t>
            </a:r>
            <a:r>
              <a:rPr lang="en-US" sz="3200" dirty="0">
                <a:latin typeface="Sitka Display" panose="02000505000000020004" pitchFamily="2" charset="0"/>
              </a:rPr>
              <a:t> Ahmed, </a:t>
            </a:r>
            <a:r>
              <a:rPr lang="en-US" sz="3200" i="1" dirty="0">
                <a:latin typeface="Sitka Display" panose="02000505000000020004" pitchFamily="2" charset="0"/>
              </a:rPr>
              <a:t>Jinnah: His Success, Failures and Role in History</a:t>
            </a:r>
          </a:p>
          <a:p>
            <a:pPr marL="0" indent="0">
              <a:buNone/>
            </a:pPr>
            <a:endParaRPr lang="en-US" sz="3200" i="1" dirty="0">
              <a:solidFill>
                <a:srgbClr val="FF0000"/>
              </a:solidFill>
              <a:latin typeface="Sitka Display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27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536</Words>
  <Application>Microsoft Office PowerPoint</Application>
  <PresentationFormat>Widescreen</PresentationFormat>
  <Paragraphs>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Sitka Display</vt:lpstr>
      <vt:lpstr>Wingdings</vt:lpstr>
      <vt:lpstr>Office Theme</vt:lpstr>
      <vt:lpstr>PowerPoint Presentation</vt:lpstr>
      <vt:lpstr>PowerPoint Presentation</vt:lpstr>
      <vt:lpstr>PowerPoint Presentation</vt:lpstr>
      <vt:lpstr>Background: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Reactions and pathways: </vt:lpstr>
      <vt:lpstr>Suggested Books: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Lahore Resolution</dc:title>
  <dc:creator>User</dc:creator>
  <cp:lastModifiedBy>NSU</cp:lastModifiedBy>
  <cp:revision>231</cp:revision>
  <dcterms:created xsi:type="dcterms:W3CDTF">2020-12-04T13:23:27Z</dcterms:created>
  <dcterms:modified xsi:type="dcterms:W3CDTF">2023-04-02T04:11:21Z</dcterms:modified>
</cp:coreProperties>
</file>