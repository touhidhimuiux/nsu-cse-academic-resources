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6" r:id="rId2"/>
    <p:sldId id="257" r:id="rId3"/>
    <p:sldId id="335" r:id="rId4"/>
    <p:sldId id="336" r:id="rId5"/>
    <p:sldId id="341" r:id="rId6"/>
    <p:sldId id="337" r:id="rId7"/>
    <p:sldId id="323" r:id="rId8"/>
    <p:sldId id="357" r:id="rId9"/>
    <p:sldId id="322" r:id="rId10"/>
    <p:sldId id="325" r:id="rId11"/>
    <p:sldId id="316" r:id="rId12"/>
    <p:sldId id="324" r:id="rId13"/>
    <p:sldId id="278" r:id="rId14"/>
    <p:sldId id="328" r:id="rId15"/>
    <p:sldId id="354" r:id="rId16"/>
    <p:sldId id="317" r:id="rId17"/>
    <p:sldId id="327" r:id="rId18"/>
    <p:sldId id="342" r:id="rId19"/>
    <p:sldId id="333" r:id="rId20"/>
    <p:sldId id="358" r:id="rId21"/>
    <p:sldId id="359" r:id="rId22"/>
    <p:sldId id="360" r:id="rId23"/>
    <p:sldId id="330" r:id="rId24"/>
    <p:sldId id="331" r:id="rId25"/>
    <p:sldId id="332" r:id="rId26"/>
    <p:sldId id="339" r:id="rId27"/>
    <p:sldId id="329" r:id="rId28"/>
    <p:sldId id="340" r:id="rId29"/>
    <p:sldId id="338" r:id="rId30"/>
    <p:sldId id="350" r:id="rId31"/>
    <p:sldId id="318" r:id="rId32"/>
    <p:sldId id="343" r:id="rId33"/>
    <p:sldId id="344" r:id="rId34"/>
    <p:sldId id="346" r:id="rId35"/>
    <p:sldId id="345" r:id="rId36"/>
    <p:sldId id="348" r:id="rId37"/>
    <p:sldId id="349" r:id="rId38"/>
    <p:sldId id="35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66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CAC18BB-7653-4200-A74E-84CD7F814F1A}" type="datetimeFigureOut">
              <a:rPr lang="en-US" smtClean="0"/>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3693356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AC18BB-7653-4200-A74E-84CD7F814F1A}" type="datetimeFigureOut">
              <a:rPr lang="en-US" smtClean="0"/>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3664478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AC18BB-7653-4200-A74E-84CD7F814F1A}" type="datetimeFigureOut">
              <a:rPr lang="en-US" smtClean="0"/>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1296202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AC18BB-7653-4200-A74E-84CD7F814F1A}" type="datetimeFigureOut">
              <a:rPr lang="en-US" smtClean="0"/>
              <a:t>8/29/2023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2041692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AC18BB-7653-4200-A74E-84CD7F814F1A}" type="datetimeFigureOut">
              <a:rPr lang="en-US" smtClean="0"/>
              <a:t>8/29/2023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539219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AC18BB-7653-4200-A74E-84CD7F814F1A}" type="datetimeFigureOut">
              <a:rPr lang="en-US" smtClean="0"/>
              <a:t>8/29/2023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934002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AC18BB-7653-4200-A74E-84CD7F814F1A}" type="datetimeFigureOut">
              <a:rPr lang="en-US" smtClean="0"/>
              <a:t>8/29/2023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1751983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AC18BB-7653-4200-A74E-84CD7F814F1A}" type="datetimeFigureOut">
              <a:rPr lang="en-US" smtClean="0"/>
              <a:t>8/29/2023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757432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AC18BB-7653-4200-A74E-84CD7F814F1A}" type="datetimeFigureOut">
              <a:rPr lang="en-US" smtClean="0"/>
              <a:t>8/29/2023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1447551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AC18BB-7653-4200-A74E-84CD7F814F1A}" type="datetimeFigureOut">
              <a:rPr lang="en-US" smtClean="0"/>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339944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AC18BB-7653-4200-A74E-84CD7F814F1A}" type="datetimeFigureOut">
              <a:rPr lang="en-US" smtClean="0"/>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1656540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AC18BB-7653-4200-A74E-84CD7F814F1A}" type="datetimeFigureOut">
              <a:rPr lang="en-US" smtClean="0"/>
              <a:t>8/29/2023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D0419-B8CD-4B04-9C54-33ACACFCCAC9}" type="slidenum">
              <a:rPr lang="en-US" smtClean="0"/>
              <a:t>‹#›</a:t>
            </a:fld>
            <a:endParaRPr lang="en-US"/>
          </a:p>
        </p:txBody>
      </p:sp>
    </p:spTree>
    <p:extLst>
      <p:ext uri="{BB962C8B-B14F-4D97-AF65-F5344CB8AC3E}">
        <p14:creationId xmlns:p14="http://schemas.microsoft.com/office/powerpoint/2010/main" val="967646056"/>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orcid.org/0000-0001-5199-3258"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en.wikipedia.org/wiki/Separate_electorate"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rokomari.com/book/author/736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3648" y="946299"/>
            <a:ext cx="10825306" cy="3891516"/>
          </a:xfrm>
        </p:spPr>
        <p:txBody>
          <a:bodyPr anchor="ctr">
            <a:normAutofit/>
          </a:bodyPr>
          <a:lstStyle/>
          <a:p>
            <a:r>
              <a:rPr lang="en-US" sz="4000" b="1" i="1" dirty="0">
                <a:solidFill>
                  <a:srgbClr val="7030A0"/>
                </a:solidFill>
              </a:rPr>
              <a:t>Anatomy of Communal politics, 1912-1935</a:t>
            </a:r>
            <a:br>
              <a:rPr lang="en-US" sz="4000" b="1" dirty="0"/>
            </a:br>
            <a:br>
              <a:rPr lang="en-US" sz="4000" b="1" dirty="0"/>
            </a:br>
            <a:r>
              <a:rPr lang="en-US" sz="3100" b="1" dirty="0" err="1"/>
              <a:t>Saleh</a:t>
            </a:r>
            <a:r>
              <a:rPr lang="en-US" sz="3100" b="1" dirty="0"/>
              <a:t>  </a:t>
            </a:r>
            <a:r>
              <a:rPr lang="en-US" sz="3100" b="1" dirty="0" err="1"/>
              <a:t>Shahriar</a:t>
            </a:r>
            <a:r>
              <a:rPr lang="en-US" sz="3100" b="1" dirty="0"/>
              <a:t>, PhD.</a:t>
            </a:r>
            <a:br>
              <a:rPr lang="en-US" sz="3100" b="1" dirty="0"/>
            </a:br>
            <a:r>
              <a:rPr lang="en-US" sz="3100" b="1" dirty="0"/>
              <a:t>North South University</a:t>
            </a:r>
            <a:br>
              <a:rPr lang="en-US" sz="3100" b="1" dirty="0"/>
            </a:br>
            <a:r>
              <a:rPr lang="en-US" sz="3100" b="1" dirty="0"/>
              <a:t>Dhaka, Bangladesh  </a:t>
            </a:r>
            <a:br>
              <a:rPr lang="en-US" sz="4000" b="1" dirty="0"/>
            </a:br>
            <a:br>
              <a:rPr lang="en-US" sz="2000" b="1" dirty="0"/>
            </a:br>
            <a:br>
              <a:rPr lang="en-US" sz="2000" b="1" dirty="0"/>
            </a:br>
            <a:r>
              <a:rPr lang="en-US" sz="2000" b="1" dirty="0"/>
              <a:t>ORCID: </a:t>
            </a:r>
            <a:r>
              <a:rPr lang="en-US" sz="2000" b="1" dirty="0">
                <a:hlinkClick r:id="rId2"/>
              </a:rPr>
              <a:t>https://orcid.org/0000-0001-5199-3258</a:t>
            </a:r>
            <a:br>
              <a:rPr lang="en-US" sz="2000" b="1" dirty="0"/>
            </a:br>
            <a:br>
              <a:rPr lang="en-US" sz="2000" b="1" dirty="0"/>
            </a:br>
            <a:endParaRPr lang="en-US" sz="2000" b="1" dirty="0"/>
          </a:p>
        </p:txBody>
      </p:sp>
    </p:spTree>
    <p:extLst>
      <p:ext uri="{BB962C8B-B14F-4D97-AF65-F5344CB8AC3E}">
        <p14:creationId xmlns:p14="http://schemas.microsoft.com/office/powerpoint/2010/main" val="3495456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736" y="165219"/>
            <a:ext cx="9239819" cy="607514"/>
          </a:xfrm>
        </p:spPr>
        <p:txBody>
          <a:bodyPr>
            <a:normAutofit fontScale="90000"/>
          </a:bodyPr>
          <a:lstStyle/>
          <a:p>
            <a:r>
              <a:rPr lang="en-US" dirty="0"/>
              <a:t>Historical Background :</a:t>
            </a:r>
          </a:p>
        </p:txBody>
      </p:sp>
      <p:sp>
        <p:nvSpPr>
          <p:cNvPr id="3" name="Content Placeholder 2"/>
          <p:cNvSpPr>
            <a:spLocks noGrp="1"/>
          </p:cNvSpPr>
          <p:nvPr>
            <p:ph idx="1"/>
          </p:nvPr>
        </p:nvSpPr>
        <p:spPr>
          <a:xfrm>
            <a:off x="1577009" y="1444486"/>
            <a:ext cx="9923824" cy="4325249"/>
          </a:xfrm>
        </p:spPr>
        <p:style>
          <a:lnRef idx="1">
            <a:schemeClr val="accent6"/>
          </a:lnRef>
          <a:fillRef idx="2">
            <a:schemeClr val="accent6"/>
          </a:fillRef>
          <a:effectRef idx="1">
            <a:schemeClr val="accent6"/>
          </a:effectRef>
          <a:fontRef idx="minor">
            <a:schemeClr val="dk1"/>
          </a:fontRef>
        </p:style>
        <p:txBody>
          <a:bodyPr>
            <a:normAutofit/>
          </a:bodyPr>
          <a:lstStyle/>
          <a:p>
            <a:r>
              <a:rPr lang="en-US" dirty="0">
                <a:solidFill>
                  <a:srgbClr val="FF0000"/>
                </a:solidFill>
              </a:rPr>
              <a:t>Hindu–Muslim relations</a:t>
            </a:r>
            <a:r>
              <a:rPr lang="en-US" dirty="0"/>
              <a:t> in the context of the Annulment of the Partition of Bengal ,1911</a:t>
            </a:r>
          </a:p>
          <a:p>
            <a:pPr algn="just"/>
            <a:r>
              <a:rPr lang="en-US" dirty="0"/>
              <a:t>First World War, 1914-1918</a:t>
            </a:r>
          </a:p>
          <a:p>
            <a:pPr algn="just"/>
            <a:r>
              <a:rPr lang="en-US" dirty="0"/>
              <a:t>Economic crises  </a:t>
            </a:r>
          </a:p>
          <a:p>
            <a:pPr algn="just"/>
            <a:r>
              <a:rPr lang="en-US" dirty="0"/>
              <a:t> Increase of Jute Price &amp; well-being of the Bengal peasants </a:t>
            </a:r>
          </a:p>
          <a:p>
            <a:pPr algn="just"/>
            <a:r>
              <a:rPr lang="en-US" dirty="0"/>
              <a:t>Establishment of the Dhaka University , 1921 </a:t>
            </a:r>
          </a:p>
          <a:p>
            <a:pPr algn="just"/>
            <a:r>
              <a:rPr lang="en-US" dirty="0"/>
              <a:t>Prior to the Great Depression of 1930s </a:t>
            </a:r>
          </a:p>
        </p:txBody>
      </p:sp>
    </p:spTree>
    <p:extLst>
      <p:ext uri="{BB962C8B-B14F-4D97-AF65-F5344CB8AC3E}">
        <p14:creationId xmlns:p14="http://schemas.microsoft.com/office/powerpoint/2010/main" val="1900378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695458"/>
            <a:ext cx="11176592" cy="5960523"/>
          </a:xfrm>
        </p:spPr>
        <p:txBody>
          <a:bodyPr/>
          <a:lstStyle/>
          <a:p>
            <a:pPr algn="just"/>
            <a:r>
              <a:rPr lang="en-US" b="1" dirty="0"/>
              <a:t>Indian National Congress</a:t>
            </a:r>
            <a:r>
              <a:rPr lang="en-US" dirty="0"/>
              <a:t> </a:t>
            </a:r>
            <a:r>
              <a:rPr lang="en-US" dirty="0">
                <a:solidFill>
                  <a:srgbClr val="FF0000"/>
                </a:solidFill>
              </a:rPr>
              <a:t>Founded in 1885 </a:t>
            </a:r>
            <a:r>
              <a:rPr lang="en-US" dirty="0"/>
              <a:t>by a narrowly based national elite, the Indian National Congress (INC) gradually transformed into a broad-based nationalist organization from the beginning of the 20th century. The Congress was founded by </a:t>
            </a:r>
            <a:r>
              <a:rPr lang="en-US" b="1" dirty="0"/>
              <a:t>Allan Octavian Hume</a:t>
            </a:r>
            <a:r>
              <a:rPr lang="en-US" dirty="0"/>
              <a:t> (A.O. Hume) who was a former home secretary of India. </a:t>
            </a:r>
          </a:p>
          <a:p>
            <a:pPr algn="just"/>
            <a:endParaRPr lang="en-US" dirty="0"/>
          </a:p>
          <a:p>
            <a:pPr algn="just"/>
            <a:endParaRPr lang="en-US" dirty="0"/>
          </a:p>
          <a:p>
            <a:pPr algn="just"/>
            <a:endParaRPr lang="en-US" dirty="0"/>
          </a:p>
          <a:p>
            <a:pPr marL="0" indent="0" algn="just">
              <a:buNone/>
            </a:pPr>
            <a:endParaRPr lang="en-US" dirty="0"/>
          </a:p>
          <a:p>
            <a:pPr algn="just"/>
            <a:r>
              <a:rPr lang="en-US" dirty="0"/>
              <a:t>Professor K.B. Sayeed in his book, entitled, </a:t>
            </a:r>
            <a:r>
              <a:rPr lang="en-US" i="1" dirty="0">
                <a:solidFill>
                  <a:srgbClr val="FF0000"/>
                </a:solidFill>
              </a:rPr>
              <a:t>Pakistan: The Formative Phase</a:t>
            </a:r>
            <a:r>
              <a:rPr lang="en-US" dirty="0"/>
              <a:t>, has </a:t>
            </a:r>
            <a:r>
              <a:rPr lang="en-US" dirty="0" err="1"/>
              <a:t>infomed</a:t>
            </a:r>
            <a:r>
              <a:rPr lang="en-US" dirty="0"/>
              <a:t>  that the formation of the  Indian National Congress was </a:t>
            </a:r>
            <a:r>
              <a:rPr lang="en-US" dirty="0">
                <a:solidFill>
                  <a:srgbClr val="FF0000"/>
                </a:solidFill>
              </a:rPr>
              <a:t>largely inspired  by British influence </a:t>
            </a:r>
            <a:r>
              <a:rPr lang="en-US" dirty="0"/>
              <a:t>(Source: Khalid bin Sayeed, </a:t>
            </a:r>
            <a:r>
              <a:rPr lang="en-US" i="1" dirty="0"/>
              <a:t>Pakistan: The Formative Phase, </a:t>
            </a:r>
            <a:r>
              <a:rPr lang="en-US" dirty="0"/>
              <a:t>1960,Oxford University Press, page:29). </a:t>
            </a:r>
          </a:p>
          <a:p>
            <a:endParaRPr lang="en-US" dirty="0"/>
          </a:p>
        </p:txBody>
      </p:sp>
      <p:pic>
        <p:nvPicPr>
          <p:cNvPr id="2" name="Picture 1">
            <a:extLst>
              <a:ext uri="{FF2B5EF4-FFF2-40B4-BE49-F238E27FC236}">
                <a16:creationId xmlns:a16="http://schemas.microsoft.com/office/drawing/2014/main" id="{344A69DD-48BB-4556-8554-4FBDB218C877}"/>
              </a:ext>
            </a:extLst>
          </p:cNvPr>
          <p:cNvPicPr>
            <a:picLocks noChangeAspect="1"/>
          </p:cNvPicPr>
          <p:nvPr/>
        </p:nvPicPr>
        <p:blipFill>
          <a:blip r:embed="rId2"/>
          <a:stretch>
            <a:fillRect/>
          </a:stretch>
        </p:blipFill>
        <p:spPr>
          <a:xfrm>
            <a:off x="8006317" y="2280684"/>
            <a:ext cx="2126512" cy="2296632"/>
          </a:xfrm>
          <a:prstGeom prst="rect">
            <a:avLst/>
          </a:prstGeom>
        </p:spPr>
      </p:pic>
    </p:spTree>
    <p:extLst>
      <p:ext uri="{BB962C8B-B14F-4D97-AF65-F5344CB8AC3E}">
        <p14:creationId xmlns:p14="http://schemas.microsoft.com/office/powerpoint/2010/main" val="226833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44486"/>
            <a:ext cx="10984606" cy="4732477"/>
          </a:xfrm>
        </p:spPr>
        <p:txBody>
          <a:bodyPr>
            <a:normAutofit/>
          </a:bodyPr>
          <a:lstStyle/>
          <a:p>
            <a:pPr algn="just"/>
            <a:r>
              <a:rPr lang="en-US" b="1" dirty="0"/>
              <a:t>All India Muslim League (AIML)</a:t>
            </a:r>
            <a:r>
              <a:rPr lang="en-US" dirty="0"/>
              <a:t> established in December 1906, initially led by Aga Khan and ultimately by Muhammed Ali Jinnah, was instrumental in creating public opinion in favor of Muslim nationalism and finally in achieving Pakistan in 1947. </a:t>
            </a:r>
          </a:p>
          <a:p>
            <a:pPr algn="just"/>
            <a:r>
              <a:rPr lang="en-US" dirty="0"/>
              <a:t>The background of the foundation of the Muslim League at </a:t>
            </a:r>
            <a:r>
              <a:rPr lang="en-US" dirty="0">
                <a:solidFill>
                  <a:srgbClr val="FF0000"/>
                </a:solidFill>
              </a:rPr>
              <a:t>Dhaka</a:t>
            </a:r>
            <a:r>
              <a:rPr lang="en-US" dirty="0"/>
              <a:t> on 30 December 1906 may be traced back to the establishment of the Indian National Congress in 1885. The Western educated Hindu elite with the </a:t>
            </a:r>
            <a:r>
              <a:rPr lang="en-US" dirty="0">
                <a:solidFill>
                  <a:srgbClr val="FF0000"/>
                </a:solidFill>
              </a:rPr>
              <a:t>objectives of sharing power </a:t>
            </a:r>
            <a:r>
              <a:rPr lang="en-US" dirty="0"/>
              <a:t>with the raj and motivating it to establish representative government in India established the Congress. </a:t>
            </a:r>
          </a:p>
        </p:txBody>
      </p:sp>
    </p:spTree>
    <p:extLst>
      <p:ext uri="{BB962C8B-B14F-4D97-AF65-F5344CB8AC3E}">
        <p14:creationId xmlns:p14="http://schemas.microsoft.com/office/powerpoint/2010/main" val="1568510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2C64DC-F0DE-460C-B874-AB3FFC5955B6}"/>
              </a:ext>
            </a:extLst>
          </p:cNvPr>
          <p:cNvSpPr>
            <a:spLocks noGrp="1"/>
          </p:cNvSpPr>
          <p:nvPr>
            <p:ph type="title"/>
          </p:nvPr>
        </p:nvSpPr>
        <p:spPr>
          <a:xfrm>
            <a:off x="838200" y="365126"/>
            <a:ext cx="10515600" cy="1079362"/>
          </a:xfrm>
        </p:spPr>
        <p:txBody>
          <a:bodyPr/>
          <a:lstStyle/>
          <a:p>
            <a:r>
              <a:rPr lang="en-US" dirty="0">
                <a:solidFill>
                  <a:srgbClr val="FF0000"/>
                </a:solidFill>
              </a:rPr>
              <a:t>Three Specific Objectives of the AIML:  </a:t>
            </a:r>
          </a:p>
        </p:txBody>
      </p:sp>
      <p:pic>
        <p:nvPicPr>
          <p:cNvPr id="4" name="Content Placeholder 3"/>
          <p:cNvPicPr>
            <a:picLocks noGrp="1" noChangeAspect="1"/>
          </p:cNvPicPr>
          <p:nvPr>
            <p:ph idx="1"/>
          </p:nvPr>
        </p:nvPicPr>
        <p:blipFill rotWithShape="1">
          <a:blip r:embed="rId2"/>
          <a:srcRect l="-643" t="26597" r="643" b="50840"/>
          <a:stretch/>
        </p:blipFill>
        <p:spPr>
          <a:xfrm>
            <a:off x="838200" y="2040835"/>
            <a:ext cx="9962322" cy="3140765"/>
          </a:xfrm>
        </p:spPr>
      </p:pic>
    </p:spTree>
    <p:extLst>
      <p:ext uri="{BB962C8B-B14F-4D97-AF65-F5344CB8AC3E}">
        <p14:creationId xmlns:p14="http://schemas.microsoft.com/office/powerpoint/2010/main" val="723371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0457" y="347730"/>
            <a:ext cx="11668258" cy="6220495"/>
          </a:xfrm>
        </p:spPr>
        <p:txBody>
          <a:bodyPr>
            <a:normAutofit/>
          </a:bodyPr>
          <a:lstStyle/>
          <a:p>
            <a:r>
              <a:rPr lang="en-US" dirty="0"/>
              <a:t>During the Partition of Bengal (1905-11) the bitterness between the Hindus and Muslims was further accentuated. </a:t>
            </a:r>
            <a:r>
              <a:rPr lang="en-US" dirty="0">
                <a:solidFill>
                  <a:srgbClr val="FF0000"/>
                </a:solidFill>
              </a:rPr>
              <a:t>Communal bitterness </a:t>
            </a:r>
            <a:r>
              <a:rPr lang="en-US" dirty="0"/>
              <a:t>was so intense that “by 1905 the building blocks which eventually went into the making of Pakistan were already there"</a:t>
            </a:r>
          </a:p>
          <a:p>
            <a:pPr algn="just"/>
            <a:endParaRPr lang="en-US" dirty="0"/>
          </a:p>
          <a:p>
            <a:pPr algn="just"/>
            <a:r>
              <a:rPr lang="en-US" dirty="0"/>
              <a:t>Muslims achieved separate </a:t>
            </a:r>
            <a:r>
              <a:rPr lang="en-US" dirty="0">
                <a:solidFill>
                  <a:srgbClr val="FF0000"/>
                </a:solidFill>
              </a:rPr>
              <a:t>electorates in 1909, </a:t>
            </a:r>
            <a:r>
              <a:rPr lang="en-US" dirty="0"/>
              <a:t>as well as a national Muslim organization - the Muslim League – and several vocal Muslim representatives in the Legislative and Executive Councils,</a:t>
            </a:r>
            <a:r>
              <a:rPr lang="en-US" dirty="0">
                <a:solidFill>
                  <a:srgbClr val="FF0000"/>
                </a:solidFill>
              </a:rPr>
              <a:t> Syed Nawab Ali </a:t>
            </a:r>
            <a:r>
              <a:rPr lang="en-US" dirty="0" err="1">
                <a:solidFill>
                  <a:srgbClr val="FF0000"/>
                </a:solidFill>
              </a:rPr>
              <a:t>Chudhuri</a:t>
            </a:r>
            <a:r>
              <a:rPr lang="en-US" dirty="0">
                <a:solidFill>
                  <a:srgbClr val="FF0000"/>
                </a:solidFill>
              </a:rPr>
              <a:t>, Nawab Syed Shamsul Huda, A. K </a:t>
            </a:r>
            <a:r>
              <a:rPr lang="en-US" dirty="0" err="1">
                <a:solidFill>
                  <a:srgbClr val="FF0000"/>
                </a:solidFill>
              </a:rPr>
              <a:t>Fazlul</a:t>
            </a:r>
            <a:r>
              <a:rPr lang="en-US" dirty="0">
                <a:solidFill>
                  <a:srgbClr val="FF0000"/>
                </a:solidFill>
              </a:rPr>
              <a:t> </a:t>
            </a:r>
            <a:r>
              <a:rPr lang="en-US" dirty="0" err="1">
                <a:solidFill>
                  <a:srgbClr val="FF0000"/>
                </a:solidFill>
              </a:rPr>
              <a:t>Huq</a:t>
            </a:r>
            <a:r>
              <a:rPr lang="en-US" dirty="0">
                <a:solidFill>
                  <a:srgbClr val="FF0000"/>
                </a:solidFill>
              </a:rPr>
              <a:t> and </a:t>
            </a:r>
            <a:r>
              <a:rPr lang="en-US" dirty="0" err="1">
                <a:solidFill>
                  <a:srgbClr val="FF0000"/>
                </a:solidFill>
              </a:rPr>
              <a:t>Nawab</a:t>
            </a:r>
            <a:r>
              <a:rPr lang="en-US" dirty="0">
                <a:solidFill>
                  <a:srgbClr val="FF0000"/>
                </a:solidFill>
              </a:rPr>
              <a:t> </a:t>
            </a:r>
            <a:r>
              <a:rPr lang="en-US" dirty="0" err="1">
                <a:solidFill>
                  <a:srgbClr val="FF0000"/>
                </a:solidFill>
              </a:rPr>
              <a:t>Khwaja</a:t>
            </a:r>
            <a:r>
              <a:rPr lang="en-US" dirty="0">
                <a:solidFill>
                  <a:srgbClr val="FF0000"/>
                </a:solidFill>
              </a:rPr>
              <a:t> </a:t>
            </a:r>
            <a:r>
              <a:rPr lang="en-US" dirty="0" err="1">
                <a:solidFill>
                  <a:srgbClr val="FF0000"/>
                </a:solidFill>
              </a:rPr>
              <a:t>Salimullah</a:t>
            </a:r>
            <a:r>
              <a:rPr lang="en-US" dirty="0">
                <a:solidFill>
                  <a:srgbClr val="FF0000"/>
                </a:solidFill>
              </a:rPr>
              <a:t> </a:t>
            </a:r>
            <a:r>
              <a:rPr lang="en-US" dirty="0"/>
              <a:t>of Dhaka. ( Source: Taj Hashmi,  </a:t>
            </a:r>
            <a:r>
              <a:rPr lang="en-US" i="1" dirty="0"/>
              <a:t>Pakistan as a Peasant Utopia: The Communalization of Class Politics in East Bengal</a:t>
            </a:r>
            <a:r>
              <a:rPr lang="en-US" dirty="0"/>
              <a:t>, 1920-1947; London, Routledge: Taylor &amp; Francis,  1992) </a:t>
            </a:r>
          </a:p>
        </p:txBody>
      </p:sp>
    </p:spTree>
    <p:extLst>
      <p:ext uri="{BB962C8B-B14F-4D97-AF65-F5344CB8AC3E}">
        <p14:creationId xmlns:p14="http://schemas.microsoft.com/office/powerpoint/2010/main" val="301699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04731"/>
            <a:ext cx="9922565" cy="2663686"/>
          </a:xfrm>
        </p:spPr>
        <p:style>
          <a:lnRef idx="1">
            <a:schemeClr val="accent6"/>
          </a:lnRef>
          <a:fillRef idx="2">
            <a:schemeClr val="accent6"/>
          </a:fillRef>
          <a:effectRef idx="1">
            <a:schemeClr val="accent6"/>
          </a:effectRef>
          <a:fontRef idx="minor">
            <a:schemeClr val="dk1"/>
          </a:fontRef>
        </p:style>
        <p:txBody>
          <a:bodyPr/>
          <a:lstStyle/>
          <a:p>
            <a:pPr algn="just"/>
            <a:r>
              <a:rPr lang="en-US" dirty="0"/>
              <a:t>The </a:t>
            </a:r>
            <a:r>
              <a:rPr lang="en-US" dirty="0">
                <a:solidFill>
                  <a:srgbClr val="FF0000"/>
                </a:solidFill>
              </a:rPr>
              <a:t>Lucknow Pact </a:t>
            </a:r>
            <a:r>
              <a:rPr lang="en-US" dirty="0"/>
              <a:t>was an agreement reached between the Indian National Congress and the Muslim League at a joint session of both the parties held in Lucknow in December 1916</a:t>
            </a:r>
          </a:p>
          <a:p>
            <a:pPr marL="0" indent="0" algn="just">
              <a:buNone/>
            </a:pPr>
            <a:endParaRPr lang="en-US" dirty="0"/>
          </a:p>
          <a:p>
            <a:pPr algn="just"/>
            <a:r>
              <a:rPr lang="en-US" dirty="0"/>
              <a:t>Muhammad Ali Jinnah as the </a:t>
            </a:r>
            <a:r>
              <a:rPr lang="en-US" dirty="0">
                <a:solidFill>
                  <a:srgbClr val="FF0000"/>
                </a:solidFill>
              </a:rPr>
              <a:t>ambassador of Hindu-Muslim unity </a:t>
            </a:r>
          </a:p>
          <a:p>
            <a:endParaRPr lang="en-US" dirty="0"/>
          </a:p>
        </p:txBody>
      </p:sp>
    </p:spTree>
    <p:extLst>
      <p:ext uri="{BB962C8B-B14F-4D97-AF65-F5344CB8AC3E}">
        <p14:creationId xmlns:p14="http://schemas.microsoft.com/office/powerpoint/2010/main" val="2036762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69351" y="399245"/>
            <a:ext cx="9126176" cy="5074276"/>
          </a:xfrm>
          <a:prstGeom prst="rect">
            <a:avLst/>
          </a:prstGeom>
        </p:spPr>
      </p:pic>
    </p:spTree>
    <p:extLst>
      <p:ext uri="{BB962C8B-B14F-4D97-AF65-F5344CB8AC3E}">
        <p14:creationId xmlns:p14="http://schemas.microsoft.com/office/powerpoint/2010/main" val="1534349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334850"/>
            <a:ext cx="11152031" cy="6246253"/>
          </a:xfrm>
        </p:spPr>
        <p:txBody>
          <a:bodyPr/>
          <a:lstStyle/>
          <a:p>
            <a:r>
              <a:rPr lang="en-US" dirty="0"/>
              <a:t>Professor </a:t>
            </a:r>
            <a:r>
              <a:rPr lang="en-US" dirty="0" err="1"/>
              <a:t>Ishtiaq</a:t>
            </a:r>
            <a:r>
              <a:rPr lang="en-US" dirty="0"/>
              <a:t> Ahmed in his latest book, titled, </a:t>
            </a:r>
            <a:r>
              <a:rPr lang="en-US" i="1" dirty="0"/>
              <a:t>Jinnah: His Success, Failures and Role in History </a:t>
            </a:r>
            <a:r>
              <a:rPr lang="en-US" dirty="0"/>
              <a:t>(2020) commented,  “The Lucknow Pact was proof of Jinnah’s </a:t>
            </a:r>
            <a:r>
              <a:rPr lang="en-US" dirty="0">
                <a:solidFill>
                  <a:srgbClr val="FF0000"/>
                </a:solidFill>
              </a:rPr>
              <a:t>outstanding leadership qualities</a:t>
            </a:r>
            <a:r>
              <a:rPr lang="en-US" dirty="0"/>
              <a:t>”. </a:t>
            </a:r>
          </a:p>
        </p:txBody>
      </p:sp>
      <p:pic>
        <p:nvPicPr>
          <p:cNvPr id="2" name="Picture 1"/>
          <p:cNvPicPr>
            <a:picLocks noChangeAspect="1"/>
          </p:cNvPicPr>
          <p:nvPr/>
        </p:nvPicPr>
        <p:blipFill>
          <a:blip r:embed="rId2"/>
          <a:stretch>
            <a:fillRect/>
          </a:stretch>
        </p:blipFill>
        <p:spPr>
          <a:xfrm>
            <a:off x="4540881" y="1790164"/>
            <a:ext cx="2714625" cy="3771094"/>
          </a:xfrm>
          <a:prstGeom prst="rect">
            <a:avLst/>
          </a:prstGeom>
        </p:spPr>
      </p:pic>
    </p:spTree>
    <p:extLst>
      <p:ext uri="{BB962C8B-B14F-4D97-AF65-F5344CB8AC3E}">
        <p14:creationId xmlns:p14="http://schemas.microsoft.com/office/powerpoint/2010/main" val="2140510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64677"/>
            <a:ext cx="10515600" cy="3370961"/>
          </a:xfrm>
        </p:spPr>
        <p:style>
          <a:lnRef idx="1">
            <a:schemeClr val="accent2"/>
          </a:lnRef>
          <a:fillRef idx="3">
            <a:schemeClr val="accent2"/>
          </a:fillRef>
          <a:effectRef idx="2">
            <a:schemeClr val="accent2"/>
          </a:effectRef>
          <a:fontRef idx="minor">
            <a:schemeClr val="lt1"/>
          </a:fontRef>
        </p:style>
        <p:txBody>
          <a:bodyPr/>
          <a:lstStyle/>
          <a:p>
            <a:pPr marL="0" indent="0" algn="ctr">
              <a:buNone/>
            </a:pPr>
            <a:endParaRPr lang="en-US" dirty="0">
              <a:solidFill>
                <a:srgbClr val="002060"/>
              </a:solidFill>
            </a:endParaRPr>
          </a:p>
          <a:p>
            <a:pPr marL="0" indent="0" algn="ctr">
              <a:buNone/>
            </a:pPr>
            <a:endParaRPr lang="en-US" dirty="0">
              <a:solidFill>
                <a:srgbClr val="002060"/>
              </a:solidFill>
            </a:endParaRPr>
          </a:p>
          <a:p>
            <a:pPr marL="0" indent="0" algn="ctr">
              <a:buNone/>
            </a:pPr>
            <a:r>
              <a:rPr lang="en-US" dirty="0">
                <a:solidFill>
                  <a:srgbClr val="002060"/>
                </a:solidFill>
              </a:rPr>
              <a:t>The Government  of India Act, 1919 / Montagu-Chelmsford reforms, 1919 </a:t>
            </a:r>
          </a:p>
        </p:txBody>
      </p:sp>
    </p:spTree>
    <p:extLst>
      <p:ext uri="{BB962C8B-B14F-4D97-AF65-F5344CB8AC3E}">
        <p14:creationId xmlns:p14="http://schemas.microsoft.com/office/powerpoint/2010/main" val="1682897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4851" y="566670"/>
            <a:ext cx="11642501" cy="5610293"/>
          </a:xfrm>
        </p:spPr>
        <p:txBody>
          <a:bodyPr>
            <a:normAutofit/>
          </a:bodyPr>
          <a:lstStyle/>
          <a:p>
            <a:pPr marL="0" indent="0" algn="ctr">
              <a:buNone/>
            </a:pPr>
            <a:r>
              <a:rPr lang="en-US" u="sng" dirty="0">
                <a:solidFill>
                  <a:srgbClr val="00B050"/>
                </a:solidFill>
              </a:rPr>
              <a:t>The Government of India Act of 1919:</a:t>
            </a:r>
          </a:p>
          <a:p>
            <a:pPr marL="0" indent="0" algn="ctr">
              <a:buNone/>
            </a:pPr>
            <a:endParaRPr lang="en-US" u="sng" dirty="0">
              <a:solidFill>
                <a:srgbClr val="FF0000"/>
              </a:solidFill>
            </a:endParaRPr>
          </a:p>
          <a:p>
            <a:r>
              <a:rPr lang="en-US" dirty="0"/>
              <a:t>On august 20, 1917, the British government declared for the first time, that its objective was the</a:t>
            </a:r>
            <a:r>
              <a:rPr lang="en-US" dirty="0">
                <a:solidFill>
                  <a:srgbClr val="FF0000"/>
                </a:solidFill>
              </a:rPr>
              <a:t> gradual </a:t>
            </a:r>
            <a:r>
              <a:rPr lang="en-US" dirty="0"/>
              <a:t>introduction of </a:t>
            </a:r>
            <a:r>
              <a:rPr lang="en-US" dirty="0">
                <a:solidFill>
                  <a:srgbClr val="FF0000"/>
                </a:solidFill>
              </a:rPr>
              <a:t>responsible government in </a:t>
            </a:r>
            <a:r>
              <a:rPr lang="en-US" dirty="0"/>
              <a:t>India.</a:t>
            </a:r>
          </a:p>
          <a:p>
            <a:r>
              <a:rPr lang="en-US" dirty="0">
                <a:solidFill>
                  <a:srgbClr val="FF0000"/>
                </a:solidFill>
              </a:rPr>
              <a:t>Diarchy</a:t>
            </a:r>
            <a:r>
              <a:rPr lang="en-US" dirty="0"/>
              <a:t> was introduced at the Provincial Level. Diarchy means a dual set of governments; </a:t>
            </a:r>
            <a:r>
              <a:rPr lang="en-US" dirty="0">
                <a:solidFill>
                  <a:srgbClr val="FF0000"/>
                </a:solidFill>
              </a:rPr>
              <a:t>one is accountable, the other is not accountable</a:t>
            </a:r>
            <a:r>
              <a:rPr lang="en-US" dirty="0"/>
              <a:t>. Subjects of the provincial government were divided into two groups. One group was </a:t>
            </a:r>
            <a:r>
              <a:rPr lang="en-US" dirty="0">
                <a:solidFill>
                  <a:srgbClr val="FF0000"/>
                </a:solidFill>
              </a:rPr>
              <a:t>reserved</a:t>
            </a:r>
            <a:r>
              <a:rPr lang="en-US" dirty="0"/>
              <a:t>, and the other group was</a:t>
            </a:r>
            <a:r>
              <a:rPr lang="en-US" dirty="0">
                <a:solidFill>
                  <a:srgbClr val="FF0000"/>
                </a:solidFill>
              </a:rPr>
              <a:t> transferred</a:t>
            </a:r>
            <a:r>
              <a:rPr lang="en-US" dirty="0"/>
              <a:t>. The reserved subjects were controlled by the </a:t>
            </a:r>
            <a:r>
              <a:rPr lang="en-US" dirty="0">
                <a:solidFill>
                  <a:srgbClr val="FF0000"/>
                </a:solidFill>
              </a:rPr>
              <a:t>British Governor </a:t>
            </a:r>
            <a:r>
              <a:rPr lang="en-US" dirty="0"/>
              <a:t>of the province; the transferred subjects were given to the </a:t>
            </a:r>
            <a:r>
              <a:rPr lang="en-US" dirty="0">
                <a:solidFill>
                  <a:srgbClr val="FF0000"/>
                </a:solidFill>
              </a:rPr>
              <a:t>Indian ministers of the province</a:t>
            </a:r>
            <a:r>
              <a:rPr lang="en-US" dirty="0"/>
              <a:t>.</a:t>
            </a:r>
          </a:p>
          <a:p>
            <a:pPr marL="0" indent="0">
              <a:buNone/>
            </a:pPr>
            <a:br>
              <a:rPr lang="en-US" dirty="0"/>
            </a:br>
            <a:endParaRPr lang="en-US" dirty="0"/>
          </a:p>
        </p:txBody>
      </p:sp>
    </p:spTree>
    <p:extLst>
      <p:ext uri="{BB962C8B-B14F-4D97-AF65-F5344CB8AC3E}">
        <p14:creationId xmlns:p14="http://schemas.microsoft.com/office/powerpoint/2010/main" val="1903461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75763" y="1166191"/>
            <a:ext cx="10468098" cy="4472609"/>
          </a:xfrm>
          <a:prstGeom prst="rect">
            <a:avLst/>
          </a:prstGeom>
        </p:spPr>
      </p:pic>
    </p:spTree>
    <p:extLst>
      <p:ext uri="{BB962C8B-B14F-4D97-AF65-F5344CB8AC3E}">
        <p14:creationId xmlns:p14="http://schemas.microsoft.com/office/powerpoint/2010/main" val="3717949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9093" y="605307"/>
            <a:ext cx="11590986" cy="5436056"/>
          </a:xfrm>
        </p:spPr>
        <p:txBody>
          <a:bodyPr/>
          <a:lstStyle/>
          <a:p>
            <a:pPr algn="just"/>
            <a:endParaRPr lang="en-US" dirty="0"/>
          </a:p>
          <a:p>
            <a:pPr algn="just"/>
            <a:r>
              <a:rPr lang="en-US" dirty="0" err="1"/>
              <a:t>Rawlatt</a:t>
            </a:r>
            <a:r>
              <a:rPr lang="en-US" dirty="0"/>
              <a:t> Act of 1919</a:t>
            </a:r>
          </a:p>
        </p:txBody>
      </p:sp>
      <p:pic>
        <p:nvPicPr>
          <p:cNvPr id="4" name="Picture 3"/>
          <p:cNvPicPr>
            <a:picLocks noChangeAspect="1"/>
          </p:cNvPicPr>
          <p:nvPr/>
        </p:nvPicPr>
        <p:blipFill rotWithShape="1">
          <a:blip r:embed="rId2"/>
          <a:srcRect l="1437" t="-2019" r="531" b="6459"/>
          <a:stretch/>
        </p:blipFill>
        <p:spPr>
          <a:xfrm>
            <a:off x="540913" y="1703747"/>
            <a:ext cx="4752304" cy="3422043"/>
          </a:xfrm>
          <a:prstGeom prst="rect">
            <a:avLst/>
          </a:prstGeom>
        </p:spPr>
      </p:pic>
      <p:pic>
        <p:nvPicPr>
          <p:cNvPr id="5" name="Picture 4"/>
          <p:cNvPicPr>
            <a:picLocks noChangeAspect="1"/>
          </p:cNvPicPr>
          <p:nvPr/>
        </p:nvPicPr>
        <p:blipFill>
          <a:blip r:embed="rId3"/>
          <a:stretch>
            <a:fillRect/>
          </a:stretch>
        </p:blipFill>
        <p:spPr>
          <a:xfrm>
            <a:off x="5420328" y="1703747"/>
            <a:ext cx="5781675" cy="3790950"/>
          </a:xfrm>
          <a:prstGeom prst="rect">
            <a:avLst/>
          </a:prstGeom>
        </p:spPr>
      </p:pic>
    </p:spTree>
    <p:extLst>
      <p:ext uri="{BB962C8B-B14F-4D97-AF65-F5344CB8AC3E}">
        <p14:creationId xmlns:p14="http://schemas.microsoft.com/office/powerpoint/2010/main" val="543693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9262"/>
            <a:ext cx="10515600" cy="5637701"/>
          </a:xfrm>
        </p:spPr>
        <p:txBody>
          <a:bodyPr/>
          <a:lstStyle/>
          <a:p>
            <a:r>
              <a:rPr lang="en-US" dirty="0"/>
              <a:t>The massacre took place on 13 April 1919 when troops of the British Indian Army under the command of </a:t>
            </a:r>
            <a:r>
              <a:rPr lang="en-US" dirty="0">
                <a:solidFill>
                  <a:srgbClr val="FF0000"/>
                </a:solidFill>
              </a:rPr>
              <a:t>Colonel Reginald Dyer </a:t>
            </a:r>
            <a:r>
              <a:rPr lang="en-US" dirty="0"/>
              <a:t>fired rifles into a crowd of Indians.</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1236" y="1840521"/>
            <a:ext cx="4143375" cy="4199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7487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2647" y="633046"/>
            <a:ext cx="3723816" cy="5263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8990" y="633045"/>
            <a:ext cx="4448175" cy="5275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7750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677" y="515156"/>
            <a:ext cx="11828585" cy="5459971"/>
          </a:xfrm>
        </p:spPr>
        <p:txBody>
          <a:bodyPr/>
          <a:lstStyle/>
          <a:p>
            <a:r>
              <a:rPr lang="en-US" dirty="0"/>
              <a:t>General Dyer ordered for mass shooting </a:t>
            </a:r>
          </a:p>
          <a:p>
            <a:r>
              <a:rPr lang="en-US" dirty="0"/>
              <a:t>Officially about 400 protesters died as a result of mass shooting and killings, 1200 wounded   </a:t>
            </a:r>
          </a:p>
          <a:p>
            <a:r>
              <a:rPr lang="en-US" dirty="0">
                <a:solidFill>
                  <a:srgbClr val="FF0000"/>
                </a:solidFill>
              </a:rPr>
              <a:t>Jallianwala Bagh Tragedy (</a:t>
            </a:r>
            <a:r>
              <a:rPr lang="as-IN" dirty="0">
                <a:solidFill>
                  <a:srgbClr val="FF0000"/>
                </a:solidFill>
              </a:rPr>
              <a:t>জালিয়ানওয়ালাবাগ হত্যাকাণ্ড</a:t>
            </a:r>
            <a:r>
              <a:rPr lang="en-US" dirty="0">
                <a:solidFill>
                  <a:srgbClr val="FF0000"/>
                </a:solidFill>
              </a:rPr>
              <a:t>)</a:t>
            </a:r>
            <a:endParaRPr lang="as-IN" dirty="0">
              <a:solidFill>
                <a:srgbClr val="FF0000"/>
              </a:solidFill>
            </a:endParaRPr>
          </a:p>
          <a:p>
            <a:endParaRPr lang="en-US" dirty="0">
              <a:solidFill>
                <a:srgbClr val="FF0000"/>
              </a:solidFill>
            </a:endParaRPr>
          </a:p>
          <a:p>
            <a:endParaRPr lang="en-US" dirty="0"/>
          </a:p>
        </p:txBody>
      </p:sp>
      <p:pic>
        <p:nvPicPr>
          <p:cNvPr id="4" name="Picture 3"/>
          <p:cNvPicPr>
            <a:picLocks noChangeAspect="1"/>
          </p:cNvPicPr>
          <p:nvPr/>
        </p:nvPicPr>
        <p:blipFill>
          <a:blip r:embed="rId2"/>
          <a:stretch>
            <a:fillRect/>
          </a:stretch>
        </p:blipFill>
        <p:spPr>
          <a:xfrm>
            <a:off x="5928764" y="2637689"/>
            <a:ext cx="4907521" cy="2766647"/>
          </a:xfrm>
          <a:prstGeom prst="rect">
            <a:avLst/>
          </a:prstGeom>
        </p:spPr>
      </p:pic>
      <p:pic>
        <p:nvPicPr>
          <p:cNvPr id="5" name="Picture 4"/>
          <p:cNvPicPr>
            <a:picLocks noChangeAspect="1"/>
          </p:cNvPicPr>
          <p:nvPr/>
        </p:nvPicPr>
        <p:blipFill>
          <a:blip r:embed="rId3"/>
          <a:stretch>
            <a:fillRect/>
          </a:stretch>
        </p:blipFill>
        <p:spPr>
          <a:xfrm>
            <a:off x="240874" y="2491908"/>
            <a:ext cx="5476875" cy="3182061"/>
          </a:xfrm>
          <a:prstGeom prst="rect">
            <a:avLst/>
          </a:prstGeom>
        </p:spPr>
      </p:pic>
    </p:spTree>
    <p:extLst>
      <p:ext uri="{BB962C8B-B14F-4D97-AF65-F5344CB8AC3E}">
        <p14:creationId xmlns:p14="http://schemas.microsoft.com/office/powerpoint/2010/main" val="2577947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53037" y="734096"/>
            <a:ext cx="8397025" cy="5125791"/>
          </a:xfrm>
          <a:prstGeom prst="rect">
            <a:avLst/>
          </a:prstGeom>
        </p:spPr>
      </p:pic>
    </p:spTree>
    <p:extLst>
      <p:ext uri="{BB962C8B-B14F-4D97-AF65-F5344CB8AC3E}">
        <p14:creationId xmlns:p14="http://schemas.microsoft.com/office/powerpoint/2010/main" val="1701988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80315" y="579550"/>
            <a:ext cx="8113691" cy="5398182"/>
          </a:xfrm>
          <a:prstGeom prst="rect">
            <a:avLst/>
          </a:prstGeom>
        </p:spPr>
      </p:pic>
    </p:spTree>
    <p:extLst>
      <p:ext uri="{BB962C8B-B14F-4D97-AF65-F5344CB8AC3E}">
        <p14:creationId xmlns:p14="http://schemas.microsoft.com/office/powerpoint/2010/main" val="2833884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4670"/>
            <a:ext cx="10515600" cy="5762293"/>
          </a:xfrm>
        </p:spPr>
        <p:txBody>
          <a:bodyPr/>
          <a:lstStyle/>
          <a:p>
            <a:r>
              <a:rPr lang="en-US" dirty="0" err="1"/>
              <a:t>Jallianwala</a:t>
            </a:r>
            <a:r>
              <a:rPr lang="en-US" dirty="0"/>
              <a:t> </a:t>
            </a:r>
            <a:r>
              <a:rPr lang="en-US" dirty="0" err="1"/>
              <a:t>Bagh</a:t>
            </a:r>
            <a:r>
              <a:rPr lang="en-US" dirty="0"/>
              <a:t> massacre in </a:t>
            </a:r>
            <a:r>
              <a:rPr lang="en-US" dirty="0" err="1"/>
              <a:t>punjab</a:t>
            </a:r>
            <a:r>
              <a:rPr lang="en-US" dirty="0"/>
              <a:t> forced people like Tagore to react and restricted them to enjoy the titles awarded by a brutal repressive power.</a:t>
            </a:r>
            <a:br>
              <a:rPr lang="en-US" dirty="0"/>
            </a:br>
            <a:endParaRPr lang="en-US" dirty="0"/>
          </a:p>
        </p:txBody>
      </p:sp>
      <p:pic>
        <p:nvPicPr>
          <p:cNvPr id="4" name="Content Placeholder 3">
            <a:extLst>
              <a:ext uri="{FF2B5EF4-FFF2-40B4-BE49-F238E27FC236}">
                <a16:creationId xmlns:a16="http://schemas.microsoft.com/office/drawing/2014/main" id="{74FB33C7-1653-4EEB-A062-6731475CB864}"/>
              </a:ext>
            </a:extLst>
          </p:cNvPr>
          <p:cNvPicPr>
            <a:picLocks noChangeAspect="1"/>
          </p:cNvPicPr>
          <p:nvPr/>
        </p:nvPicPr>
        <p:blipFill>
          <a:blip r:embed="rId2"/>
          <a:stretch>
            <a:fillRect/>
          </a:stretch>
        </p:blipFill>
        <p:spPr>
          <a:xfrm>
            <a:off x="1446327" y="1967023"/>
            <a:ext cx="6496194" cy="4057767"/>
          </a:xfrm>
          <a:prstGeom prst="rect">
            <a:avLst/>
          </a:prstGeom>
        </p:spPr>
      </p:pic>
    </p:spTree>
    <p:extLst>
      <p:ext uri="{BB962C8B-B14F-4D97-AF65-F5344CB8AC3E}">
        <p14:creationId xmlns:p14="http://schemas.microsoft.com/office/powerpoint/2010/main" val="2616866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AADB8-462B-4D0E-8D7B-49CB17AC1253}"/>
              </a:ext>
            </a:extLst>
          </p:cNvPr>
          <p:cNvSpPr>
            <a:spLocks noGrp="1"/>
          </p:cNvSpPr>
          <p:nvPr>
            <p:ph type="title"/>
          </p:nvPr>
        </p:nvSpPr>
        <p:spPr>
          <a:xfrm>
            <a:off x="291548" y="132523"/>
            <a:ext cx="7779026" cy="781877"/>
          </a:xfrm>
        </p:spPr>
        <p:txBody>
          <a:bodyPr/>
          <a:lstStyle/>
          <a:p>
            <a:r>
              <a:rPr lang="en-US" u="sng" dirty="0"/>
              <a:t>Kazi Nazrul Islam wrote an article: </a:t>
            </a:r>
          </a:p>
        </p:txBody>
      </p:sp>
      <p:pic>
        <p:nvPicPr>
          <p:cNvPr id="7" name="Content Placeholder 6">
            <a:extLst>
              <a:ext uri="{FF2B5EF4-FFF2-40B4-BE49-F238E27FC236}">
                <a16:creationId xmlns:a16="http://schemas.microsoft.com/office/drawing/2014/main" id="{9E925F5E-6C45-4089-8F2D-907BE5CD96DA}"/>
              </a:ext>
            </a:extLst>
          </p:cNvPr>
          <p:cNvPicPr>
            <a:picLocks noGrp="1" noChangeAspect="1"/>
          </p:cNvPicPr>
          <p:nvPr>
            <p:ph idx="1"/>
          </p:nvPr>
        </p:nvPicPr>
        <p:blipFill>
          <a:blip r:embed="rId2"/>
          <a:stretch>
            <a:fillRect/>
          </a:stretch>
        </p:blipFill>
        <p:spPr>
          <a:xfrm>
            <a:off x="145774" y="1073427"/>
            <a:ext cx="5748130" cy="5279989"/>
          </a:xfrm>
          <a:prstGeom prst="rect">
            <a:avLst/>
          </a:prstGeom>
        </p:spPr>
      </p:pic>
      <p:pic>
        <p:nvPicPr>
          <p:cNvPr id="8" name="Picture 7">
            <a:extLst>
              <a:ext uri="{FF2B5EF4-FFF2-40B4-BE49-F238E27FC236}">
                <a16:creationId xmlns:a16="http://schemas.microsoft.com/office/drawing/2014/main" id="{D73E8EAC-7457-4770-8363-5AA665EB3036}"/>
              </a:ext>
            </a:extLst>
          </p:cNvPr>
          <p:cNvPicPr>
            <a:picLocks noChangeAspect="1"/>
          </p:cNvPicPr>
          <p:nvPr/>
        </p:nvPicPr>
        <p:blipFill>
          <a:blip r:embed="rId3"/>
          <a:stretch>
            <a:fillRect/>
          </a:stretch>
        </p:blipFill>
        <p:spPr>
          <a:xfrm>
            <a:off x="5920409" y="1073428"/>
            <a:ext cx="5950227" cy="5279988"/>
          </a:xfrm>
          <a:prstGeom prst="rect">
            <a:avLst/>
          </a:prstGeom>
        </p:spPr>
      </p:pic>
    </p:spTree>
    <p:extLst>
      <p:ext uri="{BB962C8B-B14F-4D97-AF65-F5344CB8AC3E}">
        <p14:creationId xmlns:p14="http://schemas.microsoft.com/office/powerpoint/2010/main" val="1941325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96B2351-B0B0-4199-9040-8CAB597B66EF}"/>
              </a:ext>
            </a:extLst>
          </p:cNvPr>
          <p:cNvPicPr>
            <a:picLocks noGrp="1" noChangeAspect="1"/>
          </p:cNvPicPr>
          <p:nvPr>
            <p:ph idx="1"/>
          </p:nvPr>
        </p:nvPicPr>
        <p:blipFill>
          <a:blip r:embed="rId2"/>
          <a:stretch>
            <a:fillRect/>
          </a:stretch>
        </p:blipFill>
        <p:spPr>
          <a:xfrm>
            <a:off x="2100262" y="1965843"/>
            <a:ext cx="7991475" cy="2533650"/>
          </a:xfrm>
          <a:prstGeom prst="rect">
            <a:avLst/>
          </a:prstGeom>
        </p:spPr>
      </p:pic>
    </p:spTree>
    <p:extLst>
      <p:ext uri="{BB962C8B-B14F-4D97-AF65-F5344CB8AC3E}">
        <p14:creationId xmlns:p14="http://schemas.microsoft.com/office/powerpoint/2010/main" val="2389971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FA33EE2-832F-45A9-8FE1-60F4E6F84045}"/>
              </a:ext>
            </a:extLst>
          </p:cNvPr>
          <p:cNvPicPr>
            <a:picLocks noGrp="1" noChangeAspect="1"/>
          </p:cNvPicPr>
          <p:nvPr>
            <p:ph idx="1"/>
          </p:nvPr>
        </p:nvPicPr>
        <p:blipFill>
          <a:blip r:embed="rId2"/>
          <a:stretch>
            <a:fillRect/>
          </a:stretch>
        </p:blipFill>
        <p:spPr>
          <a:xfrm>
            <a:off x="4602128" y="1636867"/>
            <a:ext cx="2987744" cy="4167585"/>
          </a:xfrm>
          <a:prstGeom prst="rect">
            <a:avLst/>
          </a:prstGeom>
        </p:spPr>
      </p:pic>
    </p:spTree>
    <p:extLst>
      <p:ext uri="{BB962C8B-B14F-4D97-AF65-F5344CB8AC3E}">
        <p14:creationId xmlns:p14="http://schemas.microsoft.com/office/powerpoint/2010/main" val="3571107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421228" y="1352283"/>
            <a:ext cx="6398922" cy="4768324"/>
          </a:xfrm>
          <a:prstGeom prst="rect">
            <a:avLst/>
          </a:prstGeom>
        </p:spPr>
      </p:pic>
    </p:spTree>
    <p:extLst>
      <p:ext uri="{BB962C8B-B14F-4D97-AF65-F5344CB8AC3E}">
        <p14:creationId xmlns:p14="http://schemas.microsoft.com/office/powerpoint/2010/main" val="11632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07583" y="309093"/>
            <a:ext cx="9530365" cy="5924282"/>
          </a:xfrm>
          <a:prstGeom prst="rect">
            <a:avLst/>
          </a:prstGeom>
        </p:spPr>
      </p:pic>
    </p:spTree>
    <p:extLst>
      <p:ext uri="{BB962C8B-B14F-4D97-AF65-F5344CB8AC3E}">
        <p14:creationId xmlns:p14="http://schemas.microsoft.com/office/powerpoint/2010/main" val="2411199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58055" y="550616"/>
            <a:ext cx="5962441" cy="4351338"/>
          </a:xfrm>
          <a:prstGeom prst="rect">
            <a:avLst/>
          </a:prstGeom>
        </p:spPr>
      </p:pic>
      <p:pic>
        <p:nvPicPr>
          <p:cNvPr id="3" name="Content Placeholder 3"/>
          <p:cNvPicPr>
            <a:picLocks noChangeAspect="1"/>
          </p:cNvPicPr>
          <p:nvPr/>
        </p:nvPicPr>
        <p:blipFill>
          <a:blip r:embed="rId3"/>
          <a:stretch>
            <a:fillRect/>
          </a:stretch>
        </p:blipFill>
        <p:spPr>
          <a:xfrm>
            <a:off x="6718001" y="460464"/>
            <a:ext cx="5016381" cy="4351338"/>
          </a:xfrm>
          <a:prstGeom prst="rect">
            <a:avLst/>
          </a:prstGeom>
        </p:spPr>
      </p:pic>
    </p:spTree>
    <p:extLst>
      <p:ext uri="{BB962C8B-B14F-4D97-AF65-F5344CB8AC3E}">
        <p14:creationId xmlns:p14="http://schemas.microsoft.com/office/powerpoint/2010/main" val="14165424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56068" y="759854"/>
            <a:ext cx="9388697" cy="5383369"/>
          </a:xfrm>
          <a:prstGeom prst="rect">
            <a:avLst/>
          </a:prstGeom>
        </p:spPr>
      </p:pic>
    </p:spTree>
    <p:extLst>
      <p:ext uri="{BB962C8B-B14F-4D97-AF65-F5344CB8AC3E}">
        <p14:creationId xmlns:p14="http://schemas.microsoft.com/office/powerpoint/2010/main" val="1892757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825625"/>
            <a:ext cx="10850217" cy="4351338"/>
          </a:xfrm>
        </p:spPr>
        <p:txBody>
          <a:bodyPr/>
          <a:lstStyle/>
          <a:p>
            <a:pPr algn="just"/>
            <a:r>
              <a:rPr lang="en-US" dirty="0"/>
              <a:t>The </a:t>
            </a:r>
            <a:r>
              <a:rPr lang="en-US" dirty="0" err="1">
                <a:solidFill>
                  <a:srgbClr val="FF0000"/>
                </a:solidFill>
              </a:rPr>
              <a:t>Khilafat</a:t>
            </a:r>
            <a:r>
              <a:rPr lang="en-US" dirty="0">
                <a:solidFill>
                  <a:srgbClr val="FF0000"/>
                </a:solidFill>
              </a:rPr>
              <a:t> Movement </a:t>
            </a:r>
            <a:r>
              <a:rPr lang="en-US" dirty="0"/>
              <a:t>(1919-1924) was </a:t>
            </a:r>
            <a:r>
              <a:rPr lang="en-US" b="1" dirty="0"/>
              <a:t>an agitation by Indian Muslims allied with Indian nationalism in the years following World War I</a:t>
            </a:r>
            <a:r>
              <a:rPr lang="en-US" dirty="0"/>
              <a:t>. Its purpose was to pressure the British government to preserve the authority of the Ottoman Sultan as Caliph of Islam following the breakup of the Ottoman Empire at the end of the war.</a:t>
            </a:r>
          </a:p>
        </p:txBody>
      </p:sp>
    </p:spTree>
    <p:extLst>
      <p:ext uri="{BB962C8B-B14F-4D97-AF65-F5344CB8AC3E}">
        <p14:creationId xmlns:p14="http://schemas.microsoft.com/office/powerpoint/2010/main" val="41988193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58344" y="528034"/>
            <a:ext cx="7218943" cy="5202047"/>
          </a:xfrm>
          <a:prstGeom prst="rect">
            <a:avLst/>
          </a:prstGeom>
        </p:spPr>
      </p:pic>
    </p:spTree>
    <p:extLst>
      <p:ext uri="{BB962C8B-B14F-4D97-AF65-F5344CB8AC3E}">
        <p14:creationId xmlns:p14="http://schemas.microsoft.com/office/powerpoint/2010/main" val="1374575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709530" y="437882"/>
            <a:ext cx="9644270" cy="2822153"/>
          </a:xfrm>
        </p:spPr>
        <p:style>
          <a:lnRef idx="1">
            <a:schemeClr val="accent5"/>
          </a:lnRef>
          <a:fillRef idx="3">
            <a:schemeClr val="accent5"/>
          </a:fillRef>
          <a:effectRef idx="2">
            <a:schemeClr val="accent5"/>
          </a:effectRef>
          <a:fontRef idx="minor">
            <a:schemeClr val="lt1"/>
          </a:fontRef>
        </p:style>
        <p:txBody>
          <a:bodyPr/>
          <a:lstStyle/>
          <a:p>
            <a:pPr algn="just"/>
            <a:r>
              <a:rPr lang="en-US" dirty="0"/>
              <a:t>Hindu-Muslim Riots</a:t>
            </a:r>
          </a:p>
          <a:p>
            <a:pPr algn="just"/>
            <a:r>
              <a:rPr lang="en-US" dirty="0"/>
              <a:t>Killings and rape </a:t>
            </a:r>
          </a:p>
          <a:p>
            <a:pPr algn="just"/>
            <a:r>
              <a:rPr lang="en-US" dirty="0"/>
              <a:t>Violence </a:t>
            </a:r>
          </a:p>
          <a:p>
            <a:pPr algn="just"/>
            <a:r>
              <a:rPr lang="en-US" dirty="0"/>
              <a:t>Blending of religion &amp; politics </a:t>
            </a:r>
          </a:p>
        </p:txBody>
      </p:sp>
    </p:spTree>
    <p:extLst>
      <p:ext uri="{BB962C8B-B14F-4D97-AF65-F5344CB8AC3E}">
        <p14:creationId xmlns:p14="http://schemas.microsoft.com/office/powerpoint/2010/main" val="220368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4851" y="398586"/>
            <a:ext cx="11526591" cy="5778378"/>
          </a:xfrm>
        </p:spPr>
        <p:style>
          <a:lnRef idx="2">
            <a:schemeClr val="accent2"/>
          </a:lnRef>
          <a:fillRef idx="1">
            <a:schemeClr val="lt1"/>
          </a:fillRef>
          <a:effectRef idx="0">
            <a:schemeClr val="accent2"/>
          </a:effectRef>
          <a:fontRef idx="minor">
            <a:schemeClr val="dk1"/>
          </a:fontRef>
        </p:style>
        <p:txBody>
          <a:bodyPr/>
          <a:lstStyle/>
          <a:p>
            <a:pPr marL="0" indent="0" algn="just">
              <a:buNone/>
            </a:pPr>
            <a:r>
              <a:rPr lang="en-US" b="1" dirty="0">
                <a:solidFill>
                  <a:schemeClr val="tx1"/>
                </a:solidFill>
              </a:rPr>
              <a:t>  Bengal Pact, 1923</a:t>
            </a:r>
            <a:r>
              <a:rPr lang="en-US" dirty="0">
                <a:solidFill>
                  <a:schemeClr val="tx1"/>
                </a:solidFill>
              </a:rPr>
              <a:t> an agreement aimed at resolving the question of Hindu-Muslim differences. </a:t>
            </a:r>
            <a:r>
              <a:rPr lang="en-US" dirty="0" err="1">
                <a:solidFill>
                  <a:schemeClr val="tx1"/>
                </a:solidFill>
              </a:rPr>
              <a:t>Chitta</a:t>
            </a:r>
            <a:r>
              <a:rPr lang="en-US" dirty="0">
                <a:solidFill>
                  <a:schemeClr val="tx1"/>
                </a:solidFill>
              </a:rPr>
              <a:t> </a:t>
            </a:r>
            <a:r>
              <a:rPr lang="en-US" dirty="0" err="1">
                <a:solidFill>
                  <a:schemeClr val="tx1"/>
                </a:solidFill>
              </a:rPr>
              <a:t>Ranjan</a:t>
            </a:r>
            <a:r>
              <a:rPr lang="en-US" dirty="0">
                <a:solidFill>
                  <a:schemeClr val="tx1"/>
                </a:solidFill>
              </a:rPr>
              <a:t> Das,  a man of vision who sincerely believed in the principle of sharing political power with the majority Muslim community of the province, came forward to take up the task of strengthening relations between </a:t>
            </a:r>
            <a:r>
              <a:rPr lang="en-US" dirty="0">
                <a:solidFill>
                  <a:srgbClr val="FF0000"/>
                </a:solidFill>
              </a:rPr>
              <a:t>Hindus and Muslims.</a:t>
            </a:r>
          </a:p>
          <a:p>
            <a:endParaRPr lang="en-US" dirty="0"/>
          </a:p>
        </p:txBody>
      </p:sp>
      <p:pic>
        <p:nvPicPr>
          <p:cNvPr id="2" name="Picture 1"/>
          <p:cNvPicPr>
            <a:picLocks noChangeAspect="1"/>
          </p:cNvPicPr>
          <p:nvPr/>
        </p:nvPicPr>
        <p:blipFill>
          <a:blip r:embed="rId2"/>
          <a:stretch>
            <a:fillRect/>
          </a:stretch>
        </p:blipFill>
        <p:spPr>
          <a:xfrm>
            <a:off x="5878401" y="3026535"/>
            <a:ext cx="4762500" cy="2923503"/>
          </a:xfrm>
          <a:prstGeom prst="rect">
            <a:avLst/>
          </a:prstGeom>
        </p:spPr>
      </p:pic>
      <p:pic>
        <p:nvPicPr>
          <p:cNvPr id="4" name="Picture 3"/>
          <p:cNvPicPr>
            <a:picLocks noChangeAspect="1"/>
          </p:cNvPicPr>
          <p:nvPr/>
        </p:nvPicPr>
        <p:blipFill>
          <a:blip r:embed="rId3"/>
          <a:stretch>
            <a:fillRect/>
          </a:stretch>
        </p:blipFill>
        <p:spPr>
          <a:xfrm>
            <a:off x="1180428" y="3026535"/>
            <a:ext cx="3477431" cy="2562896"/>
          </a:xfrm>
          <a:prstGeom prst="rect">
            <a:avLst/>
          </a:prstGeom>
        </p:spPr>
      </p:pic>
    </p:spTree>
    <p:extLst>
      <p:ext uri="{BB962C8B-B14F-4D97-AF65-F5344CB8AC3E}">
        <p14:creationId xmlns:p14="http://schemas.microsoft.com/office/powerpoint/2010/main" val="3710670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0904"/>
            <a:ext cx="10515600" cy="5236059"/>
          </a:xfrm>
        </p:spPr>
        <p:txBody>
          <a:bodyPr/>
          <a:lstStyle/>
          <a:p>
            <a:pPr algn="ctr"/>
            <a:r>
              <a:rPr lang="en-US" u="sng" dirty="0">
                <a:solidFill>
                  <a:srgbClr val="00B050"/>
                </a:solidFill>
              </a:rPr>
              <a:t>Non-Cooperation Movement </a:t>
            </a:r>
          </a:p>
        </p:txBody>
      </p:sp>
      <p:pic>
        <p:nvPicPr>
          <p:cNvPr id="4" name="Picture 3"/>
          <p:cNvPicPr>
            <a:picLocks noChangeAspect="1"/>
          </p:cNvPicPr>
          <p:nvPr/>
        </p:nvPicPr>
        <p:blipFill>
          <a:blip r:embed="rId2"/>
          <a:stretch>
            <a:fillRect/>
          </a:stretch>
        </p:blipFill>
        <p:spPr>
          <a:xfrm>
            <a:off x="3339548" y="1695915"/>
            <a:ext cx="6520069" cy="3726035"/>
          </a:xfrm>
          <a:prstGeom prst="rect">
            <a:avLst/>
          </a:prstGeom>
        </p:spPr>
      </p:pic>
    </p:spTree>
    <p:extLst>
      <p:ext uri="{BB962C8B-B14F-4D97-AF65-F5344CB8AC3E}">
        <p14:creationId xmlns:p14="http://schemas.microsoft.com/office/powerpoint/2010/main" val="182225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4092"/>
            <a:ext cx="10673862" cy="5672871"/>
          </a:xfrm>
        </p:spPr>
        <p:txBody>
          <a:bodyPr/>
          <a:lstStyle/>
          <a:p>
            <a:pPr algn="just"/>
            <a:r>
              <a:rPr lang="en-US" dirty="0"/>
              <a:t>The </a:t>
            </a:r>
            <a:r>
              <a:rPr lang="en-US" b="1" dirty="0"/>
              <a:t>Communal Award</a:t>
            </a:r>
            <a:r>
              <a:rPr lang="en-US" dirty="0"/>
              <a:t>, announced </a:t>
            </a:r>
            <a:r>
              <a:rPr lang="en-US" dirty="0">
                <a:solidFill>
                  <a:srgbClr val="FF0000"/>
                </a:solidFill>
              </a:rPr>
              <a:t>by Ramsay MacDonald </a:t>
            </a:r>
            <a:r>
              <a:rPr lang="en-US" dirty="0"/>
              <a:t>on 16 August 1932, ensured the retention of </a:t>
            </a:r>
            <a:r>
              <a:rPr lang="en-US" dirty="0">
                <a:solidFill>
                  <a:srgbClr val="FF0000"/>
                </a:solidFill>
              </a:rPr>
              <a:t>separate electorates </a:t>
            </a:r>
            <a:r>
              <a:rPr lang="en-US" dirty="0"/>
              <a:t>for Muslims, Sikhs and Europeans and extended the </a:t>
            </a:r>
            <a:r>
              <a:rPr lang="en-US" dirty="0">
                <a:hlinkClick r:id="rId2" tooltip="Separate electorate"/>
              </a:rPr>
              <a:t>separate electorate</a:t>
            </a:r>
            <a:r>
              <a:rPr lang="en-US" dirty="0"/>
              <a:t> to </a:t>
            </a:r>
            <a:r>
              <a:rPr lang="en-US" dirty="0">
                <a:solidFill>
                  <a:srgbClr val="FF0000"/>
                </a:solidFill>
              </a:rPr>
              <a:t>depressed Classes</a:t>
            </a:r>
            <a:r>
              <a:rPr lang="en-US" dirty="0"/>
              <a:t> (now known as the </a:t>
            </a:r>
            <a:r>
              <a:rPr lang="en-US" dirty="0">
                <a:solidFill>
                  <a:srgbClr val="FF0000"/>
                </a:solidFill>
              </a:rPr>
              <a:t>Scheduled Caste</a:t>
            </a:r>
            <a:r>
              <a:rPr lang="en-US" dirty="0"/>
              <a:t>) and other minorities.</a:t>
            </a:r>
          </a:p>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8032" y="2520462"/>
            <a:ext cx="6705598" cy="302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8509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93914" y="978794"/>
            <a:ext cx="8831124" cy="5151337"/>
          </a:xfrm>
          <a:prstGeom prst="rect">
            <a:avLst/>
          </a:prstGeom>
        </p:spPr>
      </p:pic>
    </p:spTree>
    <p:extLst>
      <p:ext uri="{BB962C8B-B14F-4D97-AF65-F5344CB8AC3E}">
        <p14:creationId xmlns:p14="http://schemas.microsoft.com/office/powerpoint/2010/main" val="2488387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9569"/>
            <a:ext cx="10515600" cy="5227394"/>
          </a:xfrm>
        </p:spPr>
        <p:txBody>
          <a:bodyPr/>
          <a:lstStyle/>
          <a:p>
            <a:endParaRPr lang="en-US" dirty="0"/>
          </a:p>
        </p:txBody>
      </p:sp>
      <p:pic>
        <p:nvPicPr>
          <p:cNvPr id="4" name="Picture 3"/>
          <p:cNvPicPr>
            <a:picLocks noChangeAspect="1"/>
          </p:cNvPicPr>
          <p:nvPr/>
        </p:nvPicPr>
        <p:blipFill>
          <a:blip r:embed="rId2"/>
          <a:stretch>
            <a:fillRect/>
          </a:stretch>
        </p:blipFill>
        <p:spPr>
          <a:xfrm>
            <a:off x="4360985" y="1513929"/>
            <a:ext cx="5257800" cy="3998352"/>
          </a:xfrm>
          <a:prstGeom prst="rect">
            <a:avLst/>
          </a:prstGeom>
        </p:spPr>
      </p:pic>
    </p:spTree>
    <p:extLst>
      <p:ext uri="{BB962C8B-B14F-4D97-AF65-F5344CB8AC3E}">
        <p14:creationId xmlns:p14="http://schemas.microsoft.com/office/powerpoint/2010/main" val="10111150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8139" y="504092"/>
            <a:ext cx="10190922" cy="4747846"/>
          </a:xfrm>
        </p:spPr>
        <p:style>
          <a:lnRef idx="1">
            <a:schemeClr val="accent6"/>
          </a:lnRef>
          <a:fillRef idx="2">
            <a:schemeClr val="accent6"/>
          </a:fillRef>
          <a:effectRef idx="1">
            <a:schemeClr val="accent6"/>
          </a:effectRef>
          <a:fontRef idx="minor">
            <a:schemeClr val="dk1"/>
          </a:fontRef>
        </p:style>
        <p:txBody>
          <a:bodyPr>
            <a:normAutofit/>
          </a:bodyPr>
          <a:lstStyle/>
          <a:p>
            <a:pPr marL="457200" lvl="1" indent="0" algn="ctr">
              <a:buNone/>
            </a:pPr>
            <a:r>
              <a:rPr lang="en-US" sz="2800" u="sng" dirty="0"/>
              <a:t>The Government of India Act of 1935</a:t>
            </a:r>
            <a:endParaRPr lang="en-US" sz="2800" dirty="0"/>
          </a:p>
          <a:p>
            <a:pPr lvl="1" algn="just"/>
            <a:r>
              <a:rPr lang="en-US" sz="2800" dirty="0"/>
              <a:t>The provision of </a:t>
            </a:r>
            <a:r>
              <a:rPr lang="en-US" sz="2800" dirty="0">
                <a:solidFill>
                  <a:srgbClr val="FF0000"/>
                </a:solidFill>
              </a:rPr>
              <a:t>provincial autonomy </a:t>
            </a:r>
            <a:r>
              <a:rPr lang="en-US" sz="2800" dirty="0"/>
              <a:t>was introduced in the Government of India Act of 1935</a:t>
            </a:r>
          </a:p>
          <a:p>
            <a:pPr lvl="1" algn="just"/>
            <a:r>
              <a:rPr lang="en-US" sz="2800" dirty="0"/>
              <a:t>The Act of 1935 provided for the establishment of an All-India </a:t>
            </a:r>
            <a:r>
              <a:rPr lang="en-US" sz="2800" dirty="0">
                <a:solidFill>
                  <a:srgbClr val="FF0000"/>
                </a:solidFill>
              </a:rPr>
              <a:t>Federation</a:t>
            </a:r>
            <a:r>
              <a:rPr lang="en-US" sz="2800" dirty="0"/>
              <a:t> consisting of provinces and princely states as units. The Act divided the powers between the Centre and units in terms of </a:t>
            </a:r>
            <a:r>
              <a:rPr lang="en-US" sz="2800" dirty="0">
                <a:solidFill>
                  <a:srgbClr val="FF0000"/>
                </a:solidFill>
              </a:rPr>
              <a:t>three lists</a:t>
            </a:r>
            <a:r>
              <a:rPr lang="en-US" sz="2800" dirty="0"/>
              <a:t>—Federal List (for Centre, with 59 items), Provincial List (for provinces, with 54 items) and the Concurrent List (for both, with 36 items). </a:t>
            </a:r>
            <a:r>
              <a:rPr lang="en-US" sz="2800" dirty="0">
                <a:solidFill>
                  <a:srgbClr val="FF0000"/>
                </a:solidFill>
              </a:rPr>
              <a:t>Residuary powers </a:t>
            </a:r>
            <a:r>
              <a:rPr lang="en-US" sz="2800" dirty="0"/>
              <a:t>were given to the Viceroy. However, the federation never came into being as the princely states did not join it.</a:t>
            </a:r>
          </a:p>
          <a:p>
            <a:pPr lvl="1" algn="just"/>
            <a:endParaRPr lang="en-US" sz="2800" dirty="0"/>
          </a:p>
          <a:p>
            <a:pPr lvl="1" algn="just"/>
            <a:endParaRPr lang="en-US" sz="2800" dirty="0"/>
          </a:p>
          <a:p>
            <a:pPr lvl="1"/>
            <a:endParaRPr lang="en-US" sz="2800" dirty="0"/>
          </a:p>
          <a:p>
            <a:endParaRPr lang="en-US" dirty="0"/>
          </a:p>
        </p:txBody>
      </p:sp>
    </p:spTree>
    <p:extLst>
      <p:ext uri="{BB962C8B-B14F-4D97-AF65-F5344CB8AC3E}">
        <p14:creationId xmlns:p14="http://schemas.microsoft.com/office/powerpoint/2010/main" val="14972981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328246"/>
            <a:ext cx="10982740" cy="5848717"/>
          </a:xfrm>
        </p:spPr>
        <p:style>
          <a:lnRef idx="2">
            <a:schemeClr val="accent1"/>
          </a:lnRef>
          <a:fillRef idx="1">
            <a:schemeClr val="lt1"/>
          </a:fillRef>
          <a:effectRef idx="0">
            <a:schemeClr val="accent1"/>
          </a:effectRef>
          <a:fontRef idx="minor">
            <a:schemeClr val="dk1"/>
          </a:fontRef>
        </p:style>
        <p:txBody>
          <a:bodyPr/>
          <a:lstStyle/>
          <a:p>
            <a:pPr marL="0" indent="0">
              <a:buNone/>
            </a:pPr>
            <a:r>
              <a:rPr lang="en-US" dirty="0"/>
              <a:t> </a:t>
            </a:r>
            <a:r>
              <a:rPr lang="en-US" u="sng" dirty="0"/>
              <a:t>Conclusions: Communal</a:t>
            </a:r>
            <a:r>
              <a:rPr lang="en-US" u="sng" dirty="0">
                <a:solidFill>
                  <a:srgbClr val="008000"/>
                </a:solidFill>
              </a:rPr>
              <a:t> Politics &amp; its </a:t>
            </a:r>
            <a:r>
              <a:rPr lang="en-US" u="sng" dirty="0">
                <a:solidFill>
                  <a:srgbClr val="008000"/>
                </a:solidFill>
                <a:latin typeface="Times New Roman" panose="02020603050405020304" pitchFamily="18" charset="0"/>
                <a:cs typeface="Times New Roman" panose="02020603050405020304" pitchFamily="18" charset="0"/>
              </a:rPr>
              <a:t>Future Implications :</a:t>
            </a:r>
          </a:p>
          <a:p>
            <a:pPr marL="0" indent="0">
              <a:buNone/>
            </a:pPr>
            <a:endParaRPr lang="en-US" u="sng" dirty="0">
              <a:solidFill>
                <a:srgbClr val="008000"/>
              </a:solidFill>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Provincial Election of 1937 based on the constitution of 1935</a:t>
            </a:r>
          </a:p>
          <a:p>
            <a:pPr lvl="1"/>
            <a:r>
              <a:rPr lang="en-US" sz="2800" dirty="0">
                <a:latin typeface="Times New Roman" panose="02020603050405020304" pitchFamily="18" charset="0"/>
                <a:cs typeface="Times New Roman" panose="02020603050405020304" pitchFamily="18" charset="0"/>
              </a:rPr>
              <a:t>Sher-e-Bangla AK Fazlul Hoque and formation of the </a:t>
            </a:r>
            <a:r>
              <a:rPr lang="en-US" sz="2800" i="1" dirty="0" err="1">
                <a:solidFill>
                  <a:srgbClr val="FF0000"/>
                </a:solidFill>
                <a:latin typeface="Times New Roman" panose="02020603050405020304" pitchFamily="18" charset="0"/>
                <a:cs typeface="Times New Roman" panose="02020603050405020304" pitchFamily="18" charset="0"/>
              </a:rPr>
              <a:t>Krishak</a:t>
            </a:r>
            <a:r>
              <a:rPr lang="en-US" sz="2800" i="1" dirty="0">
                <a:solidFill>
                  <a:srgbClr val="FF0000"/>
                </a:solidFill>
                <a:latin typeface="Times New Roman" panose="02020603050405020304" pitchFamily="18" charset="0"/>
                <a:cs typeface="Times New Roman" panose="02020603050405020304" pitchFamily="18" charset="0"/>
              </a:rPr>
              <a:t> </a:t>
            </a:r>
            <a:r>
              <a:rPr lang="en-US" sz="2800" i="1" dirty="0" err="1">
                <a:solidFill>
                  <a:srgbClr val="FF0000"/>
                </a:solidFill>
                <a:latin typeface="Times New Roman" panose="02020603050405020304" pitchFamily="18" charset="0"/>
                <a:cs typeface="Times New Roman" panose="02020603050405020304" pitchFamily="18" charset="0"/>
              </a:rPr>
              <a:t>Proja</a:t>
            </a:r>
            <a:r>
              <a:rPr lang="en-US" sz="2800" i="1" dirty="0">
                <a:solidFill>
                  <a:srgbClr val="FF0000"/>
                </a:solidFill>
                <a:latin typeface="Times New Roman" panose="02020603050405020304" pitchFamily="18" charset="0"/>
                <a:cs typeface="Times New Roman" panose="02020603050405020304" pitchFamily="18" charset="0"/>
              </a:rPr>
              <a:t> Party </a:t>
            </a:r>
          </a:p>
          <a:p>
            <a:pPr lvl="1"/>
            <a:r>
              <a:rPr lang="en-US" sz="2800" dirty="0">
                <a:latin typeface="Times New Roman" panose="02020603050405020304" pitchFamily="18" charset="0"/>
                <a:cs typeface="Times New Roman" panose="02020603050405020304" pitchFamily="18" charset="0"/>
              </a:rPr>
              <a:t>Lahore resolution of Jinnah , 1940</a:t>
            </a:r>
          </a:p>
          <a:p>
            <a:pPr lvl="1"/>
            <a:r>
              <a:rPr lang="en-US" sz="2800" dirty="0">
                <a:latin typeface="Times New Roman" panose="02020603050405020304" pitchFamily="18" charset="0"/>
                <a:cs typeface="Times New Roman" panose="02020603050405020304" pitchFamily="18" charset="0"/>
              </a:rPr>
              <a:t>Hindu-Muslim riots ( For example, The Great </a:t>
            </a:r>
            <a:r>
              <a:rPr lang="en-US" sz="2800" dirty="0" err="1">
                <a:latin typeface="Times New Roman" panose="02020603050405020304" pitchFamily="18" charset="0"/>
                <a:cs typeface="Times New Roman" panose="02020603050405020304" pitchFamily="18" charset="0"/>
              </a:rPr>
              <a:t>Calcatta</a:t>
            </a:r>
            <a:r>
              <a:rPr lang="en-US" sz="2800" dirty="0">
                <a:latin typeface="Times New Roman" panose="02020603050405020304" pitchFamily="18" charset="0"/>
                <a:cs typeface="Times New Roman" panose="02020603050405020304" pitchFamily="18" charset="0"/>
              </a:rPr>
              <a:t> Killings)</a:t>
            </a:r>
          </a:p>
          <a:p>
            <a:pPr lvl="1"/>
            <a:r>
              <a:rPr lang="en-US" sz="2800" dirty="0">
                <a:latin typeface="Times New Roman" panose="02020603050405020304" pitchFamily="18" charset="0"/>
                <a:cs typeface="Times New Roman" panose="02020603050405020304" pitchFamily="18" charset="0"/>
              </a:rPr>
              <a:t>Mass migration </a:t>
            </a:r>
          </a:p>
          <a:p>
            <a:pPr lvl="1"/>
            <a:r>
              <a:rPr lang="en-US" sz="2800" dirty="0">
                <a:latin typeface="Times New Roman" panose="02020603050405020304" pitchFamily="18" charset="0"/>
                <a:cs typeface="Times New Roman" panose="02020603050405020304" pitchFamily="18" charset="0"/>
              </a:rPr>
              <a:t>From the demand of </a:t>
            </a:r>
            <a:r>
              <a:rPr lang="en-US" sz="2800" dirty="0">
                <a:solidFill>
                  <a:srgbClr val="FF0000"/>
                </a:solidFill>
                <a:latin typeface="Times New Roman" panose="02020603050405020304" pitchFamily="18" charset="0"/>
                <a:cs typeface="Times New Roman" panose="02020603050405020304" pitchFamily="18" charset="0"/>
              </a:rPr>
              <a:t>Separate electorate (1906/1909/1916/1919/1923/1932/1935</a:t>
            </a:r>
            <a:r>
              <a:rPr lang="en-US" sz="2800" dirty="0">
                <a:latin typeface="Times New Roman" panose="02020603050405020304" pitchFamily="18" charset="0"/>
                <a:cs typeface="Times New Roman" panose="02020603050405020304" pitchFamily="18" charset="0"/>
              </a:rPr>
              <a:t>) to the emergence of </a:t>
            </a:r>
            <a:r>
              <a:rPr lang="en-US" sz="2800" dirty="0">
                <a:solidFill>
                  <a:srgbClr val="FF0000"/>
                </a:solidFill>
                <a:latin typeface="Times New Roman" panose="02020603050405020304" pitchFamily="18" charset="0"/>
                <a:cs typeface="Times New Roman" panose="02020603050405020304" pitchFamily="18" charset="0"/>
              </a:rPr>
              <a:t>Separate states like India and Pakistan in 1947</a:t>
            </a:r>
          </a:p>
        </p:txBody>
      </p:sp>
    </p:spTree>
    <p:extLst>
      <p:ext uri="{BB962C8B-B14F-4D97-AF65-F5344CB8AC3E}">
        <p14:creationId xmlns:p14="http://schemas.microsoft.com/office/powerpoint/2010/main" val="27911145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68193" y="502276"/>
            <a:ext cx="6757182" cy="4856398"/>
          </a:xfrm>
          <a:prstGeom prst="rect">
            <a:avLst/>
          </a:prstGeom>
        </p:spPr>
      </p:pic>
    </p:spTree>
    <p:extLst>
      <p:ext uri="{BB962C8B-B14F-4D97-AF65-F5344CB8AC3E}">
        <p14:creationId xmlns:p14="http://schemas.microsoft.com/office/powerpoint/2010/main" val="41089708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4062" y="244549"/>
            <a:ext cx="10709030" cy="701749"/>
          </a:xfrm>
        </p:spPr>
        <p:txBody>
          <a:bodyPr>
            <a:normAutofit/>
          </a:bodyPr>
          <a:lstStyle/>
          <a:p>
            <a:pPr algn="ctr"/>
            <a:r>
              <a:rPr lang="en-US" dirty="0">
                <a:solidFill>
                  <a:srgbClr val="7030A0"/>
                </a:solidFill>
              </a:rPr>
              <a:t>References</a:t>
            </a:r>
            <a:r>
              <a:rPr lang="en-US" dirty="0"/>
              <a:t>: </a:t>
            </a:r>
          </a:p>
        </p:txBody>
      </p:sp>
      <p:sp>
        <p:nvSpPr>
          <p:cNvPr id="3" name="Content Placeholder 2"/>
          <p:cNvSpPr>
            <a:spLocks noGrp="1"/>
          </p:cNvSpPr>
          <p:nvPr>
            <p:ph idx="1"/>
          </p:nvPr>
        </p:nvSpPr>
        <p:spPr>
          <a:xfrm>
            <a:off x="838199" y="946298"/>
            <a:ext cx="11037277" cy="5230665"/>
          </a:xfrm>
        </p:spPr>
        <p:style>
          <a:lnRef idx="1">
            <a:schemeClr val="accent4"/>
          </a:lnRef>
          <a:fillRef idx="2">
            <a:schemeClr val="accent4"/>
          </a:fillRef>
          <a:effectRef idx="1">
            <a:schemeClr val="accent4"/>
          </a:effectRef>
          <a:fontRef idx="minor">
            <a:schemeClr val="dk1"/>
          </a:fontRef>
        </p:style>
        <p:txBody>
          <a:bodyPr/>
          <a:lstStyle/>
          <a:p>
            <a:pPr>
              <a:buFont typeface="Wingdings" pitchFamily="2" charset="2"/>
              <a:buChar char="§"/>
            </a:pPr>
            <a:r>
              <a:rPr lang="en-US" dirty="0"/>
              <a:t> </a:t>
            </a:r>
            <a:r>
              <a:rPr lang="en-US" dirty="0" err="1"/>
              <a:t>Harun</a:t>
            </a:r>
            <a:r>
              <a:rPr lang="en-US" dirty="0"/>
              <a:t>-or-Rashid, </a:t>
            </a:r>
            <a:r>
              <a:rPr lang="en-US" i="1" dirty="0"/>
              <a:t>The Foreshadowing of Bangladesh: Bengal Muslim League and Muslim Politics</a:t>
            </a:r>
            <a:r>
              <a:rPr lang="en-US" dirty="0"/>
              <a:t>, 1936-1947</a:t>
            </a:r>
          </a:p>
          <a:p>
            <a:pPr>
              <a:buFont typeface="Wingdings" pitchFamily="2" charset="2"/>
              <a:buChar char="§"/>
            </a:pPr>
            <a:r>
              <a:rPr lang="en-US" dirty="0" err="1"/>
              <a:t>K.B.Sayeed</a:t>
            </a:r>
            <a:r>
              <a:rPr lang="en-US" dirty="0"/>
              <a:t>, </a:t>
            </a:r>
            <a:r>
              <a:rPr lang="en-US" i="1" dirty="0"/>
              <a:t>Pakistan: The Formative Phase, </a:t>
            </a:r>
            <a:r>
              <a:rPr lang="en-US" dirty="0"/>
              <a:t>1857-1948 </a:t>
            </a:r>
            <a:endParaRPr lang="en-US" i="1" dirty="0"/>
          </a:p>
          <a:p>
            <a:pPr>
              <a:buFont typeface="Wingdings" pitchFamily="2" charset="2"/>
              <a:buChar char="§"/>
            </a:pPr>
            <a:r>
              <a:rPr lang="en-US" dirty="0" err="1"/>
              <a:t>Taj</a:t>
            </a:r>
            <a:r>
              <a:rPr lang="en-US" dirty="0"/>
              <a:t> </a:t>
            </a:r>
            <a:r>
              <a:rPr lang="en-US" dirty="0" err="1"/>
              <a:t>Hashmi</a:t>
            </a:r>
            <a:r>
              <a:rPr lang="en-US" dirty="0"/>
              <a:t>,  </a:t>
            </a:r>
            <a:r>
              <a:rPr lang="en-US" i="1" dirty="0"/>
              <a:t>Pakistan as a Peasant Utopia: The Communalization of Class Politics in East Bengal</a:t>
            </a:r>
            <a:r>
              <a:rPr lang="en-US" dirty="0"/>
              <a:t>, 1920-1947</a:t>
            </a:r>
          </a:p>
          <a:p>
            <a:pPr>
              <a:buFont typeface="Wingdings" pitchFamily="2" charset="2"/>
              <a:buChar char="§"/>
            </a:pPr>
            <a:r>
              <a:rPr lang="en-US" dirty="0" err="1"/>
              <a:t>Ishtiaq</a:t>
            </a:r>
            <a:r>
              <a:rPr lang="en-US" dirty="0"/>
              <a:t> Ahmed, </a:t>
            </a:r>
            <a:r>
              <a:rPr lang="en-US" i="1" dirty="0"/>
              <a:t>Jinnah: His Success, Failures and Role in History</a:t>
            </a:r>
          </a:p>
          <a:p>
            <a:pPr>
              <a:buFont typeface="Wingdings" pitchFamily="2" charset="2"/>
              <a:buChar char="§"/>
            </a:pPr>
            <a:r>
              <a:rPr lang="en-US" dirty="0" err="1"/>
              <a:t>Anindita</a:t>
            </a:r>
            <a:r>
              <a:rPr lang="en-US" dirty="0"/>
              <a:t> Ghoshal</a:t>
            </a:r>
            <a:r>
              <a:rPr lang="en-US" i="1" dirty="0"/>
              <a:t>, Refugees, Borders and Identities: Rights and Habitat in East and Northeast India </a:t>
            </a:r>
            <a:r>
              <a:rPr lang="en-US" dirty="0"/>
              <a:t>( “Introduction” of this book is suggested).</a:t>
            </a:r>
          </a:p>
          <a:p>
            <a:pPr>
              <a:buFont typeface="Wingdings" pitchFamily="2" charset="2"/>
              <a:buChar char="§"/>
            </a:pPr>
            <a:r>
              <a:rPr lang="as-IN" dirty="0">
                <a:hlinkClick r:id="rId2"/>
              </a:rPr>
              <a:t>আবুল মনসুর আহমদ</a:t>
            </a:r>
            <a:r>
              <a:rPr lang="en-US" dirty="0"/>
              <a:t>, </a:t>
            </a:r>
            <a:r>
              <a:rPr lang="as-IN" i="1" dirty="0"/>
              <a:t>আমার দেখা রাজনীতির পঞ্চাশ বছর</a:t>
            </a:r>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13716407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1593</TotalTime>
  <Words>721</Words>
  <Application>Microsoft Office PowerPoint</Application>
  <PresentationFormat>Widescreen</PresentationFormat>
  <Paragraphs>69</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Times New Roman</vt:lpstr>
      <vt:lpstr>Wingdings</vt:lpstr>
      <vt:lpstr>Office Theme</vt:lpstr>
      <vt:lpstr>Anatomy of Communal politics, 1912-1935  Saleh  Shahriar, PhD. North South University Dhaka, Bangladesh     ORCID: https://orcid.org/0000-0001-5199-3258  </vt:lpstr>
      <vt:lpstr>Historical Background :</vt:lpstr>
      <vt:lpstr>PowerPoint Presentation</vt:lpstr>
      <vt:lpstr>PowerPoint Presentation</vt:lpstr>
      <vt:lpstr>Three Specific Objectives of the AIML: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Kazi Nazrul Islam wrote an article: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partition of Bengal, 1905</dc:title>
  <dc:creator>User</dc:creator>
  <cp:lastModifiedBy>NSU</cp:lastModifiedBy>
  <cp:revision>766</cp:revision>
  <dcterms:created xsi:type="dcterms:W3CDTF">2020-11-19T02:37:22Z</dcterms:created>
  <dcterms:modified xsi:type="dcterms:W3CDTF">2023-08-29T04:54:34Z</dcterms:modified>
</cp:coreProperties>
</file>