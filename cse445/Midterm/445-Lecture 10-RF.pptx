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388" r:id="rId7"/>
    <p:sldId id="389" r:id="rId8"/>
    <p:sldId id="390" r:id="rId9"/>
    <p:sldId id="261" r:id="rId10"/>
    <p:sldId id="262" r:id="rId11"/>
    <p:sldId id="263" r:id="rId12"/>
    <p:sldId id="264" r:id="rId13"/>
    <p:sldId id="265" r:id="rId14"/>
    <p:sldId id="266" r:id="rId15"/>
    <p:sldId id="391" r:id="rId16"/>
    <p:sldId id="267" r:id="rId17"/>
    <p:sldId id="268" r:id="rId18"/>
    <p:sldId id="269" r:id="rId19"/>
    <p:sldId id="271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63" r:id="rId41"/>
    <p:sldId id="364" r:id="rId42"/>
    <p:sldId id="365" r:id="rId43"/>
    <p:sldId id="366" r:id="rId44"/>
    <p:sldId id="367" r:id="rId45"/>
    <p:sldId id="368" r:id="rId46"/>
    <p:sldId id="369" r:id="rId47"/>
    <p:sldId id="370" r:id="rId48"/>
    <p:sldId id="371" r:id="rId49"/>
    <p:sldId id="372" r:id="rId50"/>
    <p:sldId id="373" r:id="rId51"/>
    <p:sldId id="386" r:id="rId52"/>
    <p:sldId id="374" r:id="rId53"/>
    <p:sldId id="375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227C6-A5C1-A973-62F6-86F9E2AFF541}" v="2" dt="2026-08-07T18:36:47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5142" autoAdjust="0"/>
  </p:normalViewPr>
  <p:slideViewPr>
    <p:cSldViewPr snapToGrid="0">
      <p:cViewPr varScale="1">
        <p:scale>
          <a:sx n="84" d="100"/>
          <a:sy n="84" d="100"/>
        </p:scale>
        <p:origin x="41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Khan" userId="S::mohammad.khan02@northsouth.edu::66e9fb8e-4ed6-4e1e-bddc-ac99ec076f45" providerId="AD" clId="Web-{2FF227C6-A5C1-A973-62F6-86F9E2AFF541}"/>
    <pc:docChg chg="modSld">
      <pc:chgData name="Mohammad Khan" userId="S::mohammad.khan02@northsouth.edu::66e9fb8e-4ed6-4e1e-bddc-ac99ec076f45" providerId="AD" clId="Web-{2FF227C6-A5C1-A973-62F6-86F9E2AFF541}" dt="2026-08-07T18:36:47.519" v="1" actId="20577"/>
      <pc:docMkLst>
        <pc:docMk/>
      </pc:docMkLst>
      <pc:sldChg chg="modSp">
        <pc:chgData name="Mohammad Khan" userId="S::mohammad.khan02@northsouth.edu::66e9fb8e-4ed6-4e1e-bddc-ac99ec076f45" providerId="AD" clId="Web-{2FF227C6-A5C1-A973-62F6-86F9E2AFF541}" dt="2026-08-07T18:36:47.519" v="1" actId="20577"/>
        <pc:sldMkLst>
          <pc:docMk/>
          <pc:sldMk cId="2006043614" sldId="256"/>
        </pc:sldMkLst>
        <pc:spChg chg="mod">
          <ac:chgData name="Mohammad Khan" userId="S::mohammad.khan02@northsouth.edu::66e9fb8e-4ed6-4e1e-bddc-ac99ec076f45" providerId="AD" clId="Web-{2FF227C6-A5C1-A973-62F6-86F9E2AFF541}" dt="2026-08-07T18:36:47.519" v="1" actId="20577"/>
          <ac:spMkLst>
            <pc:docMk/>
            <pc:sldMk cId="2006043614" sldId="256"/>
            <ac:spMk id="2" creationId="{73F5810A-8FFF-4688-B886-2760516D3F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E1B55-A0A7-4C9C-88C1-3A5C6A40240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77780-F0EF-4B5F-9EE7-60A58DD1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797-E484-44ED-A239-64277FE0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EF780-7320-4B43-AAED-F0481B30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A29-9491-4859-9181-7FF16AB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94A5-A287-4BC2-9628-CAEB7FA7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B12C-11BE-4545-8970-4F65D76F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1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80A0-ED64-48E0-B9C8-569F348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C18A2-E1D6-46C9-8CCF-84419AC3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9E5A-CABA-487F-AE98-B2464FC9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2CFD-82A6-4E60-9FAC-3680A82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E37-CA26-4C91-BC94-19E402DA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0AE-3661-46FF-922D-ABDF4375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F269-6879-4ADA-9D67-9E61D80B2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392-70F7-40A0-9BEE-B9444E87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28DA-CEFD-432F-AA8E-973376E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101E-6DA9-4BB5-9C62-2B1B274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AD3F-0FA4-4FCD-8CF4-4BDCE746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3579-C57E-4CAA-AE08-EB0A27A3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1D69-90B6-45FB-94AB-78DB03F3A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BE15-19F6-4503-9F69-560255AB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814A9-0046-41AA-B0C8-B67727100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53427-75E0-4324-B2A0-9259E9FCC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802DE-660F-4CF9-9FB9-B17917E9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EBBB8-E47D-430F-9694-B04E4DF2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DFF6-B435-4DE5-8E43-DA133CB9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C802-82B9-430F-AF07-4FF6DC3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E669-09D2-43F6-AB7B-3AF5C34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034F-8122-4D3C-9EE0-617A3CB1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3B17-ABDA-424E-B102-D92D2E3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0F9B-27B6-443F-B7CA-4AA7FA88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7043-2389-4029-A3C5-07CF5B37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FBE5-75A1-478E-A662-031990DD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C8C0-3C08-4F40-B4CC-4CAACC3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38F9-DD32-4429-9398-92DA6F73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61104-CDD8-4454-9187-784049A2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7858-962C-47B3-B661-43660206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0A0-7EEA-4508-8126-53163955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BA5E-D2E0-4970-BD47-4AF19F43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8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DDF-7003-4C1A-BB44-664272A1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FDAF-27B1-41D4-96EE-1D6D1809E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3798E-E3BF-427A-93E2-A4CB842E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8CE11-06D0-4C84-88D7-842A952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6E090-6FA5-4A71-A070-BD7C0FA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01E9-BA6C-4C44-976B-36BBE21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DC4A-48E1-4894-AB0F-ECF189B6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79AF-2F79-4289-82BE-ACF7331C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7E-6F32-4A3E-9631-9FEF4E3F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876-23CE-485F-91A5-93B0D7B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3A67-2B2D-4782-A5FC-1558D362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65FEE-76CC-4626-9E2D-08E2AE5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EE0C-F39F-4476-BD95-0A51C006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CEB6-F803-4EE6-BD88-E0B6424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13F-8991-4909-8B90-68DAAE9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196E-9AEE-4266-A151-D305A5D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DC07-5C6F-43AF-978F-0F0AF83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E598-D0A2-47D2-BE89-F4EA0A3D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82D-D076-4FF0-AD6E-A6E4C421B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EE21-E937-4C45-8E3F-E4D607BF6CD6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047A-B6F8-4C3E-B8BF-24884C78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F2E0-67EC-4657-BD17-E180039DB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http://www.northsouth.edu/newassets/images/nsu-photo/logo-4.png">
            <a:extLst>
              <a:ext uri="{FF2B5EF4-FFF2-40B4-BE49-F238E27FC236}">
                <a16:creationId xmlns:a16="http://schemas.microsoft.com/office/drawing/2014/main" id="{BC78909E-CBD6-46C2-8213-EF399003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9530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36E5F5-5DCD-4E9C-8D7C-D19E489A294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958" y="54768"/>
            <a:ext cx="11001375" cy="46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none" spc="0">
          <a:ln w="0"/>
          <a:solidFill>
            <a:srgbClr val="002060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C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810A-8FFF-4688-B886-2760516D3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CSE 445</a:t>
            </a:r>
            <a:br>
              <a:rPr lang="en-US" sz="4800" dirty="0"/>
            </a:br>
            <a:r>
              <a:rPr lang="en-US" sz="4800"/>
              <a:t>Lecture 10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02420-0B57-4C8C-9661-7D4661E7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/>
              <a:t>Ensemble learning: Voting, Bagging &amp; Pasting, Random Forest</a:t>
            </a:r>
            <a:endParaRPr lang="en-US" dirty="0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4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Bias/variance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Bias/Variance tradeoff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631" y="2321176"/>
            <a:ext cx="4736090" cy="325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0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Bias/variance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we reduce variance without increasing bias?</a:t>
                </a:r>
              </a:p>
              <a:p>
                <a:r>
                  <a:rPr lang="en-US" dirty="0"/>
                  <a:t>Averaging reduces the variance as </a:t>
                </a:r>
                <a:r>
                  <a:rPr lang="en-US" dirty="0" err="1"/>
                  <a:t>var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 = </a:t>
                </a:r>
                <a:r>
                  <a:rPr lang="en-US" dirty="0" err="1"/>
                  <a:t>var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i="1" dirty="0"/>
                  <a:t> </a:t>
                </a:r>
              </a:p>
              <a:p>
                <a:r>
                  <a:rPr lang="en-US" dirty="0"/>
                  <a:t>Therefore, if we average over models we can achieve our goal</a:t>
                </a:r>
              </a:p>
              <a:p>
                <a:r>
                  <a:rPr lang="en-US" dirty="0"/>
                  <a:t>But</a:t>
                </a:r>
              </a:p>
              <a:p>
                <a:pPr lvl="1"/>
                <a:r>
                  <a:rPr lang="en-US" dirty="0"/>
                  <a:t>We have just one training sample</a:t>
                </a:r>
              </a:p>
              <a:p>
                <a:pPr lvl="1"/>
                <a:r>
                  <a:rPr lang="en-US" dirty="0"/>
                  <a:t>How can we get multiple models?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9" t="-1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22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different models: Voting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trained a few classifiers, each one achieving about 80% accuracy</a:t>
            </a:r>
          </a:p>
          <a:p>
            <a:r>
              <a:rPr lang="en-US" dirty="0"/>
              <a:t>For example, we can use a Logistic Regression classifier, an SVM classifier, a Random Forest classifier, a K-Nearest Neighbors classifier, and perhaps a few more </a:t>
            </a:r>
          </a:p>
          <a:p>
            <a:r>
              <a:rPr lang="en-US" dirty="0"/>
              <a:t>A very simple way to create an even better classifier is to aggregate the predictions of each classifier and predict the class that gets the most votes</a:t>
            </a:r>
          </a:p>
          <a:p>
            <a:r>
              <a:rPr lang="en-US" dirty="0"/>
              <a:t>This majority vote classifier is called a </a:t>
            </a:r>
            <a:r>
              <a:rPr lang="en-US" i="1" dirty="0"/>
              <a:t>hard voting </a:t>
            </a:r>
            <a:r>
              <a:rPr lang="en-US" dirty="0"/>
              <a:t>classifier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 voting classifier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37" y="1060107"/>
            <a:ext cx="9805381" cy="523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6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 voting vs Soft voting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 </a:t>
            </a:r>
            <a:r>
              <a:rPr lang="en-US" b="1" dirty="0"/>
              <a:t>hard voting</a:t>
            </a:r>
            <a:r>
              <a:rPr lang="en-US" dirty="0"/>
              <a:t> (also known as </a:t>
            </a:r>
            <a:r>
              <a:rPr lang="en-US" b="1" dirty="0"/>
              <a:t>majority voting</a:t>
            </a:r>
            <a:r>
              <a:rPr lang="en-US" dirty="0"/>
              <a:t>), every individual classifier votes for a class, and the majority wins </a:t>
            </a:r>
          </a:p>
          <a:p>
            <a:pPr lvl="1"/>
            <a:r>
              <a:rPr lang="en-US" dirty="0"/>
              <a:t>In statistical terms, the predicted target label of the ensemble is the mode of the distribution of individually predicted labels</a:t>
            </a:r>
          </a:p>
          <a:p>
            <a:r>
              <a:rPr lang="en-US" dirty="0"/>
              <a:t>In </a:t>
            </a:r>
            <a:r>
              <a:rPr lang="en-US" b="1" dirty="0"/>
              <a:t>soft voting</a:t>
            </a:r>
            <a:r>
              <a:rPr lang="en-US" dirty="0"/>
              <a:t>, every individual classifier provides a probability value that a specific data point belongs to a particular target class </a:t>
            </a:r>
          </a:p>
          <a:p>
            <a:pPr lvl="1"/>
            <a:r>
              <a:rPr lang="en-US" dirty="0"/>
              <a:t>The predictions are weighted by the classifier's importance and summed up </a:t>
            </a:r>
          </a:p>
          <a:p>
            <a:pPr lvl="1"/>
            <a:r>
              <a:rPr lang="en-US" dirty="0"/>
              <a:t>Then the target label with the greatest sum of weighted probabilities wins the vote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83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Manipulate the dataset: Bootstrapping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statistics, bootstrapping refers to a resampling method consisting of repeatedly drawn samples with replacement </a:t>
            </a:r>
          </a:p>
          <a:p>
            <a:pPr lvl="1"/>
            <a:r>
              <a:rPr lang="en-US" dirty="0"/>
              <a:t>Samples taken from the original data form smaller datasets, called bootstrapping samples </a:t>
            </a:r>
          </a:p>
          <a:p>
            <a:r>
              <a:rPr lang="en-US" dirty="0"/>
              <a:t>It’s as if the bootstrapping method is making a bunch of simulations to our original dataset </a:t>
            </a:r>
          </a:p>
          <a:p>
            <a:pPr lvl="1"/>
            <a:r>
              <a:rPr lang="en-US" dirty="0"/>
              <a:t>So in some cases we can generalize the mean and the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82469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Bootstrapping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let’s say we have a set of observations: [2, 4, 32, 8, 16]</a:t>
            </a:r>
          </a:p>
          <a:p>
            <a:r>
              <a:rPr lang="en-US" dirty="0"/>
              <a:t>If we want each bootstrap sample containing </a:t>
            </a:r>
            <a:r>
              <a:rPr lang="en-US" i="1" dirty="0"/>
              <a:t>n</a:t>
            </a:r>
            <a:r>
              <a:rPr lang="en-US" dirty="0"/>
              <a:t> observations, the following are valid samples: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=3: [32, 4, 4], [8, 16, 2], [2, 2, 2]…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=4: [2, 32, 4, 16], [2, 4, 2, 8], [8, 32, 4, 2]…</a:t>
            </a:r>
          </a:p>
          <a:p>
            <a:r>
              <a:rPr lang="en-US" dirty="0"/>
              <a:t>Since we drawn data with replacement, the observations can appear more than once in a single sample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480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&amp; Pasting: sampling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One way to get a diverse set of classifiers is to use different training algorithms – as discussed for voting </a:t>
            </a:r>
          </a:p>
          <a:p>
            <a:r>
              <a:rPr lang="en-US" dirty="0"/>
              <a:t>Another approach is to use the same training algorithm for every predictor, but to train them on different random subsets of the training set</a:t>
            </a:r>
          </a:p>
          <a:p>
            <a:r>
              <a:rPr lang="en-US" dirty="0"/>
              <a:t>When sampling is performed </a:t>
            </a:r>
            <a:r>
              <a:rPr lang="en-US" i="1" dirty="0"/>
              <a:t>with </a:t>
            </a:r>
            <a:r>
              <a:rPr lang="en-US" dirty="0"/>
              <a:t>replacement, this method is called </a:t>
            </a:r>
            <a:r>
              <a:rPr lang="en-US" i="1" dirty="0"/>
              <a:t>bagging </a:t>
            </a:r>
            <a:r>
              <a:rPr lang="en-US" dirty="0"/>
              <a:t>(short for </a:t>
            </a:r>
            <a:r>
              <a:rPr lang="en-US" i="1" dirty="0"/>
              <a:t>bootstrap aggregating</a:t>
            </a:r>
            <a:r>
              <a:rPr lang="en-US" dirty="0"/>
              <a:t>)</a:t>
            </a:r>
          </a:p>
          <a:p>
            <a:r>
              <a:rPr lang="en-US" dirty="0"/>
              <a:t>When sampling is performed </a:t>
            </a:r>
            <a:r>
              <a:rPr lang="en-US" i="1" dirty="0"/>
              <a:t>without </a:t>
            </a:r>
            <a:r>
              <a:rPr lang="en-US" dirty="0"/>
              <a:t>replacement, it is called </a:t>
            </a:r>
            <a:r>
              <a:rPr lang="en-US" i="1" dirty="0"/>
              <a:t>pasting</a:t>
            </a:r>
            <a:endParaRPr lang="en-US" dirty="0"/>
          </a:p>
          <a:p>
            <a:r>
              <a:rPr lang="en-US" dirty="0"/>
              <a:t>Both bagging and pasting allow training instances to be sampled several times across multiple predictors, but only bagging allows training instances to be sampled more than the original data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81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&amp; Pasting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828675"/>
            <a:ext cx="101822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4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&amp; Pasting: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all predictors are trained, the ensemble can make a prediction for a new instance by simply aggregating the predictions of all predictors</a:t>
            </a:r>
          </a:p>
          <a:p>
            <a:r>
              <a:rPr lang="en-US" dirty="0"/>
              <a:t>The aggregation function is typically the </a:t>
            </a:r>
            <a:r>
              <a:rPr lang="en-US" i="1" dirty="0"/>
              <a:t>statistical mode </a:t>
            </a:r>
            <a:r>
              <a:rPr lang="en-US" dirty="0"/>
              <a:t>(i.e., the most frequent prediction, just like a hard voting classifier) for classification, or the average for regression </a:t>
            </a:r>
          </a:p>
          <a:p>
            <a:r>
              <a:rPr lang="en-US" dirty="0"/>
              <a:t>Each individual predictor has a higher bias than if it were trained on the original training set, but aggregation reduces both bias and variance</a:t>
            </a:r>
          </a:p>
          <a:p>
            <a:r>
              <a:rPr lang="en-US" dirty="0"/>
              <a:t>Generally, the net result is that the </a:t>
            </a:r>
            <a:r>
              <a:rPr lang="en-US" b="1" dirty="0">
                <a:solidFill>
                  <a:srgbClr val="FF0000"/>
                </a:solidFill>
              </a:rPr>
              <a:t>ensemble has a similar bias but a lower variance</a:t>
            </a:r>
            <a:r>
              <a:rPr lang="en-US" dirty="0"/>
              <a:t> than a single predictor trained on the original training set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9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&amp; Pasting: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Scikit</a:t>
            </a:r>
            <a:r>
              <a:rPr lang="en-US" dirty="0"/>
              <a:t>-Learn offers a simple API for both bagging and pasting with the </a:t>
            </a:r>
            <a:r>
              <a:rPr lang="en-US" dirty="0" err="1"/>
              <a:t>BaggingClassifier</a:t>
            </a:r>
            <a:r>
              <a:rPr lang="en-US" dirty="0"/>
              <a:t> class (or </a:t>
            </a:r>
            <a:r>
              <a:rPr lang="en-US" dirty="0" err="1"/>
              <a:t>BaggingRegressor</a:t>
            </a:r>
            <a:r>
              <a:rPr lang="en-US" dirty="0"/>
              <a:t> for regression)</a:t>
            </a:r>
          </a:p>
          <a:p>
            <a:r>
              <a:rPr lang="en-US" dirty="0"/>
              <a:t>The code on next slide trains an ensemble of 500 Decision Tree classifiers</a:t>
            </a:r>
          </a:p>
          <a:p>
            <a:r>
              <a:rPr lang="en-US" dirty="0"/>
              <a:t>Each trained on 100 training instances randomly sampled from the training set with replacement (this is an example of bagging, for pasting, set bootstrap=False)</a:t>
            </a:r>
          </a:p>
          <a:p>
            <a:r>
              <a:rPr lang="en-US" dirty="0"/>
              <a:t>The </a:t>
            </a:r>
            <a:r>
              <a:rPr lang="en-US" dirty="0" err="1"/>
              <a:t>n_jobs</a:t>
            </a:r>
            <a:r>
              <a:rPr lang="en-US" dirty="0"/>
              <a:t> parameter tells </a:t>
            </a:r>
            <a:r>
              <a:rPr lang="en-US" dirty="0" err="1"/>
              <a:t>Scikit</a:t>
            </a:r>
            <a:r>
              <a:rPr lang="en-US" dirty="0"/>
              <a:t>-Learn the number of CPU cores to use for training and predictions (–1 tells </a:t>
            </a:r>
            <a:r>
              <a:rPr lang="en-US" dirty="0" err="1"/>
              <a:t>Scikit</a:t>
            </a:r>
            <a:r>
              <a:rPr lang="en-US" dirty="0"/>
              <a:t>-Learn to use all available cores)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1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&amp; Pasting: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818" y="681037"/>
            <a:ext cx="111878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sklearn.ensemble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BaggingClassifier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sklearn.tree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DecisionTreeClassifier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bag_clf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BaggingClassifier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DecisionTreeClassifier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(), 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n_estimators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max_samples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                          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bootstrap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n_jobs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bag_clf.fit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y_pred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bag_clf.predict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18" y="3132859"/>
            <a:ext cx="101917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62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Bagging vs Pasting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Bootstrapping introduces more diversity in the subsets than each predictor is trained on, so bagging ends up with a slightly higher bias than pasting</a:t>
            </a:r>
          </a:p>
          <a:p>
            <a:r>
              <a:rPr lang="en-US" dirty="0"/>
              <a:t>This means that predictors end up being less correlated so the ensemble’s variance is reduced</a:t>
            </a:r>
          </a:p>
          <a:p>
            <a:r>
              <a:rPr lang="en-US" dirty="0"/>
              <a:t>Overall, bagging often results in better models, which explains why it is generally preferred</a:t>
            </a:r>
          </a:p>
          <a:p>
            <a:r>
              <a:rPr lang="en-US" dirty="0"/>
              <a:t>However, we can use cross validation to evaluate both bagging and pasting and select the one that works best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6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Out-of-bag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are using bagging, there’s a chance that a sample would never be selected, while others may be selected multiple time</a:t>
            </a:r>
          </a:p>
          <a:p>
            <a:r>
              <a:rPr lang="en-US" dirty="0"/>
              <a:t>The probability of not selecting a specific row is </a:t>
            </a:r>
            <a:r>
              <a:rPr lang="en-US" i="1" dirty="0">
                <a:latin typeface="Sagona Book" panose="020B0604020202020204" pitchFamily="18" charset="0"/>
              </a:rPr>
              <a:t>(n–1)/n</a:t>
            </a:r>
            <a:r>
              <a:rPr lang="en-US" dirty="0"/>
              <a:t>, where n is the number of samples </a:t>
            </a:r>
          </a:p>
          <a:p>
            <a:pPr lvl="1"/>
            <a:r>
              <a:rPr lang="en-US" dirty="0"/>
              <a:t>We are selecting one row out of n samples</a:t>
            </a:r>
          </a:p>
          <a:p>
            <a:r>
              <a:rPr lang="en-US" dirty="0"/>
              <a:t>Therefore, the probability of not picking n rows in n draws is </a:t>
            </a:r>
            <a:r>
              <a:rPr lang="en-US" i="1" dirty="0">
                <a:latin typeface="Sagona Book" panose="02020503050505020204" pitchFamily="18" charset="0"/>
              </a:rPr>
              <a:t>(n–1/n)</a:t>
            </a:r>
            <a:r>
              <a:rPr lang="en-US" i="1" baseline="30000" dirty="0">
                <a:latin typeface="Sagona Book" panose="02020503050505020204" pitchFamily="18" charset="0"/>
              </a:rPr>
              <a:t>n</a:t>
            </a:r>
          </a:p>
          <a:p>
            <a:r>
              <a:rPr lang="en-US" dirty="0"/>
              <a:t>When the value of n is big, we can approximate this probability to 1/e, which is approximately 0.3678. This means that when the dataset is big enough, 37% of its samples are never selected and we could use it to test our model </a:t>
            </a:r>
          </a:p>
          <a:p>
            <a:r>
              <a:rPr lang="en-US" dirty="0"/>
              <a:t>This is called Out-of-Bag scoring, or OOB Scoring</a:t>
            </a:r>
          </a:p>
        </p:txBody>
      </p:sp>
    </p:spTree>
    <p:extLst>
      <p:ext uri="{BB962C8B-B14F-4D97-AF65-F5344CB8AC3E}">
        <p14:creationId xmlns:p14="http://schemas.microsoft.com/office/powerpoint/2010/main" val="1627295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Forest is an ensemble of Decision Trees, generally</a:t>
            </a:r>
            <a:br>
              <a:rPr lang="en-US" dirty="0"/>
            </a:br>
            <a:r>
              <a:rPr lang="en-US" dirty="0"/>
              <a:t>trained via the bagging method (or sometimes pasting), typically with </a:t>
            </a:r>
            <a:r>
              <a:rPr lang="en-US" dirty="0" err="1"/>
              <a:t>max_samples</a:t>
            </a:r>
            <a:r>
              <a:rPr lang="en-US" dirty="0"/>
              <a:t> set to the size of the training set</a:t>
            </a:r>
          </a:p>
          <a:p>
            <a:r>
              <a:rPr lang="en-US" dirty="0"/>
              <a:t>Instead of building a </a:t>
            </a:r>
            <a:r>
              <a:rPr lang="en-US" dirty="0" err="1"/>
              <a:t>BaggingClassifier</a:t>
            </a:r>
            <a:r>
              <a:rPr lang="en-US" dirty="0"/>
              <a:t> and passing it a </a:t>
            </a:r>
            <a:r>
              <a:rPr lang="en-US" dirty="0" err="1"/>
              <a:t>DecisionTreeClassifier</a:t>
            </a:r>
            <a:r>
              <a:rPr lang="en-US" dirty="0"/>
              <a:t>, we use the </a:t>
            </a:r>
            <a:r>
              <a:rPr lang="en-US" dirty="0" err="1"/>
              <a:t>RandomForestClassifier</a:t>
            </a:r>
            <a:br>
              <a:rPr lang="en-US" dirty="0"/>
            </a:br>
            <a:r>
              <a:rPr lang="en-US" dirty="0"/>
              <a:t>class, which is more convenient and optimized for Decision Trees</a:t>
            </a:r>
          </a:p>
          <a:p>
            <a:r>
              <a:rPr lang="en-US" dirty="0"/>
              <a:t>Similarly, there is a </a:t>
            </a:r>
            <a:r>
              <a:rPr lang="en-US" dirty="0" err="1"/>
              <a:t>RandomForestRegressor</a:t>
            </a:r>
            <a:r>
              <a:rPr lang="en-US" dirty="0"/>
              <a:t> class for regression tasks</a:t>
            </a:r>
          </a:p>
          <a:p>
            <a:r>
              <a:rPr lang="en-US" dirty="0"/>
              <a:t>The following code trains a Random Forest classifier with 500 trees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87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956858"/>
            <a:ext cx="11320465" cy="2399492"/>
          </a:xfrm>
        </p:spPr>
        <p:txBody>
          <a:bodyPr/>
          <a:lstStyle/>
          <a:p>
            <a:r>
              <a:rPr lang="en-US" dirty="0"/>
              <a:t>With a few exceptions, a </a:t>
            </a:r>
            <a:r>
              <a:rPr lang="en-US" dirty="0" err="1"/>
              <a:t>RandomForestClassifier</a:t>
            </a:r>
            <a:r>
              <a:rPr lang="en-US" dirty="0"/>
              <a:t> has all the </a:t>
            </a:r>
            <a:r>
              <a:rPr lang="en-US" dirty="0" err="1"/>
              <a:t>hyperparameters</a:t>
            </a:r>
            <a:r>
              <a:rPr lang="en-US" dirty="0"/>
              <a:t> of a </a:t>
            </a:r>
            <a:r>
              <a:rPr lang="en-US" dirty="0" err="1"/>
              <a:t>DecisionTreeClassifier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 control how trees are grown </a:t>
            </a:r>
          </a:p>
          <a:p>
            <a:pPr lvl="1"/>
            <a:r>
              <a:rPr lang="en-US" dirty="0"/>
              <a:t>And, all the </a:t>
            </a:r>
            <a:r>
              <a:rPr lang="en-US" dirty="0" err="1"/>
              <a:t>hyperparameters</a:t>
            </a:r>
            <a:r>
              <a:rPr lang="en-US" dirty="0"/>
              <a:t> of a </a:t>
            </a:r>
            <a:r>
              <a:rPr lang="en-US" dirty="0" err="1"/>
              <a:t>BaggingClassifier</a:t>
            </a:r>
            <a:r>
              <a:rPr lang="en-US" dirty="0"/>
              <a:t> to control the ensemble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7527" y="1840795"/>
            <a:ext cx="109312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sklearn.ensemble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RandomForestClassifier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rnd_clf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RandomForestClassifier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n_estimators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max_leaf_nodes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n_jobs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=-</a:t>
            </a:r>
            <a:r>
              <a:rPr lang="en-US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rnd_clf.fit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y_train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y_pred_rf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rnd_clf.predict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45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Randomness in building the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Random Forest algorithm introduces extra randomness when growing trees</a:t>
            </a:r>
          </a:p>
          <a:p>
            <a:r>
              <a:rPr lang="en-US" dirty="0">
                <a:solidFill>
                  <a:srgbClr val="C00000"/>
                </a:solidFill>
              </a:rPr>
              <a:t>Instead of searching for the very best features when splitting a node, it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searches for the best feature among a random subset of features </a:t>
            </a:r>
          </a:p>
          <a:p>
            <a:r>
              <a:rPr lang="en-US" dirty="0"/>
              <a:t>This results in a greater tree diversity, which (once again) without trading a higher bias for a lower variance, generally yielding an overall better model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01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36" y="1698133"/>
            <a:ext cx="11038696" cy="418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34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733" y="155574"/>
            <a:ext cx="10683282" cy="1465408"/>
          </a:xfrm>
        </p:spPr>
        <p:txBody>
          <a:bodyPr>
            <a:normAutofit/>
          </a:bodyPr>
          <a:lstStyle/>
          <a:p>
            <a:r>
              <a:rPr lang="en-US" dirty="0"/>
              <a:t>Random Forest: Building the model</a:t>
            </a:r>
            <a:br>
              <a:rPr lang="en-US" dirty="0"/>
            </a:br>
            <a:r>
              <a:rPr lang="en-US" dirty="0"/>
              <a:t>Create a bootstrap dataset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23" y="1886085"/>
            <a:ext cx="7746337" cy="39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88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06" y="1254777"/>
            <a:ext cx="10176597" cy="473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12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871537"/>
            <a:ext cx="117729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1525"/>
            <a:ext cx="117348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04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762000"/>
            <a:ext cx="116967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17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762000"/>
            <a:ext cx="1167765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20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79" y="1164866"/>
            <a:ext cx="8860328" cy="496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34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10" y="1367890"/>
            <a:ext cx="8522884" cy="47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44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595312"/>
            <a:ext cx="98679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58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719137"/>
            <a:ext cx="9791700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51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600075"/>
            <a:ext cx="10029825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53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728662"/>
            <a:ext cx="113252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16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83" y="883404"/>
            <a:ext cx="10739178" cy="554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60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809625"/>
            <a:ext cx="1105852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35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723900"/>
            <a:ext cx="119253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64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6" y="1217495"/>
            <a:ext cx="10421389" cy="518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366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7" y="1269157"/>
            <a:ext cx="10269249" cy="51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449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78" y="1297867"/>
            <a:ext cx="10294361" cy="501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78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3" y="1293079"/>
            <a:ext cx="10250459" cy="497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113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1528762"/>
            <a:ext cx="57245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7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1295400"/>
            <a:ext cx="59817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78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5" y="1104900"/>
            <a:ext cx="60388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185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66" y="1320021"/>
            <a:ext cx="9858029" cy="48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75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" y="566737"/>
            <a:ext cx="117824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715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733425"/>
            <a:ext cx="111061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52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785812"/>
            <a:ext cx="11077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99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671512"/>
            <a:ext cx="102393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175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85850"/>
            <a:ext cx="103632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12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119187"/>
            <a:ext cx="107442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750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Prediction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1592146"/>
            <a:ext cx="112776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24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86" y="1205024"/>
            <a:ext cx="9527251" cy="48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44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06" y="896223"/>
            <a:ext cx="10409440" cy="528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748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16" y="1173346"/>
            <a:ext cx="10582880" cy="532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83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1" y="1081648"/>
            <a:ext cx="11159836" cy="533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583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00100"/>
            <a:ext cx="116967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43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61" y="1343181"/>
            <a:ext cx="9697057" cy="466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569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33" y="1395625"/>
            <a:ext cx="9737148" cy="491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041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53" y="1245881"/>
            <a:ext cx="9604925" cy="502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00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55" y="1371730"/>
            <a:ext cx="9278823" cy="468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739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05" y="1214412"/>
            <a:ext cx="10033808" cy="51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099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40" y="1296573"/>
            <a:ext cx="10619293" cy="518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595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53" y="1006389"/>
            <a:ext cx="10182832" cy="518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751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94" y="1440450"/>
            <a:ext cx="9948255" cy="469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785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Evaluation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40" y="1292151"/>
            <a:ext cx="10109056" cy="513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70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647" y="1140676"/>
            <a:ext cx="9109276" cy="52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725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30" y="1214818"/>
            <a:ext cx="9292762" cy="500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990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28700"/>
            <a:ext cx="92202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993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1014412"/>
            <a:ext cx="1143952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168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733" y="1171021"/>
            <a:ext cx="9657830" cy="529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416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1" y="1402321"/>
            <a:ext cx="10850880" cy="495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917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87" y="836469"/>
            <a:ext cx="111061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50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64" y="848244"/>
            <a:ext cx="1151572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588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77" y="1226993"/>
            <a:ext cx="94678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52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Forest: Building the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814387"/>
            <a:ext cx="992505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19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1629</Words>
  <Application>Microsoft Office PowerPoint</Application>
  <PresentationFormat>Widescreen</PresentationFormat>
  <Paragraphs>146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CSE 445 Lecture 10</vt:lpstr>
      <vt:lpstr>Bias/variance tradeoff</vt:lpstr>
      <vt:lpstr>Bias/variance tradeoff</vt:lpstr>
      <vt:lpstr>Use different models: Voting classifiers</vt:lpstr>
      <vt:lpstr>Hard voting classifier</vt:lpstr>
      <vt:lpstr>Hard voting vs Soft voting</vt:lpstr>
      <vt:lpstr>Manipulate the dataset: Bootstrapping</vt:lpstr>
      <vt:lpstr>Bootstrapping example</vt:lpstr>
      <vt:lpstr>Bagging &amp; Pasting: sampling the dataset</vt:lpstr>
      <vt:lpstr>Bagging &amp; Pasting</vt:lpstr>
      <vt:lpstr>Bagging &amp; Pasting: Prediction</vt:lpstr>
      <vt:lpstr>Bagging &amp; Pasting: Implementation</vt:lpstr>
      <vt:lpstr>Bagging &amp; Pasting: Implementation</vt:lpstr>
      <vt:lpstr>Bagging vs Pasting</vt:lpstr>
      <vt:lpstr>Out-of-bag scoring</vt:lpstr>
      <vt:lpstr>Random Forest</vt:lpstr>
      <vt:lpstr>Random Forest Implementation</vt:lpstr>
      <vt:lpstr>Randomness in building the Tree</vt:lpstr>
      <vt:lpstr>Random Forest: Building the model</vt:lpstr>
      <vt:lpstr>Random Forest: Building the model Create a bootstrap dataset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Prediction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Evaluation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  <vt:lpstr>Random Forest: Building the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creator>Mohammad Khan</dc:creator>
  <cp:lastModifiedBy>Mohammad Khan</cp:lastModifiedBy>
  <cp:revision>142</cp:revision>
  <dcterms:created xsi:type="dcterms:W3CDTF">2018-11-03T12:07:21Z</dcterms:created>
  <dcterms:modified xsi:type="dcterms:W3CDTF">2026-08-07T18:36:57Z</dcterms:modified>
</cp:coreProperties>
</file>