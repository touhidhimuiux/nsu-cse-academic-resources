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9"/>
  </p:notesMasterIdLst>
  <p:sldIdLst>
    <p:sldId id="256" r:id="rId5"/>
    <p:sldId id="552" r:id="rId6"/>
    <p:sldId id="553" r:id="rId7"/>
    <p:sldId id="554" r:id="rId8"/>
    <p:sldId id="555" r:id="rId9"/>
    <p:sldId id="556" r:id="rId10"/>
    <p:sldId id="557" r:id="rId11"/>
    <p:sldId id="558" r:id="rId12"/>
    <p:sldId id="560" r:id="rId13"/>
    <p:sldId id="559" r:id="rId14"/>
    <p:sldId id="561" r:id="rId15"/>
    <p:sldId id="562" r:id="rId16"/>
    <p:sldId id="563" r:id="rId17"/>
    <p:sldId id="564" r:id="rId18"/>
    <p:sldId id="565" r:id="rId19"/>
    <p:sldId id="566" r:id="rId20"/>
    <p:sldId id="587" r:id="rId21"/>
    <p:sldId id="623" r:id="rId22"/>
    <p:sldId id="624" r:id="rId23"/>
    <p:sldId id="625" r:id="rId24"/>
    <p:sldId id="603" r:id="rId25"/>
    <p:sldId id="604" r:id="rId26"/>
    <p:sldId id="605" r:id="rId27"/>
    <p:sldId id="626" r:id="rId28"/>
    <p:sldId id="607" r:id="rId29"/>
    <p:sldId id="608" r:id="rId30"/>
    <p:sldId id="591" r:id="rId31"/>
    <p:sldId id="592" r:id="rId32"/>
    <p:sldId id="593" r:id="rId33"/>
    <p:sldId id="627" r:id="rId34"/>
    <p:sldId id="615" r:id="rId35"/>
    <p:sldId id="614" r:id="rId36"/>
    <p:sldId id="594" r:id="rId37"/>
    <p:sldId id="595" r:id="rId38"/>
    <p:sldId id="596" r:id="rId39"/>
    <p:sldId id="597" r:id="rId40"/>
    <p:sldId id="598" r:id="rId41"/>
    <p:sldId id="599" r:id="rId42"/>
    <p:sldId id="628" r:id="rId43"/>
    <p:sldId id="600" r:id="rId44"/>
    <p:sldId id="601" r:id="rId45"/>
    <p:sldId id="602" r:id="rId46"/>
    <p:sldId id="569" r:id="rId47"/>
    <p:sldId id="609" r:id="rId48"/>
    <p:sldId id="610" r:id="rId49"/>
    <p:sldId id="632" r:id="rId50"/>
    <p:sldId id="629" r:id="rId51"/>
    <p:sldId id="611" r:id="rId52"/>
    <p:sldId id="612" r:id="rId53"/>
    <p:sldId id="633" r:id="rId54"/>
    <p:sldId id="634" r:id="rId55"/>
    <p:sldId id="635" r:id="rId56"/>
    <p:sldId id="636" r:id="rId57"/>
    <p:sldId id="63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3BF"/>
    <a:srgbClr val="38631C"/>
    <a:srgbClr val="4D8A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08396B-4F2E-D5B6-4616-5605881A7068}" v="13" dt="2026-06-03T07:42:59.435"/>
    <p1510:client id="{DA592C1B-9E04-570D-B4FE-C56E10739780}" v="8" dt="2026-06-03T17:28:35.0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9E1B55-A0A7-4C9C-88C1-3A5C6A402407}"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E77780-F0EF-4B5F-9EE7-60A58DD1AAE9}" type="slidenum">
              <a:rPr lang="en-US" smtClean="0"/>
              <a:t>‹#›</a:t>
            </a:fld>
            <a:endParaRPr lang="en-US"/>
          </a:p>
        </p:txBody>
      </p:sp>
    </p:spTree>
    <p:extLst>
      <p:ext uri="{BB962C8B-B14F-4D97-AF65-F5344CB8AC3E}">
        <p14:creationId xmlns:p14="http://schemas.microsoft.com/office/powerpoint/2010/main" val="3135660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0E797-E484-44ED-A239-64277FE0E1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AEF780-7320-4B43-AAED-F0481B3001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3ADA29-9491-4859-9181-7FF16AB45094}"/>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5" name="Footer Placeholder 4">
            <a:extLst>
              <a:ext uri="{FF2B5EF4-FFF2-40B4-BE49-F238E27FC236}">
                <a16:creationId xmlns:a16="http://schemas.microsoft.com/office/drawing/2014/main" id="{288494A5-A287-4BC2-9628-CAEB7FA73D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5AB12C-11BE-4545-8970-4F65D76F7F91}"/>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2249716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AC73-49A8-4235-8E54-344D7AE6B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EFA66-1949-4BAC-90F3-260B28EA302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0DD6C3-C8F1-44C4-BE29-A7E192ECD1E2}"/>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5" name="Footer Placeholder 4">
            <a:extLst>
              <a:ext uri="{FF2B5EF4-FFF2-40B4-BE49-F238E27FC236}">
                <a16:creationId xmlns:a16="http://schemas.microsoft.com/office/drawing/2014/main" id="{89368F96-8A2D-4D15-B72A-1BE3C6FBA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846B5-195C-4BDB-A0AF-D52035E08D10}"/>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41267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380A0-ED64-48E0-B9C8-569F34825C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9C18A2-E1D6-46C9-8CCF-84419AC387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D929E5A-CABA-487F-AE98-B2464FC903D2}"/>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5" name="Footer Placeholder 4">
            <a:extLst>
              <a:ext uri="{FF2B5EF4-FFF2-40B4-BE49-F238E27FC236}">
                <a16:creationId xmlns:a16="http://schemas.microsoft.com/office/drawing/2014/main" id="{92972CFD-82A6-4E60-9FAC-3680A8275E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C1E37-CA26-4C91-BC94-19E402DAE734}"/>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899176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D90AE-3661-46FF-922D-ABDF43758B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B7F269-6879-4ADA-9D67-9E61D80B230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9A5392-70F7-40A0-9BEE-B9444E872E6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6528DA-CEFD-432F-AA8E-973376EC91FC}"/>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6" name="Footer Placeholder 5">
            <a:extLst>
              <a:ext uri="{FF2B5EF4-FFF2-40B4-BE49-F238E27FC236}">
                <a16:creationId xmlns:a16="http://schemas.microsoft.com/office/drawing/2014/main" id="{DDF3101E-6DA9-4BB5-9C62-2B1B274438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B6AD3F-0FA4-4FCD-8CF4-4BDCE7465A37}"/>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3034623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B3579-C57E-4CAA-AE08-EB0A27A3F1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EF1D69-90B6-45FB-94AB-78DB03F3AE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23ABE15-19F6-4503-9F69-560255ABA2F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1814A9-0046-41AA-B0C8-B677271002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0253427-75E0-4324-B2A0-9259E9FCCFF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1802DE-660F-4CF9-9FB9-B17917E999B2}"/>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8" name="Footer Placeholder 7">
            <a:extLst>
              <a:ext uri="{FF2B5EF4-FFF2-40B4-BE49-F238E27FC236}">
                <a16:creationId xmlns:a16="http://schemas.microsoft.com/office/drawing/2014/main" id="{89DEBBB8-E47D-430F-9694-B04E4DF2B4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DCDFF6-B435-4DE5-8E43-DA133CB9B272}"/>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2017271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4C802-82B9-430F-AF07-4FF6DC33FB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20E669-09D2-43F6-AB7B-3AF5C3460FD0}"/>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4" name="Footer Placeholder 3">
            <a:extLst>
              <a:ext uri="{FF2B5EF4-FFF2-40B4-BE49-F238E27FC236}">
                <a16:creationId xmlns:a16="http://schemas.microsoft.com/office/drawing/2014/main" id="{E932034F-8122-4D3C-9EE0-617A3CB140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EE3B17-ABDA-424E-B102-D92D2E373311}"/>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61444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70F9B-27B6-443F-B7CA-4AA7FA889B52}"/>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3" name="Footer Placeholder 2">
            <a:extLst>
              <a:ext uri="{FF2B5EF4-FFF2-40B4-BE49-F238E27FC236}">
                <a16:creationId xmlns:a16="http://schemas.microsoft.com/office/drawing/2014/main" id="{5E737043-2389-4029-A3C5-07CF5B37E4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FDFBE5-75A1-478E-A662-031990DD4C4C}"/>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567640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C8C0-3C08-4F40-B4CC-4CAACC3DCE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A038F9-DD32-4429-9398-92DA6F7388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061104-CDD8-4454-9187-784049A2F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D227858-962C-47B3-B661-436602064850}"/>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6" name="Footer Placeholder 5">
            <a:extLst>
              <a:ext uri="{FF2B5EF4-FFF2-40B4-BE49-F238E27FC236}">
                <a16:creationId xmlns:a16="http://schemas.microsoft.com/office/drawing/2014/main" id="{B7EDB0A0-7EEA-4508-8126-5316395547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1EBA5E-D2E0-4970-BD47-4AF19F431C5C}"/>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4155185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0DDF-7003-4C1A-BB44-664272A198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9AFDAF-27B1-41D4-96EE-1D6D1809E2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13798E-E3BF-427A-93E2-A4CB842E90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D8CE11-06D0-4C84-88D7-842A952C2D23}"/>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6" name="Footer Placeholder 5">
            <a:extLst>
              <a:ext uri="{FF2B5EF4-FFF2-40B4-BE49-F238E27FC236}">
                <a16:creationId xmlns:a16="http://schemas.microsoft.com/office/drawing/2014/main" id="{F026E090-6FA5-4A71-A070-BD7C0FA49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4F01E9-BA6C-4C44-976B-36BBE214EFF2}"/>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277497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BDC4A-48E1-4894-AB0F-ECF189B6A8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3A79AF-2F79-4289-82BE-ACF7331CB9D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7A497E-6F32-4A3E-9631-9FEF4E3FF680}"/>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5" name="Footer Placeholder 4">
            <a:extLst>
              <a:ext uri="{FF2B5EF4-FFF2-40B4-BE49-F238E27FC236}">
                <a16:creationId xmlns:a16="http://schemas.microsoft.com/office/drawing/2014/main" id="{D09CB876-23CE-485F-91A5-93B0D7B5E6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CC3A67-2B2D-4782-A5FC-1558D36268D2}"/>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211992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C65FEE-76CC-4626-9E2D-08E2AE5AA4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0FEE0C-F39F-4476-BD95-0A51C00639E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ECEB6-F803-4EE6-BD88-E0B64245F356}"/>
              </a:ext>
            </a:extLst>
          </p:cNvPr>
          <p:cNvSpPr>
            <a:spLocks noGrp="1"/>
          </p:cNvSpPr>
          <p:nvPr>
            <p:ph type="dt" sz="half" idx="10"/>
          </p:nvPr>
        </p:nvSpPr>
        <p:spPr/>
        <p:txBody>
          <a:bodyPr/>
          <a:lstStyle/>
          <a:p>
            <a:fld id="{8A3FEE21-E937-4C45-8E3F-E4D607BF6CD6}" type="datetimeFigureOut">
              <a:rPr lang="en-US" smtClean="0"/>
              <a:t>6/3/2026</a:t>
            </a:fld>
            <a:endParaRPr lang="en-US"/>
          </a:p>
        </p:txBody>
      </p:sp>
      <p:sp>
        <p:nvSpPr>
          <p:cNvPr id="5" name="Footer Placeholder 4">
            <a:extLst>
              <a:ext uri="{FF2B5EF4-FFF2-40B4-BE49-F238E27FC236}">
                <a16:creationId xmlns:a16="http://schemas.microsoft.com/office/drawing/2014/main" id="{0CC1313F-8991-4909-8B90-68DAAE9B22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8196E-9AEE-4266-A151-D305A5D8CA66}"/>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4223010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C6DC07-5C6F-43AF-978F-0F0AF8314292}"/>
              </a:ext>
            </a:extLst>
          </p:cNvPr>
          <p:cNvSpPr>
            <a:spLocks noGrp="1"/>
          </p:cNvSpPr>
          <p:nvPr>
            <p:ph type="title"/>
          </p:nvPr>
        </p:nvSpPr>
        <p:spPr>
          <a:xfrm>
            <a:off x="1278733" y="155574"/>
            <a:ext cx="10515600" cy="5254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28E598-D0A2-47D2-BE89-F4EA0A3D2BAA}"/>
              </a:ext>
            </a:extLst>
          </p:cNvPr>
          <p:cNvSpPr>
            <a:spLocks noGrp="1"/>
          </p:cNvSpPr>
          <p:nvPr>
            <p:ph type="body" idx="1"/>
          </p:nvPr>
        </p:nvSpPr>
        <p:spPr>
          <a:xfrm>
            <a:off x="685800" y="1119188"/>
            <a:ext cx="11320465" cy="52371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1382D-D076-4FF0-AD6E-A6E4C421BF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3FEE21-E937-4C45-8E3F-E4D607BF6CD6}" type="datetimeFigureOut">
              <a:rPr lang="en-US" smtClean="0"/>
              <a:t>6/3/2026</a:t>
            </a:fld>
            <a:endParaRPr lang="en-US"/>
          </a:p>
        </p:txBody>
      </p:sp>
      <p:sp>
        <p:nvSpPr>
          <p:cNvPr id="5" name="Footer Placeholder 4">
            <a:extLst>
              <a:ext uri="{FF2B5EF4-FFF2-40B4-BE49-F238E27FC236}">
                <a16:creationId xmlns:a16="http://schemas.microsoft.com/office/drawing/2014/main" id="{F2F9047A-B6F8-4C3E-B8BF-24884C78A6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E5F2E0-67EC-4657-BD17-E180039DBF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86C32C-9D72-4B82-AE06-40FB0010D583}" type="slidenum">
              <a:rPr lang="en-US" smtClean="0"/>
              <a:t>‹#›</a:t>
            </a:fld>
            <a:endParaRPr lang="en-US"/>
          </a:p>
        </p:txBody>
      </p:sp>
      <p:pic>
        <p:nvPicPr>
          <p:cNvPr id="1026" name="Picture 2" descr="http://www.northsouth.edu/newassets/images/nsu-photo/logo-4.png">
            <a:extLst>
              <a:ext uri="{FF2B5EF4-FFF2-40B4-BE49-F238E27FC236}">
                <a16:creationId xmlns:a16="http://schemas.microsoft.com/office/drawing/2014/main" id="{BC78909E-CBD6-46C2-8213-EF399003A3B7}"/>
              </a:ext>
            </a:extLst>
          </p:cNvPr>
          <p:cNvPicPr>
            <a:picLocks noChangeAspect="1" noChangeArrowheads="1"/>
          </p:cNvPicPr>
          <p:nvPr userDrawn="1"/>
        </p:nvPicPr>
        <p:blipFill>
          <a:blip r:embed="rId13" cstate="hqprint">
            <a:extLst>
              <a:ext uri="{28A0092B-C50C-407E-A947-70E740481C1C}">
                <a14:useLocalDpi xmlns:a14="http://schemas.microsoft.com/office/drawing/2010/main" val="0"/>
              </a:ext>
            </a:extLst>
          </a:blip>
          <a:srcRect/>
          <a:stretch>
            <a:fillRect/>
          </a:stretch>
        </p:blipFill>
        <p:spPr bwMode="auto">
          <a:xfrm>
            <a:off x="1" y="0"/>
            <a:ext cx="495300" cy="396240"/>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8F36E5F5-5DCD-4E9C-8D7C-D19E489A294C}"/>
              </a:ext>
            </a:extLst>
          </p:cNvPr>
          <p:cNvCxnSpPr>
            <a:cxnSpLocks/>
          </p:cNvCxnSpPr>
          <p:nvPr userDrawn="1"/>
        </p:nvCxnSpPr>
        <p:spPr>
          <a:xfrm flipV="1">
            <a:off x="792958" y="54768"/>
            <a:ext cx="11001375" cy="46037"/>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5888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b="1" kern="1200" cap="none" spc="0">
          <a:ln w="0"/>
          <a:solidFill>
            <a:srgbClr val="002060"/>
          </a:solidFill>
          <a:effectLst>
            <a:outerShdw blurRad="38100" dist="25400" dir="5400000" algn="ctr" rotWithShape="0">
              <a:srgbClr val="6E747A">
                <a:alpha val="43000"/>
              </a:srgbClr>
            </a:outerShdw>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70C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C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C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5810A-8FFF-4688-B886-2760516D3FEF}"/>
              </a:ext>
            </a:extLst>
          </p:cNvPr>
          <p:cNvSpPr>
            <a:spLocks noGrp="1"/>
          </p:cNvSpPr>
          <p:nvPr>
            <p:ph type="ctrTitle"/>
          </p:nvPr>
        </p:nvSpPr>
        <p:spPr>
          <a:xfrm>
            <a:off x="1524000" y="2245809"/>
            <a:ext cx="9144000" cy="1564716"/>
          </a:xfrm>
        </p:spPr>
        <p:txBody>
          <a:bodyPr>
            <a:normAutofit/>
          </a:bodyPr>
          <a:lstStyle/>
          <a:p>
            <a:pPr algn="l"/>
            <a:r>
              <a:rPr lang="en-US" sz="4800" dirty="0"/>
              <a:t>CSE 445</a:t>
            </a:r>
            <a:br>
              <a:rPr lang="en-US" sz="4800" dirty="0"/>
            </a:br>
            <a:r>
              <a:rPr lang="en-US" sz="4800"/>
              <a:t>Lecture 2-3</a:t>
            </a:r>
          </a:p>
        </p:txBody>
      </p:sp>
      <p:sp>
        <p:nvSpPr>
          <p:cNvPr id="3" name="Subtitle 2">
            <a:extLst>
              <a:ext uri="{FF2B5EF4-FFF2-40B4-BE49-F238E27FC236}">
                <a16:creationId xmlns:a16="http://schemas.microsoft.com/office/drawing/2014/main" id="{6FE02420-0B57-4C8C-9661-7D4661E7B635}"/>
              </a:ext>
            </a:extLst>
          </p:cNvPr>
          <p:cNvSpPr>
            <a:spLocks noGrp="1"/>
          </p:cNvSpPr>
          <p:nvPr>
            <p:ph type="subTitle" idx="1"/>
          </p:nvPr>
        </p:nvSpPr>
        <p:spPr>
          <a:xfrm>
            <a:off x="1524000" y="3947050"/>
            <a:ext cx="9144000" cy="572583"/>
          </a:xfrm>
        </p:spPr>
        <p:txBody>
          <a:bodyPr vert="horz" lIns="91440" tIns="45720" rIns="91440" bIns="45720" rtlCol="0" anchor="t">
            <a:normAutofit/>
          </a:bodyPr>
          <a:lstStyle/>
          <a:p>
            <a:pPr algn="l"/>
            <a:r>
              <a:rPr lang="en-US" sz="2000"/>
              <a:t>Linear Algebra</a:t>
            </a:r>
            <a:endParaRPr lang="en-US"/>
          </a:p>
        </p:txBody>
      </p:sp>
      <p:sp>
        <p:nvSpPr>
          <p:cNvPr id="8" name="Freeform 14">
            <a:extLst>
              <a:ext uri="{FF2B5EF4-FFF2-40B4-BE49-F238E27FC236}">
                <a16:creationId xmlns:a16="http://schemas.microsoft.com/office/drawing/2014/main" id="{C66F2F30-5DC0-44A0-BFA6-E12F46ED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21">
            <a:extLst>
              <a:ext uri="{FF2B5EF4-FFF2-40B4-BE49-F238E27FC236}">
                <a16:creationId xmlns:a16="http://schemas.microsoft.com/office/drawing/2014/main" id="{85872F57-7F42-4F97-8391-DDC8D0054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39" y="0"/>
            <a:ext cx="7094160" cy="2130952"/>
          </a:xfrm>
          <a:custGeom>
            <a:avLst/>
            <a:gdLst>
              <a:gd name="connsiteX0" fmla="*/ 4417853 w 7094160"/>
              <a:gd name="connsiteY0" fmla="*/ 0 h 2130952"/>
              <a:gd name="connsiteX1" fmla="*/ 7094160 w 7094160"/>
              <a:gd name="connsiteY1" fmla="*/ 0 h 2130952"/>
              <a:gd name="connsiteX2" fmla="*/ 7094160 w 7094160"/>
              <a:gd name="connsiteY2" fmla="*/ 2130552 h 2130952"/>
              <a:gd name="connsiteX3" fmla="*/ 5920619 w 7094160"/>
              <a:gd name="connsiteY3" fmla="*/ 2130552 h 2130952"/>
              <a:gd name="connsiteX4" fmla="*/ 5920619 w 7094160"/>
              <a:gd name="connsiteY4" fmla="*/ 2130952 h 2130952"/>
              <a:gd name="connsiteX5" fmla="*/ 2729249 w 7094160"/>
              <a:gd name="connsiteY5" fmla="*/ 2130952 h 2130952"/>
              <a:gd name="connsiteX6" fmla="*/ 2574304 w 7094160"/>
              <a:gd name="connsiteY6" fmla="*/ 2130952 h 2130952"/>
              <a:gd name="connsiteX7" fmla="*/ 0 w 7094160"/>
              <a:gd name="connsiteY7" fmla="*/ 2130952 h 2130952"/>
              <a:gd name="connsiteX8" fmla="*/ 983648 w 7094160"/>
              <a:gd name="connsiteY8" fmla="*/ 1 h 2130952"/>
              <a:gd name="connsiteX9" fmla="*/ 4417853 w 7094160"/>
              <a:gd name="connsiteY9" fmla="*/ 1 h 213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94160" h="2130952">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04DC2037-48A0-4F22-B9D4-8EAEBC780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49721" y="4682920"/>
            <a:ext cx="4522796" cy="2175080"/>
          </a:xfrm>
          <a:custGeom>
            <a:avLst/>
            <a:gdLst>
              <a:gd name="connsiteX0" fmla="*/ 3515449 w 4522796"/>
              <a:gd name="connsiteY0" fmla="*/ 0 h 2175080"/>
              <a:gd name="connsiteX1" fmla="*/ 0 w 4522796"/>
              <a:gd name="connsiteY1" fmla="*/ 0 h 2175080"/>
              <a:gd name="connsiteX2" fmla="*/ 0 w 4522796"/>
              <a:gd name="connsiteY2" fmla="*/ 2175080 h 2175080"/>
              <a:gd name="connsiteX3" fmla="*/ 4522796 w 4522796"/>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4522796" h="2175080">
                <a:moveTo>
                  <a:pt x="3515449" y="0"/>
                </a:moveTo>
                <a:lnTo>
                  <a:pt x="0" y="0"/>
                </a:lnTo>
                <a:lnTo>
                  <a:pt x="0" y="2175080"/>
                </a:lnTo>
                <a:lnTo>
                  <a:pt x="4522796" y="217508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p>
        </p:txBody>
      </p:sp>
      <p:sp>
        <p:nvSpPr>
          <p:cNvPr id="14" name="Freeform 22">
            <a:extLst>
              <a:ext uri="{FF2B5EF4-FFF2-40B4-BE49-F238E27FC236}">
                <a16:creationId xmlns:a16="http://schemas.microsoft.com/office/drawing/2014/main" id="{0006CBFD-ADA0-43D1-9332-9C34CA1C7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2920"/>
            <a:ext cx="5925190" cy="2175080"/>
          </a:xfrm>
          <a:custGeom>
            <a:avLst/>
            <a:gdLst>
              <a:gd name="connsiteX0" fmla="*/ 1007347 w 5925190"/>
              <a:gd name="connsiteY0" fmla="*/ 0 h 2175080"/>
              <a:gd name="connsiteX1" fmla="*/ 5925190 w 5925190"/>
              <a:gd name="connsiteY1" fmla="*/ 0 h 2175080"/>
              <a:gd name="connsiteX2" fmla="*/ 5925190 w 5925190"/>
              <a:gd name="connsiteY2" fmla="*/ 2175080 h 2175080"/>
              <a:gd name="connsiteX3" fmla="*/ 0 w 5925190"/>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5925190" h="2175080">
                <a:moveTo>
                  <a:pt x="1007347" y="0"/>
                </a:moveTo>
                <a:lnTo>
                  <a:pt x="5925190" y="0"/>
                </a:lnTo>
                <a:lnTo>
                  <a:pt x="5925190" y="2175080"/>
                </a:lnTo>
                <a:lnTo>
                  <a:pt x="0" y="21750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25">
            <a:extLst>
              <a:ext uri="{FF2B5EF4-FFF2-40B4-BE49-F238E27FC236}">
                <a16:creationId xmlns:a16="http://schemas.microsoft.com/office/drawing/2014/main" id="{2B931666-F28F-45F3-A074-66D2272D5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2920"/>
            <a:ext cx="7114535" cy="2175080"/>
          </a:xfrm>
          <a:custGeom>
            <a:avLst/>
            <a:gdLst>
              <a:gd name="connsiteX0" fmla="*/ 0 w 7114535"/>
              <a:gd name="connsiteY0" fmla="*/ 0 h 2175080"/>
              <a:gd name="connsiteX1" fmla="*/ 1189345 w 7114535"/>
              <a:gd name="connsiteY1" fmla="*/ 0 h 2175080"/>
              <a:gd name="connsiteX2" fmla="*/ 7114535 w 7114535"/>
              <a:gd name="connsiteY2" fmla="*/ 0 h 2175080"/>
              <a:gd name="connsiteX3" fmla="*/ 6107188 w 7114535"/>
              <a:gd name="connsiteY3" fmla="*/ 2175080 h 2175080"/>
              <a:gd name="connsiteX4" fmla="*/ 1189345 w 7114535"/>
              <a:gd name="connsiteY4" fmla="*/ 2175080 h 2175080"/>
              <a:gd name="connsiteX5" fmla="*/ 0 w 7114535"/>
              <a:gd name="connsiteY5" fmla="*/ 2175080 h 21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4535" h="217508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043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ea typeface="Calibri Light"/>
                <a:cs typeface="Calibri Light"/>
              </a:rPr>
              <a:t>What is Linear Algebra</a:t>
            </a:r>
          </a:p>
        </p:txBody>
      </p:sp>
      <p:sp>
        <p:nvSpPr>
          <p:cNvPr id="3" name="Content Placeholder 2"/>
          <p:cNvSpPr>
            <a:spLocks noGrp="1"/>
          </p:cNvSpPr>
          <p:nvPr>
            <p:ph idx="1"/>
          </p:nvPr>
        </p:nvSpPr>
        <p:spPr>
          <a:xfrm>
            <a:off x="685800" y="1119188"/>
            <a:ext cx="8260370" cy="5237162"/>
          </a:xfrm>
        </p:spPr>
        <p:txBody>
          <a:bodyPr vert="horz" lIns="91440" tIns="45720" rIns="91440" bIns="45720" rtlCol="0" anchor="t">
            <a:normAutofit/>
          </a:bodyPr>
          <a:lstStyle/>
          <a:p>
            <a:r>
              <a:rPr lang="en-US">
                <a:ea typeface="Calibri"/>
                <a:cs typeface="Calibri"/>
              </a:rPr>
              <a:t>Linear algebra is the branch of mathematics concerning linear equations such as </a:t>
            </a:r>
          </a:p>
          <a:p>
            <a:pPr lvl="1"/>
            <a:r>
              <a:rPr lang="en-US" i="1">
                <a:solidFill>
                  <a:schemeClr val="accent6">
                    <a:lumMod val="76000"/>
                  </a:schemeClr>
                </a:solidFill>
                <a:latin typeface="Calisto MT"/>
                <a:ea typeface="Calibri"/>
                <a:cs typeface="Calibri"/>
              </a:rPr>
              <a:t>a</a:t>
            </a:r>
            <a:r>
              <a:rPr lang="en-US" i="1" baseline="-25000">
                <a:solidFill>
                  <a:schemeClr val="accent6">
                    <a:lumMod val="76000"/>
                  </a:schemeClr>
                </a:solidFill>
                <a:latin typeface="Calisto MT"/>
                <a:ea typeface="Calibri"/>
                <a:cs typeface="Calibri"/>
              </a:rPr>
              <a:t>1</a:t>
            </a:r>
            <a:r>
              <a:rPr lang="en-US" i="1">
                <a:solidFill>
                  <a:schemeClr val="accent6">
                    <a:lumMod val="76000"/>
                  </a:schemeClr>
                </a:solidFill>
                <a:latin typeface="Calisto MT"/>
                <a:ea typeface="Calibri"/>
                <a:cs typeface="Calibri"/>
              </a:rPr>
              <a:t>x</a:t>
            </a:r>
            <a:r>
              <a:rPr lang="en-US" i="1" baseline="-25000">
                <a:solidFill>
                  <a:schemeClr val="accent6">
                    <a:lumMod val="76000"/>
                  </a:schemeClr>
                </a:solidFill>
                <a:latin typeface="Calisto MT"/>
                <a:ea typeface="Calibri"/>
                <a:cs typeface="Calibri"/>
              </a:rPr>
              <a:t>1</a:t>
            </a:r>
            <a:r>
              <a:rPr lang="en-US" sz="2800" i="1">
                <a:solidFill>
                  <a:schemeClr val="accent6">
                    <a:lumMod val="76000"/>
                  </a:schemeClr>
                </a:solidFill>
                <a:latin typeface="Calisto MT"/>
                <a:ea typeface="Calibri"/>
                <a:cs typeface="Calibri"/>
              </a:rPr>
              <a:t>+a</a:t>
            </a:r>
            <a:r>
              <a:rPr lang="en-US" sz="2800" i="1" baseline="-25000">
                <a:solidFill>
                  <a:schemeClr val="accent6">
                    <a:lumMod val="76000"/>
                  </a:schemeClr>
                </a:solidFill>
                <a:latin typeface="Calisto MT"/>
                <a:ea typeface="Calibri"/>
                <a:cs typeface="Calibri"/>
              </a:rPr>
              <a:t>2</a:t>
            </a:r>
            <a:r>
              <a:rPr lang="en-US" sz="2800" i="1">
                <a:solidFill>
                  <a:schemeClr val="accent6">
                    <a:lumMod val="76000"/>
                  </a:schemeClr>
                </a:solidFill>
                <a:latin typeface="Calisto MT"/>
                <a:ea typeface="Calibri"/>
                <a:cs typeface="Calibri"/>
              </a:rPr>
              <a:t>x</a:t>
            </a:r>
            <a:r>
              <a:rPr lang="en-US" sz="2800" i="1" baseline="-25000">
                <a:solidFill>
                  <a:schemeClr val="accent6">
                    <a:lumMod val="76000"/>
                  </a:schemeClr>
                </a:solidFill>
                <a:latin typeface="Calisto MT"/>
                <a:ea typeface="Calibri"/>
                <a:cs typeface="Calibri"/>
              </a:rPr>
              <a:t>2</a:t>
            </a:r>
            <a:r>
              <a:rPr lang="en-US" sz="2800" i="1">
                <a:solidFill>
                  <a:schemeClr val="accent6">
                    <a:lumMod val="76000"/>
                  </a:schemeClr>
                </a:solidFill>
                <a:latin typeface="Calisto MT"/>
                <a:ea typeface="Calibri"/>
                <a:cs typeface="Calibri"/>
              </a:rPr>
              <a:t>+ … … … +</a:t>
            </a:r>
            <a:r>
              <a:rPr lang="en-US" sz="2800" i="1" err="1">
                <a:solidFill>
                  <a:schemeClr val="accent6">
                    <a:lumMod val="76000"/>
                  </a:schemeClr>
                </a:solidFill>
                <a:latin typeface="Calisto MT"/>
                <a:ea typeface="Calibri"/>
                <a:cs typeface="Calibri"/>
              </a:rPr>
              <a:t>a</a:t>
            </a:r>
            <a:r>
              <a:rPr lang="en-US" sz="2800" i="1" baseline="-25000" err="1">
                <a:solidFill>
                  <a:schemeClr val="accent6">
                    <a:lumMod val="76000"/>
                  </a:schemeClr>
                </a:solidFill>
                <a:latin typeface="Calisto MT"/>
                <a:ea typeface="Calibri"/>
                <a:cs typeface="Calibri"/>
              </a:rPr>
              <a:t>n</a:t>
            </a:r>
            <a:r>
              <a:rPr lang="en-US" sz="2800" i="1" err="1">
                <a:solidFill>
                  <a:schemeClr val="accent6">
                    <a:lumMod val="76000"/>
                  </a:schemeClr>
                </a:solidFill>
                <a:latin typeface="Calisto MT"/>
                <a:ea typeface="Calibri"/>
                <a:cs typeface="Calibri"/>
              </a:rPr>
              <a:t>x</a:t>
            </a:r>
            <a:r>
              <a:rPr lang="en-US" sz="2800" i="1" baseline="-25000" err="1">
                <a:solidFill>
                  <a:schemeClr val="accent6">
                    <a:lumMod val="76000"/>
                  </a:schemeClr>
                </a:solidFill>
                <a:latin typeface="Calisto MT"/>
                <a:ea typeface="Calibri"/>
                <a:cs typeface="Calibri"/>
              </a:rPr>
              <a:t>n</a:t>
            </a:r>
            <a:r>
              <a:rPr lang="en-US" sz="2800" i="1">
                <a:solidFill>
                  <a:schemeClr val="accent6">
                    <a:lumMod val="76000"/>
                  </a:schemeClr>
                </a:solidFill>
                <a:latin typeface="Calisto MT"/>
                <a:ea typeface="Calibri"/>
                <a:cs typeface="Calibri"/>
              </a:rPr>
              <a:t> = b</a:t>
            </a:r>
          </a:p>
          <a:p>
            <a:pPr lvl="2"/>
            <a:r>
              <a:rPr lang="en-US">
                <a:ea typeface="Calibri"/>
                <a:cs typeface="Calibri"/>
              </a:rPr>
              <a:t>In vector notation we say </a:t>
            </a:r>
            <a:r>
              <a:rPr lang="en-US" sz="2400" i="1" err="1">
                <a:solidFill>
                  <a:srgbClr val="C00000"/>
                </a:solidFill>
                <a:latin typeface="Calisto MT"/>
                <a:ea typeface="Calibri"/>
                <a:cs typeface="Calibri"/>
              </a:rPr>
              <a:t>a</a:t>
            </a:r>
            <a:r>
              <a:rPr lang="en-US" sz="2400" i="1" baseline="30000" err="1">
                <a:solidFill>
                  <a:srgbClr val="C00000"/>
                </a:solidFill>
                <a:latin typeface="Calisto MT"/>
                <a:ea typeface="Calibri"/>
                <a:cs typeface="Calibri"/>
              </a:rPr>
              <a:t>T</a:t>
            </a:r>
            <a:r>
              <a:rPr lang="en-US" sz="2400" i="1" err="1">
                <a:solidFill>
                  <a:srgbClr val="C00000"/>
                </a:solidFill>
                <a:latin typeface="Calisto MT"/>
                <a:ea typeface="Calibri"/>
                <a:cs typeface="Calibri"/>
              </a:rPr>
              <a:t>x</a:t>
            </a:r>
            <a:r>
              <a:rPr lang="en-US" sz="2400" i="1">
                <a:solidFill>
                  <a:srgbClr val="C00000"/>
                </a:solidFill>
                <a:latin typeface="Calisto MT"/>
                <a:ea typeface="Calibri"/>
                <a:cs typeface="Calibri"/>
              </a:rPr>
              <a:t> = b</a:t>
            </a:r>
          </a:p>
          <a:p>
            <a:pPr lvl="2"/>
            <a:r>
              <a:rPr lang="en-US">
                <a:ea typeface="Calibri"/>
                <a:cs typeface="Calibri"/>
              </a:rPr>
              <a:t>Called a linear transformation of x</a:t>
            </a:r>
          </a:p>
          <a:p>
            <a:r>
              <a:rPr lang="en-US">
                <a:ea typeface="Calibri"/>
                <a:cs typeface="Calibri"/>
              </a:rPr>
              <a:t>Linear algebra is fundamental to geometry, for defining objects such as lines, planes, rotations</a:t>
            </a:r>
          </a:p>
          <a:p>
            <a:pPr lvl="1"/>
            <a:r>
              <a:rPr lang="en-US">
                <a:solidFill>
                  <a:srgbClr val="0070C0"/>
                </a:solidFill>
                <a:ea typeface="Calibri"/>
                <a:cs typeface="Calibri"/>
              </a:rPr>
              <a:t>Linear equations </a:t>
            </a:r>
            <a:r>
              <a:rPr lang="en-US" b="1" i="1" err="1">
                <a:solidFill>
                  <a:srgbClr val="C00000"/>
                </a:solidFill>
                <a:latin typeface="Calisto MT"/>
                <a:ea typeface="Calibri"/>
                <a:cs typeface="Calibri"/>
              </a:rPr>
              <a:t>a</a:t>
            </a:r>
            <a:r>
              <a:rPr lang="en-US" b="1" i="1" baseline="30000" err="1">
                <a:solidFill>
                  <a:srgbClr val="C00000"/>
                </a:solidFill>
                <a:latin typeface="Calisto MT"/>
                <a:ea typeface="Calibri"/>
                <a:cs typeface="Calibri"/>
              </a:rPr>
              <a:t>T</a:t>
            </a:r>
            <a:r>
              <a:rPr lang="en-US" b="1" i="1" err="1">
                <a:solidFill>
                  <a:srgbClr val="C00000"/>
                </a:solidFill>
                <a:latin typeface="Calisto MT"/>
                <a:ea typeface="Calibri"/>
                <a:cs typeface="Calibri"/>
              </a:rPr>
              <a:t>x</a:t>
            </a:r>
            <a:r>
              <a:rPr lang="en-US" b="1" i="1">
                <a:solidFill>
                  <a:srgbClr val="C00000"/>
                </a:solidFill>
                <a:latin typeface="Calisto MT"/>
                <a:ea typeface="Calibri"/>
                <a:cs typeface="Calibri"/>
              </a:rPr>
              <a:t> = b</a:t>
            </a:r>
            <a:r>
              <a:rPr lang="en-US">
                <a:solidFill>
                  <a:srgbClr val="0070C0"/>
                </a:solidFill>
                <a:ea typeface="Calibri"/>
                <a:cs typeface="Calibri"/>
              </a:rPr>
              <a:t> defines a plane in </a:t>
            </a:r>
            <a:r>
              <a:rPr lang="en-US" i="1">
                <a:solidFill>
                  <a:srgbClr val="C00000"/>
                </a:solidFill>
                <a:latin typeface="Calisto MT"/>
                <a:ea typeface="Calibri"/>
                <a:cs typeface="Calibri"/>
              </a:rPr>
              <a:t>(x</a:t>
            </a:r>
            <a:r>
              <a:rPr lang="en-US" i="1" baseline="-25000">
                <a:solidFill>
                  <a:srgbClr val="C00000"/>
                </a:solidFill>
                <a:latin typeface="Calisto MT"/>
                <a:ea typeface="Calibri"/>
                <a:cs typeface="Calibri"/>
              </a:rPr>
              <a:t>1</a:t>
            </a:r>
            <a:r>
              <a:rPr lang="en-US" i="1">
                <a:solidFill>
                  <a:srgbClr val="C00000"/>
                </a:solidFill>
                <a:latin typeface="Calisto MT"/>
                <a:ea typeface="Calibri"/>
                <a:cs typeface="Calibri"/>
              </a:rPr>
              <a:t>,x</a:t>
            </a:r>
            <a:r>
              <a:rPr lang="en-US" i="1" baseline="-25000">
                <a:solidFill>
                  <a:srgbClr val="C00000"/>
                </a:solidFill>
                <a:latin typeface="Calisto MT"/>
                <a:ea typeface="Calibri"/>
                <a:cs typeface="Calibri"/>
              </a:rPr>
              <a:t>2</a:t>
            </a:r>
            <a:r>
              <a:rPr lang="en-US" i="1">
                <a:solidFill>
                  <a:srgbClr val="C00000"/>
                </a:solidFill>
                <a:latin typeface="Calisto MT"/>
                <a:ea typeface="Calibri"/>
                <a:cs typeface="Calibri"/>
              </a:rPr>
              <a:t>,… …,</a:t>
            </a:r>
            <a:r>
              <a:rPr lang="en-US" i="1" err="1">
                <a:solidFill>
                  <a:srgbClr val="C00000"/>
                </a:solidFill>
                <a:latin typeface="Calisto MT"/>
                <a:ea typeface="Calibri"/>
                <a:cs typeface="Calibri"/>
              </a:rPr>
              <a:t>x</a:t>
            </a:r>
            <a:r>
              <a:rPr lang="en-US" i="1" baseline="-25000" err="1">
                <a:solidFill>
                  <a:srgbClr val="C00000"/>
                </a:solidFill>
                <a:latin typeface="Calisto MT"/>
                <a:ea typeface="Calibri"/>
                <a:cs typeface="Calibri"/>
              </a:rPr>
              <a:t>n</a:t>
            </a:r>
            <a:r>
              <a:rPr lang="en-US" i="1">
                <a:solidFill>
                  <a:srgbClr val="C00000"/>
                </a:solidFill>
                <a:latin typeface="Calisto MT"/>
                <a:ea typeface="Calibri"/>
                <a:cs typeface="Calibri"/>
              </a:rPr>
              <a:t>)</a:t>
            </a:r>
            <a:r>
              <a:rPr lang="en-US">
                <a:solidFill>
                  <a:srgbClr val="0070C0"/>
                </a:solidFill>
                <a:ea typeface="Calibri"/>
                <a:cs typeface="Calibri"/>
              </a:rPr>
              <a:t> space </a:t>
            </a:r>
          </a:p>
          <a:p>
            <a:pPr lvl="1"/>
            <a:r>
              <a:rPr lang="en-US">
                <a:solidFill>
                  <a:srgbClr val="0070C0"/>
                </a:solidFill>
                <a:ea typeface="Calibri"/>
                <a:cs typeface="Calibri"/>
              </a:rPr>
              <a:t>Straight lines define common solutions to equations</a:t>
            </a:r>
          </a:p>
        </p:txBody>
      </p:sp>
      <p:pic>
        <p:nvPicPr>
          <p:cNvPr id="4" name="Picture 3" descr="A colorful cube with a blue line&#10;&#10;AI-generated content may be incorrect.">
            <a:extLst>
              <a:ext uri="{FF2B5EF4-FFF2-40B4-BE49-F238E27FC236}">
                <a16:creationId xmlns:a16="http://schemas.microsoft.com/office/drawing/2014/main" id="{09115AB4-2843-8406-0928-E7FE371904FE}"/>
              </a:ext>
            </a:extLst>
          </p:cNvPr>
          <p:cNvPicPr>
            <a:picLocks noChangeAspect="1"/>
          </p:cNvPicPr>
          <p:nvPr/>
        </p:nvPicPr>
        <p:blipFill>
          <a:blip r:embed="rId2"/>
          <a:stretch>
            <a:fillRect/>
          </a:stretch>
        </p:blipFill>
        <p:spPr>
          <a:xfrm>
            <a:off x="7157757" y="1699372"/>
            <a:ext cx="2381250" cy="1733550"/>
          </a:xfrm>
          <a:prstGeom prst="rect">
            <a:avLst/>
          </a:prstGeom>
        </p:spPr>
      </p:pic>
    </p:spTree>
    <p:extLst>
      <p:ext uri="{BB962C8B-B14F-4D97-AF65-F5344CB8AC3E}">
        <p14:creationId xmlns:p14="http://schemas.microsoft.com/office/powerpoint/2010/main" val="4018786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54B2-170C-5C0B-7736-9FCF20F963C3}"/>
              </a:ext>
            </a:extLst>
          </p:cNvPr>
          <p:cNvSpPr>
            <a:spLocks noGrp="1"/>
          </p:cNvSpPr>
          <p:nvPr>
            <p:ph type="title"/>
          </p:nvPr>
        </p:nvSpPr>
        <p:spPr/>
        <p:txBody>
          <a:bodyPr>
            <a:normAutofit fontScale="90000"/>
          </a:bodyPr>
          <a:lstStyle/>
          <a:p>
            <a:r>
              <a:rPr lang="en-US">
                <a:ea typeface="Calibri Light"/>
                <a:cs typeface="Calibri Light"/>
              </a:rPr>
              <a:t>Why Linear Algebra?</a:t>
            </a:r>
            <a:endParaRPr lang="en-US"/>
          </a:p>
        </p:txBody>
      </p:sp>
      <p:sp>
        <p:nvSpPr>
          <p:cNvPr id="3" name="Content Placeholder 2">
            <a:extLst>
              <a:ext uri="{FF2B5EF4-FFF2-40B4-BE49-F238E27FC236}">
                <a16:creationId xmlns:a16="http://schemas.microsoft.com/office/drawing/2014/main" id="{A8D7D0DA-841D-12C3-AD60-4CED8FA654EF}"/>
              </a:ext>
            </a:extLst>
          </p:cNvPr>
          <p:cNvSpPr>
            <a:spLocks noGrp="1"/>
          </p:cNvSpPr>
          <p:nvPr>
            <p:ph idx="1"/>
          </p:nvPr>
        </p:nvSpPr>
        <p:spPr/>
        <p:txBody>
          <a:bodyPr vert="horz" lIns="91440" tIns="45720" rIns="91440" bIns="45720" rtlCol="0" anchor="t">
            <a:normAutofit/>
          </a:bodyPr>
          <a:lstStyle/>
          <a:p>
            <a:r>
              <a:rPr lang="en-US">
                <a:ea typeface="Calibri"/>
                <a:cs typeface="Calibri"/>
              </a:rPr>
              <a:t>Linear Algebra is used throughout engineering</a:t>
            </a:r>
          </a:p>
          <a:p>
            <a:pPr lvl="1"/>
            <a:r>
              <a:rPr lang="en-US">
                <a:solidFill>
                  <a:schemeClr val="accent6">
                    <a:lumMod val="76000"/>
                  </a:schemeClr>
                </a:solidFill>
                <a:ea typeface="Calibri"/>
                <a:cs typeface="Calibri"/>
              </a:rPr>
              <a:t>Because it is based on continuous math rather than discrete math</a:t>
            </a:r>
          </a:p>
          <a:p>
            <a:pPr lvl="1"/>
            <a:r>
              <a:rPr lang="en-US">
                <a:solidFill>
                  <a:schemeClr val="accent6">
                    <a:lumMod val="76000"/>
                  </a:schemeClr>
                </a:solidFill>
                <a:ea typeface="Calibri"/>
                <a:cs typeface="Calibri"/>
              </a:rPr>
              <a:t>Traditional CS curriculum embracing it increasingly</a:t>
            </a:r>
          </a:p>
          <a:p>
            <a:r>
              <a:rPr lang="en-US">
                <a:ea typeface="Calibri"/>
                <a:cs typeface="Calibri"/>
              </a:rPr>
              <a:t>Essential for understanding ML algorithms</a:t>
            </a:r>
          </a:p>
          <a:p>
            <a:pPr lvl="1"/>
            <a:r>
              <a:rPr lang="en-US">
                <a:solidFill>
                  <a:schemeClr val="accent6">
                    <a:lumMod val="76000"/>
                  </a:schemeClr>
                </a:solidFill>
                <a:ea typeface="Calibri"/>
                <a:cs typeface="Calibri"/>
              </a:rPr>
              <a:t>We convert input vectors </a:t>
            </a:r>
            <a:r>
              <a:rPr lang="en-US">
                <a:solidFill>
                  <a:srgbClr val="C00000"/>
                </a:solidFill>
                <a:ea typeface="Calibri"/>
                <a:cs typeface="Calibri"/>
              </a:rPr>
              <a:t>(</a:t>
            </a:r>
            <a:r>
              <a:rPr lang="en-US" sz="2800" i="1">
                <a:solidFill>
                  <a:srgbClr val="C00000"/>
                </a:solidFill>
                <a:latin typeface="Calisto MT"/>
                <a:ea typeface="Calibri"/>
                <a:cs typeface="Calibri"/>
              </a:rPr>
              <a:t>x</a:t>
            </a:r>
            <a:r>
              <a:rPr lang="en-US" sz="2800" i="1" baseline="-25000">
                <a:solidFill>
                  <a:srgbClr val="C00000"/>
                </a:solidFill>
                <a:latin typeface="Calisto MT"/>
                <a:ea typeface="Calibri"/>
                <a:cs typeface="Calibri"/>
              </a:rPr>
              <a:t>1</a:t>
            </a:r>
            <a:r>
              <a:rPr lang="en-US" sz="2800" i="1">
                <a:solidFill>
                  <a:srgbClr val="C00000"/>
                </a:solidFill>
                <a:latin typeface="Calisto MT"/>
                <a:ea typeface="Calibri"/>
                <a:cs typeface="Calibri"/>
              </a:rPr>
              <a:t>, x</a:t>
            </a:r>
            <a:r>
              <a:rPr lang="en-US" sz="2800" i="1" baseline="-25000">
                <a:solidFill>
                  <a:srgbClr val="C00000"/>
                </a:solidFill>
                <a:latin typeface="Calisto MT"/>
                <a:ea typeface="Calibri"/>
                <a:cs typeface="Calibri"/>
              </a:rPr>
              <a:t>2</a:t>
            </a:r>
            <a:r>
              <a:rPr lang="en-US" sz="2800" i="1">
                <a:solidFill>
                  <a:srgbClr val="C00000"/>
                </a:solidFill>
                <a:latin typeface="Calisto MT"/>
                <a:ea typeface="Calibri"/>
                <a:cs typeface="Calibri"/>
              </a:rPr>
              <a:t>, … …, </a:t>
            </a:r>
            <a:r>
              <a:rPr lang="en-US" sz="2800" i="1" err="1">
                <a:solidFill>
                  <a:srgbClr val="C00000"/>
                </a:solidFill>
                <a:latin typeface="Calisto MT"/>
                <a:ea typeface="Calibri"/>
                <a:cs typeface="Calibri"/>
              </a:rPr>
              <a:t>x</a:t>
            </a:r>
            <a:r>
              <a:rPr lang="en-US" sz="2800" i="1" baseline="-25000" err="1">
                <a:solidFill>
                  <a:srgbClr val="C00000"/>
                </a:solidFill>
                <a:latin typeface="Calisto MT"/>
                <a:ea typeface="Calibri"/>
                <a:cs typeface="Calibri"/>
              </a:rPr>
              <a:t>n</a:t>
            </a:r>
            <a:r>
              <a:rPr lang="en-US">
                <a:solidFill>
                  <a:srgbClr val="C00000"/>
                </a:solidFill>
                <a:ea typeface="Calibri"/>
                <a:cs typeface="Calibri"/>
              </a:rPr>
              <a:t>)</a:t>
            </a:r>
            <a:r>
              <a:rPr lang="en-US">
                <a:solidFill>
                  <a:schemeClr val="accent6">
                    <a:lumMod val="76000"/>
                  </a:schemeClr>
                </a:solidFill>
                <a:ea typeface="Calibri"/>
                <a:cs typeface="Calibri"/>
              </a:rPr>
              <a:t> into outputs by a series of linear transformation</a:t>
            </a:r>
          </a:p>
          <a:p>
            <a:r>
              <a:rPr lang="en-US">
                <a:ea typeface="Calibri"/>
                <a:cs typeface="Calibri"/>
              </a:rPr>
              <a:t>In this course we discuss</a:t>
            </a:r>
          </a:p>
          <a:p>
            <a:pPr lvl="1"/>
            <a:r>
              <a:rPr lang="en-US">
                <a:solidFill>
                  <a:schemeClr val="accent6">
                    <a:lumMod val="76000"/>
                  </a:schemeClr>
                </a:solidFill>
                <a:ea typeface="Calibri"/>
                <a:cs typeface="Calibri"/>
              </a:rPr>
              <a:t>Concepts of linear algebra needed for ML</a:t>
            </a:r>
          </a:p>
          <a:p>
            <a:pPr lvl="1"/>
            <a:r>
              <a:rPr lang="en-US">
                <a:solidFill>
                  <a:schemeClr val="accent6">
                    <a:lumMod val="76000"/>
                  </a:schemeClr>
                </a:solidFill>
                <a:ea typeface="Calibri"/>
                <a:cs typeface="Calibri"/>
              </a:rPr>
              <a:t>Omit other aspects of linear algebra</a:t>
            </a:r>
          </a:p>
        </p:txBody>
      </p:sp>
    </p:spTree>
    <p:extLst>
      <p:ext uri="{BB962C8B-B14F-4D97-AF65-F5344CB8AC3E}">
        <p14:creationId xmlns:p14="http://schemas.microsoft.com/office/powerpoint/2010/main" val="111695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29735-3D24-67E8-4C75-C354C6B80350}"/>
              </a:ext>
            </a:extLst>
          </p:cNvPr>
          <p:cNvSpPr>
            <a:spLocks noGrp="1"/>
          </p:cNvSpPr>
          <p:nvPr>
            <p:ph type="title"/>
          </p:nvPr>
        </p:nvSpPr>
        <p:spPr/>
        <p:txBody>
          <a:bodyPr>
            <a:normAutofit fontScale="90000"/>
          </a:bodyPr>
          <a:lstStyle/>
          <a:p>
            <a:r>
              <a:rPr lang="en-US">
                <a:ea typeface="Calibri Light"/>
                <a:cs typeface="Calibri Light"/>
              </a:rPr>
              <a:t>Topics Covered</a:t>
            </a:r>
            <a:endParaRPr lang="en-US"/>
          </a:p>
        </p:txBody>
      </p:sp>
      <p:sp>
        <p:nvSpPr>
          <p:cNvPr id="3" name="Content Placeholder 2">
            <a:extLst>
              <a:ext uri="{FF2B5EF4-FFF2-40B4-BE49-F238E27FC236}">
                <a16:creationId xmlns:a16="http://schemas.microsoft.com/office/drawing/2014/main" id="{21CF9568-2FEB-85AF-0041-68E3B2627B94}"/>
              </a:ext>
            </a:extLst>
          </p:cNvPr>
          <p:cNvSpPr>
            <a:spLocks noGrp="1"/>
          </p:cNvSpPr>
          <p:nvPr>
            <p:ph idx="1"/>
          </p:nvPr>
        </p:nvSpPr>
        <p:spPr/>
        <p:txBody>
          <a:bodyPr vert="horz" lIns="91440" tIns="45720" rIns="91440" bIns="45720" rtlCol="0" anchor="t">
            <a:normAutofit/>
          </a:bodyPr>
          <a:lstStyle/>
          <a:p>
            <a:r>
              <a:rPr lang="en-US" dirty="0">
                <a:ea typeface="Calibri"/>
                <a:cs typeface="Calibri"/>
              </a:rPr>
              <a:t>Scalars, Vectors, Matrices, Tensors</a:t>
            </a:r>
          </a:p>
          <a:p>
            <a:r>
              <a:rPr lang="en-US" dirty="0">
                <a:ea typeface="Calibri"/>
                <a:cs typeface="Calibri"/>
              </a:rPr>
              <a:t>Matrix &amp; Vector multiplication</a:t>
            </a:r>
            <a:endParaRPr lang="en-US" dirty="0"/>
          </a:p>
          <a:p>
            <a:r>
              <a:rPr lang="en-US" dirty="0">
                <a:ea typeface="Calibri"/>
                <a:cs typeface="Calibri"/>
              </a:rPr>
              <a:t>Linear dependence &amp; Span</a:t>
            </a:r>
            <a:endParaRPr lang="en-US" dirty="0"/>
          </a:p>
          <a:p>
            <a:r>
              <a:rPr lang="en-US" dirty="0">
                <a:ea typeface="Calibri"/>
                <a:cs typeface="Calibri"/>
              </a:rPr>
              <a:t>Norms</a:t>
            </a:r>
            <a:endParaRPr lang="en-US" dirty="0"/>
          </a:p>
          <a:p>
            <a:r>
              <a:rPr lang="en-US" dirty="0">
                <a:ea typeface="Calibri"/>
                <a:cs typeface="Calibri"/>
              </a:rPr>
              <a:t>Special matrices/vectors</a:t>
            </a:r>
            <a:endParaRPr lang="en-US" dirty="0"/>
          </a:p>
          <a:p>
            <a:r>
              <a:rPr lang="en-US" dirty="0">
                <a:ea typeface="Calibri"/>
                <a:cs typeface="Calibri"/>
              </a:rPr>
              <a:t>Eigen decomposition</a:t>
            </a:r>
            <a:endParaRPr lang="en-US" dirty="0"/>
          </a:p>
          <a:p>
            <a:r>
              <a:rPr lang="en-US" dirty="0">
                <a:ea typeface="Calibri"/>
                <a:cs typeface="Calibri"/>
              </a:rPr>
              <a:t>Singular Value Decomposition (SVD)</a:t>
            </a:r>
            <a:endParaRPr lang="en-US" dirty="0"/>
          </a:p>
          <a:p>
            <a:r>
              <a:rPr lang="en-US" dirty="0">
                <a:ea typeface="Calibri"/>
                <a:cs typeface="Calibri"/>
              </a:rPr>
              <a:t>Moore–Penrose pseudoinverse</a:t>
            </a:r>
            <a:endParaRPr lang="en-US" dirty="0"/>
          </a:p>
          <a:p>
            <a:r>
              <a:rPr lang="en-US" dirty="0">
                <a:ea typeface="Calibri"/>
                <a:cs typeface="Calibri"/>
              </a:rPr>
              <a:t>Trace &amp; Determinant</a:t>
            </a:r>
            <a:endParaRPr lang="en-US" dirty="0"/>
          </a:p>
          <a:p>
            <a:r>
              <a:rPr lang="en-US" dirty="0">
                <a:ea typeface="Calibri"/>
                <a:cs typeface="Calibri"/>
              </a:rPr>
              <a:t>Example: Principal Components Analysis (PCA)</a:t>
            </a:r>
            <a:endParaRPr lang="en-US" dirty="0"/>
          </a:p>
          <a:p>
            <a:endParaRPr lang="en-US">
              <a:ea typeface="Calibri"/>
              <a:cs typeface="Calibri"/>
            </a:endParaRPr>
          </a:p>
        </p:txBody>
      </p:sp>
    </p:spTree>
    <p:extLst>
      <p:ext uri="{BB962C8B-B14F-4D97-AF65-F5344CB8AC3E}">
        <p14:creationId xmlns:p14="http://schemas.microsoft.com/office/powerpoint/2010/main" val="884456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EF0C-82C4-5F15-7B8C-917AB9DA9BEE}"/>
              </a:ext>
            </a:extLst>
          </p:cNvPr>
          <p:cNvSpPr>
            <a:spLocks noGrp="1"/>
          </p:cNvSpPr>
          <p:nvPr>
            <p:ph type="title"/>
          </p:nvPr>
        </p:nvSpPr>
        <p:spPr/>
        <p:txBody>
          <a:bodyPr>
            <a:normAutofit fontScale="90000"/>
          </a:bodyPr>
          <a:lstStyle/>
          <a:p>
            <a:r>
              <a:rPr lang="en-US">
                <a:ea typeface="Calibri Light"/>
                <a:cs typeface="Calibri Light"/>
              </a:rPr>
              <a:t>Key concepts: Scalar</a:t>
            </a:r>
            <a:endParaRPr lang="en-US"/>
          </a:p>
        </p:txBody>
      </p:sp>
      <p:sp>
        <p:nvSpPr>
          <p:cNvPr id="3" name="Content Placeholder 2">
            <a:extLst>
              <a:ext uri="{FF2B5EF4-FFF2-40B4-BE49-F238E27FC236}">
                <a16:creationId xmlns:a16="http://schemas.microsoft.com/office/drawing/2014/main" id="{A9B42D34-AFF0-A475-DA64-E39D08403430}"/>
              </a:ext>
            </a:extLst>
          </p:cNvPr>
          <p:cNvSpPr>
            <a:spLocks noGrp="1"/>
          </p:cNvSpPr>
          <p:nvPr>
            <p:ph idx="1"/>
          </p:nvPr>
        </p:nvSpPr>
        <p:spPr/>
        <p:txBody>
          <a:bodyPr vert="horz" lIns="91440" tIns="45720" rIns="91440" bIns="45720" rtlCol="0" anchor="t">
            <a:normAutofit/>
          </a:bodyPr>
          <a:lstStyle/>
          <a:p>
            <a:r>
              <a:rPr lang="en-US">
                <a:ea typeface="Calibri"/>
                <a:cs typeface="Calibri"/>
              </a:rPr>
              <a:t>Single number</a:t>
            </a:r>
          </a:p>
          <a:p>
            <a:pPr lvl="1"/>
            <a:r>
              <a:rPr lang="en-US">
                <a:solidFill>
                  <a:schemeClr val="accent6">
                    <a:lumMod val="76000"/>
                  </a:schemeClr>
                </a:solidFill>
                <a:ea typeface="Calibri"/>
                <a:cs typeface="Calibri"/>
              </a:rPr>
              <a:t>Just a number</a:t>
            </a:r>
          </a:p>
          <a:p>
            <a:pPr lvl="2"/>
            <a:r>
              <a:rPr lang="en-US">
                <a:ea typeface="Calibri"/>
                <a:cs typeface="Calibri"/>
              </a:rPr>
              <a:t>In contrast to other objects in linear algebra, which are usually arrays of numbers</a:t>
            </a:r>
          </a:p>
          <a:p>
            <a:r>
              <a:rPr lang="en-US">
                <a:ea typeface="Calibri"/>
                <a:cs typeface="Calibri"/>
              </a:rPr>
              <a:t>Represented in lower-case italic x</a:t>
            </a:r>
          </a:p>
          <a:p>
            <a:pPr lvl="1"/>
            <a:r>
              <a:rPr lang="en-US">
                <a:solidFill>
                  <a:schemeClr val="accent6">
                    <a:lumMod val="76000"/>
                  </a:schemeClr>
                </a:solidFill>
                <a:ea typeface="Calibri"/>
                <a:cs typeface="Calibri"/>
              </a:rPr>
              <a:t>They can be real-valued or be integers</a:t>
            </a:r>
          </a:p>
          <a:p>
            <a:pPr lvl="2"/>
            <a:r>
              <a:rPr lang="en-US">
                <a:solidFill>
                  <a:srgbClr val="0070C0"/>
                </a:solidFill>
                <a:ea typeface="Calibri"/>
                <a:cs typeface="Calibri"/>
              </a:rPr>
              <a:t>Let </a:t>
            </a:r>
            <a:r>
              <a:rPr lang="en-US">
                <a:solidFill>
                  <a:srgbClr val="C00000"/>
                </a:solidFill>
                <a:ea typeface="Calibri"/>
                <a:cs typeface="Calibri"/>
              </a:rPr>
              <a:t>𝒙 </a:t>
            </a:r>
            <a:r>
              <a:rPr lang="en-US" sz="2800">
                <a:solidFill>
                  <a:srgbClr val="C00000"/>
                </a:solidFill>
                <a:ea typeface="Calibri"/>
                <a:cs typeface="Calibri"/>
              </a:rPr>
              <a:t>ε</a:t>
            </a:r>
            <a:r>
              <a:rPr lang="en-US">
                <a:solidFill>
                  <a:srgbClr val="C00000"/>
                </a:solidFill>
                <a:ea typeface="Calibri"/>
                <a:cs typeface="Calibri"/>
              </a:rPr>
              <a:t> 𝓡</a:t>
            </a:r>
            <a:r>
              <a:rPr lang="en-US">
                <a:solidFill>
                  <a:srgbClr val="0070C0"/>
                </a:solidFill>
                <a:ea typeface="Calibri"/>
                <a:cs typeface="Calibri"/>
              </a:rPr>
              <a:t> be the slope of the line</a:t>
            </a:r>
          </a:p>
          <a:p>
            <a:pPr lvl="3"/>
            <a:r>
              <a:rPr lang="en-US">
                <a:solidFill>
                  <a:srgbClr val="7030A0"/>
                </a:solidFill>
                <a:ea typeface="Calibri"/>
                <a:cs typeface="Calibri"/>
              </a:rPr>
              <a:t>Defining a real valued scalar</a:t>
            </a:r>
          </a:p>
          <a:p>
            <a:pPr lvl="2"/>
            <a:r>
              <a:rPr lang="en-US">
                <a:solidFill>
                  <a:srgbClr val="0070C0"/>
                </a:solidFill>
                <a:ea typeface="Calibri"/>
                <a:cs typeface="Calibri"/>
              </a:rPr>
              <a:t>Let  </a:t>
            </a:r>
            <a:r>
              <a:rPr lang="en-US">
                <a:solidFill>
                  <a:srgbClr val="C00000"/>
                </a:solidFill>
                <a:ea typeface="+mn-lt"/>
                <a:cs typeface="+mn-lt"/>
              </a:rPr>
              <a:t>𝝶</a:t>
            </a:r>
            <a:r>
              <a:rPr lang="en-US">
                <a:solidFill>
                  <a:srgbClr val="C00000"/>
                </a:solidFill>
                <a:ea typeface="Calibri"/>
                <a:cs typeface="Calibri"/>
              </a:rPr>
              <a:t> </a:t>
            </a:r>
            <a:r>
              <a:rPr lang="en-US" sz="2800">
                <a:solidFill>
                  <a:srgbClr val="C00000"/>
                </a:solidFill>
                <a:ea typeface="Calibri"/>
                <a:cs typeface="Calibri"/>
              </a:rPr>
              <a:t>ε </a:t>
            </a:r>
            <a:r>
              <a:rPr lang="en-US">
                <a:solidFill>
                  <a:srgbClr val="C00000"/>
                </a:solidFill>
                <a:ea typeface="Calibri"/>
                <a:cs typeface="Calibri"/>
              </a:rPr>
              <a:t>𝓝</a:t>
            </a:r>
            <a:r>
              <a:rPr lang="en-US">
                <a:solidFill>
                  <a:srgbClr val="0070C0"/>
                </a:solidFill>
                <a:ea typeface="Calibri"/>
                <a:cs typeface="Calibri"/>
              </a:rPr>
              <a:t> be the number of units</a:t>
            </a:r>
          </a:p>
          <a:p>
            <a:pPr lvl="3"/>
            <a:r>
              <a:rPr lang="en-US">
                <a:solidFill>
                  <a:srgbClr val="7030A0"/>
                </a:solidFill>
                <a:ea typeface="Calibri"/>
                <a:cs typeface="Calibri"/>
              </a:rPr>
              <a:t>Defining a natural number scalar</a:t>
            </a:r>
          </a:p>
        </p:txBody>
      </p:sp>
    </p:spTree>
    <p:extLst>
      <p:ext uri="{BB962C8B-B14F-4D97-AF65-F5344CB8AC3E}">
        <p14:creationId xmlns:p14="http://schemas.microsoft.com/office/powerpoint/2010/main" val="3171193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BC3D6-FA0E-95A5-F964-89C800F80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02E4C-CF7C-3EB4-E86A-25573835074F}"/>
              </a:ext>
            </a:extLst>
          </p:cNvPr>
          <p:cNvSpPr>
            <a:spLocks noGrp="1"/>
          </p:cNvSpPr>
          <p:nvPr>
            <p:ph type="title"/>
          </p:nvPr>
        </p:nvSpPr>
        <p:spPr/>
        <p:txBody>
          <a:bodyPr>
            <a:normAutofit fontScale="90000"/>
          </a:bodyPr>
          <a:lstStyle/>
          <a:p>
            <a:r>
              <a:rPr lang="en-US">
                <a:ea typeface="Calibri Light"/>
                <a:cs typeface="Calibri Light"/>
              </a:rPr>
              <a:t>Key concepts: Vectors</a:t>
            </a:r>
            <a:endParaRPr lang="en-US"/>
          </a:p>
        </p:txBody>
      </p:sp>
      <p:sp>
        <p:nvSpPr>
          <p:cNvPr id="3" name="Content Placeholder 2">
            <a:extLst>
              <a:ext uri="{FF2B5EF4-FFF2-40B4-BE49-F238E27FC236}">
                <a16:creationId xmlns:a16="http://schemas.microsoft.com/office/drawing/2014/main" id="{88EB33CB-A8F8-813A-0608-2140073172AD}"/>
              </a:ext>
            </a:extLst>
          </p:cNvPr>
          <p:cNvSpPr>
            <a:spLocks noGrp="1"/>
          </p:cNvSpPr>
          <p:nvPr>
            <p:ph idx="1"/>
          </p:nvPr>
        </p:nvSpPr>
        <p:spPr/>
        <p:txBody>
          <a:bodyPr vert="horz" lIns="91440" tIns="45720" rIns="91440" bIns="45720" rtlCol="0" anchor="t">
            <a:normAutofit/>
          </a:bodyPr>
          <a:lstStyle/>
          <a:p>
            <a:r>
              <a:rPr lang="en-US">
                <a:ea typeface="Calibri"/>
                <a:cs typeface="Calibri"/>
              </a:rPr>
              <a:t>An array of numbers arranged in order</a:t>
            </a:r>
          </a:p>
          <a:p>
            <a:r>
              <a:rPr lang="en-US">
                <a:ea typeface="Calibri"/>
                <a:cs typeface="Calibri"/>
              </a:rPr>
              <a:t>Each number identified by an index</a:t>
            </a:r>
          </a:p>
          <a:p>
            <a:r>
              <a:rPr lang="en-US">
                <a:ea typeface="Calibri"/>
                <a:cs typeface="Calibri"/>
              </a:rPr>
              <a:t>Written in lower-case bold such as x</a:t>
            </a:r>
          </a:p>
          <a:p>
            <a:pPr lvl="1"/>
            <a:r>
              <a:rPr lang="en-US">
                <a:solidFill>
                  <a:schemeClr val="accent6">
                    <a:lumMod val="76000"/>
                  </a:schemeClr>
                </a:solidFill>
                <a:ea typeface="Calibri"/>
                <a:cs typeface="Calibri"/>
              </a:rPr>
              <a:t>Its elements are in italics lower case subscripted </a:t>
            </a:r>
          </a:p>
          <a:p>
            <a:r>
              <a:rPr lang="en-US">
                <a:ea typeface="Calibri"/>
                <a:cs typeface="Calibri"/>
              </a:rPr>
              <a:t>If each element is in R then x is in R</a:t>
            </a:r>
            <a:r>
              <a:rPr lang="en-US" baseline="30000">
                <a:ea typeface="Calibri"/>
                <a:cs typeface="Calibri"/>
              </a:rPr>
              <a:t>n</a:t>
            </a:r>
            <a:r>
              <a:rPr lang="en-US">
                <a:ea typeface="Calibri"/>
                <a:cs typeface="Calibri"/>
              </a:rPr>
              <a:t> </a:t>
            </a:r>
          </a:p>
          <a:p>
            <a:r>
              <a:rPr lang="en-US">
                <a:ea typeface="Calibri"/>
                <a:cs typeface="Calibri"/>
              </a:rPr>
              <a:t>We can think of vectors as points in space</a:t>
            </a:r>
          </a:p>
          <a:p>
            <a:pPr lvl="1"/>
            <a:r>
              <a:rPr lang="en-US">
                <a:solidFill>
                  <a:schemeClr val="accent6">
                    <a:lumMod val="76000"/>
                  </a:schemeClr>
                </a:solidFill>
                <a:ea typeface="+mn-lt"/>
                <a:cs typeface="+mn-lt"/>
              </a:rPr>
              <a:t>Each element gives coordinate along an axis</a:t>
            </a:r>
            <a:endParaRPr lang="en-US">
              <a:solidFill>
                <a:schemeClr val="accent6">
                  <a:lumMod val="76000"/>
                </a:schemeClr>
              </a:solidFill>
              <a:ea typeface="Calibri"/>
              <a:cs typeface="Calibri"/>
            </a:endParaRPr>
          </a:p>
        </p:txBody>
      </p:sp>
      <p:pic>
        <p:nvPicPr>
          <p:cNvPr id="4" name="Picture 3" descr="A rectangular object with black text&#10;&#10;AI-generated content may be incorrect.">
            <a:extLst>
              <a:ext uri="{FF2B5EF4-FFF2-40B4-BE49-F238E27FC236}">
                <a16:creationId xmlns:a16="http://schemas.microsoft.com/office/drawing/2014/main" id="{612BF294-DF60-6C52-2CE6-3CBA2927C214}"/>
              </a:ext>
            </a:extLst>
          </p:cNvPr>
          <p:cNvPicPr>
            <a:picLocks noChangeAspect="1"/>
          </p:cNvPicPr>
          <p:nvPr/>
        </p:nvPicPr>
        <p:blipFill>
          <a:blip r:embed="rId2"/>
          <a:stretch>
            <a:fillRect/>
          </a:stretch>
        </p:blipFill>
        <p:spPr>
          <a:xfrm>
            <a:off x="8109152" y="1279745"/>
            <a:ext cx="2133600" cy="3943350"/>
          </a:xfrm>
          <a:prstGeom prst="rect">
            <a:avLst/>
          </a:prstGeom>
        </p:spPr>
      </p:pic>
    </p:spTree>
    <p:extLst>
      <p:ext uri="{BB962C8B-B14F-4D97-AF65-F5344CB8AC3E}">
        <p14:creationId xmlns:p14="http://schemas.microsoft.com/office/powerpoint/2010/main" val="814908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22C55-5830-F4F8-DCD7-730CC4A9D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4E9C5-803F-9AF0-83FF-10F86E96BB44}"/>
              </a:ext>
            </a:extLst>
          </p:cNvPr>
          <p:cNvSpPr>
            <a:spLocks noGrp="1"/>
          </p:cNvSpPr>
          <p:nvPr>
            <p:ph type="title"/>
          </p:nvPr>
        </p:nvSpPr>
        <p:spPr/>
        <p:txBody>
          <a:bodyPr>
            <a:normAutofit fontScale="90000"/>
          </a:bodyPr>
          <a:lstStyle/>
          <a:p>
            <a:r>
              <a:rPr lang="en-US">
                <a:ea typeface="Calibri Light"/>
                <a:cs typeface="Calibri Light"/>
              </a:rPr>
              <a:t>Key concepts: Matrices</a:t>
            </a:r>
            <a:endParaRPr lang="en-US"/>
          </a:p>
        </p:txBody>
      </p:sp>
      <p:sp>
        <p:nvSpPr>
          <p:cNvPr id="3" name="Content Placeholder 2">
            <a:extLst>
              <a:ext uri="{FF2B5EF4-FFF2-40B4-BE49-F238E27FC236}">
                <a16:creationId xmlns:a16="http://schemas.microsoft.com/office/drawing/2014/main" id="{916E0E91-38FB-579F-CD73-6596D5DA8CE7}"/>
              </a:ext>
            </a:extLst>
          </p:cNvPr>
          <p:cNvSpPr>
            <a:spLocks noGrp="1"/>
          </p:cNvSpPr>
          <p:nvPr>
            <p:ph idx="1"/>
          </p:nvPr>
        </p:nvSpPr>
        <p:spPr/>
        <p:txBody>
          <a:bodyPr vert="horz" lIns="91440" tIns="45720" rIns="91440" bIns="45720" rtlCol="0" anchor="t">
            <a:normAutofit fontScale="92500" lnSpcReduction="10000"/>
          </a:bodyPr>
          <a:lstStyle/>
          <a:p>
            <a:r>
              <a:rPr lang="en-US">
                <a:ea typeface="Calibri"/>
                <a:cs typeface="Calibri"/>
              </a:rPr>
              <a:t>2-D array of numbers</a:t>
            </a:r>
          </a:p>
          <a:p>
            <a:pPr lvl="1"/>
            <a:r>
              <a:rPr lang="en-US">
                <a:solidFill>
                  <a:schemeClr val="accent6">
                    <a:lumMod val="76000"/>
                  </a:schemeClr>
                </a:solidFill>
                <a:ea typeface="Calibri"/>
                <a:cs typeface="Calibri"/>
              </a:rPr>
              <a:t>So each element identified by two indices</a:t>
            </a:r>
          </a:p>
          <a:p>
            <a:r>
              <a:rPr lang="en-US">
                <a:ea typeface="Calibri"/>
                <a:cs typeface="Calibri"/>
              </a:rPr>
              <a:t>Denoted by bold typeface A</a:t>
            </a:r>
          </a:p>
          <a:p>
            <a:pPr lvl="1"/>
            <a:r>
              <a:rPr lang="en-US">
                <a:solidFill>
                  <a:schemeClr val="accent6">
                    <a:lumMod val="76000"/>
                  </a:schemeClr>
                </a:solidFill>
                <a:ea typeface="Calibri"/>
                <a:cs typeface="Calibri"/>
              </a:rPr>
              <a:t>Elements indicated by name in italic but not bold</a:t>
            </a:r>
          </a:p>
          <a:p>
            <a:pPr lvl="1"/>
            <a:r>
              <a:rPr lang="en-US">
                <a:solidFill>
                  <a:schemeClr val="accent6">
                    <a:lumMod val="76000"/>
                  </a:schemeClr>
                </a:solidFill>
                <a:ea typeface="Calibri"/>
                <a:cs typeface="Calibri"/>
              </a:rPr>
              <a:t>A</a:t>
            </a:r>
            <a:r>
              <a:rPr lang="en-US" baseline="-25000">
                <a:solidFill>
                  <a:schemeClr val="accent6">
                    <a:lumMod val="76000"/>
                  </a:schemeClr>
                </a:solidFill>
                <a:ea typeface="Calibri"/>
                <a:cs typeface="Calibri"/>
              </a:rPr>
              <a:t>1,1</a:t>
            </a:r>
            <a:r>
              <a:rPr lang="en-US">
                <a:solidFill>
                  <a:schemeClr val="accent6">
                    <a:lumMod val="76000"/>
                  </a:schemeClr>
                </a:solidFill>
                <a:ea typeface="Calibri"/>
                <a:cs typeface="Calibri"/>
              </a:rPr>
              <a:t> is the top left entry and </a:t>
            </a:r>
            <a:r>
              <a:rPr lang="en-US" err="1">
                <a:solidFill>
                  <a:schemeClr val="accent6">
                    <a:lumMod val="76000"/>
                  </a:schemeClr>
                </a:solidFill>
                <a:ea typeface="Calibri"/>
                <a:cs typeface="Calibri"/>
              </a:rPr>
              <a:t>A</a:t>
            </a:r>
            <a:r>
              <a:rPr lang="en-US" baseline="-25000" err="1">
                <a:solidFill>
                  <a:schemeClr val="accent6">
                    <a:lumMod val="76000"/>
                  </a:schemeClr>
                </a:solidFill>
                <a:ea typeface="Calibri"/>
                <a:cs typeface="Calibri"/>
              </a:rPr>
              <a:t>m,n</a:t>
            </a:r>
            <a:r>
              <a:rPr lang="en-US">
                <a:solidFill>
                  <a:schemeClr val="accent6">
                    <a:lumMod val="76000"/>
                  </a:schemeClr>
                </a:solidFill>
                <a:ea typeface="Calibri"/>
                <a:cs typeface="Calibri"/>
              </a:rPr>
              <a:t> is the bottom right entry </a:t>
            </a:r>
          </a:p>
          <a:p>
            <a:pPr lvl="1"/>
            <a:r>
              <a:rPr lang="en-US">
                <a:solidFill>
                  <a:schemeClr val="accent6">
                    <a:lumMod val="76000"/>
                  </a:schemeClr>
                </a:solidFill>
                <a:ea typeface="Calibri"/>
                <a:cs typeface="Calibri"/>
              </a:rPr>
              <a:t>We can identify numbers in vertical column j by using ":"</a:t>
            </a:r>
          </a:p>
          <a:p>
            <a:pPr marL="914400" lvl="2" indent="0">
              <a:buNone/>
            </a:pPr>
            <a:endParaRPr lang="en-US">
              <a:solidFill>
                <a:schemeClr val="accent6">
                  <a:lumMod val="76000"/>
                </a:schemeClr>
              </a:solidFill>
              <a:ea typeface="Calibri"/>
              <a:cs typeface="Calibri"/>
            </a:endParaRPr>
          </a:p>
          <a:p>
            <a:pPr lvl="2">
              <a:buFont typeface="Wingdings" panose="020B0604020202020204" pitchFamily="34" charset="0"/>
              <a:buChar char="§"/>
            </a:pPr>
            <a:endParaRPr lang="en-US">
              <a:solidFill>
                <a:schemeClr val="accent6">
                  <a:lumMod val="76000"/>
                </a:schemeClr>
              </a:solidFill>
              <a:ea typeface="Calibri"/>
              <a:cs typeface="Calibri"/>
            </a:endParaRPr>
          </a:p>
          <a:p>
            <a:pPr lvl="2">
              <a:buFont typeface="Wingdings" panose="020B0604020202020204" pitchFamily="34" charset="0"/>
              <a:buChar char="§"/>
            </a:pPr>
            <a:endParaRPr lang="en-US">
              <a:solidFill>
                <a:schemeClr val="accent6">
                  <a:lumMod val="76000"/>
                </a:schemeClr>
              </a:solidFill>
              <a:ea typeface="Calibri"/>
              <a:cs typeface="Calibri"/>
            </a:endParaRPr>
          </a:p>
          <a:p>
            <a:pPr lvl="1"/>
            <a:endParaRPr lang="en-US">
              <a:solidFill>
                <a:srgbClr val="0070C0"/>
              </a:solidFill>
              <a:ea typeface="Calibri"/>
              <a:cs typeface="Calibri"/>
            </a:endParaRPr>
          </a:p>
          <a:p>
            <a:pPr lvl="1"/>
            <a:endParaRPr lang="en-US">
              <a:solidFill>
                <a:srgbClr val="0070C0"/>
              </a:solidFill>
              <a:ea typeface="Calibri"/>
              <a:cs typeface="Calibri"/>
            </a:endParaRPr>
          </a:p>
          <a:p>
            <a:pPr lvl="1"/>
            <a:endParaRPr lang="en-US" i="1">
              <a:solidFill>
                <a:srgbClr val="0070C0"/>
              </a:solidFill>
              <a:ea typeface="Calibri"/>
              <a:cs typeface="Calibri"/>
            </a:endParaRPr>
          </a:p>
          <a:p>
            <a:pPr lvl="1"/>
            <a:endParaRPr lang="en-US" i="1">
              <a:solidFill>
                <a:srgbClr val="0070C0"/>
              </a:solidFill>
              <a:ea typeface="Calibri"/>
              <a:cs typeface="Calibri"/>
            </a:endParaRPr>
          </a:p>
          <a:p>
            <a:pPr lvl="1"/>
            <a:r>
              <a:rPr lang="en-US" i="1">
                <a:solidFill>
                  <a:srgbClr val="C00000"/>
                </a:solidFill>
                <a:ea typeface="Calibri"/>
                <a:cs typeface="Calibri"/>
              </a:rPr>
              <a:t>A</a:t>
            </a:r>
            <a:r>
              <a:rPr lang="en-US" i="1" baseline="-25000">
                <a:solidFill>
                  <a:srgbClr val="C00000"/>
                </a:solidFill>
                <a:ea typeface="Calibri"/>
                <a:cs typeface="Calibri"/>
              </a:rPr>
              <a:t>i:</a:t>
            </a:r>
            <a:r>
              <a:rPr lang="en-US">
                <a:solidFill>
                  <a:srgbClr val="0070C0"/>
                </a:solidFill>
                <a:ea typeface="Calibri"/>
                <a:cs typeface="Calibri"/>
              </a:rPr>
              <a:t> is </a:t>
            </a:r>
            <a:r>
              <a:rPr lang="en-US" i="1" err="1">
                <a:solidFill>
                  <a:srgbClr val="C00000"/>
                </a:solidFill>
                <a:ea typeface="Calibri"/>
                <a:cs typeface="Calibri"/>
              </a:rPr>
              <a:t>i</a:t>
            </a:r>
            <a:r>
              <a:rPr lang="en-US" i="1" baseline="30000" err="1">
                <a:solidFill>
                  <a:srgbClr val="C00000"/>
                </a:solidFill>
                <a:ea typeface="Calibri"/>
                <a:cs typeface="Calibri"/>
              </a:rPr>
              <a:t>th</a:t>
            </a:r>
            <a:r>
              <a:rPr lang="en-US">
                <a:solidFill>
                  <a:srgbClr val="0070C0"/>
                </a:solidFill>
                <a:ea typeface="Calibri"/>
                <a:cs typeface="Calibri"/>
              </a:rPr>
              <a:t> row of A, </a:t>
            </a:r>
            <a:r>
              <a:rPr lang="en-US" i="1" err="1">
                <a:solidFill>
                  <a:srgbClr val="C00000"/>
                </a:solidFill>
                <a:ea typeface="Calibri"/>
                <a:cs typeface="Calibri"/>
              </a:rPr>
              <a:t>A</a:t>
            </a:r>
            <a:r>
              <a:rPr lang="en-US" i="1" baseline="-25000" err="1">
                <a:solidFill>
                  <a:srgbClr val="C00000"/>
                </a:solidFill>
                <a:ea typeface="Calibri"/>
                <a:cs typeface="Calibri"/>
              </a:rPr>
              <a:t>:j</a:t>
            </a:r>
            <a:r>
              <a:rPr lang="en-US">
                <a:solidFill>
                  <a:srgbClr val="0070C0"/>
                </a:solidFill>
                <a:ea typeface="Calibri"/>
                <a:cs typeface="Calibri"/>
              </a:rPr>
              <a:t> is the </a:t>
            </a:r>
            <a:r>
              <a:rPr lang="en-US" i="1" err="1">
                <a:solidFill>
                  <a:srgbClr val="C00000"/>
                </a:solidFill>
                <a:ea typeface="Calibri"/>
                <a:cs typeface="Calibri"/>
              </a:rPr>
              <a:t>j</a:t>
            </a:r>
            <a:r>
              <a:rPr lang="en-US" i="1" baseline="30000" err="1">
                <a:solidFill>
                  <a:srgbClr val="C00000"/>
                </a:solidFill>
                <a:ea typeface="Calibri"/>
                <a:cs typeface="Calibri"/>
              </a:rPr>
              <a:t>th</a:t>
            </a:r>
            <a:r>
              <a:rPr lang="en-US">
                <a:solidFill>
                  <a:srgbClr val="0070C0"/>
                </a:solidFill>
                <a:ea typeface="Calibri"/>
                <a:cs typeface="Calibri"/>
              </a:rPr>
              <a:t> column of A</a:t>
            </a:r>
            <a:endParaRPr lang="en-US">
              <a:ea typeface="Calibri"/>
              <a:cs typeface="Calibri"/>
            </a:endParaRPr>
          </a:p>
          <a:p>
            <a:r>
              <a:rPr lang="en-US">
                <a:ea typeface="Calibri"/>
                <a:cs typeface="Calibri"/>
              </a:rPr>
              <a:t>If A has shape of height m and width n with real-values then </a:t>
            </a:r>
          </a:p>
        </p:txBody>
      </p:sp>
      <p:pic>
        <p:nvPicPr>
          <p:cNvPr id="4" name="Picture 3" descr="A group of black text&#10;&#10;AI-generated content may be incorrect.">
            <a:extLst>
              <a:ext uri="{FF2B5EF4-FFF2-40B4-BE49-F238E27FC236}">
                <a16:creationId xmlns:a16="http://schemas.microsoft.com/office/drawing/2014/main" id="{793C0C2E-C65B-5683-3E28-76148F75CD7C}"/>
              </a:ext>
            </a:extLst>
          </p:cNvPr>
          <p:cNvPicPr>
            <a:picLocks noChangeAspect="1"/>
          </p:cNvPicPr>
          <p:nvPr/>
        </p:nvPicPr>
        <p:blipFill>
          <a:blip r:embed="rId2"/>
          <a:stretch>
            <a:fillRect/>
          </a:stretch>
        </p:blipFill>
        <p:spPr>
          <a:xfrm>
            <a:off x="2526943" y="3592470"/>
            <a:ext cx="2482430" cy="1527953"/>
          </a:xfrm>
          <a:prstGeom prst="rect">
            <a:avLst/>
          </a:prstGeom>
        </p:spPr>
      </p:pic>
      <p:pic>
        <p:nvPicPr>
          <p:cNvPr id="5" name="Picture 4">
            <a:extLst>
              <a:ext uri="{FF2B5EF4-FFF2-40B4-BE49-F238E27FC236}">
                <a16:creationId xmlns:a16="http://schemas.microsoft.com/office/drawing/2014/main" id="{8EE9A5E5-2C0B-75E6-9F35-5B82EF44A2DE}"/>
              </a:ext>
            </a:extLst>
          </p:cNvPr>
          <p:cNvPicPr>
            <a:picLocks noChangeAspect="1"/>
          </p:cNvPicPr>
          <p:nvPr/>
        </p:nvPicPr>
        <p:blipFill>
          <a:blip r:embed="rId3"/>
          <a:stretch>
            <a:fillRect/>
          </a:stretch>
        </p:blipFill>
        <p:spPr>
          <a:xfrm>
            <a:off x="9156278" y="5948481"/>
            <a:ext cx="986601" cy="407928"/>
          </a:xfrm>
          <a:prstGeom prst="rect">
            <a:avLst/>
          </a:prstGeom>
        </p:spPr>
      </p:pic>
    </p:spTree>
    <p:extLst>
      <p:ext uri="{BB962C8B-B14F-4D97-AF65-F5344CB8AC3E}">
        <p14:creationId xmlns:p14="http://schemas.microsoft.com/office/powerpoint/2010/main" val="4057381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A2943-E7F3-A0CC-2D88-C2BB7CF9C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2CDF6-D992-8728-6E45-5FC604EFB139}"/>
              </a:ext>
            </a:extLst>
          </p:cNvPr>
          <p:cNvSpPr>
            <a:spLocks noGrp="1"/>
          </p:cNvSpPr>
          <p:nvPr>
            <p:ph type="title"/>
          </p:nvPr>
        </p:nvSpPr>
        <p:spPr/>
        <p:txBody>
          <a:bodyPr>
            <a:normAutofit fontScale="90000"/>
          </a:bodyPr>
          <a:lstStyle/>
          <a:p>
            <a:r>
              <a:rPr lang="en-US">
                <a:ea typeface="Calibri Light"/>
                <a:cs typeface="Calibri Light"/>
              </a:rPr>
              <a:t>Key concepts: Tensors</a:t>
            </a:r>
            <a:endParaRPr lang="en-US"/>
          </a:p>
        </p:txBody>
      </p:sp>
      <p:sp>
        <p:nvSpPr>
          <p:cNvPr id="3" name="Content Placeholder 2">
            <a:extLst>
              <a:ext uri="{FF2B5EF4-FFF2-40B4-BE49-F238E27FC236}">
                <a16:creationId xmlns:a16="http://schemas.microsoft.com/office/drawing/2014/main" id="{4CEF0104-D49B-C03D-313F-564AAEC5C38F}"/>
              </a:ext>
            </a:extLst>
          </p:cNvPr>
          <p:cNvSpPr>
            <a:spLocks noGrp="1"/>
          </p:cNvSpPr>
          <p:nvPr>
            <p:ph idx="1"/>
          </p:nvPr>
        </p:nvSpPr>
        <p:spPr/>
        <p:txBody>
          <a:bodyPr vert="horz" lIns="91440" tIns="45720" rIns="91440" bIns="45720" rtlCol="0" anchor="t">
            <a:normAutofit/>
          </a:bodyPr>
          <a:lstStyle/>
          <a:p>
            <a:r>
              <a:rPr lang="en-US">
                <a:ea typeface="Calibri"/>
                <a:cs typeface="Calibri"/>
              </a:rPr>
              <a:t>Sometimes need an array with more than two axes</a:t>
            </a:r>
          </a:p>
          <a:p>
            <a:pPr lvl="1"/>
            <a:r>
              <a:rPr lang="en-US">
                <a:solidFill>
                  <a:schemeClr val="accent6">
                    <a:lumMod val="76000"/>
                  </a:schemeClr>
                </a:solidFill>
                <a:ea typeface="Calibri"/>
                <a:cs typeface="Calibri"/>
              </a:rPr>
              <a:t>An RGB color image has three axes</a:t>
            </a:r>
          </a:p>
          <a:p>
            <a:r>
              <a:rPr lang="en-US">
                <a:ea typeface="Calibri"/>
                <a:cs typeface="Calibri"/>
              </a:rPr>
              <a:t>A tensor is an array of numbers arranged on a regular grid with variable number of axes</a:t>
            </a:r>
          </a:p>
          <a:p>
            <a:r>
              <a:rPr lang="en-US">
                <a:ea typeface="Calibri"/>
                <a:cs typeface="Calibri"/>
              </a:rPr>
              <a:t>Denote a tensor with this bold typeface: </a:t>
            </a:r>
            <a:r>
              <a:rPr lang="en-US" b="1" i="1">
                <a:ea typeface="Calibri"/>
                <a:cs typeface="Calibri"/>
              </a:rPr>
              <a:t>A</a:t>
            </a:r>
          </a:p>
          <a:p>
            <a:r>
              <a:rPr lang="en-US">
                <a:ea typeface="Calibri"/>
                <a:cs typeface="Calibri"/>
              </a:rPr>
              <a:t>Element </a:t>
            </a:r>
            <a:r>
              <a:rPr lang="en-US" i="1">
                <a:latin typeface="Aptos Mono"/>
                <a:ea typeface="Calibri"/>
                <a:cs typeface="Calibri"/>
              </a:rPr>
              <a:t>(</a:t>
            </a:r>
            <a:r>
              <a:rPr lang="en-US" i="1" err="1">
                <a:latin typeface="Aptos Mono"/>
                <a:ea typeface="Calibri"/>
                <a:cs typeface="Calibri"/>
              </a:rPr>
              <a:t>i,j,k</a:t>
            </a:r>
            <a:r>
              <a:rPr lang="en-US" i="1">
                <a:latin typeface="Aptos Mono"/>
                <a:ea typeface="Calibri"/>
                <a:cs typeface="Calibri"/>
              </a:rPr>
              <a:t>)</a:t>
            </a:r>
            <a:r>
              <a:rPr lang="en-US">
                <a:ea typeface="Calibri"/>
                <a:cs typeface="Calibri"/>
              </a:rPr>
              <a:t> of tensor denotated by </a:t>
            </a:r>
            <a:r>
              <a:rPr lang="en-US" b="1" i="1" err="1">
                <a:ea typeface="Calibri"/>
                <a:cs typeface="Calibri"/>
              </a:rPr>
              <a:t>A</a:t>
            </a:r>
            <a:r>
              <a:rPr lang="en-US" i="1" baseline="-25000" err="1">
                <a:ea typeface="Calibri"/>
                <a:cs typeface="Calibri"/>
              </a:rPr>
              <a:t>i,j,k</a:t>
            </a:r>
            <a:endParaRPr lang="en-US" i="1" baseline="-25000">
              <a:ea typeface="Calibri"/>
              <a:cs typeface="Calibri"/>
            </a:endParaRPr>
          </a:p>
        </p:txBody>
      </p:sp>
      <p:pic>
        <p:nvPicPr>
          <p:cNvPr id="4" name="Picture 3">
            <a:extLst>
              <a:ext uri="{FF2B5EF4-FFF2-40B4-BE49-F238E27FC236}">
                <a16:creationId xmlns:a16="http://schemas.microsoft.com/office/drawing/2014/main" id="{E58E8A43-E746-7A06-42A5-6DC6AA41A0D1}"/>
              </a:ext>
            </a:extLst>
          </p:cNvPr>
          <p:cNvPicPr>
            <a:picLocks noChangeAspect="1"/>
          </p:cNvPicPr>
          <p:nvPr/>
        </p:nvPicPr>
        <p:blipFill>
          <a:blip r:embed="rId2"/>
          <a:stretch>
            <a:fillRect/>
          </a:stretch>
        </p:blipFill>
        <p:spPr>
          <a:xfrm>
            <a:off x="8135073" y="3628361"/>
            <a:ext cx="3184968" cy="2292391"/>
          </a:xfrm>
          <a:prstGeom prst="rect">
            <a:avLst/>
          </a:prstGeom>
        </p:spPr>
      </p:pic>
    </p:spTree>
    <p:extLst>
      <p:ext uri="{BB962C8B-B14F-4D97-AF65-F5344CB8AC3E}">
        <p14:creationId xmlns:p14="http://schemas.microsoft.com/office/powerpoint/2010/main" val="2734125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28AA-1608-3B21-9F61-7D7463B163A1}"/>
              </a:ext>
            </a:extLst>
          </p:cNvPr>
          <p:cNvSpPr>
            <a:spLocks noGrp="1"/>
          </p:cNvSpPr>
          <p:nvPr>
            <p:ph type="title"/>
          </p:nvPr>
        </p:nvSpPr>
        <p:spPr/>
        <p:txBody>
          <a:bodyPr>
            <a:normAutofit fontScale="90000"/>
          </a:bodyPr>
          <a:lstStyle/>
          <a:p>
            <a:r>
              <a:rPr lang="en-US">
                <a:ea typeface="Calibri Light"/>
                <a:cs typeface="Calibri Light"/>
              </a:rPr>
              <a:t>Vectors as special case of matrix</a:t>
            </a:r>
            <a:endParaRPr lang="en-US"/>
          </a:p>
        </p:txBody>
      </p:sp>
      <p:sp>
        <p:nvSpPr>
          <p:cNvPr id="3" name="Content Placeholder 2">
            <a:extLst>
              <a:ext uri="{FF2B5EF4-FFF2-40B4-BE49-F238E27FC236}">
                <a16:creationId xmlns:a16="http://schemas.microsoft.com/office/drawing/2014/main" id="{56FC80A3-1F3B-9AFB-8F49-85484603BB1B}"/>
              </a:ext>
            </a:extLst>
          </p:cNvPr>
          <p:cNvSpPr>
            <a:spLocks noGrp="1"/>
          </p:cNvSpPr>
          <p:nvPr>
            <p:ph idx="1"/>
          </p:nvPr>
        </p:nvSpPr>
        <p:spPr/>
        <p:txBody>
          <a:bodyPr vert="horz" lIns="91440" tIns="45720" rIns="91440" bIns="45720" rtlCol="0" anchor="t">
            <a:normAutofit/>
          </a:bodyPr>
          <a:lstStyle/>
          <a:p>
            <a:r>
              <a:rPr lang="en-US">
                <a:ea typeface="Calibri"/>
                <a:cs typeface="Calibri"/>
              </a:rPr>
              <a:t>Vectors are matrices with a single column</a:t>
            </a:r>
          </a:p>
          <a:p>
            <a:r>
              <a:rPr lang="en-US">
                <a:ea typeface="Calibri"/>
                <a:cs typeface="Calibri"/>
              </a:rPr>
              <a:t>Often written in-line using transpose</a:t>
            </a: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r>
              <a:rPr lang="en-US">
                <a:ea typeface="Calibri"/>
                <a:cs typeface="Calibri"/>
              </a:rPr>
              <a:t>A scalar is a matrix with one element</a:t>
            </a:r>
          </a:p>
          <a:p>
            <a:pPr lvl="4">
              <a:buFont typeface="Courier New" panose="020B0604020202020204" pitchFamily="34" charset="0"/>
              <a:buChar char="o"/>
            </a:pPr>
            <a:r>
              <a:rPr lang="en-US">
                <a:solidFill>
                  <a:srgbClr val="0070C0"/>
                </a:solidFill>
                <a:ea typeface="Calibri"/>
                <a:cs typeface="Calibri"/>
              </a:rPr>
              <a:t>a = </a:t>
            </a:r>
            <a:r>
              <a:rPr lang="en-US" err="1">
                <a:solidFill>
                  <a:srgbClr val="0070C0"/>
                </a:solidFill>
                <a:ea typeface="Calibri"/>
                <a:cs typeface="Calibri"/>
              </a:rPr>
              <a:t>a</a:t>
            </a:r>
            <a:r>
              <a:rPr lang="en-US" baseline="30000" err="1">
                <a:solidFill>
                  <a:srgbClr val="0070C0"/>
                </a:solidFill>
                <a:ea typeface="Calibri"/>
                <a:cs typeface="Calibri"/>
              </a:rPr>
              <a:t>T</a:t>
            </a:r>
            <a:endParaRPr lang="en-US" baseline="30000">
              <a:solidFill>
                <a:srgbClr val="0070C0"/>
              </a:solidFill>
              <a:ea typeface="Calibri"/>
              <a:cs typeface="Calibri"/>
            </a:endParaRPr>
          </a:p>
        </p:txBody>
      </p:sp>
      <p:pic>
        <p:nvPicPr>
          <p:cNvPr id="4" name="Picture 3" descr="A screenshot of a math application&#10;&#10;AI-generated content may be incorrect.">
            <a:extLst>
              <a:ext uri="{FF2B5EF4-FFF2-40B4-BE49-F238E27FC236}">
                <a16:creationId xmlns:a16="http://schemas.microsoft.com/office/drawing/2014/main" id="{B69BB86F-C0C9-2291-669F-C29856486E4B}"/>
              </a:ext>
            </a:extLst>
          </p:cNvPr>
          <p:cNvPicPr>
            <a:picLocks noChangeAspect="1"/>
          </p:cNvPicPr>
          <p:nvPr/>
        </p:nvPicPr>
        <p:blipFill>
          <a:blip r:embed="rId2"/>
          <a:stretch>
            <a:fillRect/>
          </a:stretch>
        </p:blipFill>
        <p:spPr>
          <a:xfrm>
            <a:off x="2373749" y="2387752"/>
            <a:ext cx="2531193" cy="2258962"/>
          </a:xfrm>
          <a:prstGeom prst="rect">
            <a:avLst/>
          </a:prstGeom>
        </p:spPr>
      </p:pic>
    </p:spTree>
    <p:extLst>
      <p:ext uri="{BB962C8B-B14F-4D97-AF65-F5344CB8AC3E}">
        <p14:creationId xmlns:p14="http://schemas.microsoft.com/office/powerpoint/2010/main" val="683243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B4013-FECC-C3A6-490C-EADA12D15E00}"/>
              </a:ext>
            </a:extLst>
          </p:cNvPr>
          <p:cNvSpPr>
            <a:spLocks noGrp="1"/>
          </p:cNvSpPr>
          <p:nvPr>
            <p:ph type="title"/>
          </p:nvPr>
        </p:nvSpPr>
        <p:spPr/>
        <p:txBody>
          <a:bodyPr>
            <a:normAutofit fontScale="90000"/>
          </a:bodyPr>
          <a:lstStyle/>
          <a:p>
            <a:r>
              <a:rPr lang="en-US">
                <a:ea typeface="Calibri Light"/>
                <a:cs typeface="Calibri Light"/>
              </a:rPr>
              <a:t>Transpose of a Matrix</a:t>
            </a:r>
            <a:endParaRPr lang="en-US"/>
          </a:p>
        </p:txBody>
      </p:sp>
      <p:sp>
        <p:nvSpPr>
          <p:cNvPr id="3" name="Content Placeholder 2">
            <a:extLst>
              <a:ext uri="{FF2B5EF4-FFF2-40B4-BE49-F238E27FC236}">
                <a16:creationId xmlns:a16="http://schemas.microsoft.com/office/drawing/2014/main" id="{F7771A47-53A2-95B7-9B43-4B8729C33716}"/>
              </a:ext>
            </a:extLst>
          </p:cNvPr>
          <p:cNvSpPr>
            <a:spLocks noGrp="1"/>
          </p:cNvSpPr>
          <p:nvPr>
            <p:ph idx="1"/>
          </p:nvPr>
        </p:nvSpPr>
        <p:spPr/>
        <p:txBody>
          <a:bodyPr vert="horz" lIns="91440" tIns="45720" rIns="91440" bIns="45720" rtlCol="0" anchor="t">
            <a:normAutofit/>
          </a:bodyPr>
          <a:lstStyle/>
          <a:p>
            <a:r>
              <a:rPr lang="en-US">
                <a:ea typeface="Calibri"/>
                <a:cs typeface="Calibri"/>
              </a:rPr>
              <a:t>An important operation on matrices</a:t>
            </a:r>
          </a:p>
          <a:p>
            <a:r>
              <a:rPr lang="en-US">
                <a:ea typeface="Calibri"/>
                <a:cs typeface="Calibri"/>
              </a:rPr>
              <a:t>The transpose of a matrix </a:t>
            </a:r>
            <a:r>
              <a:rPr lang="en-US" b="1">
                <a:ea typeface="Calibri"/>
                <a:cs typeface="Calibri"/>
              </a:rPr>
              <a:t>A</a:t>
            </a:r>
            <a:r>
              <a:rPr lang="en-US">
                <a:ea typeface="Calibri"/>
                <a:cs typeface="Calibri"/>
              </a:rPr>
              <a:t> is denoted as </a:t>
            </a:r>
            <a:r>
              <a:rPr lang="en-US" b="1">
                <a:ea typeface="Calibri"/>
                <a:cs typeface="Calibri"/>
              </a:rPr>
              <a:t>A</a:t>
            </a:r>
            <a:r>
              <a:rPr lang="en-US" b="1" baseline="30000">
                <a:ea typeface="Calibri"/>
                <a:cs typeface="Calibri"/>
              </a:rPr>
              <a:t>T</a:t>
            </a:r>
          </a:p>
          <a:p>
            <a:r>
              <a:rPr lang="en-US">
                <a:ea typeface="Calibri"/>
                <a:cs typeface="Calibri"/>
              </a:rPr>
              <a:t>Defined as </a:t>
            </a:r>
          </a:p>
          <a:p>
            <a:pPr lvl="3"/>
            <a:r>
              <a:rPr lang="en-US" b="1">
                <a:solidFill>
                  <a:srgbClr val="0070C0"/>
                </a:solidFill>
                <a:ea typeface="Calibri"/>
                <a:cs typeface="Calibri"/>
              </a:rPr>
              <a:t>(A</a:t>
            </a:r>
            <a:r>
              <a:rPr lang="en-US" b="1" baseline="30000">
                <a:solidFill>
                  <a:srgbClr val="0070C0"/>
                </a:solidFill>
                <a:ea typeface="Calibri"/>
                <a:cs typeface="Calibri"/>
              </a:rPr>
              <a:t>T</a:t>
            </a:r>
            <a:r>
              <a:rPr lang="en-US" b="1">
                <a:solidFill>
                  <a:srgbClr val="0070C0"/>
                </a:solidFill>
                <a:ea typeface="Calibri"/>
                <a:cs typeface="Calibri"/>
              </a:rPr>
              <a:t>)</a:t>
            </a:r>
            <a:r>
              <a:rPr lang="en-US" b="1" baseline="-25000" err="1">
                <a:solidFill>
                  <a:srgbClr val="0070C0"/>
                </a:solidFill>
                <a:ea typeface="Calibri"/>
                <a:cs typeface="Calibri"/>
              </a:rPr>
              <a:t>i,j</a:t>
            </a:r>
            <a:r>
              <a:rPr lang="en-US">
                <a:solidFill>
                  <a:srgbClr val="0070C0"/>
                </a:solidFill>
                <a:ea typeface="Calibri"/>
                <a:cs typeface="Calibri"/>
              </a:rPr>
              <a:t> = </a:t>
            </a:r>
            <a:r>
              <a:rPr lang="en-US" b="1" err="1">
                <a:solidFill>
                  <a:srgbClr val="0070C0"/>
                </a:solidFill>
                <a:ea typeface="Calibri"/>
                <a:cs typeface="Calibri"/>
              </a:rPr>
              <a:t>A</a:t>
            </a:r>
            <a:r>
              <a:rPr lang="en-US" b="1" baseline="-25000" err="1">
                <a:solidFill>
                  <a:srgbClr val="0070C0"/>
                </a:solidFill>
                <a:ea typeface="Calibri"/>
                <a:cs typeface="Calibri"/>
              </a:rPr>
              <a:t>j,i</a:t>
            </a:r>
            <a:endParaRPr lang="en-US" b="1" baseline="-25000">
              <a:solidFill>
                <a:srgbClr val="0070C0"/>
              </a:solidFill>
              <a:ea typeface="Calibri"/>
              <a:cs typeface="Calibri"/>
            </a:endParaRPr>
          </a:p>
          <a:p>
            <a:pPr lvl="1"/>
            <a:r>
              <a:rPr lang="en-US">
                <a:solidFill>
                  <a:schemeClr val="accent6">
                    <a:lumMod val="76000"/>
                  </a:schemeClr>
                </a:solidFill>
                <a:ea typeface="Calibri"/>
                <a:cs typeface="Calibri"/>
              </a:rPr>
              <a:t>The mirror image across a diagonal line</a:t>
            </a:r>
          </a:p>
          <a:p>
            <a:pPr lvl="2"/>
            <a:r>
              <a:rPr lang="en-US">
                <a:ea typeface="Calibri"/>
                <a:cs typeface="Calibri"/>
              </a:rPr>
              <a:t>Called the main diagonal running down to the right starting from upper left corner</a:t>
            </a:r>
          </a:p>
        </p:txBody>
      </p:sp>
      <p:pic>
        <p:nvPicPr>
          <p:cNvPr id="5" name="Picture 4" descr="A close-up of a line&#10;&#10;AI-generated content may be incorrect.">
            <a:extLst>
              <a:ext uri="{FF2B5EF4-FFF2-40B4-BE49-F238E27FC236}">
                <a16:creationId xmlns:a16="http://schemas.microsoft.com/office/drawing/2014/main" id="{5827208A-B95C-3482-144D-4B926CF35650}"/>
              </a:ext>
            </a:extLst>
          </p:cNvPr>
          <p:cNvPicPr>
            <a:picLocks noChangeAspect="1"/>
          </p:cNvPicPr>
          <p:nvPr/>
        </p:nvPicPr>
        <p:blipFill>
          <a:blip r:embed="rId2"/>
          <a:stretch>
            <a:fillRect/>
          </a:stretch>
        </p:blipFill>
        <p:spPr>
          <a:xfrm>
            <a:off x="1669944" y="4182180"/>
            <a:ext cx="8505825" cy="1419225"/>
          </a:xfrm>
          <a:prstGeom prst="rect">
            <a:avLst/>
          </a:prstGeom>
        </p:spPr>
      </p:pic>
    </p:spTree>
    <p:extLst>
      <p:ext uri="{BB962C8B-B14F-4D97-AF65-F5344CB8AC3E}">
        <p14:creationId xmlns:p14="http://schemas.microsoft.com/office/powerpoint/2010/main" val="3396788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58BDA-4808-9599-0F9E-3A2FF73CB124}"/>
              </a:ext>
            </a:extLst>
          </p:cNvPr>
          <p:cNvSpPr>
            <a:spLocks noGrp="1"/>
          </p:cNvSpPr>
          <p:nvPr>
            <p:ph type="title"/>
          </p:nvPr>
        </p:nvSpPr>
        <p:spPr/>
        <p:txBody>
          <a:bodyPr>
            <a:normAutofit fontScale="90000"/>
          </a:bodyPr>
          <a:lstStyle/>
          <a:p>
            <a:r>
              <a:rPr lang="en-US">
                <a:ea typeface="Calibri Light"/>
                <a:cs typeface="Calibri Light"/>
              </a:rPr>
              <a:t>Matrix Addition/Subtraction</a:t>
            </a:r>
            <a:endParaRPr lang="en-US"/>
          </a:p>
        </p:txBody>
      </p:sp>
      <p:sp>
        <p:nvSpPr>
          <p:cNvPr id="3" name="Content Placeholder 2">
            <a:extLst>
              <a:ext uri="{FF2B5EF4-FFF2-40B4-BE49-F238E27FC236}">
                <a16:creationId xmlns:a16="http://schemas.microsoft.com/office/drawing/2014/main" id="{C05A8F46-E0D4-C5B7-0B19-5DA688C66002}"/>
              </a:ext>
            </a:extLst>
          </p:cNvPr>
          <p:cNvSpPr>
            <a:spLocks noGrp="1"/>
          </p:cNvSpPr>
          <p:nvPr>
            <p:ph idx="1"/>
          </p:nvPr>
        </p:nvSpPr>
        <p:spPr/>
        <p:txBody>
          <a:bodyPr vert="horz" lIns="91440" tIns="45720" rIns="91440" bIns="45720" rtlCol="0" anchor="t">
            <a:normAutofit/>
          </a:bodyPr>
          <a:lstStyle/>
          <a:p>
            <a:r>
              <a:rPr lang="en-US">
                <a:ea typeface="Calibri"/>
                <a:cs typeface="Calibri"/>
              </a:rPr>
              <a:t>We can add matrices to each other if they have the same shape, by adding corresponding elements</a:t>
            </a:r>
          </a:p>
          <a:p>
            <a:pPr lvl="1"/>
            <a:r>
              <a:rPr lang="en-US">
                <a:solidFill>
                  <a:schemeClr val="accent6">
                    <a:lumMod val="76000"/>
                  </a:schemeClr>
                </a:solidFill>
                <a:ea typeface="Calibri"/>
                <a:cs typeface="Calibri"/>
              </a:rPr>
              <a:t>If A and B have the same shape (height m, width n) </a:t>
            </a:r>
          </a:p>
          <a:p>
            <a:pPr lvl="2"/>
            <a:r>
              <a:rPr lang="en-US">
                <a:ea typeface="Calibri"/>
                <a:cs typeface="Calibri"/>
              </a:rPr>
              <a:t>C = A+B ---&gt; </a:t>
            </a:r>
            <a:r>
              <a:rPr lang="en-US" err="1">
                <a:ea typeface="Calibri"/>
                <a:cs typeface="Calibri"/>
              </a:rPr>
              <a:t>C</a:t>
            </a:r>
            <a:r>
              <a:rPr lang="en-US" baseline="-25000" err="1">
                <a:ea typeface="Calibri"/>
                <a:cs typeface="Calibri"/>
              </a:rPr>
              <a:t>i,j</a:t>
            </a:r>
            <a:r>
              <a:rPr lang="en-US">
                <a:ea typeface="Calibri"/>
                <a:cs typeface="Calibri"/>
              </a:rPr>
              <a:t> = </a:t>
            </a:r>
            <a:r>
              <a:rPr lang="en-US" err="1">
                <a:ea typeface="Calibri"/>
                <a:cs typeface="Calibri"/>
              </a:rPr>
              <a:t>A</a:t>
            </a:r>
            <a:r>
              <a:rPr lang="en-US" baseline="-25000" err="1">
                <a:ea typeface="Calibri"/>
                <a:cs typeface="Calibri"/>
              </a:rPr>
              <a:t>i,j</a:t>
            </a:r>
            <a:r>
              <a:rPr lang="en-US">
                <a:ea typeface="Calibri"/>
                <a:cs typeface="Calibri"/>
              </a:rPr>
              <a:t> + </a:t>
            </a:r>
            <a:r>
              <a:rPr lang="en-US" err="1">
                <a:ea typeface="Calibri"/>
                <a:cs typeface="Calibri"/>
              </a:rPr>
              <a:t>B</a:t>
            </a:r>
            <a:r>
              <a:rPr lang="en-US" baseline="-25000" err="1">
                <a:ea typeface="Calibri"/>
                <a:cs typeface="Calibri"/>
              </a:rPr>
              <a:t>i,j</a:t>
            </a:r>
            <a:endParaRPr lang="en-US" baseline="-25000">
              <a:ea typeface="Calibri"/>
              <a:cs typeface="Calibri"/>
            </a:endParaRPr>
          </a:p>
          <a:p>
            <a:r>
              <a:rPr lang="en-US">
                <a:ea typeface="Calibri"/>
                <a:cs typeface="Calibri"/>
              </a:rPr>
              <a:t>A scalar can be added to a matrix or multiplied by a scalar</a:t>
            </a:r>
          </a:p>
          <a:p>
            <a:pPr lvl="1"/>
            <a:r>
              <a:rPr lang="en-US">
                <a:solidFill>
                  <a:schemeClr val="accent6">
                    <a:lumMod val="76000"/>
                  </a:schemeClr>
                </a:solidFill>
                <a:ea typeface="Calibri"/>
                <a:cs typeface="Calibri"/>
              </a:rPr>
              <a:t>D = </a:t>
            </a:r>
            <a:r>
              <a:rPr lang="en-US" err="1">
                <a:solidFill>
                  <a:schemeClr val="accent6">
                    <a:lumMod val="76000"/>
                  </a:schemeClr>
                </a:solidFill>
                <a:ea typeface="Calibri"/>
                <a:cs typeface="Calibri"/>
              </a:rPr>
              <a:t>aB</a:t>
            </a:r>
            <a:r>
              <a:rPr lang="en-US">
                <a:solidFill>
                  <a:schemeClr val="accent6">
                    <a:lumMod val="76000"/>
                  </a:schemeClr>
                </a:solidFill>
                <a:ea typeface="Calibri"/>
                <a:cs typeface="Calibri"/>
              </a:rPr>
              <a:t> + c ---&gt; </a:t>
            </a:r>
            <a:r>
              <a:rPr lang="en-US" err="1">
                <a:solidFill>
                  <a:schemeClr val="accent6">
                    <a:lumMod val="76000"/>
                  </a:schemeClr>
                </a:solidFill>
                <a:ea typeface="Calibri"/>
                <a:cs typeface="Calibri"/>
              </a:rPr>
              <a:t>D</a:t>
            </a:r>
            <a:r>
              <a:rPr lang="en-US" baseline="-25000" err="1">
                <a:solidFill>
                  <a:schemeClr val="accent6">
                    <a:lumMod val="76000"/>
                  </a:schemeClr>
                </a:solidFill>
                <a:ea typeface="Calibri"/>
                <a:cs typeface="Calibri"/>
              </a:rPr>
              <a:t>i,j</a:t>
            </a:r>
            <a:r>
              <a:rPr lang="en-US">
                <a:solidFill>
                  <a:schemeClr val="accent6">
                    <a:lumMod val="76000"/>
                  </a:schemeClr>
                </a:solidFill>
                <a:ea typeface="Calibri"/>
                <a:cs typeface="Calibri"/>
              </a:rPr>
              <a:t> = </a:t>
            </a:r>
            <a:r>
              <a:rPr lang="en-US" err="1">
                <a:solidFill>
                  <a:schemeClr val="accent6">
                    <a:lumMod val="76000"/>
                  </a:schemeClr>
                </a:solidFill>
                <a:ea typeface="Calibri"/>
                <a:cs typeface="Calibri"/>
              </a:rPr>
              <a:t>aB</a:t>
            </a:r>
            <a:r>
              <a:rPr lang="en-US" baseline="-25000" err="1">
                <a:solidFill>
                  <a:schemeClr val="accent6">
                    <a:lumMod val="76000"/>
                  </a:schemeClr>
                </a:solidFill>
                <a:ea typeface="Calibri"/>
                <a:cs typeface="Calibri"/>
              </a:rPr>
              <a:t>i,j</a:t>
            </a:r>
            <a:r>
              <a:rPr lang="en-US">
                <a:solidFill>
                  <a:schemeClr val="accent6">
                    <a:lumMod val="76000"/>
                  </a:schemeClr>
                </a:solidFill>
                <a:ea typeface="Calibri"/>
                <a:cs typeface="Calibri"/>
              </a:rPr>
              <a:t> + c</a:t>
            </a:r>
          </a:p>
          <a:p>
            <a:r>
              <a:rPr lang="en-US">
                <a:ea typeface="Calibri"/>
                <a:cs typeface="Calibri"/>
              </a:rPr>
              <a:t>Less conventional notation used in ML</a:t>
            </a:r>
          </a:p>
          <a:p>
            <a:pPr lvl="1"/>
            <a:r>
              <a:rPr lang="en-US">
                <a:solidFill>
                  <a:schemeClr val="accent6">
                    <a:lumMod val="76000"/>
                  </a:schemeClr>
                </a:solidFill>
                <a:ea typeface="Calibri"/>
                <a:cs typeface="Calibri"/>
              </a:rPr>
              <a:t>Vector added to matrix</a:t>
            </a:r>
          </a:p>
          <a:p>
            <a:pPr lvl="2"/>
            <a:r>
              <a:rPr lang="en-US">
                <a:ea typeface="Calibri"/>
                <a:cs typeface="Calibri"/>
              </a:rPr>
              <a:t>C = A + b ---&gt;  </a:t>
            </a:r>
            <a:r>
              <a:rPr lang="en-US" err="1">
                <a:ea typeface="Calibri"/>
                <a:cs typeface="Calibri"/>
              </a:rPr>
              <a:t>C</a:t>
            </a:r>
            <a:r>
              <a:rPr lang="en-US" baseline="-25000" err="1">
                <a:ea typeface="Calibri"/>
                <a:cs typeface="Calibri"/>
              </a:rPr>
              <a:t>i,j</a:t>
            </a:r>
            <a:r>
              <a:rPr lang="en-US">
                <a:ea typeface="Calibri"/>
                <a:cs typeface="Calibri"/>
              </a:rPr>
              <a:t> = </a:t>
            </a:r>
            <a:r>
              <a:rPr lang="en-US" err="1">
                <a:ea typeface="Calibri"/>
                <a:cs typeface="Calibri"/>
              </a:rPr>
              <a:t>A</a:t>
            </a:r>
            <a:r>
              <a:rPr lang="en-US" baseline="-25000" err="1">
                <a:ea typeface="Calibri"/>
                <a:cs typeface="Calibri"/>
              </a:rPr>
              <a:t>i,j</a:t>
            </a:r>
            <a:r>
              <a:rPr lang="en-US">
                <a:ea typeface="Calibri"/>
                <a:cs typeface="Calibri"/>
              </a:rPr>
              <a:t> + </a:t>
            </a:r>
            <a:r>
              <a:rPr lang="en-US" err="1">
                <a:ea typeface="Calibri"/>
                <a:cs typeface="Calibri"/>
              </a:rPr>
              <a:t>b</a:t>
            </a:r>
            <a:r>
              <a:rPr lang="en-US" baseline="-25000" err="1">
                <a:ea typeface="Calibri"/>
                <a:cs typeface="Calibri"/>
              </a:rPr>
              <a:t>j</a:t>
            </a:r>
            <a:endParaRPr lang="en-US" baseline="-25000">
              <a:ea typeface="Calibri"/>
              <a:cs typeface="Calibri"/>
            </a:endParaRPr>
          </a:p>
          <a:p>
            <a:pPr lvl="1"/>
            <a:r>
              <a:rPr lang="en-US">
                <a:solidFill>
                  <a:schemeClr val="accent6">
                    <a:lumMod val="76000"/>
                  </a:schemeClr>
                </a:solidFill>
                <a:ea typeface="Calibri"/>
                <a:cs typeface="Calibri"/>
              </a:rPr>
              <a:t>Called broadcasting since vector b added to each row of A</a:t>
            </a:r>
            <a:endParaRPr lang="en-US" sz="2800">
              <a:solidFill>
                <a:schemeClr val="accent6">
                  <a:lumMod val="76000"/>
                </a:schemeClr>
              </a:solidFill>
              <a:ea typeface="Calibri"/>
              <a:cs typeface="Calibri"/>
            </a:endParaRPr>
          </a:p>
        </p:txBody>
      </p:sp>
    </p:spTree>
    <p:extLst>
      <p:ext uri="{BB962C8B-B14F-4D97-AF65-F5344CB8AC3E}">
        <p14:creationId xmlns:p14="http://schemas.microsoft.com/office/powerpoint/2010/main" val="1361530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202B5-9266-C76C-D193-47E33273E829}"/>
              </a:ext>
            </a:extLst>
          </p:cNvPr>
          <p:cNvSpPr>
            <a:spLocks noGrp="1"/>
          </p:cNvSpPr>
          <p:nvPr>
            <p:ph type="title"/>
          </p:nvPr>
        </p:nvSpPr>
        <p:spPr/>
        <p:txBody>
          <a:bodyPr>
            <a:normAutofit fontScale="90000"/>
          </a:bodyPr>
          <a:lstStyle/>
          <a:p>
            <a:r>
              <a:rPr lang="en-US">
                <a:ea typeface="Calibri Light"/>
                <a:cs typeface="Calibri Light"/>
              </a:rPr>
              <a:t>Multiplying Matrices</a:t>
            </a:r>
            <a:endParaRPr lang="en-US"/>
          </a:p>
        </p:txBody>
      </p:sp>
      <p:sp>
        <p:nvSpPr>
          <p:cNvPr id="3" name="Content Placeholder 2">
            <a:extLst>
              <a:ext uri="{FF2B5EF4-FFF2-40B4-BE49-F238E27FC236}">
                <a16:creationId xmlns:a16="http://schemas.microsoft.com/office/drawing/2014/main" id="{99B0644A-AFDA-6F86-8BFB-AD65EE9F091C}"/>
              </a:ext>
            </a:extLst>
          </p:cNvPr>
          <p:cNvSpPr>
            <a:spLocks noGrp="1"/>
          </p:cNvSpPr>
          <p:nvPr>
            <p:ph idx="1"/>
          </p:nvPr>
        </p:nvSpPr>
        <p:spPr/>
        <p:txBody>
          <a:bodyPr vert="horz" lIns="91440" tIns="45720" rIns="91440" bIns="45720" rtlCol="0" anchor="t">
            <a:normAutofit/>
          </a:bodyPr>
          <a:lstStyle/>
          <a:p>
            <a:r>
              <a:rPr lang="en-US">
                <a:ea typeface="Calibri"/>
                <a:cs typeface="Calibri"/>
              </a:rPr>
              <a:t>For product C=AB to be defined, A must have same number of columns as the number of rows of B</a:t>
            </a:r>
          </a:p>
          <a:p>
            <a:r>
              <a:rPr lang="en-US" dirty="0">
                <a:ea typeface="Calibri"/>
                <a:cs typeface="Calibri"/>
              </a:rPr>
              <a:t>IF A is of shape </a:t>
            </a:r>
            <a:r>
              <a:rPr lang="en-US" i="1" dirty="0" err="1">
                <a:latin typeface="Consolas"/>
                <a:ea typeface="Calibri"/>
                <a:cs typeface="Calibri"/>
              </a:rPr>
              <a:t>mxn</a:t>
            </a:r>
            <a:r>
              <a:rPr lang="en-US" dirty="0">
                <a:ea typeface="Calibri"/>
                <a:cs typeface="Calibri"/>
              </a:rPr>
              <a:t> and B is of shape </a:t>
            </a:r>
            <a:r>
              <a:rPr lang="en-US" i="1" dirty="0" err="1">
                <a:latin typeface="Consolas"/>
                <a:ea typeface="Calibri"/>
                <a:cs typeface="Calibri"/>
              </a:rPr>
              <a:t>nxp</a:t>
            </a:r>
            <a:r>
              <a:rPr lang="en-US" dirty="0">
                <a:ea typeface="Calibri"/>
                <a:cs typeface="Calibri"/>
              </a:rPr>
              <a:t> then matrix product C is of shape </a:t>
            </a:r>
            <a:r>
              <a:rPr lang="en-US" i="1" dirty="0" err="1">
                <a:latin typeface="Consolas"/>
                <a:ea typeface="Calibri"/>
                <a:cs typeface="Calibri"/>
              </a:rPr>
              <a:t>mxp</a:t>
            </a:r>
            <a:endParaRPr lang="en-US" i="1">
              <a:latin typeface="Consolas"/>
              <a:ea typeface="Calibri"/>
              <a:cs typeface="Calibri"/>
            </a:endParaRPr>
          </a:p>
          <a:p>
            <a:endParaRPr lang="en-US">
              <a:ea typeface="Calibri"/>
              <a:cs typeface="Calibri"/>
            </a:endParaRPr>
          </a:p>
          <a:p>
            <a:endParaRPr lang="en-US">
              <a:ea typeface="Calibri"/>
              <a:cs typeface="Calibri"/>
            </a:endParaRPr>
          </a:p>
          <a:p>
            <a:pPr marL="0" indent="0">
              <a:buNone/>
            </a:pPr>
            <a:endParaRPr lang="en-US">
              <a:ea typeface="Calibri"/>
              <a:cs typeface="Calibri"/>
            </a:endParaRPr>
          </a:p>
          <a:p>
            <a:r>
              <a:rPr lang="en-US">
                <a:ea typeface="Calibri"/>
                <a:cs typeface="Calibri"/>
              </a:rPr>
              <a:t>Note that the standard product of two matrices is not just the product of two individual elements</a:t>
            </a:r>
          </a:p>
          <a:p>
            <a:pPr lvl="1"/>
            <a:r>
              <a:rPr lang="en-US">
                <a:solidFill>
                  <a:schemeClr val="accent6">
                    <a:lumMod val="76000"/>
                  </a:schemeClr>
                </a:solidFill>
                <a:ea typeface="Calibri"/>
                <a:cs typeface="Calibri"/>
              </a:rPr>
              <a:t>Such a product does exist and is called the element wise product or Hadamard product</a:t>
            </a:r>
          </a:p>
        </p:txBody>
      </p:sp>
      <p:pic>
        <p:nvPicPr>
          <p:cNvPr id="4" name="Picture 3">
            <a:extLst>
              <a:ext uri="{FF2B5EF4-FFF2-40B4-BE49-F238E27FC236}">
                <a16:creationId xmlns:a16="http://schemas.microsoft.com/office/drawing/2014/main" id="{475527F6-765C-AD74-648C-DCFDA5F20104}"/>
              </a:ext>
            </a:extLst>
          </p:cNvPr>
          <p:cNvPicPr>
            <a:picLocks noChangeAspect="1"/>
          </p:cNvPicPr>
          <p:nvPr/>
        </p:nvPicPr>
        <p:blipFill>
          <a:blip r:embed="rId2"/>
          <a:stretch>
            <a:fillRect/>
          </a:stretch>
        </p:blipFill>
        <p:spPr>
          <a:xfrm>
            <a:off x="3042249" y="3059321"/>
            <a:ext cx="3519578" cy="854375"/>
          </a:xfrm>
          <a:prstGeom prst="rect">
            <a:avLst/>
          </a:prstGeom>
        </p:spPr>
      </p:pic>
      <p:pic>
        <p:nvPicPr>
          <p:cNvPr id="5" name="Picture 4" descr="A black and white logo&#10;&#10;AI-generated content may be incorrect.">
            <a:extLst>
              <a:ext uri="{FF2B5EF4-FFF2-40B4-BE49-F238E27FC236}">
                <a16:creationId xmlns:a16="http://schemas.microsoft.com/office/drawing/2014/main" id="{B3A32679-90C0-A457-9161-B9A528D11B3C}"/>
              </a:ext>
            </a:extLst>
          </p:cNvPr>
          <p:cNvPicPr>
            <a:picLocks noChangeAspect="1"/>
          </p:cNvPicPr>
          <p:nvPr/>
        </p:nvPicPr>
        <p:blipFill>
          <a:blip r:embed="rId3"/>
          <a:stretch>
            <a:fillRect/>
          </a:stretch>
        </p:blipFill>
        <p:spPr>
          <a:xfrm>
            <a:off x="2497707" y="5698286"/>
            <a:ext cx="1517530" cy="637277"/>
          </a:xfrm>
          <a:prstGeom prst="rect">
            <a:avLst/>
          </a:prstGeom>
        </p:spPr>
      </p:pic>
    </p:spTree>
    <p:extLst>
      <p:ext uri="{BB962C8B-B14F-4D97-AF65-F5344CB8AC3E}">
        <p14:creationId xmlns:p14="http://schemas.microsoft.com/office/powerpoint/2010/main" val="777501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831DE-ABC6-F010-F6DE-1DE79EC00C11}"/>
              </a:ext>
            </a:extLst>
          </p:cNvPr>
          <p:cNvSpPr>
            <a:spLocks noGrp="1"/>
          </p:cNvSpPr>
          <p:nvPr>
            <p:ph type="title"/>
          </p:nvPr>
        </p:nvSpPr>
        <p:spPr/>
        <p:txBody>
          <a:bodyPr>
            <a:normAutofit fontScale="90000"/>
          </a:bodyPr>
          <a:lstStyle/>
          <a:p>
            <a:r>
              <a:rPr lang="en-US">
                <a:ea typeface="Calibri Light"/>
                <a:cs typeface="Calibri Light"/>
              </a:rPr>
              <a:t>Multiplying Vectors</a:t>
            </a:r>
            <a:endParaRPr lang="en-US"/>
          </a:p>
        </p:txBody>
      </p:sp>
      <p:sp>
        <p:nvSpPr>
          <p:cNvPr id="3" name="Content Placeholder 2">
            <a:extLst>
              <a:ext uri="{FF2B5EF4-FFF2-40B4-BE49-F238E27FC236}">
                <a16:creationId xmlns:a16="http://schemas.microsoft.com/office/drawing/2014/main" id="{3DB5467A-DA70-2F8D-DDFD-9F91317B41A9}"/>
              </a:ext>
            </a:extLst>
          </p:cNvPr>
          <p:cNvSpPr>
            <a:spLocks noGrp="1"/>
          </p:cNvSpPr>
          <p:nvPr>
            <p:ph idx="1"/>
          </p:nvPr>
        </p:nvSpPr>
        <p:spPr/>
        <p:txBody>
          <a:bodyPr vert="horz" lIns="91440" tIns="45720" rIns="91440" bIns="45720" rtlCol="0" anchor="t">
            <a:normAutofit/>
          </a:bodyPr>
          <a:lstStyle/>
          <a:p>
            <a:r>
              <a:rPr lang="en-US">
                <a:ea typeface="Calibri"/>
                <a:cs typeface="Calibri"/>
              </a:rPr>
              <a:t>Dot product between two vectors x and y of same dimensionality is the matrix product </a:t>
            </a:r>
            <a:r>
              <a:rPr lang="en-US" err="1">
                <a:ea typeface="Calibri"/>
                <a:cs typeface="Calibri"/>
              </a:rPr>
              <a:t>x</a:t>
            </a:r>
            <a:r>
              <a:rPr lang="en-US" baseline="30000" err="1">
                <a:ea typeface="Calibri"/>
                <a:cs typeface="Calibri"/>
              </a:rPr>
              <a:t>T</a:t>
            </a:r>
            <a:r>
              <a:rPr lang="en-US" err="1">
                <a:ea typeface="Calibri"/>
                <a:cs typeface="Calibri"/>
              </a:rPr>
              <a:t>y</a:t>
            </a:r>
            <a:endParaRPr lang="en-US">
              <a:ea typeface="Calibri"/>
              <a:cs typeface="Calibri"/>
            </a:endParaRPr>
          </a:p>
          <a:p>
            <a:r>
              <a:rPr lang="en-US">
                <a:ea typeface="Calibri"/>
                <a:cs typeface="Calibri"/>
              </a:rPr>
              <a:t>We can think of matrix product C=AB as computing </a:t>
            </a:r>
            <a:r>
              <a:rPr lang="en-US" err="1">
                <a:ea typeface="Calibri"/>
                <a:cs typeface="Calibri"/>
              </a:rPr>
              <a:t>C</a:t>
            </a:r>
            <a:r>
              <a:rPr lang="en-US" baseline="-25000" err="1">
                <a:ea typeface="Calibri"/>
                <a:cs typeface="Calibri"/>
              </a:rPr>
              <a:t>ij</a:t>
            </a:r>
            <a:r>
              <a:rPr lang="en-US">
                <a:ea typeface="Calibri"/>
                <a:cs typeface="Calibri"/>
              </a:rPr>
              <a:t> - the dot product of row </a:t>
            </a:r>
            <a:r>
              <a:rPr lang="en-US" err="1">
                <a:ea typeface="Calibri"/>
                <a:cs typeface="Calibri"/>
              </a:rPr>
              <a:t>i</a:t>
            </a:r>
            <a:r>
              <a:rPr lang="en-US">
                <a:ea typeface="Calibri"/>
                <a:cs typeface="Calibri"/>
              </a:rPr>
              <a:t> of A and column j of B</a:t>
            </a:r>
          </a:p>
        </p:txBody>
      </p:sp>
    </p:spTree>
    <p:extLst>
      <p:ext uri="{BB962C8B-B14F-4D97-AF65-F5344CB8AC3E}">
        <p14:creationId xmlns:p14="http://schemas.microsoft.com/office/powerpoint/2010/main" val="2265543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A1B12-0F61-5E92-59E8-AD075FA5BBB1}"/>
              </a:ext>
            </a:extLst>
          </p:cNvPr>
          <p:cNvSpPr>
            <a:spLocks noGrp="1"/>
          </p:cNvSpPr>
          <p:nvPr>
            <p:ph type="title"/>
          </p:nvPr>
        </p:nvSpPr>
        <p:spPr/>
        <p:txBody>
          <a:bodyPr>
            <a:normAutofit fontScale="90000"/>
          </a:bodyPr>
          <a:lstStyle/>
          <a:p>
            <a:r>
              <a:rPr lang="en-US">
                <a:ea typeface="Calibri Light"/>
                <a:cs typeface="Calibri Light"/>
              </a:rPr>
              <a:t>Matrix Prodcut Properties</a:t>
            </a:r>
            <a:endParaRPr lang="en-US"/>
          </a:p>
        </p:txBody>
      </p:sp>
      <p:sp>
        <p:nvSpPr>
          <p:cNvPr id="3" name="Content Placeholder 2">
            <a:extLst>
              <a:ext uri="{FF2B5EF4-FFF2-40B4-BE49-F238E27FC236}">
                <a16:creationId xmlns:a16="http://schemas.microsoft.com/office/drawing/2014/main" id="{BC6EE13C-A2F4-5DA9-FE5D-B1C069773823}"/>
              </a:ext>
            </a:extLst>
          </p:cNvPr>
          <p:cNvSpPr>
            <a:spLocks noGrp="1"/>
          </p:cNvSpPr>
          <p:nvPr>
            <p:ph idx="1"/>
          </p:nvPr>
        </p:nvSpPr>
        <p:spPr/>
        <p:txBody>
          <a:bodyPr vert="horz" lIns="91440" tIns="45720" rIns="91440" bIns="45720" rtlCol="0" anchor="t">
            <a:normAutofit/>
          </a:bodyPr>
          <a:lstStyle/>
          <a:p>
            <a:r>
              <a:rPr lang="en-US">
                <a:ea typeface="Calibri"/>
                <a:cs typeface="Calibri"/>
              </a:rPr>
              <a:t>Distributivity over addition: A(B+C) = AB + AC</a:t>
            </a:r>
          </a:p>
          <a:p>
            <a:r>
              <a:rPr lang="en-US">
                <a:ea typeface="Calibri"/>
                <a:cs typeface="Calibri"/>
              </a:rPr>
              <a:t>Associativity: A(BC) = (AB)C</a:t>
            </a:r>
          </a:p>
          <a:p>
            <a:r>
              <a:rPr lang="en-US">
                <a:ea typeface="Calibri"/>
                <a:cs typeface="Calibri"/>
              </a:rPr>
              <a:t>Not commutative: AB = AB is not always true</a:t>
            </a:r>
          </a:p>
          <a:p>
            <a:r>
              <a:rPr lang="en-US">
                <a:ea typeface="Calibri"/>
                <a:cs typeface="Calibri"/>
              </a:rPr>
              <a:t>Dot product between vectors is commutative: </a:t>
            </a:r>
            <a:r>
              <a:rPr lang="en-US" err="1">
                <a:ea typeface="Calibri"/>
                <a:cs typeface="Calibri"/>
              </a:rPr>
              <a:t>x</a:t>
            </a:r>
            <a:r>
              <a:rPr lang="en-US" baseline="30000" err="1">
                <a:ea typeface="Calibri"/>
                <a:cs typeface="Calibri"/>
              </a:rPr>
              <a:t>T</a:t>
            </a:r>
            <a:r>
              <a:rPr lang="en-US" err="1">
                <a:ea typeface="Calibri"/>
                <a:cs typeface="Calibri"/>
              </a:rPr>
              <a:t>y</a:t>
            </a:r>
            <a:r>
              <a:rPr lang="en-US">
                <a:ea typeface="Calibri"/>
                <a:cs typeface="Calibri"/>
              </a:rPr>
              <a:t> = </a:t>
            </a:r>
            <a:r>
              <a:rPr lang="en-US" err="1">
                <a:ea typeface="Calibri"/>
                <a:cs typeface="Calibri"/>
              </a:rPr>
              <a:t>y</a:t>
            </a:r>
            <a:r>
              <a:rPr lang="en-US" baseline="30000" err="1">
                <a:ea typeface="Calibri"/>
                <a:cs typeface="Calibri"/>
              </a:rPr>
              <a:t>T</a:t>
            </a:r>
            <a:r>
              <a:rPr lang="en-US" err="1">
                <a:ea typeface="Calibri"/>
                <a:cs typeface="Calibri"/>
              </a:rPr>
              <a:t>x</a:t>
            </a:r>
          </a:p>
          <a:p>
            <a:r>
              <a:rPr lang="en-US">
                <a:ea typeface="Calibri"/>
                <a:cs typeface="Calibri"/>
              </a:rPr>
              <a:t>Transpose of a matrix product has a simple form: (AB)</a:t>
            </a:r>
            <a:r>
              <a:rPr lang="en-US" baseline="30000">
                <a:ea typeface="Calibri"/>
                <a:cs typeface="Calibri"/>
              </a:rPr>
              <a:t>T</a:t>
            </a:r>
            <a:r>
              <a:rPr lang="en-US">
                <a:ea typeface="Calibri"/>
                <a:cs typeface="Calibri"/>
              </a:rPr>
              <a:t> = B</a:t>
            </a:r>
            <a:r>
              <a:rPr lang="en-US" baseline="30000">
                <a:ea typeface="Calibri"/>
                <a:cs typeface="Calibri"/>
              </a:rPr>
              <a:t>T</a:t>
            </a:r>
            <a:r>
              <a:rPr lang="en-US">
                <a:ea typeface="Calibri"/>
                <a:cs typeface="Calibri"/>
              </a:rPr>
              <a:t>A</a:t>
            </a:r>
            <a:r>
              <a:rPr lang="en-US" baseline="30000">
                <a:ea typeface="Calibri"/>
                <a:cs typeface="Calibri"/>
              </a:rPr>
              <a:t>T</a:t>
            </a:r>
          </a:p>
        </p:txBody>
      </p:sp>
    </p:spTree>
    <p:extLst>
      <p:ext uri="{BB962C8B-B14F-4D97-AF65-F5344CB8AC3E}">
        <p14:creationId xmlns:p14="http://schemas.microsoft.com/office/powerpoint/2010/main" val="3457059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579B-F204-3590-BF0A-3774C85F8762}"/>
              </a:ext>
            </a:extLst>
          </p:cNvPr>
          <p:cNvSpPr>
            <a:spLocks noGrp="1"/>
          </p:cNvSpPr>
          <p:nvPr>
            <p:ph type="title"/>
          </p:nvPr>
        </p:nvSpPr>
        <p:spPr/>
        <p:txBody>
          <a:bodyPr>
            <a:normAutofit fontScale="90000"/>
          </a:bodyPr>
          <a:lstStyle/>
          <a:p>
            <a:r>
              <a:rPr lang="en-US">
                <a:ea typeface="Calibri Light"/>
                <a:cs typeface="Calibri Light"/>
              </a:rPr>
              <a:t>Example of tensors in ML</a:t>
            </a:r>
            <a:endParaRPr lang="en-US"/>
          </a:p>
        </p:txBody>
      </p:sp>
      <p:pic>
        <p:nvPicPr>
          <p:cNvPr id="4" name="Content Placeholder 3" descr="A screenshot of a computer&#10;&#10;AI-generated content may be incorrect.">
            <a:extLst>
              <a:ext uri="{FF2B5EF4-FFF2-40B4-BE49-F238E27FC236}">
                <a16:creationId xmlns:a16="http://schemas.microsoft.com/office/drawing/2014/main" id="{5BEF1A68-579F-3787-4E30-2FF33AF5596C}"/>
              </a:ext>
            </a:extLst>
          </p:cNvPr>
          <p:cNvPicPr>
            <a:picLocks noGrp="1" noChangeAspect="1"/>
          </p:cNvPicPr>
          <p:nvPr>
            <p:ph idx="1"/>
          </p:nvPr>
        </p:nvPicPr>
        <p:blipFill>
          <a:blip r:embed="rId2"/>
          <a:stretch>
            <a:fillRect/>
          </a:stretch>
        </p:blipFill>
        <p:spPr>
          <a:xfrm>
            <a:off x="1281219" y="831640"/>
            <a:ext cx="10000229" cy="5898520"/>
          </a:xfrm>
          <a:prstGeom prst="rect">
            <a:avLst/>
          </a:prstGeom>
        </p:spPr>
      </p:pic>
    </p:spTree>
    <p:extLst>
      <p:ext uri="{BB962C8B-B14F-4D97-AF65-F5344CB8AC3E}">
        <p14:creationId xmlns:p14="http://schemas.microsoft.com/office/powerpoint/2010/main" val="4127786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68709-D4BA-4F9F-69FE-B0D9D3645B25}"/>
              </a:ext>
            </a:extLst>
          </p:cNvPr>
          <p:cNvSpPr>
            <a:spLocks noGrp="1"/>
          </p:cNvSpPr>
          <p:nvPr>
            <p:ph type="title"/>
          </p:nvPr>
        </p:nvSpPr>
        <p:spPr/>
        <p:txBody>
          <a:bodyPr>
            <a:normAutofit fontScale="90000"/>
          </a:bodyPr>
          <a:lstStyle/>
          <a:p>
            <a:r>
              <a:rPr lang="en-US">
                <a:ea typeface="Calibri Light"/>
                <a:cs typeface="Calibri Light"/>
              </a:rPr>
              <a:t>Linear Transformations</a:t>
            </a:r>
            <a:endParaRPr lang="en-US"/>
          </a:p>
        </p:txBody>
      </p:sp>
      <p:pic>
        <p:nvPicPr>
          <p:cNvPr id="4" name="Picture 3">
            <a:extLst>
              <a:ext uri="{FF2B5EF4-FFF2-40B4-BE49-F238E27FC236}">
                <a16:creationId xmlns:a16="http://schemas.microsoft.com/office/drawing/2014/main" id="{E6D910AB-8544-247A-D72B-0439DAD25203}"/>
              </a:ext>
            </a:extLst>
          </p:cNvPr>
          <p:cNvPicPr>
            <a:picLocks noChangeAspect="1"/>
          </p:cNvPicPr>
          <p:nvPr/>
        </p:nvPicPr>
        <p:blipFill>
          <a:blip r:embed="rId2"/>
          <a:stretch>
            <a:fillRect/>
          </a:stretch>
        </p:blipFill>
        <p:spPr>
          <a:xfrm>
            <a:off x="1644254" y="920150"/>
            <a:ext cx="9306058" cy="5377133"/>
          </a:xfrm>
          <a:prstGeom prst="rect">
            <a:avLst/>
          </a:prstGeom>
        </p:spPr>
      </p:pic>
    </p:spTree>
    <p:extLst>
      <p:ext uri="{BB962C8B-B14F-4D97-AF65-F5344CB8AC3E}">
        <p14:creationId xmlns:p14="http://schemas.microsoft.com/office/powerpoint/2010/main" val="774190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27D5D-6A40-D3DE-B977-F4D9FAF53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0D3C4-B8BB-464C-033B-4C07AD9F9129}"/>
              </a:ext>
            </a:extLst>
          </p:cNvPr>
          <p:cNvSpPr>
            <a:spLocks noGrp="1"/>
          </p:cNvSpPr>
          <p:nvPr>
            <p:ph type="title"/>
          </p:nvPr>
        </p:nvSpPr>
        <p:spPr/>
        <p:txBody>
          <a:bodyPr>
            <a:normAutofit fontScale="90000"/>
          </a:bodyPr>
          <a:lstStyle/>
          <a:p>
            <a:r>
              <a:rPr lang="en-US">
                <a:ea typeface="Calibri Light"/>
                <a:cs typeface="Calibri Light"/>
              </a:rPr>
              <a:t>Span of a set of vectors</a:t>
            </a:r>
            <a:endParaRPr lang="en-US"/>
          </a:p>
        </p:txBody>
      </p:sp>
      <p:pic>
        <p:nvPicPr>
          <p:cNvPr id="3" name="Picture 2" descr="A white background with green and purple text&#10;&#10;AI-generated content may be incorrect.">
            <a:extLst>
              <a:ext uri="{FF2B5EF4-FFF2-40B4-BE49-F238E27FC236}">
                <a16:creationId xmlns:a16="http://schemas.microsoft.com/office/drawing/2014/main" id="{5AF8EF74-F4BB-59DD-FE39-5F813622ED8E}"/>
              </a:ext>
            </a:extLst>
          </p:cNvPr>
          <p:cNvPicPr>
            <a:picLocks noChangeAspect="1"/>
          </p:cNvPicPr>
          <p:nvPr/>
        </p:nvPicPr>
        <p:blipFill>
          <a:blip r:embed="rId2"/>
          <a:stretch>
            <a:fillRect/>
          </a:stretch>
        </p:blipFill>
        <p:spPr>
          <a:xfrm>
            <a:off x="1275883" y="819508"/>
            <a:ext cx="9367064" cy="5865964"/>
          </a:xfrm>
          <a:prstGeom prst="rect">
            <a:avLst/>
          </a:prstGeom>
        </p:spPr>
      </p:pic>
    </p:spTree>
    <p:extLst>
      <p:ext uri="{BB962C8B-B14F-4D97-AF65-F5344CB8AC3E}">
        <p14:creationId xmlns:p14="http://schemas.microsoft.com/office/powerpoint/2010/main" val="1949008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5A4F-A5F8-81AE-C6E7-A4F8CF3BA3CF}"/>
              </a:ext>
            </a:extLst>
          </p:cNvPr>
          <p:cNvSpPr>
            <a:spLocks noGrp="1"/>
          </p:cNvSpPr>
          <p:nvPr>
            <p:ph type="title"/>
          </p:nvPr>
        </p:nvSpPr>
        <p:spPr/>
        <p:txBody>
          <a:bodyPr>
            <a:normAutofit fontScale="90000"/>
          </a:bodyPr>
          <a:lstStyle/>
          <a:p>
            <a:r>
              <a:rPr lang="en-US">
                <a:ea typeface="Calibri Light"/>
                <a:cs typeface="Calibri Light"/>
              </a:rPr>
              <a:t>Span of a set of vectors</a:t>
            </a:r>
            <a:endParaRPr lang="en-US"/>
          </a:p>
        </p:txBody>
      </p:sp>
      <p:sp>
        <p:nvSpPr>
          <p:cNvPr id="3" name="Content Placeholder 2">
            <a:extLst>
              <a:ext uri="{FF2B5EF4-FFF2-40B4-BE49-F238E27FC236}">
                <a16:creationId xmlns:a16="http://schemas.microsoft.com/office/drawing/2014/main" id="{F1B8E368-5F41-76FB-2B28-949BB61824A3}"/>
              </a:ext>
            </a:extLst>
          </p:cNvPr>
          <p:cNvSpPr>
            <a:spLocks noGrp="1"/>
          </p:cNvSpPr>
          <p:nvPr>
            <p:ph idx="1"/>
          </p:nvPr>
        </p:nvSpPr>
        <p:spPr/>
        <p:txBody>
          <a:bodyPr vert="horz" lIns="91440" tIns="45720" rIns="91440" bIns="45720" rtlCol="0" anchor="t">
            <a:normAutofit fontScale="85000" lnSpcReduction="10000"/>
          </a:bodyPr>
          <a:lstStyle/>
          <a:p>
            <a:r>
              <a:rPr lang="en-US" dirty="0">
                <a:solidFill>
                  <a:srgbClr val="0023BF"/>
                </a:solidFill>
                <a:ea typeface="+mn-lt"/>
                <a:cs typeface="+mn-lt"/>
              </a:rPr>
              <a:t>If you have one nonzero vector in R</a:t>
            </a:r>
            <a:r>
              <a:rPr lang="en-US" baseline="30000" dirty="0">
                <a:solidFill>
                  <a:srgbClr val="0023BF"/>
                </a:solidFill>
                <a:ea typeface="+mn-lt"/>
                <a:cs typeface="+mn-lt"/>
              </a:rPr>
              <a:t>2</a:t>
            </a:r>
            <a:endParaRPr lang="en-US" baseline="30000" dirty="0">
              <a:solidFill>
                <a:srgbClr val="0023BF"/>
              </a:solidFill>
              <a:ea typeface="Calibri"/>
              <a:cs typeface="Calibri"/>
            </a:endParaRPr>
          </a:p>
          <a:p>
            <a:pPr lvl="1"/>
            <a:r>
              <a:rPr lang="en-US" dirty="0">
                <a:solidFill>
                  <a:schemeClr val="accent6">
                    <a:lumMod val="76000"/>
                  </a:schemeClr>
                </a:solidFill>
                <a:ea typeface="+mn-lt"/>
                <a:cs typeface="+mn-lt"/>
              </a:rPr>
              <a:t>Its span is a line through the origin in the direction of that vector.</a:t>
            </a:r>
            <a:endParaRPr lang="en-US" dirty="0">
              <a:solidFill>
                <a:schemeClr val="accent6">
                  <a:lumMod val="76000"/>
                </a:schemeClr>
              </a:solidFill>
              <a:ea typeface="Calibri"/>
              <a:cs typeface="Calibri"/>
            </a:endParaRPr>
          </a:p>
          <a:p>
            <a:r>
              <a:rPr lang="en-US" dirty="0">
                <a:solidFill>
                  <a:srgbClr val="0023BF"/>
                </a:solidFill>
                <a:ea typeface="+mn-lt"/>
                <a:cs typeface="+mn-lt"/>
              </a:rPr>
              <a:t>If you have two linearly independent vectors in R</a:t>
            </a:r>
            <a:r>
              <a:rPr lang="en-US" baseline="30000" dirty="0">
                <a:solidFill>
                  <a:srgbClr val="0023BF"/>
                </a:solidFill>
                <a:ea typeface="+mn-lt"/>
                <a:cs typeface="+mn-lt"/>
              </a:rPr>
              <a:t>2</a:t>
            </a:r>
            <a:endParaRPr lang="en-US" dirty="0">
              <a:solidFill>
                <a:srgbClr val="0023BF"/>
              </a:solidFill>
              <a:ea typeface="Calibri"/>
              <a:cs typeface="Calibri"/>
            </a:endParaRPr>
          </a:p>
          <a:p>
            <a:pPr lvl="1"/>
            <a:r>
              <a:rPr lang="en-US" dirty="0">
                <a:solidFill>
                  <a:schemeClr val="accent6">
                    <a:lumMod val="76000"/>
                  </a:schemeClr>
                </a:solidFill>
                <a:ea typeface="+mn-lt"/>
                <a:cs typeface="+mn-lt"/>
              </a:rPr>
              <a:t>Their span is the entire plane R</a:t>
            </a:r>
            <a:r>
              <a:rPr lang="en-US" baseline="30000" dirty="0">
                <a:solidFill>
                  <a:schemeClr val="accent6">
                    <a:lumMod val="76000"/>
                  </a:schemeClr>
                </a:solidFill>
                <a:ea typeface="+mn-lt"/>
                <a:cs typeface="+mn-lt"/>
              </a:rPr>
              <a:t>2</a:t>
            </a:r>
            <a:endParaRPr lang="en-US" baseline="30000" dirty="0">
              <a:solidFill>
                <a:schemeClr val="accent6">
                  <a:lumMod val="76000"/>
                </a:schemeClr>
              </a:solidFill>
              <a:ea typeface="Calibri"/>
              <a:cs typeface="Calibri"/>
            </a:endParaRPr>
          </a:p>
          <a:p>
            <a:r>
              <a:rPr lang="en-US" dirty="0">
                <a:solidFill>
                  <a:srgbClr val="0023BF"/>
                </a:solidFill>
                <a:ea typeface="+mn-lt"/>
                <a:cs typeface="+mn-lt"/>
              </a:rPr>
              <a:t>If you have two linearly independent vectors in R</a:t>
            </a:r>
            <a:r>
              <a:rPr lang="en-US" baseline="30000" dirty="0">
                <a:solidFill>
                  <a:srgbClr val="0023BF"/>
                </a:solidFill>
                <a:ea typeface="+mn-lt"/>
                <a:cs typeface="+mn-lt"/>
              </a:rPr>
              <a:t>3</a:t>
            </a:r>
            <a:endParaRPr lang="en-US" baseline="30000" dirty="0">
              <a:solidFill>
                <a:srgbClr val="0023BF"/>
              </a:solidFill>
              <a:ea typeface="Calibri"/>
              <a:cs typeface="Calibri"/>
            </a:endParaRPr>
          </a:p>
          <a:p>
            <a:pPr lvl="1"/>
            <a:r>
              <a:rPr lang="en-US">
                <a:solidFill>
                  <a:schemeClr val="accent6">
                    <a:lumMod val="76000"/>
                  </a:schemeClr>
                </a:solidFill>
                <a:ea typeface="+mn-lt"/>
                <a:cs typeface="+mn-lt"/>
              </a:rPr>
              <a:t>Their span is a plane through the origin in R</a:t>
            </a:r>
            <a:r>
              <a:rPr lang="en-US" baseline="30000">
                <a:solidFill>
                  <a:schemeClr val="accent6">
                    <a:lumMod val="76000"/>
                  </a:schemeClr>
                </a:solidFill>
                <a:ea typeface="+mn-lt"/>
                <a:cs typeface="+mn-lt"/>
              </a:rPr>
              <a:t>2</a:t>
            </a:r>
            <a:endParaRPr lang="en-US" baseline="30000">
              <a:solidFill>
                <a:schemeClr val="accent6">
                  <a:lumMod val="76000"/>
                </a:schemeClr>
              </a:solidFill>
              <a:ea typeface="Calibri"/>
              <a:cs typeface="Calibri"/>
            </a:endParaRPr>
          </a:p>
          <a:p>
            <a:r>
              <a:rPr lang="en-US" dirty="0">
                <a:solidFill>
                  <a:srgbClr val="0023BF"/>
                </a:solidFill>
                <a:ea typeface="+mn-lt"/>
                <a:cs typeface="+mn-lt"/>
              </a:rPr>
              <a:t>If you have three linearly independent vectors in R</a:t>
            </a:r>
            <a:r>
              <a:rPr lang="en-US" baseline="30000" dirty="0">
                <a:solidFill>
                  <a:srgbClr val="0023BF"/>
                </a:solidFill>
                <a:ea typeface="+mn-lt"/>
                <a:cs typeface="+mn-lt"/>
              </a:rPr>
              <a:t>3</a:t>
            </a:r>
            <a:endParaRPr lang="en-US" baseline="30000" dirty="0">
              <a:solidFill>
                <a:srgbClr val="0023BF"/>
              </a:solidFill>
              <a:ea typeface="Calibri"/>
              <a:cs typeface="Calibri"/>
            </a:endParaRPr>
          </a:p>
          <a:p>
            <a:pPr lvl="1"/>
            <a:r>
              <a:rPr lang="en-US" dirty="0">
                <a:solidFill>
                  <a:schemeClr val="accent6">
                    <a:lumMod val="76000"/>
                  </a:schemeClr>
                </a:solidFill>
                <a:ea typeface="+mn-lt"/>
                <a:cs typeface="+mn-lt"/>
              </a:rPr>
              <a:t>Their span is the whole 3D space.</a:t>
            </a:r>
            <a:endParaRPr lang="en-US" dirty="0">
              <a:solidFill>
                <a:schemeClr val="accent6">
                  <a:lumMod val="76000"/>
                </a:schemeClr>
              </a:solidFill>
              <a:ea typeface="Calibri"/>
              <a:cs typeface="Calibri"/>
            </a:endParaRPr>
          </a:p>
          <a:p>
            <a:r>
              <a:rPr lang="en-US" dirty="0">
                <a:solidFill>
                  <a:srgbClr val="0023BF"/>
                </a:solidFill>
                <a:ea typeface="+mn-lt"/>
                <a:cs typeface="+mn-lt"/>
              </a:rPr>
              <a:t>Connection to Machine Learning</a:t>
            </a:r>
            <a:endParaRPr lang="en-US" dirty="0">
              <a:solidFill>
                <a:srgbClr val="0023BF"/>
              </a:solidFill>
              <a:ea typeface="Calibri"/>
              <a:cs typeface="Calibri"/>
            </a:endParaRPr>
          </a:p>
          <a:p>
            <a:pPr lvl="1"/>
            <a:r>
              <a:rPr lang="en-US" dirty="0">
                <a:ea typeface="+mn-lt"/>
                <a:cs typeface="+mn-lt"/>
              </a:rPr>
              <a:t>The span tells us what subspace of the input space can be represented by a set of vectors.</a:t>
            </a:r>
            <a:endParaRPr lang="en-US" dirty="0">
              <a:ea typeface="Calibri"/>
              <a:cs typeface="Calibri"/>
            </a:endParaRPr>
          </a:p>
          <a:p>
            <a:pPr lvl="1"/>
            <a:r>
              <a:rPr lang="en-US" dirty="0">
                <a:ea typeface="+mn-lt"/>
                <a:cs typeface="+mn-lt"/>
              </a:rPr>
              <a:t>In regression, for example, the span of the feature vectors determines what outputs can be represented exactly.</a:t>
            </a:r>
            <a:endParaRPr lang="en-US" dirty="0">
              <a:ea typeface="Calibri"/>
              <a:cs typeface="Calibri"/>
            </a:endParaRPr>
          </a:p>
          <a:p>
            <a:pPr lvl="1"/>
            <a:r>
              <a:rPr lang="en-US" dirty="0">
                <a:ea typeface="+mn-lt"/>
                <a:cs typeface="+mn-lt"/>
              </a:rPr>
              <a:t>In PCA, the top k eigenvectors span the low-dimensional subspace used for dimensionality reduction.</a:t>
            </a:r>
            <a:endParaRPr lang="en-US" dirty="0">
              <a:ea typeface="Calibri"/>
              <a:cs typeface="Calibri"/>
            </a:endParaRPr>
          </a:p>
          <a:p>
            <a:r>
              <a:rPr lang="en-US" b="1" dirty="0">
                <a:solidFill>
                  <a:srgbClr val="C00000"/>
                </a:solidFill>
                <a:ea typeface="+mn-lt"/>
                <a:cs typeface="+mn-lt"/>
              </a:rPr>
              <a:t>In short: The span is the “space you can reach” by combining vectors. It’s like the coverage area formed by scaling and adding your vectors together.</a:t>
            </a:r>
            <a:endParaRPr lang="en-US" b="1" dirty="0">
              <a:solidFill>
                <a:srgbClr val="C00000"/>
              </a:solidFill>
              <a:ea typeface="Calibri"/>
              <a:cs typeface="Calibri"/>
            </a:endParaRPr>
          </a:p>
        </p:txBody>
      </p:sp>
    </p:spTree>
    <p:extLst>
      <p:ext uri="{BB962C8B-B14F-4D97-AF65-F5344CB8AC3E}">
        <p14:creationId xmlns:p14="http://schemas.microsoft.com/office/powerpoint/2010/main" val="304240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91BAD-BBB0-7477-425D-74820D79B2E7}"/>
              </a:ext>
            </a:extLst>
          </p:cNvPr>
          <p:cNvSpPr>
            <a:spLocks noGrp="1"/>
          </p:cNvSpPr>
          <p:nvPr>
            <p:ph type="title"/>
          </p:nvPr>
        </p:nvSpPr>
        <p:spPr/>
        <p:txBody>
          <a:bodyPr>
            <a:normAutofit fontScale="90000"/>
          </a:bodyPr>
          <a:lstStyle/>
          <a:p>
            <a:r>
              <a:rPr lang="en-US" dirty="0">
                <a:ea typeface="Calibri Light"/>
                <a:cs typeface="Calibri Light"/>
              </a:rPr>
              <a:t>Linearly dependent/independent</a:t>
            </a:r>
            <a:endParaRPr lang="en-US" dirty="0"/>
          </a:p>
        </p:txBody>
      </p:sp>
      <p:sp>
        <p:nvSpPr>
          <p:cNvPr id="3" name="Content Placeholder 2">
            <a:extLst>
              <a:ext uri="{FF2B5EF4-FFF2-40B4-BE49-F238E27FC236}">
                <a16:creationId xmlns:a16="http://schemas.microsoft.com/office/drawing/2014/main" id="{E84B5614-8F72-1E87-5C91-2CD5FFEC06E2}"/>
              </a:ext>
            </a:extLst>
          </p:cNvPr>
          <p:cNvSpPr>
            <a:spLocks noGrp="1"/>
          </p:cNvSpPr>
          <p:nvPr>
            <p:ph idx="1"/>
          </p:nvPr>
        </p:nvSpPr>
        <p:spPr/>
        <p:txBody>
          <a:bodyPr vert="horz" lIns="91440" tIns="45720" rIns="91440" bIns="45720" rtlCol="0" anchor="t">
            <a:normAutofit/>
          </a:bodyPr>
          <a:lstStyle/>
          <a:p>
            <a:r>
              <a:rPr lang="en-US" dirty="0">
                <a:solidFill>
                  <a:srgbClr val="0023BF"/>
                </a:solidFill>
                <a:ea typeface="Calibri"/>
                <a:cs typeface="Calibri"/>
              </a:rPr>
              <a:t>Linear Independence</a:t>
            </a:r>
          </a:p>
          <a:p>
            <a:pPr lvl="1"/>
            <a:r>
              <a:rPr lang="en-US" dirty="0">
                <a:solidFill>
                  <a:srgbClr val="38631C"/>
                </a:solidFill>
                <a:ea typeface="Calibri"/>
                <a:cs typeface="Calibri"/>
              </a:rPr>
              <a:t>A set of vectors (or matrix columns) is linearly independent if no vector can be written as a linear combination of the others.</a:t>
            </a:r>
          </a:p>
          <a:p>
            <a:pPr lvl="1"/>
            <a:r>
              <a:rPr lang="en-US" dirty="0">
                <a:solidFill>
                  <a:srgbClr val="38631C"/>
                </a:solidFill>
                <a:ea typeface="Calibri"/>
                <a:cs typeface="Calibri"/>
              </a:rPr>
              <a:t>Example: In ℝ², vectors (1,0) and (0,1) are independent.</a:t>
            </a:r>
            <a:endParaRPr lang="en-US">
              <a:solidFill>
                <a:srgbClr val="38631C"/>
              </a:solidFill>
              <a:ea typeface="Calibri"/>
              <a:cs typeface="Calibri"/>
            </a:endParaRPr>
          </a:p>
          <a:p>
            <a:r>
              <a:rPr lang="en-US" dirty="0">
                <a:solidFill>
                  <a:srgbClr val="0023BF"/>
                </a:solidFill>
                <a:ea typeface="Calibri"/>
                <a:cs typeface="Calibri"/>
              </a:rPr>
              <a:t>Linear Dependence</a:t>
            </a:r>
            <a:endParaRPr lang="en-US">
              <a:solidFill>
                <a:srgbClr val="0023BF"/>
              </a:solidFill>
              <a:ea typeface="Calibri"/>
              <a:cs typeface="Calibri"/>
            </a:endParaRPr>
          </a:p>
          <a:p>
            <a:pPr lvl="1"/>
            <a:r>
              <a:rPr lang="en-US" dirty="0">
                <a:solidFill>
                  <a:srgbClr val="38631C"/>
                </a:solidFill>
                <a:ea typeface="Calibri"/>
                <a:cs typeface="Calibri"/>
              </a:rPr>
              <a:t>A set of vectors (or matrix columns) is linearly dependent if at least one vector can be expressed as a linear combination of others.</a:t>
            </a:r>
          </a:p>
          <a:p>
            <a:pPr lvl="1"/>
            <a:r>
              <a:rPr lang="en-US" dirty="0">
                <a:solidFill>
                  <a:srgbClr val="38631C"/>
                </a:solidFill>
                <a:ea typeface="Calibri"/>
                <a:cs typeface="Calibri"/>
              </a:rPr>
              <a:t>Example: In ℝ², vectors (1,2) and (2,4) are dependent because (2,4) = 2 × (1,2).</a:t>
            </a:r>
          </a:p>
          <a:p>
            <a:r>
              <a:rPr lang="en-US" dirty="0">
                <a:solidFill>
                  <a:srgbClr val="0023BF"/>
                </a:solidFill>
                <a:ea typeface="Calibri"/>
                <a:cs typeface="Calibri"/>
              </a:rPr>
              <a:t>Matrix Perspective</a:t>
            </a:r>
            <a:endParaRPr lang="en-US">
              <a:solidFill>
                <a:srgbClr val="0023BF"/>
              </a:solidFill>
              <a:ea typeface="Calibri"/>
              <a:cs typeface="Calibri"/>
            </a:endParaRPr>
          </a:p>
          <a:p>
            <a:pPr lvl="1">
              <a:buFont typeface="Arial"/>
              <a:buChar char="•"/>
            </a:pPr>
            <a:r>
              <a:rPr lang="en-US" dirty="0">
                <a:solidFill>
                  <a:srgbClr val="38631C"/>
                </a:solidFill>
                <a:ea typeface="Calibri"/>
                <a:cs typeface="Calibri"/>
              </a:rPr>
              <a:t>Columns (or rows) of a matrix are independent if the rank = number of columns (or rows).</a:t>
            </a:r>
          </a:p>
          <a:p>
            <a:pPr lvl="1">
              <a:buFont typeface="Arial"/>
              <a:buChar char="•"/>
            </a:pPr>
            <a:r>
              <a:rPr lang="en-US" dirty="0">
                <a:solidFill>
                  <a:srgbClr val="38631C"/>
                </a:solidFill>
                <a:ea typeface="Calibri"/>
                <a:cs typeface="Calibri"/>
              </a:rPr>
              <a:t>If rank &lt; number of columns, then some columns are dependent.</a:t>
            </a:r>
            <a:endParaRPr lang="en-US">
              <a:solidFill>
                <a:srgbClr val="38631C"/>
              </a:solidFill>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928425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B29E1-7E5A-0817-1982-54CE3E86C67A}"/>
              </a:ext>
            </a:extLst>
          </p:cNvPr>
          <p:cNvSpPr>
            <a:spLocks noGrp="1"/>
          </p:cNvSpPr>
          <p:nvPr>
            <p:ph type="title"/>
          </p:nvPr>
        </p:nvSpPr>
        <p:spPr/>
        <p:txBody>
          <a:bodyPr>
            <a:normAutofit fontScale="90000"/>
          </a:bodyPr>
          <a:lstStyle/>
          <a:p>
            <a:r>
              <a:rPr lang="en-US" dirty="0">
                <a:ea typeface="Calibri Light"/>
                <a:cs typeface="Calibri Light"/>
              </a:rPr>
              <a:t>Norm</a:t>
            </a:r>
            <a:endParaRPr lang="en-US" dirty="0"/>
          </a:p>
        </p:txBody>
      </p:sp>
      <p:sp>
        <p:nvSpPr>
          <p:cNvPr id="3" name="Content Placeholder 2">
            <a:extLst>
              <a:ext uri="{FF2B5EF4-FFF2-40B4-BE49-F238E27FC236}">
                <a16:creationId xmlns:a16="http://schemas.microsoft.com/office/drawing/2014/main" id="{1273EA19-6568-CAB1-C626-041152361222}"/>
              </a:ext>
            </a:extLst>
          </p:cNvPr>
          <p:cNvSpPr>
            <a:spLocks noGrp="1"/>
          </p:cNvSpPr>
          <p:nvPr>
            <p:ph idx="1"/>
          </p:nvPr>
        </p:nvSpPr>
        <p:spPr/>
        <p:txBody>
          <a:bodyPr vert="horz" lIns="91440" tIns="45720" rIns="91440" bIns="45720" rtlCol="0" anchor="t">
            <a:normAutofit/>
          </a:bodyPr>
          <a:lstStyle/>
          <a:p>
            <a:r>
              <a:rPr lang="en-US" dirty="0">
                <a:solidFill>
                  <a:srgbClr val="0023BF"/>
                </a:solidFill>
                <a:ea typeface="+mn-lt"/>
                <a:cs typeface="+mn-lt"/>
              </a:rPr>
              <a:t>Definition</a:t>
            </a:r>
            <a:endParaRPr lang="en-US" dirty="0">
              <a:solidFill>
                <a:srgbClr val="0023BF"/>
              </a:solidFill>
              <a:ea typeface="Calibri"/>
              <a:cs typeface="Calibri"/>
            </a:endParaRPr>
          </a:p>
          <a:p>
            <a:pPr lvl="1">
              <a:buFont typeface="Arial"/>
              <a:buChar char="•"/>
            </a:pPr>
            <a:r>
              <a:rPr lang="en-US" dirty="0">
                <a:solidFill>
                  <a:srgbClr val="38631C"/>
                </a:solidFill>
                <a:ea typeface="+mn-lt"/>
                <a:cs typeface="+mn-lt"/>
              </a:rPr>
              <a:t>A matrix norm is a function that assigns a non-negative value (size/length) to a matrix, similar to vector norms.</a:t>
            </a:r>
          </a:p>
          <a:p>
            <a:pPr lvl="1">
              <a:buFont typeface="Arial"/>
            </a:pPr>
            <a:r>
              <a:rPr lang="en-US" dirty="0">
                <a:solidFill>
                  <a:srgbClr val="38631C"/>
                </a:solidFill>
                <a:ea typeface="+mn-lt"/>
                <a:cs typeface="+mn-lt"/>
              </a:rPr>
              <a:t>A norm is a function that measures the length or magnitude of a vector.</a:t>
            </a:r>
          </a:p>
          <a:p>
            <a:r>
              <a:rPr lang="en-US" dirty="0">
                <a:solidFill>
                  <a:srgbClr val="0023BF"/>
                </a:solidFill>
                <a:ea typeface="+mn-lt"/>
                <a:cs typeface="+mn-lt"/>
              </a:rPr>
              <a:t>Properties of a Norm</a:t>
            </a:r>
            <a:endParaRPr lang="en-US" dirty="0">
              <a:solidFill>
                <a:srgbClr val="0023BF"/>
              </a:solidFill>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4" name="Picture 3" descr="A math equations on a white background&#10;&#10;AI-generated content may be incorrect.">
            <a:extLst>
              <a:ext uri="{FF2B5EF4-FFF2-40B4-BE49-F238E27FC236}">
                <a16:creationId xmlns:a16="http://schemas.microsoft.com/office/drawing/2014/main" id="{D1B9774E-6B25-7A00-14FE-04AC58FA6B3D}"/>
              </a:ext>
            </a:extLst>
          </p:cNvPr>
          <p:cNvPicPr>
            <a:picLocks noChangeAspect="1"/>
          </p:cNvPicPr>
          <p:nvPr/>
        </p:nvPicPr>
        <p:blipFill>
          <a:blip r:embed="rId2"/>
          <a:stretch>
            <a:fillRect/>
          </a:stretch>
        </p:blipFill>
        <p:spPr>
          <a:xfrm>
            <a:off x="1537834" y="3743552"/>
            <a:ext cx="3800475" cy="1457325"/>
          </a:xfrm>
          <a:prstGeom prst="rect">
            <a:avLst/>
          </a:prstGeom>
        </p:spPr>
      </p:pic>
      <p:pic>
        <p:nvPicPr>
          <p:cNvPr id="6" name="Picture 5" descr="A math symbols on a white background&#10;&#10;AI-generated content may be incorrect.">
            <a:extLst>
              <a:ext uri="{FF2B5EF4-FFF2-40B4-BE49-F238E27FC236}">
                <a16:creationId xmlns:a16="http://schemas.microsoft.com/office/drawing/2014/main" id="{36B7E557-7A52-4528-59C5-51FE0D5FF375}"/>
              </a:ext>
            </a:extLst>
          </p:cNvPr>
          <p:cNvPicPr>
            <a:picLocks noChangeAspect="1"/>
          </p:cNvPicPr>
          <p:nvPr/>
        </p:nvPicPr>
        <p:blipFill>
          <a:blip r:embed="rId3"/>
          <a:stretch>
            <a:fillRect/>
          </a:stretch>
        </p:blipFill>
        <p:spPr>
          <a:xfrm>
            <a:off x="6009821" y="4013426"/>
            <a:ext cx="4381500" cy="1171575"/>
          </a:xfrm>
          <a:prstGeom prst="rect">
            <a:avLst/>
          </a:prstGeom>
        </p:spPr>
      </p:pic>
    </p:spTree>
    <p:extLst>
      <p:ext uri="{BB962C8B-B14F-4D97-AF65-F5344CB8AC3E}">
        <p14:creationId xmlns:p14="http://schemas.microsoft.com/office/powerpoint/2010/main" val="3836767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2934E-FF66-5BC1-FA30-EA01F6D97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E00FA-87A4-0584-C27A-18E3A3E14883}"/>
              </a:ext>
            </a:extLst>
          </p:cNvPr>
          <p:cNvSpPr>
            <a:spLocks noGrp="1"/>
          </p:cNvSpPr>
          <p:nvPr>
            <p:ph type="title"/>
          </p:nvPr>
        </p:nvSpPr>
        <p:spPr/>
        <p:txBody>
          <a:bodyPr>
            <a:normAutofit fontScale="90000"/>
          </a:bodyPr>
          <a:lstStyle/>
          <a:p>
            <a:r>
              <a:rPr lang="en-US" i="1">
                <a:solidFill>
                  <a:srgbClr val="C00000"/>
                </a:solidFill>
                <a:ea typeface="Calibri Light"/>
                <a:cs typeface="Calibri Light"/>
              </a:rPr>
              <a:t>L</a:t>
            </a:r>
            <a:r>
              <a:rPr lang="en-US" i="1" baseline="30000">
                <a:solidFill>
                  <a:srgbClr val="C00000"/>
                </a:solidFill>
                <a:ea typeface="Calibri Light"/>
                <a:cs typeface="Calibri Light"/>
              </a:rPr>
              <a:t>P</a:t>
            </a:r>
            <a:r>
              <a:rPr lang="en-US">
                <a:ea typeface="Calibri Light"/>
                <a:cs typeface="Calibri Light"/>
              </a:rPr>
              <a:t> Norm</a:t>
            </a:r>
            <a:endParaRPr lang="en-US"/>
          </a:p>
        </p:txBody>
      </p:sp>
      <p:pic>
        <p:nvPicPr>
          <p:cNvPr id="3" name="Picture 2" descr="A math equations and formulas on a white background&#10;&#10;AI-generated content may be incorrect.">
            <a:extLst>
              <a:ext uri="{FF2B5EF4-FFF2-40B4-BE49-F238E27FC236}">
                <a16:creationId xmlns:a16="http://schemas.microsoft.com/office/drawing/2014/main" id="{7DA250F1-5E5C-3FE8-203A-F5D3AAEF454E}"/>
              </a:ext>
            </a:extLst>
          </p:cNvPr>
          <p:cNvPicPr>
            <a:picLocks noChangeAspect="1"/>
          </p:cNvPicPr>
          <p:nvPr/>
        </p:nvPicPr>
        <p:blipFill>
          <a:blip r:embed="rId2"/>
          <a:stretch>
            <a:fillRect/>
          </a:stretch>
        </p:blipFill>
        <p:spPr>
          <a:xfrm>
            <a:off x="1522032" y="848263"/>
            <a:ext cx="7997749" cy="5621548"/>
          </a:xfrm>
          <a:prstGeom prst="rect">
            <a:avLst/>
          </a:prstGeom>
        </p:spPr>
      </p:pic>
    </p:spTree>
    <p:extLst>
      <p:ext uri="{BB962C8B-B14F-4D97-AF65-F5344CB8AC3E}">
        <p14:creationId xmlns:p14="http://schemas.microsoft.com/office/powerpoint/2010/main" val="3439463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1B09E-2F45-D1D1-E73F-7B5B84BB3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EB268-B26E-2294-1D63-C2204F6162FD}"/>
              </a:ext>
            </a:extLst>
          </p:cNvPr>
          <p:cNvSpPr>
            <a:spLocks noGrp="1"/>
          </p:cNvSpPr>
          <p:nvPr>
            <p:ph type="title"/>
          </p:nvPr>
        </p:nvSpPr>
        <p:spPr/>
        <p:txBody>
          <a:bodyPr>
            <a:normAutofit fontScale="90000"/>
          </a:bodyPr>
          <a:lstStyle/>
          <a:p>
            <a:r>
              <a:rPr lang="en-US">
                <a:ea typeface="Calibri Light"/>
                <a:cs typeface="Calibri Light"/>
              </a:rPr>
              <a:t>Use of norm in Regression</a:t>
            </a:r>
            <a:endParaRPr lang="en-US"/>
          </a:p>
        </p:txBody>
      </p:sp>
      <p:pic>
        <p:nvPicPr>
          <p:cNvPr id="3" name="Picture 2">
            <a:extLst>
              <a:ext uri="{FF2B5EF4-FFF2-40B4-BE49-F238E27FC236}">
                <a16:creationId xmlns:a16="http://schemas.microsoft.com/office/drawing/2014/main" id="{D1153ED0-ED96-17F9-3974-9960F51FF168}"/>
              </a:ext>
            </a:extLst>
          </p:cNvPr>
          <p:cNvPicPr>
            <a:picLocks noChangeAspect="1"/>
          </p:cNvPicPr>
          <p:nvPr/>
        </p:nvPicPr>
        <p:blipFill>
          <a:blip r:embed="rId2"/>
          <a:stretch>
            <a:fillRect/>
          </a:stretch>
        </p:blipFill>
        <p:spPr>
          <a:xfrm>
            <a:off x="1534178" y="675735"/>
            <a:ext cx="8634814" cy="5707812"/>
          </a:xfrm>
          <a:prstGeom prst="rect">
            <a:avLst/>
          </a:prstGeom>
        </p:spPr>
      </p:pic>
    </p:spTree>
    <p:extLst>
      <p:ext uri="{BB962C8B-B14F-4D97-AF65-F5344CB8AC3E}">
        <p14:creationId xmlns:p14="http://schemas.microsoft.com/office/powerpoint/2010/main" val="156276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2B170-F167-F714-8E95-4B399ECED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4565A-822A-76A7-2FED-442EFFEA129E}"/>
              </a:ext>
            </a:extLst>
          </p:cNvPr>
          <p:cNvSpPr>
            <a:spLocks noGrp="1"/>
          </p:cNvSpPr>
          <p:nvPr>
            <p:ph type="title"/>
          </p:nvPr>
        </p:nvSpPr>
        <p:spPr/>
        <p:txBody>
          <a:bodyPr>
            <a:normAutofit fontScale="90000"/>
          </a:bodyPr>
          <a:lstStyle/>
          <a:p>
            <a:r>
              <a:rPr lang="en-US" i="1">
                <a:solidFill>
                  <a:srgbClr val="C00000"/>
                </a:solidFill>
                <a:ea typeface="Calibri Light"/>
                <a:cs typeface="Calibri Light"/>
              </a:rPr>
              <a:t>L</a:t>
            </a:r>
            <a:r>
              <a:rPr lang="en-US" i="1" baseline="30000">
                <a:solidFill>
                  <a:srgbClr val="C00000"/>
                </a:solidFill>
                <a:ea typeface="Calibri Light"/>
                <a:cs typeface="Calibri Light"/>
              </a:rPr>
              <a:t>P</a:t>
            </a:r>
            <a:r>
              <a:rPr lang="en-US">
                <a:ea typeface="Calibri Light"/>
                <a:cs typeface="Calibri Light"/>
              </a:rPr>
              <a:t> Norm and Distance</a:t>
            </a:r>
            <a:endParaRPr lang="en-US"/>
          </a:p>
        </p:txBody>
      </p:sp>
      <p:pic>
        <p:nvPicPr>
          <p:cNvPr id="3" name="Picture 2">
            <a:extLst>
              <a:ext uri="{FF2B5EF4-FFF2-40B4-BE49-F238E27FC236}">
                <a16:creationId xmlns:a16="http://schemas.microsoft.com/office/drawing/2014/main" id="{B5CE92D7-AE41-67E8-D87A-5A07C0171005}"/>
              </a:ext>
            </a:extLst>
          </p:cNvPr>
          <p:cNvPicPr>
            <a:picLocks noChangeAspect="1"/>
          </p:cNvPicPr>
          <p:nvPr/>
        </p:nvPicPr>
        <p:blipFill>
          <a:blip r:embed="rId2"/>
          <a:stretch>
            <a:fillRect/>
          </a:stretch>
        </p:blipFill>
        <p:spPr>
          <a:xfrm>
            <a:off x="1875889" y="977660"/>
            <a:ext cx="8440222" cy="5420265"/>
          </a:xfrm>
          <a:prstGeom prst="rect">
            <a:avLst/>
          </a:prstGeom>
        </p:spPr>
      </p:pic>
    </p:spTree>
    <p:extLst>
      <p:ext uri="{BB962C8B-B14F-4D97-AF65-F5344CB8AC3E}">
        <p14:creationId xmlns:p14="http://schemas.microsoft.com/office/powerpoint/2010/main" val="356412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2BE05-78A9-09F3-1B49-CA6F6B233BEA}"/>
              </a:ext>
            </a:extLst>
          </p:cNvPr>
          <p:cNvSpPr>
            <a:spLocks noGrp="1"/>
          </p:cNvSpPr>
          <p:nvPr>
            <p:ph type="title"/>
          </p:nvPr>
        </p:nvSpPr>
        <p:spPr/>
        <p:txBody>
          <a:bodyPr>
            <a:normAutofit fontScale="90000"/>
          </a:bodyPr>
          <a:lstStyle/>
          <a:p>
            <a:r>
              <a:rPr lang="en-US" dirty="0">
                <a:ea typeface="Calibri Light"/>
                <a:cs typeface="Calibri Light"/>
              </a:rPr>
              <a:t>Size of a Matrix</a:t>
            </a:r>
            <a:endParaRPr lang="en-US" dirty="0"/>
          </a:p>
        </p:txBody>
      </p:sp>
      <p:pic>
        <p:nvPicPr>
          <p:cNvPr id="4" name="Picture 3" descr="A math equations on a white background&#10;&#10;AI-generated content may be incorrect.">
            <a:extLst>
              <a:ext uri="{FF2B5EF4-FFF2-40B4-BE49-F238E27FC236}">
                <a16:creationId xmlns:a16="http://schemas.microsoft.com/office/drawing/2014/main" id="{54710881-D8B7-70AB-DD54-81B5E9015005}"/>
              </a:ext>
            </a:extLst>
          </p:cNvPr>
          <p:cNvPicPr>
            <a:picLocks noChangeAspect="1"/>
          </p:cNvPicPr>
          <p:nvPr/>
        </p:nvPicPr>
        <p:blipFill>
          <a:blip r:embed="rId2"/>
          <a:stretch>
            <a:fillRect/>
          </a:stretch>
        </p:blipFill>
        <p:spPr>
          <a:xfrm>
            <a:off x="357187" y="1233714"/>
            <a:ext cx="5381625" cy="2286000"/>
          </a:xfrm>
          <a:prstGeom prst="rect">
            <a:avLst/>
          </a:prstGeom>
        </p:spPr>
      </p:pic>
      <p:pic>
        <p:nvPicPr>
          <p:cNvPr id="5" name="Picture 4">
            <a:extLst>
              <a:ext uri="{FF2B5EF4-FFF2-40B4-BE49-F238E27FC236}">
                <a16:creationId xmlns:a16="http://schemas.microsoft.com/office/drawing/2014/main" id="{329CD6BF-05FF-EE9A-DD7A-B9B2C811FEC9}"/>
              </a:ext>
            </a:extLst>
          </p:cNvPr>
          <p:cNvPicPr>
            <a:picLocks noChangeAspect="1"/>
          </p:cNvPicPr>
          <p:nvPr/>
        </p:nvPicPr>
        <p:blipFill>
          <a:blip r:embed="rId3"/>
          <a:stretch>
            <a:fillRect/>
          </a:stretch>
        </p:blipFill>
        <p:spPr>
          <a:xfrm>
            <a:off x="6655027" y="1324201"/>
            <a:ext cx="5286375" cy="2105025"/>
          </a:xfrm>
          <a:prstGeom prst="rect">
            <a:avLst/>
          </a:prstGeom>
        </p:spPr>
      </p:pic>
      <p:pic>
        <p:nvPicPr>
          <p:cNvPr id="6" name="Picture 5">
            <a:extLst>
              <a:ext uri="{FF2B5EF4-FFF2-40B4-BE49-F238E27FC236}">
                <a16:creationId xmlns:a16="http://schemas.microsoft.com/office/drawing/2014/main" id="{4C35B916-3567-736E-7463-167CC5CCDA7A}"/>
              </a:ext>
            </a:extLst>
          </p:cNvPr>
          <p:cNvPicPr>
            <a:picLocks noChangeAspect="1"/>
          </p:cNvPicPr>
          <p:nvPr/>
        </p:nvPicPr>
        <p:blipFill>
          <a:blip r:embed="rId4"/>
          <a:stretch>
            <a:fillRect/>
          </a:stretch>
        </p:blipFill>
        <p:spPr>
          <a:xfrm>
            <a:off x="2849790" y="4632552"/>
            <a:ext cx="6038850" cy="1457325"/>
          </a:xfrm>
          <a:prstGeom prst="rect">
            <a:avLst/>
          </a:prstGeom>
        </p:spPr>
      </p:pic>
    </p:spTree>
    <p:extLst>
      <p:ext uri="{BB962C8B-B14F-4D97-AF65-F5344CB8AC3E}">
        <p14:creationId xmlns:p14="http://schemas.microsoft.com/office/powerpoint/2010/main" val="674047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F198C-F89D-B9B2-E701-FB0BE2920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F35F4B-1E9D-798B-ED68-EF31B9291C4F}"/>
              </a:ext>
            </a:extLst>
          </p:cNvPr>
          <p:cNvSpPr>
            <a:spLocks noGrp="1"/>
          </p:cNvSpPr>
          <p:nvPr>
            <p:ph type="title"/>
          </p:nvPr>
        </p:nvSpPr>
        <p:spPr/>
        <p:txBody>
          <a:bodyPr>
            <a:normAutofit fontScale="90000"/>
          </a:bodyPr>
          <a:lstStyle/>
          <a:p>
            <a:r>
              <a:rPr lang="en-US">
                <a:ea typeface="Calibri Light"/>
                <a:cs typeface="Calibri Light"/>
              </a:rPr>
              <a:t>Angle between Vectors</a:t>
            </a:r>
            <a:endParaRPr lang="en-US"/>
          </a:p>
        </p:txBody>
      </p:sp>
      <p:pic>
        <p:nvPicPr>
          <p:cNvPr id="3" name="Picture 2">
            <a:extLst>
              <a:ext uri="{FF2B5EF4-FFF2-40B4-BE49-F238E27FC236}">
                <a16:creationId xmlns:a16="http://schemas.microsoft.com/office/drawing/2014/main" id="{FE2AF29D-FFF9-21F4-752D-7CD9478B2FC4}"/>
              </a:ext>
            </a:extLst>
          </p:cNvPr>
          <p:cNvPicPr>
            <a:picLocks noChangeAspect="1"/>
          </p:cNvPicPr>
          <p:nvPr/>
        </p:nvPicPr>
        <p:blipFill>
          <a:blip r:embed="rId2"/>
          <a:stretch>
            <a:fillRect/>
          </a:stretch>
        </p:blipFill>
        <p:spPr>
          <a:xfrm>
            <a:off x="1282677" y="891396"/>
            <a:ext cx="8936534" cy="5722189"/>
          </a:xfrm>
          <a:prstGeom prst="rect">
            <a:avLst/>
          </a:prstGeom>
        </p:spPr>
      </p:pic>
    </p:spTree>
    <p:extLst>
      <p:ext uri="{BB962C8B-B14F-4D97-AF65-F5344CB8AC3E}">
        <p14:creationId xmlns:p14="http://schemas.microsoft.com/office/powerpoint/2010/main" val="2762349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58F75-83A4-E9D5-D69F-411FDBB0C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375EB-7A70-8D6F-6E9F-D8938539FB6B}"/>
              </a:ext>
            </a:extLst>
          </p:cNvPr>
          <p:cNvSpPr>
            <a:spLocks noGrp="1"/>
          </p:cNvSpPr>
          <p:nvPr>
            <p:ph type="title"/>
          </p:nvPr>
        </p:nvSpPr>
        <p:spPr/>
        <p:txBody>
          <a:bodyPr>
            <a:normAutofit fontScale="90000"/>
          </a:bodyPr>
          <a:lstStyle/>
          <a:p>
            <a:r>
              <a:rPr lang="en-US">
                <a:ea typeface="Calibri Light"/>
                <a:cs typeface="Calibri Light"/>
              </a:rPr>
              <a:t>Special kind of Matrix: Diagonal</a:t>
            </a:r>
            <a:endParaRPr lang="en-US"/>
          </a:p>
        </p:txBody>
      </p:sp>
      <p:pic>
        <p:nvPicPr>
          <p:cNvPr id="3" name="Picture 2" descr="A screenshot of a math problem&#10;&#10;AI-generated content may be incorrect.">
            <a:extLst>
              <a:ext uri="{FF2B5EF4-FFF2-40B4-BE49-F238E27FC236}">
                <a16:creationId xmlns:a16="http://schemas.microsoft.com/office/drawing/2014/main" id="{0E824A67-5B5D-C1A6-E4F5-2848FD99A6D1}"/>
              </a:ext>
            </a:extLst>
          </p:cNvPr>
          <p:cNvPicPr>
            <a:picLocks noChangeAspect="1"/>
          </p:cNvPicPr>
          <p:nvPr/>
        </p:nvPicPr>
        <p:blipFill>
          <a:blip r:embed="rId2"/>
          <a:stretch>
            <a:fillRect/>
          </a:stretch>
        </p:blipFill>
        <p:spPr>
          <a:xfrm>
            <a:off x="1117635" y="675735"/>
            <a:ext cx="9482278" cy="5707812"/>
          </a:xfrm>
          <a:prstGeom prst="rect">
            <a:avLst/>
          </a:prstGeom>
        </p:spPr>
      </p:pic>
    </p:spTree>
    <p:extLst>
      <p:ext uri="{BB962C8B-B14F-4D97-AF65-F5344CB8AC3E}">
        <p14:creationId xmlns:p14="http://schemas.microsoft.com/office/powerpoint/2010/main" val="3052933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AF1BA-72BB-E720-7F58-D941841B6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9552D-E0CA-1AB5-414B-796DDC1BAEEF}"/>
              </a:ext>
            </a:extLst>
          </p:cNvPr>
          <p:cNvSpPr>
            <a:spLocks noGrp="1"/>
          </p:cNvSpPr>
          <p:nvPr>
            <p:ph type="title"/>
          </p:nvPr>
        </p:nvSpPr>
        <p:spPr/>
        <p:txBody>
          <a:bodyPr>
            <a:normAutofit fontScale="90000"/>
          </a:bodyPr>
          <a:lstStyle/>
          <a:p>
            <a:r>
              <a:rPr lang="en-US">
                <a:ea typeface="Calibri Light"/>
                <a:cs typeface="Calibri Light"/>
              </a:rPr>
              <a:t>Efficiency of Diagonal Matrix</a:t>
            </a:r>
            <a:endParaRPr lang="en-US"/>
          </a:p>
        </p:txBody>
      </p:sp>
      <p:pic>
        <p:nvPicPr>
          <p:cNvPr id="3" name="Picture 2">
            <a:extLst>
              <a:ext uri="{FF2B5EF4-FFF2-40B4-BE49-F238E27FC236}">
                <a16:creationId xmlns:a16="http://schemas.microsoft.com/office/drawing/2014/main" id="{1EFCFC37-4C1A-EE93-58E1-0F481035B1CD}"/>
              </a:ext>
            </a:extLst>
          </p:cNvPr>
          <p:cNvPicPr>
            <a:picLocks noChangeAspect="1"/>
          </p:cNvPicPr>
          <p:nvPr/>
        </p:nvPicPr>
        <p:blipFill>
          <a:blip r:embed="rId2"/>
          <a:stretch>
            <a:fillRect/>
          </a:stretch>
        </p:blipFill>
        <p:spPr>
          <a:xfrm>
            <a:off x="1879635" y="862642"/>
            <a:ext cx="8432731" cy="5132717"/>
          </a:xfrm>
          <a:prstGeom prst="rect">
            <a:avLst/>
          </a:prstGeom>
        </p:spPr>
      </p:pic>
    </p:spTree>
    <p:extLst>
      <p:ext uri="{BB962C8B-B14F-4D97-AF65-F5344CB8AC3E}">
        <p14:creationId xmlns:p14="http://schemas.microsoft.com/office/powerpoint/2010/main" val="3189813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BB1C5-E6F0-C726-1D27-C6EE3E5BE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B83CF9-84E4-7E16-D3B8-0F81B835D0AF}"/>
              </a:ext>
            </a:extLst>
          </p:cNvPr>
          <p:cNvSpPr>
            <a:spLocks noGrp="1"/>
          </p:cNvSpPr>
          <p:nvPr>
            <p:ph type="title"/>
          </p:nvPr>
        </p:nvSpPr>
        <p:spPr/>
        <p:txBody>
          <a:bodyPr>
            <a:normAutofit fontScale="90000"/>
          </a:bodyPr>
          <a:lstStyle/>
          <a:p>
            <a:r>
              <a:rPr lang="en-US">
                <a:ea typeface="Calibri Light"/>
                <a:cs typeface="Calibri Light"/>
              </a:rPr>
              <a:t>Symmetric Matrix</a:t>
            </a:r>
            <a:endParaRPr lang="en-US"/>
          </a:p>
        </p:txBody>
      </p:sp>
      <p:pic>
        <p:nvPicPr>
          <p:cNvPr id="3" name="Picture 2" descr="A screenshot of a diagram&#10;&#10;AI-generated content may be incorrect.">
            <a:extLst>
              <a:ext uri="{FF2B5EF4-FFF2-40B4-BE49-F238E27FC236}">
                <a16:creationId xmlns:a16="http://schemas.microsoft.com/office/drawing/2014/main" id="{4E0B09AE-3468-DC9B-DDB8-83334885EA5A}"/>
              </a:ext>
            </a:extLst>
          </p:cNvPr>
          <p:cNvPicPr>
            <a:picLocks noChangeAspect="1"/>
          </p:cNvPicPr>
          <p:nvPr/>
        </p:nvPicPr>
        <p:blipFill>
          <a:blip r:embed="rId2"/>
          <a:stretch>
            <a:fillRect/>
          </a:stretch>
        </p:blipFill>
        <p:spPr>
          <a:xfrm>
            <a:off x="902898" y="934527"/>
            <a:ext cx="9509185" cy="5779699"/>
          </a:xfrm>
          <a:prstGeom prst="rect">
            <a:avLst/>
          </a:prstGeom>
        </p:spPr>
      </p:pic>
    </p:spTree>
    <p:extLst>
      <p:ext uri="{BB962C8B-B14F-4D97-AF65-F5344CB8AC3E}">
        <p14:creationId xmlns:p14="http://schemas.microsoft.com/office/powerpoint/2010/main" val="3218672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24E20-3D4B-82A7-78A0-ACDDDE4DD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4C03A-2663-C2A9-4FB8-4613499887AC}"/>
              </a:ext>
            </a:extLst>
          </p:cNvPr>
          <p:cNvSpPr>
            <a:spLocks noGrp="1"/>
          </p:cNvSpPr>
          <p:nvPr>
            <p:ph type="title"/>
          </p:nvPr>
        </p:nvSpPr>
        <p:spPr/>
        <p:txBody>
          <a:bodyPr>
            <a:normAutofit fontScale="90000"/>
          </a:bodyPr>
          <a:lstStyle/>
          <a:p>
            <a:r>
              <a:rPr lang="en-US">
                <a:ea typeface="Calibri Light"/>
                <a:cs typeface="Calibri Light"/>
              </a:rPr>
              <a:t>Special Kinds of Vectors</a:t>
            </a:r>
            <a:endParaRPr lang="en-US"/>
          </a:p>
        </p:txBody>
      </p:sp>
      <p:pic>
        <p:nvPicPr>
          <p:cNvPr id="3" name="Picture 2">
            <a:extLst>
              <a:ext uri="{FF2B5EF4-FFF2-40B4-BE49-F238E27FC236}">
                <a16:creationId xmlns:a16="http://schemas.microsoft.com/office/drawing/2014/main" id="{1C467D91-D6BF-ED86-35F7-123D059BF1B8}"/>
              </a:ext>
            </a:extLst>
          </p:cNvPr>
          <p:cNvPicPr>
            <a:picLocks noChangeAspect="1"/>
          </p:cNvPicPr>
          <p:nvPr/>
        </p:nvPicPr>
        <p:blipFill>
          <a:blip r:embed="rId2"/>
          <a:stretch>
            <a:fillRect/>
          </a:stretch>
        </p:blipFill>
        <p:spPr>
          <a:xfrm>
            <a:off x="1605389" y="1006415"/>
            <a:ext cx="8233598" cy="5520906"/>
          </a:xfrm>
          <a:prstGeom prst="rect">
            <a:avLst/>
          </a:prstGeom>
        </p:spPr>
      </p:pic>
    </p:spTree>
    <p:extLst>
      <p:ext uri="{BB962C8B-B14F-4D97-AF65-F5344CB8AC3E}">
        <p14:creationId xmlns:p14="http://schemas.microsoft.com/office/powerpoint/2010/main" val="4227969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5E262-CC54-766D-F629-6C329E992117}"/>
              </a:ext>
            </a:extLst>
          </p:cNvPr>
          <p:cNvSpPr>
            <a:spLocks noGrp="1"/>
          </p:cNvSpPr>
          <p:nvPr>
            <p:ph type="title"/>
          </p:nvPr>
        </p:nvSpPr>
        <p:spPr/>
        <p:txBody>
          <a:bodyPr>
            <a:normAutofit fontScale="90000"/>
          </a:bodyPr>
          <a:lstStyle/>
          <a:p>
            <a:r>
              <a:rPr lang="en-US" dirty="0">
                <a:ea typeface="Calibri Light"/>
                <a:cs typeface="Calibri Light"/>
              </a:rPr>
              <a:t>Basis</a:t>
            </a:r>
            <a:endParaRPr lang="en-US" dirty="0"/>
          </a:p>
        </p:txBody>
      </p:sp>
      <p:sp>
        <p:nvSpPr>
          <p:cNvPr id="3" name="Content Placeholder 2">
            <a:extLst>
              <a:ext uri="{FF2B5EF4-FFF2-40B4-BE49-F238E27FC236}">
                <a16:creationId xmlns:a16="http://schemas.microsoft.com/office/drawing/2014/main" id="{7ABB7946-761D-1905-4CB6-DD96B3622771}"/>
              </a:ext>
            </a:extLst>
          </p:cNvPr>
          <p:cNvSpPr>
            <a:spLocks noGrp="1"/>
          </p:cNvSpPr>
          <p:nvPr>
            <p:ph idx="1"/>
          </p:nvPr>
        </p:nvSpPr>
        <p:spPr>
          <a:xfrm>
            <a:off x="438397" y="683759"/>
            <a:ext cx="11320465" cy="5237162"/>
          </a:xfrm>
        </p:spPr>
        <p:txBody>
          <a:bodyPr vert="horz" lIns="91440" tIns="45720" rIns="91440" bIns="45720" rtlCol="0" anchor="t">
            <a:normAutofit/>
          </a:bodyPr>
          <a:lstStyle/>
          <a:p>
            <a:r>
              <a:rPr lang="en-US" dirty="0">
                <a:ea typeface="Calibri"/>
                <a:cs typeface="Calibri"/>
              </a:rPr>
              <a:t>Vector basis: Coordinates in finite dimensions.</a:t>
            </a:r>
          </a:p>
          <a:p>
            <a:r>
              <a:rPr lang="en-US" dirty="0">
                <a:ea typeface="Calibri"/>
                <a:cs typeface="Calibri"/>
              </a:rPr>
              <a:t>Function basis: Building blocks for infinite-dimensional function spaces.</a:t>
            </a:r>
            <a:endParaRPr lang="en-US" dirty="0"/>
          </a:p>
          <a:p>
            <a:endParaRPr lang="en-US" dirty="0">
              <a:ea typeface="Calibri"/>
              <a:cs typeface="Calibri"/>
            </a:endParaRPr>
          </a:p>
        </p:txBody>
      </p:sp>
      <p:pic>
        <p:nvPicPr>
          <p:cNvPr id="4" name="Picture 3" descr="A white background with black text&#10;&#10;AI-generated content may be incorrect.">
            <a:extLst>
              <a:ext uri="{FF2B5EF4-FFF2-40B4-BE49-F238E27FC236}">
                <a16:creationId xmlns:a16="http://schemas.microsoft.com/office/drawing/2014/main" id="{25D6F16D-B2EA-12C7-5963-785F4CE884EC}"/>
              </a:ext>
            </a:extLst>
          </p:cNvPr>
          <p:cNvPicPr>
            <a:picLocks noChangeAspect="1"/>
          </p:cNvPicPr>
          <p:nvPr/>
        </p:nvPicPr>
        <p:blipFill>
          <a:blip r:embed="rId2"/>
          <a:stretch>
            <a:fillRect/>
          </a:stretch>
        </p:blipFill>
        <p:spPr>
          <a:xfrm>
            <a:off x="1361" y="4007757"/>
            <a:ext cx="6038850" cy="2362200"/>
          </a:xfrm>
          <a:prstGeom prst="rect">
            <a:avLst/>
          </a:prstGeom>
          <a:ln w="127000" cap="sq">
            <a:solidFill>
              <a:srgbClr val="000000"/>
            </a:solidFill>
            <a:miter lim="800000"/>
          </a:ln>
          <a:effectLst>
            <a:outerShdw blurRad="57150" dist="50800" dir="2700000" algn="tl" rotWithShape="0">
              <a:srgbClr val="000000">
                <a:alpha val="40000"/>
              </a:srgbClr>
            </a:outerShdw>
          </a:effectLst>
        </p:spPr>
      </p:pic>
      <p:grpSp>
        <p:nvGrpSpPr>
          <p:cNvPr id="7" name="Group 6">
            <a:extLst>
              <a:ext uri="{FF2B5EF4-FFF2-40B4-BE49-F238E27FC236}">
                <a16:creationId xmlns:a16="http://schemas.microsoft.com/office/drawing/2014/main" id="{AC0C0D05-139F-2E6D-AE59-A817D69FD3EC}"/>
              </a:ext>
            </a:extLst>
          </p:cNvPr>
          <p:cNvGrpSpPr/>
          <p:nvPr/>
        </p:nvGrpSpPr>
        <p:grpSpPr>
          <a:xfrm>
            <a:off x="4793156" y="1709552"/>
            <a:ext cx="7255556" cy="4397148"/>
            <a:chOff x="4743676" y="2204357"/>
            <a:chExt cx="7255556" cy="4397148"/>
          </a:xfrm>
        </p:grpSpPr>
        <p:pic>
          <p:nvPicPr>
            <p:cNvPr id="5" name="Picture 4">
              <a:extLst>
                <a:ext uri="{FF2B5EF4-FFF2-40B4-BE49-F238E27FC236}">
                  <a16:creationId xmlns:a16="http://schemas.microsoft.com/office/drawing/2014/main" id="{9EA08AB2-D3C8-E888-2563-0F9263316A38}"/>
                </a:ext>
              </a:extLst>
            </p:cNvPr>
            <p:cNvPicPr>
              <a:picLocks noChangeAspect="1"/>
            </p:cNvPicPr>
            <p:nvPr/>
          </p:nvPicPr>
          <p:blipFill>
            <a:blip r:embed="rId3"/>
            <a:stretch>
              <a:fillRect/>
            </a:stretch>
          </p:blipFill>
          <p:spPr>
            <a:xfrm>
              <a:off x="4743676" y="2204357"/>
              <a:ext cx="6696075" cy="2286000"/>
            </a:xfrm>
            <a:prstGeom prst="rect">
              <a:avLst/>
            </a:prstGeom>
            <a:ln>
              <a:solidFill>
                <a:schemeClr val="accent2"/>
              </a:solidFill>
            </a:ln>
          </p:spPr>
        </p:pic>
        <p:pic>
          <p:nvPicPr>
            <p:cNvPr id="6" name="Picture 5" descr="A white background with black text&#10;&#10;AI-generated content may be incorrect.">
              <a:extLst>
                <a:ext uri="{FF2B5EF4-FFF2-40B4-BE49-F238E27FC236}">
                  <a16:creationId xmlns:a16="http://schemas.microsoft.com/office/drawing/2014/main" id="{F315A0C1-DA66-37EF-DB58-A1EA4598A1C0}"/>
                </a:ext>
              </a:extLst>
            </p:cNvPr>
            <p:cNvPicPr>
              <a:picLocks noChangeAspect="1"/>
            </p:cNvPicPr>
            <p:nvPr/>
          </p:nvPicPr>
          <p:blipFill>
            <a:blip r:embed="rId4"/>
            <a:stretch>
              <a:fillRect/>
            </a:stretch>
          </p:blipFill>
          <p:spPr>
            <a:xfrm>
              <a:off x="6969124" y="4139065"/>
              <a:ext cx="5030108" cy="2462440"/>
            </a:xfrm>
            <a:prstGeom prst="rect">
              <a:avLst/>
            </a:prstGeom>
            <a:ln>
              <a:solidFill>
                <a:schemeClr val="accent2"/>
              </a:solidFill>
            </a:ln>
          </p:spPr>
        </p:pic>
      </p:grpSp>
    </p:spTree>
    <p:extLst>
      <p:ext uri="{BB962C8B-B14F-4D97-AF65-F5344CB8AC3E}">
        <p14:creationId xmlns:p14="http://schemas.microsoft.com/office/powerpoint/2010/main" val="17836802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3C8F1-9E9C-CA10-CA70-2B76DFD11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1803D-6DE6-C61A-F99F-E6822E780F6F}"/>
              </a:ext>
            </a:extLst>
          </p:cNvPr>
          <p:cNvSpPr>
            <a:spLocks noGrp="1"/>
          </p:cNvSpPr>
          <p:nvPr>
            <p:ph type="title"/>
          </p:nvPr>
        </p:nvSpPr>
        <p:spPr/>
        <p:txBody>
          <a:bodyPr>
            <a:normAutofit fontScale="90000"/>
          </a:bodyPr>
          <a:lstStyle/>
          <a:p>
            <a:r>
              <a:rPr lang="en-US" dirty="0">
                <a:ea typeface="Calibri Light"/>
                <a:cs typeface="Calibri Light"/>
              </a:rPr>
              <a:t>Determinant of a Matrix</a:t>
            </a:r>
            <a:endParaRPr lang="en-US" dirty="0"/>
          </a:p>
        </p:txBody>
      </p:sp>
      <p:pic>
        <p:nvPicPr>
          <p:cNvPr id="3" name="Picture 2" descr="A text on a white background&#10;&#10;AI-generated content may be incorrect.">
            <a:extLst>
              <a:ext uri="{FF2B5EF4-FFF2-40B4-BE49-F238E27FC236}">
                <a16:creationId xmlns:a16="http://schemas.microsoft.com/office/drawing/2014/main" id="{547F92A1-2F59-C6F4-9F68-F57130F38D57}"/>
              </a:ext>
            </a:extLst>
          </p:cNvPr>
          <p:cNvPicPr>
            <a:picLocks noChangeAspect="1"/>
          </p:cNvPicPr>
          <p:nvPr/>
        </p:nvPicPr>
        <p:blipFill>
          <a:blip r:embed="rId2"/>
          <a:stretch>
            <a:fillRect/>
          </a:stretch>
        </p:blipFill>
        <p:spPr>
          <a:xfrm>
            <a:off x="1571625" y="1247775"/>
            <a:ext cx="9048750" cy="4362450"/>
          </a:xfrm>
          <a:prstGeom prst="rect">
            <a:avLst/>
          </a:prstGeom>
        </p:spPr>
      </p:pic>
    </p:spTree>
    <p:extLst>
      <p:ext uri="{BB962C8B-B14F-4D97-AF65-F5344CB8AC3E}">
        <p14:creationId xmlns:p14="http://schemas.microsoft.com/office/powerpoint/2010/main" val="3284018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AD6E0-059F-2A88-995C-16445F3BD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9DB845-C9C6-90CE-4181-C4948DBAB935}"/>
              </a:ext>
            </a:extLst>
          </p:cNvPr>
          <p:cNvSpPr>
            <a:spLocks noGrp="1"/>
          </p:cNvSpPr>
          <p:nvPr>
            <p:ph type="title"/>
          </p:nvPr>
        </p:nvSpPr>
        <p:spPr/>
        <p:txBody>
          <a:bodyPr>
            <a:normAutofit fontScale="90000"/>
          </a:bodyPr>
          <a:lstStyle/>
          <a:p>
            <a:r>
              <a:rPr lang="en-US">
                <a:ea typeface="Calibri Light"/>
                <a:cs typeface="Calibri Light"/>
              </a:rPr>
              <a:t>Trace of a Matrix</a:t>
            </a:r>
            <a:endParaRPr lang="en-US"/>
          </a:p>
        </p:txBody>
      </p:sp>
      <p:pic>
        <p:nvPicPr>
          <p:cNvPr id="3" name="Picture 2">
            <a:extLst>
              <a:ext uri="{FF2B5EF4-FFF2-40B4-BE49-F238E27FC236}">
                <a16:creationId xmlns:a16="http://schemas.microsoft.com/office/drawing/2014/main" id="{E9602210-88E4-74AC-C7D8-720302324A1D}"/>
              </a:ext>
            </a:extLst>
          </p:cNvPr>
          <p:cNvPicPr>
            <a:picLocks noChangeAspect="1"/>
          </p:cNvPicPr>
          <p:nvPr/>
        </p:nvPicPr>
        <p:blipFill>
          <a:blip r:embed="rId2"/>
          <a:stretch>
            <a:fillRect/>
          </a:stretch>
        </p:blipFill>
        <p:spPr>
          <a:xfrm>
            <a:off x="1571625" y="919163"/>
            <a:ext cx="9048750" cy="5019675"/>
          </a:xfrm>
          <a:prstGeom prst="rect">
            <a:avLst/>
          </a:prstGeom>
        </p:spPr>
      </p:pic>
    </p:spTree>
    <p:extLst>
      <p:ext uri="{BB962C8B-B14F-4D97-AF65-F5344CB8AC3E}">
        <p14:creationId xmlns:p14="http://schemas.microsoft.com/office/powerpoint/2010/main" val="77716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A2428-4831-37C8-4E62-46915B53A6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F0567-C9A4-8CAC-3473-4BBB6A1DF2E6}"/>
              </a:ext>
            </a:extLst>
          </p:cNvPr>
          <p:cNvSpPr>
            <a:spLocks noGrp="1"/>
          </p:cNvSpPr>
          <p:nvPr>
            <p:ph type="title"/>
          </p:nvPr>
        </p:nvSpPr>
        <p:spPr/>
        <p:txBody>
          <a:bodyPr>
            <a:normAutofit fontScale="90000"/>
          </a:bodyPr>
          <a:lstStyle/>
          <a:p>
            <a:r>
              <a:rPr lang="en-US">
                <a:ea typeface="Calibri Light"/>
                <a:cs typeface="Calibri Light"/>
              </a:rPr>
              <a:t>Matrix Decomposition</a:t>
            </a:r>
            <a:endParaRPr lang="en-US"/>
          </a:p>
        </p:txBody>
      </p:sp>
      <p:pic>
        <p:nvPicPr>
          <p:cNvPr id="3" name="Picture 2" descr="A screenshot of a math problem&#10;&#10;AI-generated content may be incorrect.">
            <a:extLst>
              <a:ext uri="{FF2B5EF4-FFF2-40B4-BE49-F238E27FC236}">
                <a16:creationId xmlns:a16="http://schemas.microsoft.com/office/drawing/2014/main" id="{724A6057-3266-3D87-F203-85ED4C35C8AC}"/>
              </a:ext>
            </a:extLst>
          </p:cNvPr>
          <p:cNvPicPr>
            <a:picLocks noChangeAspect="1"/>
          </p:cNvPicPr>
          <p:nvPr/>
        </p:nvPicPr>
        <p:blipFill>
          <a:blip r:embed="rId2"/>
          <a:stretch>
            <a:fillRect/>
          </a:stretch>
        </p:blipFill>
        <p:spPr>
          <a:xfrm>
            <a:off x="1052503" y="805132"/>
            <a:ext cx="9540655" cy="6052868"/>
          </a:xfrm>
          <a:prstGeom prst="rect">
            <a:avLst/>
          </a:prstGeom>
        </p:spPr>
      </p:pic>
    </p:spTree>
    <p:extLst>
      <p:ext uri="{BB962C8B-B14F-4D97-AF65-F5344CB8AC3E}">
        <p14:creationId xmlns:p14="http://schemas.microsoft.com/office/powerpoint/2010/main" val="1513391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DC340-EA92-05E2-953A-7622D97FC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39185-23B4-C273-4A7E-AF1E655873B9}"/>
              </a:ext>
            </a:extLst>
          </p:cNvPr>
          <p:cNvSpPr>
            <a:spLocks noGrp="1"/>
          </p:cNvSpPr>
          <p:nvPr>
            <p:ph type="title"/>
          </p:nvPr>
        </p:nvSpPr>
        <p:spPr/>
        <p:txBody>
          <a:bodyPr>
            <a:normAutofit fontScale="90000"/>
          </a:bodyPr>
          <a:lstStyle/>
          <a:p>
            <a:r>
              <a:rPr lang="en-US">
                <a:ea typeface="Calibri Light"/>
                <a:cs typeface="Calibri Light"/>
              </a:rPr>
              <a:t>Eigenvector</a:t>
            </a:r>
            <a:endParaRPr lang="en-US"/>
          </a:p>
        </p:txBody>
      </p:sp>
      <p:pic>
        <p:nvPicPr>
          <p:cNvPr id="3" name="Picture 2" descr="A white text with blue and green text&#10;&#10;AI-generated content may be incorrect.">
            <a:extLst>
              <a:ext uri="{FF2B5EF4-FFF2-40B4-BE49-F238E27FC236}">
                <a16:creationId xmlns:a16="http://schemas.microsoft.com/office/drawing/2014/main" id="{1ED6DD24-C422-07F2-61C9-5CE6CE787122}"/>
              </a:ext>
            </a:extLst>
          </p:cNvPr>
          <p:cNvPicPr>
            <a:picLocks noChangeAspect="1"/>
          </p:cNvPicPr>
          <p:nvPr/>
        </p:nvPicPr>
        <p:blipFill>
          <a:blip r:embed="rId2"/>
          <a:stretch>
            <a:fillRect/>
          </a:stretch>
        </p:blipFill>
        <p:spPr>
          <a:xfrm>
            <a:off x="604417" y="891396"/>
            <a:ext cx="6713089" cy="5564038"/>
          </a:xfrm>
          <a:prstGeom prst="rect">
            <a:avLst/>
          </a:prstGeom>
        </p:spPr>
      </p:pic>
      <p:pic>
        <p:nvPicPr>
          <p:cNvPr id="5" name="Picture 4" descr="A screen shot of a graph&#10;&#10;AI-generated content may be incorrect.">
            <a:extLst>
              <a:ext uri="{FF2B5EF4-FFF2-40B4-BE49-F238E27FC236}">
                <a16:creationId xmlns:a16="http://schemas.microsoft.com/office/drawing/2014/main" id="{3549EC69-9872-0C81-A968-614C7B871D38}"/>
              </a:ext>
            </a:extLst>
          </p:cNvPr>
          <p:cNvPicPr>
            <a:picLocks noChangeAspect="1"/>
          </p:cNvPicPr>
          <p:nvPr/>
        </p:nvPicPr>
        <p:blipFill>
          <a:blip r:embed="rId3"/>
          <a:stretch>
            <a:fillRect/>
          </a:stretch>
        </p:blipFill>
        <p:spPr>
          <a:xfrm>
            <a:off x="7316638" y="1410418"/>
            <a:ext cx="4272950" cy="4511615"/>
          </a:xfrm>
          <a:prstGeom prst="rect">
            <a:avLst/>
          </a:prstGeom>
        </p:spPr>
      </p:pic>
    </p:spTree>
    <p:extLst>
      <p:ext uri="{BB962C8B-B14F-4D97-AF65-F5344CB8AC3E}">
        <p14:creationId xmlns:p14="http://schemas.microsoft.com/office/powerpoint/2010/main" val="37930801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AED9-2BE4-B661-83AF-CF69BD623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A871B-DFD5-8CC6-BF5F-507B43FB725B}"/>
              </a:ext>
            </a:extLst>
          </p:cNvPr>
          <p:cNvSpPr>
            <a:spLocks noGrp="1"/>
          </p:cNvSpPr>
          <p:nvPr>
            <p:ph type="title"/>
          </p:nvPr>
        </p:nvSpPr>
        <p:spPr/>
        <p:txBody>
          <a:bodyPr>
            <a:normAutofit fontScale="90000"/>
          </a:bodyPr>
          <a:lstStyle/>
          <a:p>
            <a:r>
              <a:rPr lang="en-US">
                <a:ea typeface="Calibri Light"/>
                <a:cs typeface="Calibri Light"/>
              </a:rPr>
              <a:t>Characteristic Polynomial</a:t>
            </a:r>
            <a:endParaRPr lang="en-US"/>
          </a:p>
        </p:txBody>
      </p:sp>
      <p:pic>
        <p:nvPicPr>
          <p:cNvPr id="3" name="Picture 2" descr="A math equations on a white background&#10;&#10;AI-generated content may be incorrect.">
            <a:extLst>
              <a:ext uri="{FF2B5EF4-FFF2-40B4-BE49-F238E27FC236}">
                <a16:creationId xmlns:a16="http://schemas.microsoft.com/office/drawing/2014/main" id="{0C8E2EBB-95A6-428C-5191-22F25F7163B9}"/>
              </a:ext>
            </a:extLst>
          </p:cNvPr>
          <p:cNvPicPr>
            <a:picLocks noChangeAspect="1"/>
          </p:cNvPicPr>
          <p:nvPr/>
        </p:nvPicPr>
        <p:blipFill>
          <a:blip r:embed="rId2"/>
          <a:stretch>
            <a:fillRect/>
          </a:stretch>
        </p:blipFill>
        <p:spPr>
          <a:xfrm>
            <a:off x="1638294" y="1078301"/>
            <a:ext cx="8239676" cy="5621548"/>
          </a:xfrm>
          <a:prstGeom prst="rect">
            <a:avLst/>
          </a:prstGeom>
        </p:spPr>
      </p:pic>
    </p:spTree>
    <p:extLst>
      <p:ext uri="{BB962C8B-B14F-4D97-AF65-F5344CB8AC3E}">
        <p14:creationId xmlns:p14="http://schemas.microsoft.com/office/powerpoint/2010/main" val="4174049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D0A87-A7EE-08F9-D133-96FACDEE6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CBD6A-AACE-FC03-3534-7F11C9D4E455}"/>
              </a:ext>
            </a:extLst>
          </p:cNvPr>
          <p:cNvSpPr>
            <a:spLocks noGrp="1"/>
          </p:cNvSpPr>
          <p:nvPr>
            <p:ph type="title"/>
          </p:nvPr>
        </p:nvSpPr>
        <p:spPr/>
        <p:txBody>
          <a:bodyPr>
            <a:normAutofit fontScale="90000"/>
          </a:bodyPr>
          <a:lstStyle/>
          <a:p>
            <a:r>
              <a:rPr lang="en-US">
                <a:ea typeface="Calibri Light"/>
                <a:cs typeface="Calibri Light"/>
              </a:rPr>
              <a:t>Eigenvalue/Eigenvector</a:t>
            </a:r>
            <a:endParaRPr lang="en-US"/>
          </a:p>
        </p:txBody>
      </p:sp>
      <p:pic>
        <p:nvPicPr>
          <p:cNvPr id="3" name="Picture 2" descr="A math equations on a white background&#10;&#10;AI-generated content may be incorrect.">
            <a:extLst>
              <a:ext uri="{FF2B5EF4-FFF2-40B4-BE49-F238E27FC236}">
                <a16:creationId xmlns:a16="http://schemas.microsoft.com/office/drawing/2014/main" id="{1602C692-E9E3-84F1-214C-E19C5EA9EF6F}"/>
              </a:ext>
            </a:extLst>
          </p:cNvPr>
          <p:cNvPicPr>
            <a:picLocks noChangeAspect="1"/>
          </p:cNvPicPr>
          <p:nvPr/>
        </p:nvPicPr>
        <p:blipFill>
          <a:blip r:embed="rId2"/>
          <a:stretch>
            <a:fillRect/>
          </a:stretch>
        </p:blipFill>
        <p:spPr>
          <a:xfrm>
            <a:off x="1281008" y="675736"/>
            <a:ext cx="8867984" cy="5808453"/>
          </a:xfrm>
          <a:prstGeom prst="rect">
            <a:avLst/>
          </a:prstGeom>
        </p:spPr>
      </p:pic>
    </p:spTree>
    <p:extLst>
      <p:ext uri="{BB962C8B-B14F-4D97-AF65-F5344CB8AC3E}">
        <p14:creationId xmlns:p14="http://schemas.microsoft.com/office/powerpoint/2010/main" val="600610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F0E11-A099-AD4B-94EB-5A0050D79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58B6B-2835-1FFB-792A-056F1EFDD137}"/>
              </a:ext>
            </a:extLst>
          </p:cNvPr>
          <p:cNvSpPr>
            <a:spLocks noGrp="1"/>
          </p:cNvSpPr>
          <p:nvPr>
            <p:ph type="title"/>
          </p:nvPr>
        </p:nvSpPr>
        <p:spPr/>
        <p:txBody>
          <a:bodyPr>
            <a:normAutofit fontScale="90000"/>
          </a:bodyPr>
          <a:lstStyle/>
          <a:p>
            <a:r>
              <a:rPr lang="en-US" dirty="0">
                <a:ea typeface="Calibri Light"/>
                <a:cs typeface="Calibri Light"/>
              </a:rPr>
              <a:t>Eigen decomposition</a:t>
            </a:r>
            <a:endParaRPr lang="en-US" dirty="0" err="1"/>
          </a:p>
        </p:txBody>
      </p:sp>
      <p:pic>
        <p:nvPicPr>
          <p:cNvPr id="3" name="Picture 2" descr="A white text with blue text&#10;&#10;AI-generated content may be incorrect.">
            <a:extLst>
              <a:ext uri="{FF2B5EF4-FFF2-40B4-BE49-F238E27FC236}">
                <a16:creationId xmlns:a16="http://schemas.microsoft.com/office/drawing/2014/main" id="{FBEF5608-A5C1-B2ED-8077-060A5F11987B}"/>
              </a:ext>
            </a:extLst>
          </p:cNvPr>
          <p:cNvPicPr>
            <a:picLocks noChangeAspect="1"/>
          </p:cNvPicPr>
          <p:nvPr/>
        </p:nvPicPr>
        <p:blipFill>
          <a:blip r:embed="rId2"/>
          <a:stretch>
            <a:fillRect/>
          </a:stretch>
        </p:blipFill>
        <p:spPr>
          <a:xfrm>
            <a:off x="1135811" y="1218944"/>
            <a:ext cx="9014604" cy="4865808"/>
          </a:xfrm>
          <a:prstGeom prst="rect">
            <a:avLst/>
          </a:prstGeom>
        </p:spPr>
      </p:pic>
    </p:spTree>
    <p:extLst>
      <p:ext uri="{BB962C8B-B14F-4D97-AF65-F5344CB8AC3E}">
        <p14:creationId xmlns:p14="http://schemas.microsoft.com/office/powerpoint/2010/main" val="25971687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E749A-8F22-A44B-932C-0FAA25F03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B21D4-E290-47B3-07D1-B6074FB1FA28}"/>
              </a:ext>
            </a:extLst>
          </p:cNvPr>
          <p:cNvSpPr>
            <a:spLocks noGrp="1"/>
          </p:cNvSpPr>
          <p:nvPr>
            <p:ph type="title"/>
          </p:nvPr>
        </p:nvSpPr>
        <p:spPr/>
        <p:txBody>
          <a:bodyPr>
            <a:normAutofit fontScale="90000"/>
          </a:bodyPr>
          <a:lstStyle/>
          <a:p>
            <a:r>
              <a:rPr lang="en-US">
                <a:ea typeface="Calibri Light"/>
                <a:cs typeface="Calibri Light"/>
              </a:rPr>
              <a:t>Decomposition of Symmetric Matrix</a:t>
            </a:r>
            <a:endParaRPr lang="en-US"/>
          </a:p>
        </p:txBody>
      </p:sp>
      <p:pic>
        <p:nvPicPr>
          <p:cNvPr id="3" name="Picture 2" descr="A white text with blue and green text&#10;&#10;AI-generated content may be incorrect.">
            <a:extLst>
              <a:ext uri="{FF2B5EF4-FFF2-40B4-BE49-F238E27FC236}">
                <a16:creationId xmlns:a16="http://schemas.microsoft.com/office/drawing/2014/main" id="{DB415F1A-D46C-6D5E-9D33-0BE4F37ECDC3}"/>
              </a:ext>
            </a:extLst>
          </p:cNvPr>
          <p:cNvPicPr>
            <a:picLocks noChangeAspect="1"/>
          </p:cNvPicPr>
          <p:nvPr/>
        </p:nvPicPr>
        <p:blipFill>
          <a:blip r:embed="rId2"/>
          <a:stretch>
            <a:fillRect/>
          </a:stretch>
        </p:blipFill>
        <p:spPr>
          <a:xfrm>
            <a:off x="690113" y="864685"/>
            <a:ext cx="9920378" cy="5531194"/>
          </a:xfrm>
          <a:prstGeom prst="rect">
            <a:avLst/>
          </a:prstGeom>
        </p:spPr>
      </p:pic>
    </p:spTree>
    <p:extLst>
      <p:ext uri="{BB962C8B-B14F-4D97-AF65-F5344CB8AC3E}">
        <p14:creationId xmlns:p14="http://schemas.microsoft.com/office/powerpoint/2010/main" val="1800737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534C4-C201-0E88-CC9A-D497F4163A60}"/>
              </a:ext>
            </a:extLst>
          </p:cNvPr>
          <p:cNvSpPr>
            <a:spLocks noGrp="1"/>
          </p:cNvSpPr>
          <p:nvPr>
            <p:ph type="title"/>
          </p:nvPr>
        </p:nvSpPr>
        <p:spPr/>
        <p:txBody>
          <a:bodyPr>
            <a:normAutofit fontScale="90000"/>
          </a:bodyPr>
          <a:lstStyle/>
          <a:p>
            <a:r>
              <a:rPr lang="en-US" dirty="0">
                <a:ea typeface="Calibri Light"/>
                <a:cs typeface="Calibri Light"/>
              </a:rPr>
              <a:t>Why do we learn eigen decomposition?</a:t>
            </a:r>
            <a:endParaRPr lang="en-US" dirty="0"/>
          </a:p>
        </p:txBody>
      </p:sp>
      <p:sp>
        <p:nvSpPr>
          <p:cNvPr id="3" name="Content Placeholder 2">
            <a:extLst>
              <a:ext uri="{FF2B5EF4-FFF2-40B4-BE49-F238E27FC236}">
                <a16:creationId xmlns:a16="http://schemas.microsoft.com/office/drawing/2014/main" id="{6F5A450F-8229-8977-CC62-5AFCF74BA96F}"/>
              </a:ext>
            </a:extLst>
          </p:cNvPr>
          <p:cNvSpPr>
            <a:spLocks noGrp="1"/>
          </p:cNvSpPr>
          <p:nvPr>
            <p:ph idx="1"/>
          </p:nvPr>
        </p:nvSpPr>
        <p:spPr/>
        <p:txBody>
          <a:bodyPr vert="horz" lIns="91440" tIns="45720" rIns="91440" bIns="45720" rtlCol="0" anchor="t">
            <a:normAutofit fontScale="92500" lnSpcReduction="10000"/>
          </a:bodyPr>
          <a:lstStyle/>
          <a:p>
            <a:r>
              <a:rPr lang="en-US" dirty="0">
                <a:solidFill>
                  <a:srgbClr val="0023BF"/>
                </a:solidFill>
                <a:ea typeface="Calibri"/>
                <a:cs typeface="Calibri"/>
              </a:rPr>
              <a:t>Matrix Simplification</a:t>
            </a:r>
          </a:p>
          <a:p>
            <a:pPr lvl="1"/>
            <a:r>
              <a:rPr lang="en-US" dirty="0">
                <a:solidFill>
                  <a:srgbClr val="38631C"/>
                </a:solidFill>
                <a:ea typeface="Calibri"/>
                <a:cs typeface="Calibri"/>
              </a:rPr>
              <a:t>Makes powers &amp; exponentials of matrices easier.</a:t>
            </a:r>
          </a:p>
          <a:p>
            <a:pPr lvl="1"/>
            <a:r>
              <a:rPr lang="en-US" dirty="0">
                <a:solidFill>
                  <a:srgbClr val="38631C"/>
                </a:solidFill>
                <a:ea typeface="Calibri"/>
                <a:cs typeface="Calibri"/>
              </a:rPr>
              <a:t>Example: A</a:t>
            </a:r>
            <a:r>
              <a:rPr lang="en-US" baseline="30000" dirty="0">
                <a:solidFill>
                  <a:srgbClr val="38631C"/>
                </a:solidFill>
                <a:ea typeface="Calibri"/>
                <a:cs typeface="Calibri"/>
              </a:rPr>
              <a:t>k</a:t>
            </a:r>
            <a:r>
              <a:rPr lang="en-US" dirty="0">
                <a:solidFill>
                  <a:srgbClr val="38631C"/>
                </a:solidFill>
                <a:ea typeface="Calibri"/>
                <a:cs typeface="Calibri"/>
              </a:rPr>
              <a:t>=VΛ</a:t>
            </a:r>
            <a:r>
              <a:rPr lang="en-US" baseline="30000" dirty="0">
                <a:solidFill>
                  <a:srgbClr val="38631C"/>
                </a:solidFill>
                <a:ea typeface="Calibri"/>
                <a:cs typeface="Calibri"/>
              </a:rPr>
              <a:t>k</a:t>
            </a:r>
            <a:r>
              <a:rPr lang="en-US" dirty="0">
                <a:solidFill>
                  <a:srgbClr val="38631C"/>
                </a:solidFill>
                <a:ea typeface="Calibri"/>
                <a:cs typeface="Calibri"/>
              </a:rPr>
              <a:t>V</a:t>
            </a:r>
            <a:r>
              <a:rPr lang="en-US" baseline="30000" dirty="0">
                <a:solidFill>
                  <a:srgbClr val="38631C"/>
                </a:solidFill>
                <a:ea typeface="Calibri"/>
                <a:cs typeface="Calibri"/>
              </a:rPr>
              <a:t>−1</a:t>
            </a:r>
            <a:r>
              <a:rPr lang="en-US" dirty="0">
                <a:solidFill>
                  <a:srgbClr val="38631C"/>
                </a:solidFill>
                <a:ea typeface="Calibri"/>
                <a:cs typeface="Calibri"/>
              </a:rPr>
              <a:t>.</a:t>
            </a:r>
          </a:p>
          <a:p>
            <a:r>
              <a:rPr lang="en-US" dirty="0">
                <a:solidFill>
                  <a:srgbClr val="0023BF"/>
                </a:solidFill>
                <a:ea typeface="Calibri"/>
                <a:cs typeface="Calibri"/>
              </a:rPr>
              <a:t>Dimensionality Reduction</a:t>
            </a:r>
          </a:p>
          <a:p>
            <a:pPr lvl="1"/>
            <a:r>
              <a:rPr lang="en-US" dirty="0">
                <a:solidFill>
                  <a:srgbClr val="38631C"/>
                </a:solidFill>
                <a:ea typeface="Calibri"/>
                <a:cs typeface="Calibri"/>
              </a:rPr>
              <a:t>Basis of Principal Component Analysis (PCA).</a:t>
            </a:r>
          </a:p>
          <a:p>
            <a:pPr lvl="1"/>
            <a:r>
              <a:rPr lang="en-US" dirty="0">
                <a:solidFill>
                  <a:srgbClr val="38631C"/>
                </a:solidFill>
                <a:ea typeface="Calibri"/>
                <a:cs typeface="Calibri"/>
              </a:rPr>
              <a:t>Extracts dominant features by keeping largest eigenvalues.</a:t>
            </a:r>
          </a:p>
          <a:p>
            <a:r>
              <a:rPr lang="en-US" dirty="0">
                <a:solidFill>
                  <a:srgbClr val="0023BF"/>
                </a:solidFill>
                <a:ea typeface="Calibri"/>
                <a:cs typeface="Calibri"/>
              </a:rPr>
              <a:t>Data Analysis &amp; ML</a:t>
            </a:r>
            <a:endParaRPr lang="en-US" dirty="0">
              <a:solidFill>
                <a:srgbClr val="0023BF"/>
              </a:solidFill>
            </a:endParaRPr>
          </a:p>
          <a:p>
            <a:pPr lvl="1"/>
            <a:r>
              <a:rPr lang="en-US" dirty="0">
                <a:solidFill>
                  <a:srgbClr val="38631C"/>
                </a:solidFill>
                <a:ea typeface="Calibri"/>
                <a:cs typeface="Calibri"/>
              </a:rPr>
              <a:t>Spectral clustering, topic modeling, covariance analysis.</a:t>
            </a:r>
          </a:p>
          <a:p>
            <a:r>
              <a:rPr lang="en-US" dirty="0">
                <a:solidFill>
                  <a:srgbClr val="0023BF"/>
                </a:solidFill>
                <a:ea typeface="Calibri"/>
                <a:cs typeface="Calibri"/>
              </a:rPr>
              <a:t>Engineering &amp; Physics</a:t>
            </a:r>
            <a:endParaRPr lang="en-US" dirty="0">
              <a:solidFill>
                <a:srgbClr val="0023BF"/>
              </a:solidFill>
            </a:endParaRPr>
          </a:p>
          <a:p>
            <a:pPr lvl="1"/>
            <a:r>
              <a:rPr lang="en-US" dirty="0">
                <a:solidFill>
                  <a:srgbClr val="38631C"/>
                </a:solidFill>
                <a:ea typeface="Calibri"/>
                <a:cs typeface="Calibri"/>
              </a:rPr>
              <a:t>Vibration modes, stability of dynamical systems.</a:t>
            </a:r>
          </a:p>
          <a:p>
            <a:pPr lvl="1"/>
            <a:r>
              <a:rPr lang="en-US" dirty="0">
                <a:solidFill>
                  <a:srgbClr val="38631C"/>
                </a:solidFill>
                <a:ea typeface="Calibri"/>
                <a:cs typeface="Calibri"/>
              </a:rPr>
              <a:t>Quantum mechanics (state decomposition).</a:t>
            </a:r>
            <a:endParaRPr lang="en-US">
              <a:solidFill>
                <a:srgbClr val="38631C"/>
              </a:solidFill>
              <a:ea typeface="Calibri"/>
              <a:cs typeface="Calibri"/>
            </a:endParaRPr>
          </a:p>
          <a:p>
            <a:r>
              <a:rPr lang="en-US" dirty="0">
                <a:solidFill>
                  <a:srgbClr val="0023BF"/>
                </a:solidFill>
                <a:ea typeface="Calibri"/>
                <a:cs typeface="Calibri"/>
              </a:rPr>
              <a:t>Graph Theory</a:t>
            </a:r>
            <a:endParaRPr lang="en-US" dirty="0">
              <a:solidFill>
                <a:srgbClr val="0023BF"/>
              </a:solidFill>
            </a:endParaRPr>
          </a:p>
          <a:p>
            <a:pPr lvl="1"/>
            <a:r>
              <a:rPr lang="en-US" dirty="0">
                <a:solidFill>
                  <a:srgbClr val="38631C"/>
                </a:solidFill>
                <a:ea typeface="Calibri"/>
                <a:cs typeface="Calibri"/>
              </a:rPr>
              <a:t>Eigenvalues/eigenvectors of adjacency or Laplacian matrices reveal community structure.</a:t>
            </a:r>
          </a:p>
          <a:p>
            <a:endParaRPr lang="en-US" dirty="0">
              <a:ea typeface="Calibri"/>
              <a:cs typeface="Calibri"/>
            </a:endParaRPr>
          </a:p>
        </p:txBody>
      </p:sp>
    </p:spTree>
    <p:extLst>
      <p:ext uri="{BB962C8B-B14F-4D97-AF65-F5344CB8AC3E}">
        <p14:creationId xmlns:p14="http://schemas.microsoft.com/office/powerpoint/2010/main" val="38080052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A8D8C-D6EA-B4B5-6C3A-8B214CEE7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7BAF4-B400-D35E-7A12-790DFC431D08}"/>
              </a:ext>
            </a:extLst>
          </p:cNvPr>
          <p:cNvSpPr>
            <a:spLocks noGrp="1"/>
          </p:cNvSpPr>
          <p:nvPr>
            <p:ph type="title"/>
          </p:nvPr>
        </p:nvSpPr>
        <p:spPr/>
        <p:txBody>
          <a:bodyPr>
            <a:normAutofit fontScale="90000"/>
          </a:bodyPr>
          <a:lstStyle/>
          <a:p>
            <a:r>
              <a:rPr lang="en-US">
                <a:ea typeface="Calibri Light"/>
                <a:cs typeface="Calibri Light"/>
              </a:rPr>
              <a:t>Effect of Eigenvectors and Eigenvalues</a:t>
            </a:r>
            <a:endParaRPr lang="en-US" err="1"/>
          </a:p>
        </p:txBody>
      </p:sp>
      <p:pic>
        <p:nvPicPr>
          <p:cNvPr id="4" name="Picture 3">
            <a:extLst>
              <a:ext uri="{FF2B5EF4-FFF2-40B4-BE49-F238E27FC236}">
                <a16:creationId xmlns:a16="http://schemas.microsoft.com/office/drawing/2014/main" id="{B27BE6BD-4963-C47C-A3F3-41EBC23414A2}"/>
              </a:ext>
            </a:extLst>
          </p:cNvPr>
          <p:cNvPicPr>
            <a:picLocks noChangeAspect="1"/>
          </p:cNvPicPr>
          <p:nvPr/>
        </p:nvPicPr>
        <p:blipFill>
          <a:blip r:embed="rId2"/>
          <a:stretch>
            <a:fillRect/>
          </a:stretch>
        </p:blipFill>
        <p:spPr>
          <a:xfrm>
            <a:off x="1803179" y="1192916"/>
            <a:ext cx="9058274" cy="5282396"/>
          </a:xfrm>
          <a:prstGeom prst="rect">
            <a:avLst/>
          </a:prstGeom>
        </p:spPr>
      </p:pic>
    </p:spTree>
    <p:extLst>
      <p:ext uri="{BB962C8B-B14F-4D97-AF65-F5344CB8AC3E}">
        <p14:creationId xmlns:p14="http://schemas.microsoft.com/office/powerpoint/2010/main" val="12859760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25570-459C-5EB0-6227-772043383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7E5E2-C6C9-A1F1-5E24-CE93B2168993}"/>
              </a:ext>
            </a:extLst>
          </p:cNvPr>
          <p:cNvSpPr>
            <a:spLocks noGrp="1"/>
          </p:cNvSpPr>
          <p:nvPr>
            <p:ph type="title"/>
          </p:nvPr>
        </p:nvSpPr>
        <p:spPr/>
        <p:txBody>
          <a:bodyPr>
            <a:normAutofit fontScale="90000"/>
          </a:bodyPr>
          <a:lstStyle/>
          <a:p>
            <a:r>
              <a:rPr lang="en-US" dirty="0">
                <a:ea typeface="Calibri Light"/>
                <a:cs typeface="Calibri Light"/>
              </a:rPr>
              <a:t>Eigen decomposition is not unique</a:t>
            </a:r>
            <a:endParaRPr lang="en-US" dirty="0"/>
          </a:p>
        </p:txBody>
      </p:sp>
      <p:pic>
        <p:nvPicPr>
          <p:cNvPr id="3" name="Picture 2" descr="A white background with green and blue text&#10;&#10;AI-generated content may be incorrect.">
            <a:extLst>
              <a:ext uri="{FF2B5EF4-FFF2-40B4-BE49-F238E27FC236}">
                <a16:creationId xmlns:a16="http://schemas.microsoft.com/office/drawing/2014/main" id="{D5671F8D-051C-135B-E6EC-EEE4788CC900}"/>
              </a:ext>
            </a:extLst>
          </p:cNvPr>
          <p:cNvPicPr>
            <a:picLocks noChangeAspect="1"/>
          </p:cNvPicPr>
          <p:nvPr/>
        </p:nvPicPr>
        <p:blipFill>
          <a:blip r:embed="rId2"/>
          <a:stretch>
            <a:fillRect/>
          </a:stretch>
        </p:blipFill>
        <p:spPr>
          <a:xfrm>
            <a:off x="935474" y="886292"/>
            <a:ext cx="10840529" cy="5973406"/>
          </a:xfrm>
          <a:prstGeom prst="rect">
            <a:avLst/>
          </a:prstGeom>
        </p:spPr>
      </p:pic>
    </p:spTree>
    <p:extLst>
      <p:ext uri="{BB962C8B-B14F-4D97-AF65-F5344CB8AC3E}">
        <p14:creationId xmlns:p14="http://schemas.microsoft.com/office/powerpoint/2010/main" val="1950069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26B6742-A414-D315-D416-B38163D93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44673-6227-D18F-C342-0E0F42B53617}"/>
              </a:ext>
            </a:extLst>
          </p:cNvPr>
          <p:cNvSpPr>
            <a:spLocks noGrp="1"/>
          </p:cNvSpPr>
          <p:nvPr>
            <p:ph type="title"/>
          </p:nvPr>
        </p:nvSpPr>
        <p:spPr/>
        <p:txBody>
          <a:bodyPr>
            <a:normAutofit fontScale="90000"/>
          </a:bodyPr>
          <a:lstStyle/>
          <a:p>
            <a:r>
              <a:rPr lang="en-US" dirty="0">
                <a:ea typeface="Calibri Light"/>
                <a:cs typeface="Calibri Light"/>
              </a:rPr>
              <a:t>What eigen decomposition tell us</a:t>
            </a:r>
            <a:endParaRPr lang="en-US" dirty="0"/>
          </a:p>
        </p:txBody>
      </p:sp>
      <p:pic>
        <p:nvPicPr>
          <p:cNvPr id="3" name="Picture 2" descr="A white text with green and blue text&#10;&#10;AI-generated content may be incorrect.">
            <a:extLst>
              <a:ext uri="{FF2B5EF4-FFF2-40B4-BE49-F238E27FC236}">
                <a16:creationId xmlns:a16="http://schemas.microsoft.com/office/drawing/2014/main" id="{ACA011CB-1B15-A17D-6BBD-8CC1FD879695}"/>
              </a:ext>
            </a:extLst>
          </p:cNvPr>
          <p:cNvPicPr>
            <a:picLocks noChangeAspect="1"/>
          </p:cNvPicPr>
          <p:nvPr/>
        </p:nvPicPr>
        <p:blipFill>
          <a:blip r:embed="rId2"/>
          <a:stretch>
            <a:fillRect/>
          </a:stretch>
        </p:blipFill>
        <p:spPr>
          <a:xfrm>
            <a:off x="1279585" y="1027108"/>
            <a:ext cx="9259019" cy="5134463"/>
          </a:xfrm>
          <a:prstGeom prst="rect">
            <a:avLst/>
          </a:prstGeom>
        </p:spPr>
      </p:pic>
    </p:spTree>
    <p:extLst>
      <p:ext uri="{BB962C8B-B14F-4D97-AF65-F5344CB8AC3E}">
        <p14:creationId xmlns:p14="http://schemas.microsoft.com/office/powerpoint/2010/main" val="22994058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AE327-AC39-1147-C88B-03F6893FE141}"/>
              </a:ext>
            </a:extLst>
          </p:cNvPr>
          <p:cNvSpPr>
            <a:spLocks noGrp="1"/>
          </p:cNvSpPr>
          <p:nvPr>
            <p:ph type="title"/>
          </p:nvPr>
        </p:nvSpPr>
        <p:spPr/>
        <p:txBody>
          <a:bodyPr>
            <a:normAutofit fontScale="90000"/>
          </a:bodyPr>
          <a:lstStyle/>
          <a:p>
            <a:r>
              <a:rPr lang="en-US">
                <a:ea typeface="Calibri Light"/>
                <a:cs typeface="Calibri Light"/>
              </a:rPr>
              <a:t>Positive Definite Matrix</a:t>
            </a:r>
            <a:endParaRPr lang="en-US"/>
          </a:p>
        </p:txBody>
      </p:sp>
      <p:pic>
        <p:nvPicPr>
          <p:cNvPr id="4" name="Picture 3" descr="A white background with green and blue text&#10;&#10;AI-generated content may be incorrect.">
            <a:extLst>
              <a:ext uri="{FF2B5EF4-FFF2-40B4-BE49-F238E27FC236}">
                <a16:creationId xmlns:a16="http://schemas.microsoft.com/office/drawing/2014/main" id="{FB04D1C1-0030-5391-4939-2D7A573F0ECD}"/>
              </a:ext>
            </a:extLst>
          </p:cNvPr>
          <p:cNvPicPr>
            <a:picLocks noChangeAspect="1"/>
          </p:cNvPicPr>
          <p:nvPr/>
        </p:nvPicPr>
        <p:blipFill>
          <a:blip r:embed="rId2"/>
          <a:stretch>
            <a:fillRect/>
          </a:stretch>
        </p:blipFill>
        <p:spPr>
          <a:xfrm>
            <a:off x="546339" y="1022128"/>
            <a:ext cx="11113699" cy="5604497"/>
          </a:xfrm>
          <a:prstGeom prst="rect">
            <a:avLst/>
          </a:prstGeom>
        </p:spPr>
      </p:pic>
    </p:spTree>
    <p:extLst>
      <p:ext uri="{BB962C8B-B14F-4D97-AF65-F5344CB8AC3E}">
        <p14:creationId xmlns:p14="http://schemas.microsoft.com/office/powerpoint/2010/main" val="9573237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351C6-25AB-6BAF-0E08-6F27A1DFB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7F914-CDCC-49ED-FCF3-6407BFBE2BD5}"/>
              </a:ext>
            </a:extLst>
          </p:cNvPr>
          <p:cNvSpPr>
            <a:spLocks noGrp="1"/>
          </p:cNvSpPr>
          <p:nvPr>
            <p:ph type="title"/>
          </p:nvPr>
        </p:nvSpPr>
        <p:spPr/>
        <p:txBody>
          <a:bodyPr>
            <a:normAutofit fontScale="90000"/>
          </a:bodyPr>
          <a:lstStyle/>
          <a:p>
            <a:r>
              <a:rPr lang="en-US">
                <a:ea typeface="Calibri Light"/>
                <a:cs typeface="Calibri Light"/>
              </a:rPr>
              <a:t>Singular Value Decomposition (SVD)</a:t>
            </a:r>
            <a:endParaRPr lang="en-US"/>
          </a:p>
        </p:txBody>
      </p:sp>
      <p:pic>
        <p:nvPicPr>
          <p:cNvPr id="3" name="Picture 2" descr="A white background with text&#10;&#10;AI-generated content may be incorrect.">
            <a:extLst>
              <a:ext uri="{FF2B5EF4-FFF2-40B4-BE49-F238E27FC236}">
                <a16:creationId xmlns:a16="http://schemas.microsoft.com/office/drawing/2014/main" id="{418CF6B9-0D64-AD60-1763-735CB482CAA4}"/>
              </a:ext>
            </a:extLst>
          </p:cNvPr>
          <p:cNvPicPr>
            <a:picLocks noChangeAspect="1"/>
          </p:cNvPicPr>
          <p:nvPr/>
        </p:nvPicPr>
        <p:blipFill>
          <a:blip r:embed="rId2"/>
          <a:stretch>
            <a:fillRect/>
          </a:stretch>
        </p:blipFill>
        <p:spPr>
          <a:xfrm>
            <a:off x="0" y="875604"/>
            <a:ext cx="12192000" cy="5106791"/>
          </a:xfrm>
          <a:prstGeom prst="rect">
            <a:avLst/>
          </a:prstGeom>
        </p:spPr>
      </p:pic>
    </p:spTree>
    <p:extLst>
      <p:ext uri="{BB962C8B-B14F-4D97-AF65-F5344CB8AC3E}">
        <p14:creationId xmlns:p14="http://schemas.microsoft.com/office/powerpoint/2010/main" val="27280198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4E27C-EA59-60C0-77A2-6DE07A39D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C83CE-B20F-745F-F78B-534CA72EEFE5}"/>
              </a:ext>
            </a:extLst>
          </p:cNvPr>
          <p:cNvSpPr>
            <a:spLocks noGrp="1"/>
          </p:cNvSpPr>
          <p:nvPr>
            <p:ph type="title"/>
          </p:nvPr>
        </p:nvSpPr>
        <p:spPr/>
        <p:txBody>
          <a:bodyPr>
            <a:normAutofit fontScale="90000"/>
          </a:bodyPr>
          <a:lstStyle/>
          <a:p>
            <a:r>
              <a:rPr lang="en-US">
                <a:ea typeface="Calibri Light"/>
                <a:cs typeface="Calibri Light"/>
              </a:rPr>
              <a:t>SVD Definition</a:t>
            </a:r>
            <a:endParaRPr lang="en-US"/>
          </a:p>
        </p:txBody>
      </p:sp>
      <p:pic>
        <p:nvPicPr>
          <p:cNvPr id="3" name="Picture 2" descr="A white background with black and green text&#10;&#10;AI-generated content may be incorrect.">
            <a:extLst>
              <a:ext uri="{FF2B5EF4-FFF2-40B4-BE49-F238E27FC236}">
                <a16:creationId xmlns:a16="http://schemas.microsoft.com/office/drawing/2014/main" id="{5E32B0AD-C83D-6001-14D0-65F907BF53B7}"/>
              </a:ext>
            </a:extLst>
          </p:cNvPr>
          <p:cNvPicPr>
            <a:picLocks noChangeAspect="1"/>
          </p:cNvPicPr>
          <p:nvPr/>
        </p:nvPicPr>
        <p:blipFill>
          <a:blip r:embed="rId2"/>
          <a:stretch>
            <a:fillRect/>
          </a:stretch>
        </p:blipFill>
        <p:spPr>
          <a:xfrm>
            <a:off x="1507665" y="805132"/>
            <a:ext cx="9191047" cy="5750944"/>
          </a:xfrm>
          <a:prstGeom prst="rect">
            <a:avLst/>
          </a:prstGeom>
        </p:spPr>
      </p:pic>
    </p:spTree>
    <p:extLst>
      <p:ext uri="{BB962C8B-B14F-4D97-AF65-F5344CB8AC3E}">
        <p14:creationId xmlns:p14="http://schemas.microsoft.com/office/powerpoint/2010/main" val="42694193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60749-9018-7B21-3781-B517809159EA}"/>
              </a:ext>
            </a:extLst>
          </p:cNvPr>
          <p:cNvSpPr>
            <a:spLocks noGrp="1"/>
          </p:cNvSpPr>
          <p:nvPr>
            <p:ph type="title"/>
          </p:nvPr>
        </p:nvSpPr>
        <p:spPr/>
        <p:txBody>
          <a:bodyPr>
            <a:normAutofit fontScale="90000"/>
          </a:bodyPr>
          <a:lstStyle/>
          <a:p>
            <a:r>
              <a:rPr lang="en-US">
                <a:ea typeface="Calibri Light"/>
                <a:cs typeface="Calibri Light"/>
              </a:rPr>
              <a:t>SVD</a:t>
            </a:r>
            <a:endParaRPr lang="en-US"/>
          </a:p>
        </p:txBody>
      </p:sp>
      <p:pic>
        <p:nvPicPr>
          <p:cNvPr id="4" name="Content Placeholder 3" descr="A diagram of a mathematical equation&#10;&#10;AI-generated content may be incorrect.">
            <a:extLst>
              <a:ext uri="{FF2B5EF4-FFF2-40B4-BE49-F238E27FC236}">
                <a16:creationId xmlns:a16="http://schemas.microsoft.com/office/drawing/2014/main" id="{C3CB5F93-1EC6-41E1-B4D9-49507EAFA372}"/>
              </a:ext>
            </a:extLst>
          </p:cNvPr>
          <p:cNvPicPr>
            <a:picLocks noGrp="1" noChangeAspect="1"/>
          </p:cNvPicPr>
          <p:nvPr>
            <p:ph idx="1"/>
          </p:nvPr>
        </p:nvPicPr>
        <p:blipFill>
          <a:blip r:embed="rId2"/>
          <a:stretch>
            <a:fillRect/>
          </a:stretch>
        </p:blipFill>
        <p:spPr>
          <a:xfrm>
            <a:off x="1050582" y="1107093"/>
            <a:ext cx="10094997" cy="5237162"/>
          </a:xfrm>
          <a:prstGeom prst="rect">
            <a:avLst/>
          </a:prstGeom>
        </p:spPr>
      </p:pic>
    </p:spTree>
    <p:extLst>
      <p:ext uri="{BB962C8B-B14F-4D97-AF65-F5344CB8AC3E}">
        <p14:creationId xmlns:p14="http://schemas.microsoft.com/office/powerpoint/2010/main" val="3990973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BF4AA-5C98-AF62-9742-02795C69E9EF}"/>
              </a:ext>
            </a:extLst>
          </p:cNvPr>
          <p:cNvSpPr>
            <a:spLocks noGrp="1"/>
          </p:cNvSpPr>
          <p:nvPr>
            <p:ph type="title"/>
          </p:nvPr>
        </p:nvSpPr>
        <p:spPr/>
        <p:txBody>
          <a:bodyPr>
            <a:normAutofit fontScale="90000"/>
          </a:bodyPr>
          <a:lstStyle/>
          <a:p>
            <a:r>
              <a:rPr lang="en-US" dirty="0">
                <a:ea typeface="Calibri Light"/>
                <a:cs typeface="Calibri Light"/>
              </a:rPr>
              <a:t>SVD Another Interpretation</a:t>
            </a:r>
            <a:endParaRPr lang="en-US" dirty="0"/>
          </a:p>
        </p:txBody>
      </p:sp>
      <p:sp>
        <p:nvSpPr>
          <p:cNvPr id="3" name="Content Placeholder 2">
            <a:extLst>
              <a:ext uri="{FF2B5EF4-FFF2-40B4-BE49-F238E27FC236}">
                <a16:creationId xmlns:a16="http://schemas.microsoft.com/office/drawing/2014/main" id="{C8C3698F-CBEA-A9A7-5356-373EA90AD98D}"/>
              </a:ext>
            </a:extLst>
          </p:cNvPr>
          <p:cNvSpPr>
            <a:spLocks noGrp="1"/>
          </p:cNvSpPr>
          <p:nvPr>
            <p:ph idx="1"/>
          </p:nvPr>
        </p:nvSpPr>
        <p:spPr/>
        <p:txBody>
          <a:bodyPr vert="horz" lIns="91440" tIns="45720" rIns="91440" bIns="45720" rtlCol="0" anchor="t">
            <a:normAutofit/>
          </a:bodyPr>
          <a:lstStyle/>
          <a:p>
            <a:r>
              <a:rPr lang="en-US" dirty="0">
                <a:solidFill>
                  <a:srgbClr val="0023BF"/>
                </a:solidFill>
                <a:ea typeface="Calibri"/>
                <a:cs typeface="Calibri"/>
              </a:rPr>
              <a:t>Singular Value Decomposition (SVD) is a factorization method in linear algebra that decomposes a matrix into three other matrices, providing a way to represent data in terms of its singular values.</a:t>
            </a:r>
          </a:p>
          <a:p>
            <a:r>
              <a:rPr lang="en-US" dirty="0">
                <a:solidFill>
                  <a:srgbClr val="0023BF"/>
                </a:solidFill>
                <a:ea typeface="Calibri"/>
                <a:cs typeface="Calibri"/>
              </a:rPr>
              <a:t>SVD helps you split a user-item table into three parts:</a:t>
            </a:r>
            <a:endParaRPr lang="en-US" dirty="0">
              <a:solidFill>
                <a:srgbClr val="0023BF"/>
              </a:solidFill>
            </a:endParaRPr>
          </a:p>
          <a:p>
            <a:pPr lvl="1"/>
            <a:r>
              <a:rPr lang="en-US" dirty="0">
                <a:solidFill>
                  <a:srgbClr val="38631C"/>
                </a:solidFill>
                <a:ea typeface="Calibri"/>
                <a:cs typeface="Calibri"/>
              </a:rPr>
              <a:t>U: This part talks about the people (like their general preferences).</a:t>
            </a:r>
          </a:p>
          <a:p>
            <a:pPr lvl="1"/>
            <a:r>
              <a:rPr lang="en-US" dirty="0">
                <a:solidFill>
                  <a:srgbClr val="38631C"/>
                </a:solidFill>
                <a:ea typeface="Calibri"/>
                <a:cs typeface="Calibri"/>
              </a:rPr>
              <a:t>Σ/D: This part shows how important each factor is (how much each rating matters).</a:t>
            </a:r>
          </a:p>
          <a:p>
            <a:pPr lvl="1"/>
            <a:r>
              <a:rPr lang="en-US" dirty="0">
                <a:solidFill>
                  <a:srgbClr val="38631C"/>
                </a:solidFill>
                <a:ea typeface="Calibri"/>
                <a:cs typeface="Calibri"/>
              </a:rPr>
              <a:t>Vᵀ: This part tells you about the products (how similar they are to each other)</a:t>
            </a:r>
            <a:endParaRPr lang="en-US">
              <a:solidFill>
                <a:srgbClr val="38631C"/>
              </a:solidFill>
              <a:ea typeface="Calibri"/>
              <a:cs typeface="Calibri"/>
            </a:endParaRPr>
          </a:p>
          <a:p>
            <a:r>
              <a:rPr lang="en-US" dirty="0">
                <a:solidFill>
                  <a:srgbClr val="0023BF"/>
                </a:solidFill>
                <a:ea typeface="+mn-lt"/>
                <a:cs typeface="+mn-lt"/>
              </a:rPr>
              <a:t>SVD breaks a user-(liked) movie into three smaller parts: one that shows people’s preferences, one that shows the importance of each movie, and one that shows how similar the movies are to each other</a:t>
            </a:r>
            <a:br>
              <a:rPr lang="en-US" dirty="0"/>
            </a:br>
            <a:endParaRPr lang="en-US">
              <a:ea typeface="Calibri"/>
              <a:cs typeface="Calibri"/>
            </a:endParaRPr>
          </a:p>
        </p:txBody>
      </p:sp>
    </p:spTree>
    <p:extLst>
      <p:ext uri="{BB962C8B-B14F-4D97-AF65-F5344CB8AC3E}">
        <p14:creationId xmlns:p14="http://schemas.microsoft.com/office/powerpoint/2010/main" val="36146028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D4691-A644-D826-6F46-F88158B90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9D610-10D5-FFAC-4A0B-45F41D6685B5}"/>
              </a:ext>
            </a:extLst>
          </p:cNvPr>
          <p:cNvSpPr>
            <a:spLocks noGrp="1"/>
          </p:cNvSpPr>
          <p:nvPr>
            <p:ph type="title"/>
          </p:nvPr>
        </p:nvSpPr>
        <p:spPr/>
        <p:txBody>
          <a:bodyPr>
            <a:normAutofit fontScale="90000"/>
          </a:bodyPr>
          <a:lstStyle/>
          <a:p>
            <a:r>
              <a:rPr lang="en-US">
                <a:ea typeface="Calibri Light"/>
                <a:cs typeface="Calibri Light"/>
              </a:rPr>
              <a:t>Use of SVD in ML</a:t>
            </a:r>
            <a:endParaRPr lang="en-US"/>
          </a:p>
        </p:txBody>
      </p:sp>
      <p:pic>
        <p:nvPicPr>
          <p:cNvPr id="3" name="Picture 2" descr="A white text with blue and green text&#10;&#10;AI-generated content may be incorrect.">
            <a:extLst>
              <a:ext uri="{FF2B5EF4-FFF2-40B4-BE49-F238E27FC236}">
                <a16:creationId xmlns:a16="http://schemas.microsoft.com/office/drawing/2014/main" id="{669C564C-B1E9-B72E-935F-E0949E6BBD7F}"/>
              </a:ext>
            </a:extLst>
          </p:cNvPr>
          <p:cNvPicPr>
            <a:picLocks noChangeAspect="1"/>
          </p:cNvPicPr>
          <p:nvPr/>
        </p:nvPicPr>
        <p:blipFill>
          <a:blip r:embed="rId2"/>
          <a:stretch>
            <a:fillRect/>
          </a:stretch>
        </p:blipFill>
        <p:spPr>
          <a:xfrm>
            <a:off x="1279585" y="862202"/>
            <a:ext cx="9201510" cy="5133594"/>
          </a:xfrm>
          <a:prstGeom prst="rect">
            <a:avLst/>
          </a:prstGeom>
        </p:spPr>
      </p:pic>
    </p:spTree>
    <p:extLst>
      <p:ext uri="{BB962C8B-B14F-4D97-AF65-F5344CB8AC3E}">
        <p14:creationId xmlns:p14="http://schemas.microsoft.com/office/powerpoint/2010/main" val="14457899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BEB78-13FE-A6F5-8B51-28901DB5B9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EA5B1-1D60-BBCA-422D-BF9C37A3AB46}"/>
              </a:ext>
            </a:extLst>
          </p:cNvPr>
          <p:cNvSpPr>
            <a:spLocks noGrp="1"/>
          </p:cNvSpPr>
          <p:nvPr>
            <p:ph type="title"/>
          </p:nvPr>
        </p:nvSpPr>
        <p:spPr/>
        <p:txBody>
          <a:bodyPr>
            <a:normAutofit fontScale="90000"/>
          </a:bodyPr>
          <a:lstStyle/>
          <a:p>
            <a:r>
              <a:rPr lang="en-US" dirty="0">
                <a:ea typeface="Calibri Light"/>
                <a:cs typeface="Calibri Light"/>
              </a:rPr>
              <a:t>SVD in Collaborative Filtering</a:t>
            </a:r>
            <a:endParaRPr lang="en-US" dirty="0"/>
          </a:p>
        </p:txBody>
      </p:sp>
      <p:pic>
        <p:nvPicPr>
          <p:cNvPr id="3" name="Picture 2" descr="A screenshot of a computer&#10;&#10;AI-generated content may be incorrect.">
            <a:extLst>
              <a:ext uri="{FF2B5EF4-FFF2-40B4-BE49-F238E27FC236}">
                <a16:creationId xmlns:a16="http://schemas.microsoft.com/office/drawing/2014/main" id="{7735BE69-9604-D471-D6A8-EFA1B17DABBC}"/>
              </a:ext>
            </a:extLst>
          </p:cNvPr>
          <p:cNvPicPr>
            <a:picLocks noChangeAspect="1"/>
          </p:cNvPicPr>
          <p:nvPr/>
        </p:nvPicPr>
        <p:blipFill>
          <a:blip r:embed="rId2"/>
          <a:stretch>
            <a:fillRect/>
          </a:stretch>
        </p:blipFill>
        <p:spPr>
          <a:xfrm>
            <a:off x="1394350" y="948905"/>
            <a:ext cx="9417679" cy="5592793"/>
          </a:xfrm>
          <a:prstGeom prst="rect">
            <a:avLst/>
          </a:prstGeom>
        </p:spPr>
      </p:pic>
    </p:spTree>
    <p:extLst>
      <p:ext uri="{BB962C8B-B14F-4D97-AF65-F5344CB8AC3E}">
        <p14:creationId xmlns:p14="http://schemas.microsoft.com/office/powerpoint/2010/main" val="8895339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942FD-C7E9-7FF3-D84F-F08D124D71AF}"/>
              </a:ext>
            </a:extLst>
          </p:cNvPr>
          <p:cNvSpPr>
            <a:spLocks noGrp="1"/>
          </p:cNvSpPr>
          <p:nvPr>
            <p:ph type="title"/>
          </p:nvPr>
        </p:nvSpPr>
        <p:spPr/>
        <p:txBody>
          <a:bodyPr>
            <a:normAutofit fontScale="90000"/>
          </a:bodyPr>
          <a:lstStyle/>
          <a:p>
            <a:r>
              <a:rPr lang="en-US">
                <a:ea typeface="Calibri Light"/>
                <a:cs typeface="Calibri Light"/>
              </a:rPr>
              <a:t>Use of SVD</a:t>
            </a:r>
            <a:endParaRPr lang="en-US"/>
          </a:p>
        </p:txBody>
      </p:sp>
      <p:sp>
        <p:nvSpPr>
          <p:cNvPr id="3" name="Content Placeholder 2">
            <a:extLst>
              <a:ext uri="{FF2B5EF4-FFF2-40B4-BE49-F238E27FC236}">
                <a16:creationId xmlns:a16="http://schemas.microsoft.com/office/drawing/2014/main" id="{0BAFCEEE-2AA6-DD5F-63F4-2E69C1805422}"/>
              </a:ext>
            </a:extLst>
          </p:cNvPr>
          <p:cNvSpPr>
            <a:spLocks noGrp="1"/>
          </p:cNvSpPr>
          <p:nvPr>
            <p:ph idx="1"/>
          </p:nvPr>
        </p:nvSpPr>
        <p:spPr/>
        <p:txBody>
          <a:bodyPr vert="horz" lIns="91440" tIns="45720" rIns="91440" bIns="45720" rtlCol="0" anchor="t">
            <a:normAutofit fontScale="92500" lnSpcReduction="10000"/>
          </a:bodyPr>
          <a:lstStyle/>
          <a:p>
            <a:r>
              <a:rPr lang="en-US">
                <a:solidFill>
                  <a:srgbClr val="FFC000"/>
                </a:solidFill>
                <a:ea typeface="Calibri"/>
                <a:cs typeface="Calibri"/>
              </a:rPr>
              <a:t>Noise reduction (denoising):</a:t>
            </a:r>
            <a:r>
              <a:rPr lang="en-US" dirty="0">
                <a:solidFill>
                  <a:srgbClr val="FFC000"/>
                </a:solidFill>
                <a:ea typeface="Calibri"/>
                <a:cs typeface="Calibri"/>
              </a:rPr>
              <a:t> </a:t>
            </a:r>
            <a:r>
              <a:rPr lang="en-US">
                <a:ea typeface="Calibri"/>
                <a:cs typeface="Calibri"/>
              </a:rPr>
              <a:t>Keeping only the top k singular values often removes noise (random fluctuations) that tends to be captured by the smaller singular values. </a:t>
            </a:r>
            <a:endParaRPr lang="en-US"/>
          </a:p>
          <a:p>
            <a:pPr lvl="1"/>
            <a:r>
              <a:rPr lang="en-US">
                <a:solidFill>
                  <a:schemeClr val="accent6">
                    <a:lumMod val="76000"/>
                  </a:schemeClr>
                </a:solidFill>
                <a:ea typeface="Calibri"/>
                <a:cs typeface="Calibri"/>
              </a:rPr>
              <a:t>This helps clean and stabilize the underlying signal.</a:t>
            </a:r>
          </a:p>
          <a:p>
            <a:r>
              <a:rPr lang="en-US">
                <a:solidFill>
                  <a:srgbClr val="FFC000"/>
                </a:solidFill>
                <a:ea typeface="Calibri"/>
                <a:cs typeface="Calibri"/>
              </a:rPr>
              <a:t>Recommender systems:</a:t>
            </a:r>
            <a:r>
              <a:rPr lang="en-US">
                <a:ea typeface="Calibri"/>
                <a:cs typeface="Calibri"/>
              </a:rPr>
              <a:t> Services like Netflix and Amazon use SVD-based methods to predict movies or products you may like. </a:t>
            </a:r>
          </a:p>
          <a:p>
            <a:pPr lvl="1"/>
            <a:r>
              <a:rPr lang="en-US">
                <a:ea typeface="Calibri"/>
                <a:cs typeface="Calibri"/>
              </a:rPr>
              <a:t>They factor a large user × item matrix to uncover hidden structure (latent features) that links users with similar preferences.</a:t>
            </a:r>
          </a:p>
          <a:p>
            <a:r>
              <a:rPr lang="en-US">
                <a:solidFill>
                  <a:srgbClr val="FFC000"/>
                </a:solidFill>
                <a:ea typeface="Calibri"/>
                <a:cs typeface="Calibri"/>
              </a:rPr>
              <a:t>Dimensionality reduction (PCA):</a:t>
            </a:r>
            <a:r>
              <a:rPr lang="en-US">
                <a:ea typeface="Calibri"/>
                <a:cs typeface="Calibri"/>
              </a:rPr>
              <a:t> Principal Component Analysis (PCA)—a core machine-learning technique for simplifying high-dimensional data—can be computed directly using SVD.</a:t>
            </a:r>
            <a:endParaRPr lang="en-US"/>
          </a:p>
          <a:p>
            <a:r>
              <a:rPr lang="en-US">
                <a:solidFill>
                  <a:srgbClr val="FFC000"/>
                </a:solidFill>
                <a:ea typeface="Calibri"/>
                <a:cs typeface="Calibri"/>
              </a:rPr>
              <a:t>Search engines (LSI):</a:t>
            </a:r>
            <a:r>
              <a:rPr lang="en-US" dirty="0">
                <a:solidFill>
                  <a:srgbClr val="FFC000"/>
                </a:solidFill>
                <a:ea typeface="Calibri"/>
                <a:cs typeface="Calibri"/>
              </a:rPr>
              <a:t> </a:t>
            </a:r>
            <a:r>
              <a:rPr lang="en-US">
                <a:ea typeface="Calibri"/>
                <a:cs typeface="Calibri"/>
              </a:rPr>
              <a:t>Latent Semantic Indexing (LSI) applies SVD to discover relationships between terms and documents</a:t>
            </a:r>
          </a:p>
          <a:p>
            <a:pPr lvl="1"/>
            <a:r>
              <a:rPr lang="en-US">
                <a:ea typeface="Calibri"/>
                <a:cs typeface="Calibri"/>
              </a:rPr>
              <a:t>For example, a search engine infer that a query for “car” may also match documents about “automobile.”</a:t>
            </a:r>
          </a:p>
          <a:p>
            <a:endParaRPr lang="en-US" dirty="0">
              <a:ea typeface="Calibri"/>
              <a:cs typeface="Calibri"/>
            </a:endParaRPr>
          </a:p>
        </p:txBody>
      </p:sp>
    </p:spTree>
    <p:extLst>
      <p:ext uri="{BB962C8B-B14F-4D97-AF65-F5344CB8AC3E}">
        <p14:creationId xmlns:p14="http://schemas.microsoft.com/office/powerpoint/2010/main" val="19813321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5E6A-D200-C740-0BA9-6E4F84F84663}"/>
              </a:ext>
            </a:extLst>
          </p:cNvPr>
          <p:cNvSpPr>
            <a:spLocks noGrp="1"/>
          </p:cNvSpPr>
          <p:nvPr>
            <p:ph type="title"/>
          </p:nvPr>
        </p:nvSpPr>
        <p:spPr/>
        <p:txBody>
          <a:bodyPr>
            <a:normAutofit fontScale="90000"/>
          </a:bodyPr>
          <a:lstStyle/>
          <a:p>
            <a:r>
              <a:rPr lang="en-US">
                <a:ea typeface="Calibri Light"/>
                <a:cs typeface="Calibri Light"/>
              </a:rPr>
              <a:t>PCA</a:t>
            </a:r>
            <a:endParaRPr lang="en-US"/>
          </a:p>
        </p:txBody>
      </p:sp>
      <p:sp>
        <p:nvSpPr>
          <p:cNvPr id="3" name="Content Placeholder 2">
            <a:extLst>
              <a:ext uri="{FF2B5EF4-FFF2-40B4-BE49-F238E27FC236}">
                <a16:creationId xmlns:a16="http://schemas.microsoft.com/office/drawing/2014/main" id="{557853F1-959F-E7AF-853C-66BCA7A468C2}"/>
              </a:ext>
            </a:extLst>
          </p:cNvPr>
          <p:cNvSpPr>
            <a:spLocks noGrp="1"/>
          </p:cNvSpPr>
          <p:nvPr>
            <p:ph idx="1"/>
          </p:nvPr>
        </p:nvSpPr>
        <p:spPr/>
        <p:txBody>
          <a:bodyPr vert="horz" lIns="91440" tIns="45720" rIns="91440" bIns="45720" rtlCol="0" anchor="t">
            <a:normAutofit/>
          </a:bodyPr>
          <a:lstStyle/>
          <a:p>
            <a:r>
              <a:rPr lang="en-US">
                <a:solidFill>
                  <a:schemeClr val="accent5">
                    <a:lumMod val="76000"/>
                  </a:schemeClr>
                </a:solidFill>
                <a:ea typeface="Calibri"/>
                <a:cs typeface="Calibri"/>
              </a:rPr>
              <a:t>PCA (Principal Component Analysis) is an unsupervised method for dimensionality reduction. </a:t>
            </a:r>
            <a:endParaRPr lang="en-US" dirty="0">
              <a:solidFill>
                <a:schemeClr val="accent5">
                  <a:lumMod val="76000"/>
                </a:schemeClr>
              </a:solidFill>
              <a:ea typeface="Calibri"/>
              <a:cs typeface="Calibri"/>
            </a:endParaRPr>
          </a:p>
          <a:p>
            <a:r>
              <a:rPr lang="en-US">
                <a:solidFill>
                  <a:schemeClr val="accent5">
                    <a:lumMod val="76000"/>
                  </a:schemeClr>
                </a:solidFill>
                <a:ea typeface="Calibri"/>
                <a:cs typeface="Calibri"/>
              </a:rPr>
              <a:t>It reduces a dataset with many (often correlated) variables into a smaller set of new variables - called principal components - while preserving as much of the overall variance (information) as possible.</a:t>
            </a:r>
            <a:endParaRPr lang="en-US" dirty="0">
              <a:solidFill>
                <a:schemeClr val="accent5">
                  <a:lumMod val="76000"/>
                </a:schemeClr>
              </a:solidFill>
              <a:ea typeface="Calibri"/>
              <a:cs typeface="Calibri"/>
            </a:endParaRPr>
          </a:p>
          <a:p>
            <a:r>
              <a:rPr lang="en-US" dirty="0">
                <a:solidFill>
                  <a:schemeClr val="accent5">
                    <a:lumMod val="76000"/>
                  </a:schemeClr>
                </a:solidFill>
                <a:ea typeface="Calibri"/>
                <a:cs typeface="Calibri"/>
              </a:rPr>
              <a:t>Each principal component is a linear combination of the original variables. </a:t>
            </a:r>
          </a:p>
          <a:p>
            <a:r>
              <a:rPr lang="en-US" dirty="0">
                <a:solidFill>
                  <a:schemeClr val="accent5">
                    <a:lumMod val="76000"/>
                  </a:schemeClr>
                </a:solidFill>
                <a:ea typeface="Calibri"/>
                <a:cs typeface="Calibri"/>
              </a:rPr>
              <a:t>PC1 captures the largest amount of variance, PC2 captures the next largest (and is orthogonal to PC1), and so on: PC1 &gt; PC2 &gt; PC3 &gt; … in terms of variance retained.</a:t>
            </a:r>
            <a:endParaRPr lang="en-US">
              <a:solidFill>
                <a:schemeClr val="accent5">
                  <a:lumMod val="76000"/>
                </a:schemeClr>
              </a:solidFill>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7278476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CD735-ECCE-5049-A7EF-7ACEEAE2FCC8}"/>
              </a:ext>
            </a:extLst>
          </p:cNvPr>
          <p:cNvSpPr>
            <a:spLocks noGrp="1"/>
          </p:cNvSpPr>
          <p:nvPr>
            <p:ph type="title"/>
          </p:nvPr>
        </p:nvSpPr>
        <p:spPr/>
        <p:txBody>
          <a:bodyPr>
            <a:normAutofit fontScale="90000"/>
          </a:bodyPr>
          <a:lstStyle/>
          <a:p>
            <a:r>
              <a:rPr lang="en-US">
                <a:ea typeface="Calibri Light"/>
                <a:cs typeface="Calibri Light"/>
              </a:rPr>
              <a:t>PCA and Feature Selection</a:t>
            </a:r>
            <a:endParaRPr lang="en-US"/>
          </a:p>
        </p:txBody>
      </p:sp>
      <p:sp>
        <p:nvSpPr>
          <p:cNvPr id="3" name="Content Placeholder 2">
            <a:extLst>
              <a:ext uri="{FF2B5EF4-FFF2-40B4-BE49-F238E27FC236}">
                <a16:creationId xmlns:a16="http://schemas.microsoft.com/office/drawing/2014/main" id="{02AD4169-BE3E-46C8-9408-A6FC0CE6A0F8}"/>
              </a:ext>
            </a:extLst>
          </p:cNvPr>
          <p:cNvSpPr>
            <a:spLocks noGrp="1"/>
          </p:cNvSpPr>
          <p:nvPr>
            <p:ph idx="1"/>
          </p:nvPr>
        </p:nvSpPr>
        <p:spPr/>
        <p:txBody>
          <a:bodyPr vert="horz" lIns="91440" tIns="45720" rIns="91440" bIns="45720" rtlCol="0" anchor="t">
            <a:normAutofit lnSpcReduction="10000"/>
          </a:bodyPr>
          <a:lstStyle/>
          <a:p>
            <a:r>
              <a:rPr lang="en-US">
                <a:ea typeface="Calibri"/>
                <a:cs typeface="Calibri"/>
              </a:rPr>
              <a:t>PCA is not a feature selection method; it is a feature extraction (feature combination) method.</a:t>
            </a:r>
          </a:p>
          <a:p>
            <a:r>
              <a:rPr lang="en-US">
                <a:ea typeface="Calibri"/>
                <a:cs typeface="Calibri"/>
              </a:rPr>
              <a:t>Feature selection keeps a subset of the original columns (e.g., choose columns 2, 5, and 9) and discards the rest.</a:t>
            </a:r>
          </a:p>
          <a:p>
            <a:pPr lvl="1"/>
            <a:r>
              <a:rPr lang="en-US" dirty="0">
                <a:solidFill>
                  <a:schemeClr val="accent6">
                    <a:lumMod val="76000"/>
                  </a:schemeClr>
                </a:solidFill>
                <a:ea typeface="Calibri"/>
                <a:cs typeface="Calibri"/>
              </a:rPr>
              <a:t>PCA creates new features called principal components (PCs). Each PC is a weighted </a:t>
            </a:r>
            <a:r>
              <a:rPr lang="en-US">
                <a:solidFill>
                  <a:schemeClr val="accent6">
                    <a:lumMod val="76000"/>
                  </a:schemeClr>
                </a:solidFill>
                <a:ea typeface="Calibri"/>
                <a:cs typeface="Calibri"/>
              </a:rPr>
              <a:t>linear combination of the original features:</a:t>
            </a:r>
            <a:endParaRPr lang="en-US" dirty="0">
              <a:solidFill>
                <a:schemeClr val="accent6">
                  <a:lumMod val="76000"/>
                </a:schemeClr>
              </a:solidFill>
              <a:ea typeface="Calibri"/>
              <a:cs typeface="Calibri"/>
            </a:endParaRPr>
          </a:p>
          <a:p>
            <a:pPr lvl="2"/>
            <a:r>
              <a:rPr lang="en-US" dirty="0">
                <a:ea typeface="Calibri"/>
                <a:cs typeface="Calibri"/>
              </a:rPr>
              <a:t>PC</a:t>
            </a:r>
            <a:r>
              <a:rPr lang="en-US" baseline="-25000" dirty="0">
                <a:ea typeface="Calibri"/>
                <a:cs typeface="Calibri"/>
              </a:rPr>
              <a:t>1</a:t>
            </a:r>
            <a:r>
              <a:rPr lang="en-US" dirty="0">
                <a:ea typeface="Calibri"/>
                <a:cs typeface="Calibri"/>
              </a:rPr>
              <a:t> = w</a:t>
            </a:r>
            <a:r>
              <a:rPr lang="en-US" baseline="-25000" dirty="0">
                <a:ea typeface="Calibri"/>
                <a:cs typeface="Calibri"/>
              </a:rPr>
              <a:t>1</a:t>
            </a:r>
            <a:r>
              <a:rPr lang="en-US" dirty="0">
                <a:ea typeface="Calibri"/>
                <a:cs typeface="Calibri"/>
              </a:rPr>
              <a:t>x</a:t>
            </a:r>
            <a:r>
              <a:rPr lang="en-US" baseline="-25000" dirty="0">
                <a:ea typeface="Calibri"/>
                <a:cs typeface="Calibri"/>
              </a:rPr>
              <a:t>1</a:t>
            </a:r>
            <a:r>
              <a:rPr lang="en-US" dirty="0">
                <a:ea typeface="Calibri"/>
                <a:cs typeface="Calibri"/>
              </a:rPr>
              <a:t> + w</a:t>
            </a:r>
            <a:r>
              <a:rPr lang="en-US" baseline="-25000" dirty="0">
                <a:ea typeface="Calibri"/>
                <a:cs typeface="Calibri"/>
              </a:rPr>
              <a:t>2</a:t>
            </a:r>
            <a:r>
              <a:rPr lang="en-US" dirty="0">
                <a:ea typeface="Calibri"/>
                <a:cs typeface="Calibri"/>
              </a:rPr>
              <a:t>x</a:t>
            </a:r>
            <a:r>
              <a:rPr lang="en-US" baseline="-25000" dirty="0">
                <a:ea typeface="Calibri"/>
                <a:cs typeface="Calibri"/>
              </a:rPr>
              <a:t>2</a:t>
            </a:r>
            <a:r>
              <a:rPr lang="en-US" dirty="0">
                <a:ea typeface="Calibri"/>
                <a:cs typeface="Calibri"/>
              </a:rPr>
              <a:t> + ... + w</a:t>
            </a:r>
            <a:r>
              <a:rPr lang="en-US" baseline="-25000" dirty="0">
                <a:ea typeface="Calibri"/>
                <a:cs typeface="Calibri"/>
              </a:rPr>
              <a:t>d</a:t>
            </a:r>
            <a:r>
              <a:rPr lang="en-US" dirty="0">
                <a:ea typeface="Calibri"/>
                <a:cs typeface="Calibri"/>
              </a:rPr>
              <a:t> </a:t>
            </a:r>
            <a:r>
              <a:rPr lang="en-US">
                <a:ea typeface="Calibri"/>
                <a:cs typeface="Calibri"/>
              </a:rPr>
              <a:t>x</a:t>
            </a:r>
            <a:r>
              <a:rPr lang="en-US" baseline="-25000">
                <a:ea typeface="Calibri"/>
                <a:cs typeface="Calibri"/>
              </a:rPr>
              <a:t>d</a:t>
            </a:r>
            <a:endParaRPr lang="en-US">
              <a:ea typeface="Calibri"/>
              <a:cs typeface="Calibri"/>
            </a:endParaRPr>
          </a:p>
          <a:p>
            <a:r>
              <a:rPr lang="en-US" dirty="0">
                <a:ea typeface="Calibri"/>
                <a:cs typeface="Calibri"/>
              </a:rPr>
              <a:t>So instead of picking a few existing columns, PCA mixes information from many (often all) columns to form components that capture maximum variance.</a:t>
            </a:r>
          </a:p>
          <a:p>
            <a:r>
              <a:rPr lang="en-US" dirty="0">
                <a:ea typeface="Calibri"/>
                <a:cs typeface="Calibri"/>
              </a:rPr>
              <a:t>Important note: A PC can have some weights close to zero (meaning some features contribute very little), but PCA still does not “select” features in the usual sense—theoretically it transforms the feature space into a new one.</a:t>
            </a:r>
            <a:endParaRPr lang="en-US" dirty="0"/>
          </a:p>
          <a:p>
            <a:endParaRPr lang="en-US" dirty="0">
              <a:ea typeface="Calibri"/>
              <a:cs typeface="Calibri"/>
            </a:endParaRPr>
          </a:p>
        </p:txBody>
      </p:sp>
    </p:spTree>
    <p:extLst>
      <p:ext uri="{BB962C8B-B14F-4D97-AF65-F5344CB8AC3E}">
        <p14:creationId xmlns:p14="http://schemas.microsoft.com/office/powerpoint/2010/main" val="30054352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23842-0B0A-E0F8-2A5A-D173E9BE1523}"/>
              </a:ext>
            </a:extLst>
          </p:cNvPr>
          <p:cNvSpPr>
            <a:spLocks noGrp="1"/>
          </p:cNvSpPr>
          <p:nvPr>
            <p:ph type="title"/>
          </p:nvPr>
        </p:nvSpPr>
        <p:spPr/>
        <p:txBody>
          <a:bodyPr>
            <a:normAutofit fontScale="90000"/>
          </a:bodyPr>
          <a:lstStyle/>
          <a:p>
            <a:r>
              <a:rPr lang="en-US">
                <a:ea typeface="Calibri Light"/>
                <a:cs typeface="Calibri Light"/>
              </a:rPr>
              <a:t>PCA Methodology</a:t>
            </a:r>
            <a:endParaRPr lang="en-US"/>
          </a:p>
        </p:txBody>
      </p:sp>
      <p:sp>
        <p:nvSpPr>
          <p:cNvPr id="3" name="Content Placeholder 2">
            <a:extLst>
              <a:ext uri="{FF2B5EF4-FFF2-40B4-BE49-F238E27FC236}">
                <a16:creationId xmlns:a16="http://schemas.microsoft.com/office/drawing/2014/main" id="{7C8ECF71-8E84-51C9-9F65-F150BC728DAD}"/>
              </a:ext>
            </a:extLst>
          </p:cNvPr>
          <p:cNvSpPr>
            <a:spLocks noGrp="1"/>
          </p:cNvSpPr>
          <p:nvPr>
            <p:ph idx="1"/>
          </p:nvPr>
        </p:nvSpPr>
        <p:spPr/>
        <p:txBody>
          <a:bodyPr vert="horz" lIns="91440" tIns="45720" rIns="91440" bIns="45720" rtlCol="0" anchor="t">
            <a:normAutofit/>
          </a:bodyPr>
          <a:lstStyle/>
          <a:p>
            <a:r>
              <a:rPr lang="en-US">
                <a:ea typeface="Calibri"/>
                <a:cs typeface="Calibri"/>
              </a:rPr>
              <a:t>Step 1: Standardize the features</a:t>
            </a:r>
            <a:endParaRPr lang="en-US"/>
          </a:p>
          <a:p>
            <a:pPr lvl="1"/>
            <a:r>
              <a:rPr lang="en-US">
                <a:solidFill>
                  <a:schemeClr val="accent6">
                    <a:lumMod val="76000"/>
                  </a:schemeClr>
                </a:solidFill>
                <a:ea typeface="Calibri"/>
                <a:cs typeface="Calibri"/>
              </a:rPr>
              <a:t>Scale each column (e.g., using z-score standardization) when features have different units or magnitudes, so no single feature dominates the results. Since PCA requires numeric input, convert categorical variables into dummy/one-hot encoded variables.</a:t>
            </a:r>
          </a:p>
          <a:p>
            <a:r>
              <a:rPr lang="en-US">
                <a:ea typeface="Calibri"/>
                <a:cs typeface="Calibri"/>
              </a:rPr>
              <a:t>Step 2: Compute the covariance matrix</a:t>
            </a:r>
          </a:p>
          <a:p>
            <a:pPr lvl="1"/>
            <a:r>
              <a:rPr lang="en-US">
                <a:solidFill>
                  <a:schemeClr val="accent6">
                    <a:lumMod val="76000"/>
                  </a:schemeClr>
                </a:solidFill>
                <a:ea typeface="Calibri"/>
                <a:cs typeface="Calibri"/>
              </a:rPr>
              <a:t>Compute the covariance matrix of the standardized features to understand how variables vary together.</a:t>
            </a:r>
          </a:p>
          <a:p>
            <a:r>
              <a:rPr lang="en-US">
                <a:ea typeface="Calibri"/>
                <a:cs typeface="Calibri"/>
              </a:rPr>
              <a:t>Why the covariance matrix?</a:t>
            </a:r>
            <a:br>
              <a:rPr lang="en-US" dirty="0">
                <a:ea typeface="Calibri"/>
                <a:cs typeface="Calibri"/>
              </a:rPr>
            </a:br>
            <a:r>
              <a:rPr lang="en-US">
                <a:ea typeface="Calibri"/>
                <a:cs typeface="Calibri"/>
              </a:rPr>
              <a:t>Covariance quantifies the relationship between two variables:</a:t>
            </a:r>
            <a:endParaRPr lang="en-US"/>
          </a:p>
          <a:p>
            <a:pPr lvl="1"/>
            <a:r>
              <a:rPr lang="en-US">
                <a:solidFill>
                  <a:schemeClr val="accent6">
                    <a:lumMod val="76000"/>
                  </a:schemeClr>
                </a:solidFill>
                <a:ea typeface="Calibri"/>
                <a:cs typeface="Calibri"/>
              </a:rPr>
              <a:t>Positive covariance: they tend to increase/decrease together.</a:t>
            </a:r>
          </a:p>
          <a:p>
            <a:pPr lvl="1"/>
            <a:r>
              <a:rPr lang="en-US">
                <a:solidFill>
                  <a:schemeClr val="accent6">
                    <a:lumMod val="76000"/>
                  </a:schemeClr>
                </a:solidFill>
                <a:ea typeface="Calibri"/>
                <a:cs typeface="Calibri"/>
              </a:rPr>
              <a:t>Negative covariance: one tends to increase when the other decreases.</a:t>
            </a:r>
          </a:p>
          <a:p>
            <a:pPr lvl="1"/>
            <a:r>
              <a:rPr lang="en-US">
                <a:solidFill>
                  <a:schemeClr val="accent6">
                    <a:lumMod val="76000"/>
                  </a:schemeClr>
                </a:solidFill>
                <a:ea typeface="Calibri"/>
                <a:cs typeface="Calibri"/>
              </a:rPr>
              <a:t>Near zero: little to no linear relationship.</a:t>
            </a:r>
          </a:p>
          <a:p>
            <a:endParaRPr lang="en-US" dirty="0">
              <a:ea typeface="Calibri"/>
              <a:cs typeface="Calibri"/>
            </a:endParaRPr>
          </a:p>
        </p:txBody>
      </p:sp>
    </p:spTree>
    <p:extLst>
      <p:ext uri="{BB962C8B-B14F-4D97-AF65-F5344CB8AC3E}">
        <p14:creationId xmlns:p14="http://schemas.microsoft.com/office/powerpoint/2010/main" val="18640977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91F2C-5B02-4F7A-EBE1-D10E561C3691}"/>
              </a:ext>
            </a:extLst>
          </p:cNvPr>
          <p:cNvSpPr>
            <a:spLocks noGrp="1"/>
          </p:cNvSpPr>
          <p:nvPr>
            <p:ph type="title"/>
          </p:nvPr>
        </p:nvSpPr>
        <p:spPr/>
        <p:txBody>
          <a:bodyPr>
            <a:normAutofit fontScale="90000"/>
          </a:bodyPr>
          <a:lstStyle/>
          <a:p>
            <a:r>
              <a:rPr lang="en-US" sz="4000">
                <a:ea typeface="Calibri Light"/>
                <a:cs typeface="Calibri Light"/>
              </a:rPr>
              <a:t>PCA Methodology</a:t>
            </a:r>
            <a:endParaRPr lang="en-US" sz="4000" b="0">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0EC0141E-2B8F-93BD-EC8F-21B6D46F7D51}"/>
              </a:ext>
            </a:extLst>
          </p:cNvPr>
          <p:cNvSpPr>
            <a:spLocks noGrp="1"/>
          </p:cNvSpPr>
          <p:nvPr>
            <p:ph idx="1"/>
          </p:nvPr>
        </p:nvSpPr>
        <p:spPr>
          <a:xfrm>
            <a:off x="251749" y="945568"/>
            <a:ext cx="11812389" cy="5237162"/>
          </a:xfrm>
        </p:spPr>
        <p:txBody>
          <a:bodyPr vert="horz" lIns="91440" tIns="45720" rIns="91440" bIns="45720" rtlCol="0" anchor="t">
            <a:normAutofit/>
          </a:bodyPr>
          <a:lstStyle/>
          <a:p>
            <a:r>
              <a:rPr lang="en-US">
                <a:ea typeface="Calibri"/>
                <a:cs typeface="Calibri"/>
              </a:rPr>
              <a:t>Step 3: Compute eigenvalues and eigenvectors of the covariance matrix.</a:t>
            </a:r>
          </a:p>
          <a:p>
            <a:pPr lvl="1"/>
            <a:r>
              <a:rPr lang="en-US" dirty="0">
                <a:solidFill>
                  <a:schemeClr val="accent6">
                    <a:lumMod val="76000"/>
                  </a:schemeClr>
                </a:solidFill>
                <a:ea typeface="Calibri"/>
                <a:cs typeface="Calibri"/>
              </a:rPr>
              <a:t>Eigenvectors represent special directions in the data where the covariance matrix acts only as a scaling (stretching/shrinking)—not as a rotation—along that direction. These directions become the principal component axes.</a:t>
            </a:r>
          </a:p>
          <a:p>
            <a:pPr lvl="1"/>
            <a:r>
              <a:rPr lang="en-US" dirty="0">
                <a:solidFill>
                  <a:schemeClr val="accent6">
                    <a:lumMod val="76000"/>
                  </a:schemeClr>
                </a:solidFill>
                <a:ea typeface="Calibri"/>
                <a:cs typeface="Calibri"/>
              </a:rPr>
              <a:t>Eigenvalues indicate how much variance is captured along each eigenvector (larger eigenvalue means more variance).</a:t>
            </a:r>
          </a:p>
          <a:p>
            <a:r>
              <a:rPr lang="en-US" dirty="0">
                <a:ea typeface="Calibri"/>
                <a:cs typeface="Calibri"/>
              </a:rPr>
              <a:t>Step 4: Derive the principal component features</a:t>
            </a:r>
          </a:p>
          <a:p>
            <a:pPr lvl="1"/>
            <a:r>
              <a:rPr lang="en-US">
                <a:ea typeface="Calibri"/>
                <a:cs typeface="Calibri"/>
              </a:rPr>
              <a:t>Project the standardized data onto the eigenvectors to obtain the principal component (PC) features. In practice, this is done by taking the dot product of the standardized feature matrix with the selected eigenvectors, producing the PC scores (e.g., PC1, PC2, …).</a:t>
            </a: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846914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cd04cee-d56a-427f-9d20-a2ddbaad1b8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88F25371BF2364E9237A48B420CBFE6" ma:contentTypeVersion="17" ma:contentTypeDescription="Create a new document." ma:contentTypeScope="" ma:versionID="d01425f4fccec242338dd10b03ae787b">
  <xsd:schema xmlns:xsd="http://www.w3.org/2001/XMLSchema" xmlns:xs="http://www.w3.org/2001/XMLSchema" xmlns:p="http://schemas.microsoft.com/office/2006/metadata/properties" xmlns:ns3="acd04cee-d56a-427f-9d20-a2ddbaad1b8a" xmlns:ns4="dc4fbbce-458e-423f-b6f5-238dd700e544" targetNamespace="http://schemas.microsoft.com/office/2006/metadata/properties" ma:root="true" ma:fieldsID="933290a43c39deda7c3fae3fae2bc07d" ns3:_="" ns4:_="">
    <xsd:import namespace="acd04cee-d56a-427f-9d20-a2ddbaad1b8a"/>
    <xsd:import namespace="dc4fbbce-458e-423f-b6f5-238dd700e5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_activity" minOccurs="0"/>
                <xsd:element ref="ns3:MediaServiceObjectDetectorVersions" minOccurs="0"/>
                <xsd:element ref="ns3:MediaServiceSearchProperties" minOccurs="0"/>
                <xsd:element ref="ns3:MediaServiceSystemTags" minOccurs="0"/>
                <xsd:element ref="ns3:MediaLengthInSecond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d04cee-d56a-427f-9d20-a2ddbaad1b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SystemTags" ma:index="20" nillable="true" ma:displayName="MediaServiceSystemTags" ma:hidden="true" ma:internalName="MediaServiceSystemTag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c4fbbce-458e-423f-b6f5-238dd700e544" elementFormDefault="qualified">
    <xsd:import namespace="http://schemas.microsoft.com/office/2006/documentManagement/types"/>
    <xsd:import namespace="http://schemas.microsoft.com/office/infopath/2007/PartnerControls"/>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element name="SharingHintHash" ma:index="2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D75E7F-C74C-4371-A867-D11E98487A23}">
  <ds:schemaRefs>
    <ds:schemaRef ds:uri="acd04cee-d56a-427f-9d20-a2ddbaad1b8a"/>
    <ds:schemaRef ds:uri="dc4fbbce-458e-423f-b6f5-238dd700e5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E2D8E22-4130-438E-B01C-4C7E7D96A153}">
  <ds:schemaRefs>
    <ds:schemaRef ds:uri="http://schemas.microsoft.com/sharepoint/v3/contenttype/forms"/>
  </ds:schemaRefs>
</ds:datastoreItem>
</file>

<file path=customXml/itemProps3.xml><?xml version="1.0" encoding="utf-8"?>
<ds:datastoreItem xmlns:ds="http://schemas.openxmlformats.org/officeDocument/2006/customXml" ds:itemID="{3296DEB5-C9E2-47AE-926D-C2971E4A6A49}">
  <ds:schemaRefs>
    <ds:schemaRef ds:uri="acd04cee-d56a-427f-9d20-a2ddbaad1b8a"/>
    <ds:schemaRef ds:uri="dc4fbbce-458e-423f-b6f5-238dd700e5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54</Slides>
  <Notes>0</Notes>
  <HiddenSlides>1</HiddenSlide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CSE 445 Lecture 2-3</vt:lpstr>
      <vt:lpstr>What is Linear Algebra</vt:lpstr>
      <vt:lpstr>Why Linear Algebra?</vt:lpstr>
      <vt:lpstr>Topics Covered</vt:lpstr>
      <vt:lpstr>Key concepts: Scalar</vt:lpstr>
      <vt:lpstr>Key concepts: Vectors</vt:lpstr>
      <vt:lpstr>Key concepts: Matrices</vt:lpstr>
      <vt:lpstr>Key concepts: Tensors</vt:lpstr>
      <vt:lpstr>Vectors as special case of matrix</vt:lpstr>
      <vt:lpstr>Transpose of a Matrix</vt:lpstr>
      <vt:lpstr>Matrix Addition/Subtraction</vt:lpstr>
      <vt:lpstr>Multiplying Matrices</vt:lpstr>
      <vt:lpstr>Multiplying Vectors</vt:lpstr>
      <vt:lpstr>Matrix Prodcut Properties</vt:lpstr>
      <vt:lpstr>Example of tensors in ML</vt:lpstr>
      <vt:lpstr>Linear Transformations</vt:lpstr>
      <vt:lpstr>Span of a set of vectors</vt:lpstr>
      <vt:lpstr>Span of a set of vectors</vt:lpstr>
      <vt:lpstr>Linearly dependent/independent</vt:lpstr>
      <vt:lpstr>Norm</vt:lpstr>
      <vt:lpstr>LP Norm</vt:lpstr>
      <vt:lpstr>Use of norm in Regression</vt:lpstr>
      <vt:lpstr>LP Norm and Distance</vt:lpstr>
      <vt:lpstr>Size of a Matrix</vt:lpstr>
      <vt:lpstr>Angle between Vectors</vt:lpstr>
      <vt:lpstr>Special kind of Matrix: Diagonal</vt:lpstr>
      <vt:lpstr>Efficiency of Diagonal Matrix</vt:lpstr>
      <vt:lpstr>Symmetric Matrix</vt:lpstr>
      <vt:lpstr>Special Kinds of Vectors</vt:lpstr>
      <vt:lpstr>Basis</vt:lpstr>
      <vt:lpstr>Determinant of a Matrix</vt:lpstr>
      <vt:lpstr>Trace of a Matrix</vt:lpstr>
      <vt:lpstr>Matrix Decomposition</vt:lpstr>
      <vt:lpstr>Eigenvector</vt:lpstr>
      <vt:lpstr>Characteristic Polynomial</vt:lpstr>
      <vt:lpstr>Eigenvalue/Eigenvector</vt:lpstr>
      <vt:lpstr>Eigen decomposition</vt:lpstr>
      <vt:lpstr>Decomposition of Symmetric Matrix</vt:lpstr>
      <vt:lpstr>Why do we learn eigen decomposition?</vt:lpstr>
      <vt:lpstr>Effect of Eigenvectors and Eigenvalues</vt:lpstr>
      <vt:lpstr>Eigen decomposition is not unique</vt:lpstr>
      <vt:lpstr>What eigen decomposition tell us</vt:lpstr>
      <vt:lpstr>Positive Definite Matrix</vt:lpstr>
      <vt:lpstr>Singular Value Decomposition (SVD)</vt:lpstr>
      <vt:lpstr>SVD Definition</vt:lpstr>
      <vt:lpstr>SVD</vt:lpstr>
      <vt:lpstr>SVD Another Interpretation</vt:lpstr>
      <vt:lpstr>Use of SVD in ML</vt:lpstr>
      <vt:lpstr>SVD in Collaborative Filtering</vt:lpstr>
      <vt:lpstr>Use of SVD</vt:lpstr>
      <vt:lpstr>PCA</vt:lpstr>
      <vt:lpstr>PCA and Feature Selection</vt:lpstr>
      <vt:lpstr>PCA Methodology</vt:lpstr>
      <vt:lpstr>PCA Methodology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327 Lecture 8</dc:title>
  <dc:creator>Mohammad Khan</dc:creator>
  <cp:revision>361</cp:revision>
  <dcterms:created xsi:type="dcterms:W3CDTF">2018-11-03T12:07:21Z</dcterms:created>
  <dcterms:modified xsi:type="dcterms:W3CDTF">2026-06-03T17:36:37Z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0x010100688F25371BF2364E9237A48B420CBFE6</vt:lpwstr>
  </property>
</Properties>
</file>