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552" r:id="rId3"/>
    <p:sldId id="554" r:id="rId4"/>
    <p:sldId id="556" r:id="rId5"/>
    <p:sldId id="558" r:id="rId6"/>
    <p:sldId id="559" r:id="rId7"/>
    <p:sldId id="565" r:id="rId8"/>
    <p:sldId id="592" r:id="rId9"/>
    <p:sldId id="566" r:id="rId10"/>
    <p:sldId id="567" r:id="rId11"/>
    <p:sldId id="569" r:id="rId12"/>
    <p:sldId id="571" r:id="rId13"/>
    <p:sldId id="572" r:id="rId14"/>
    <p:sldId id="587" r:id="rId15"/>
    <p:sldId id="640" r:id="rId16"/>
    <p:sldId id="575" r:id="rId17"/>
    <p:sldId id="641" r:id="rId18"/>
    <p:sldId id="639" r:id="rId19"/>
    <p:sldId id="630" r:id="rId20"/>
    <p:sldId id="631" r:id="rId21"/>
    <p:sldId id="633" r:id="rId22"/>
    <p:sldId id="63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2A42E8-16F6-0A75-5381-710EB0B7FA8A}" v="2" dt="2026-08-20T03:34:47.3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55" autoAdjust="0"/>
    <p:restoredTop sz="95142" autoAdjust="0"/>
  </p:normalViewPr>
  <p:slideViewPr>
    <p:cSldViewPr snapToGrid="0">
      <p:cViewPr varScale="1">
        <p:scale>
          <a:sx n="82" d="100"/>
          <a:sy n="82" d="100"/>
        </p:scale>
        <p:origin x="98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E1B55-A0A7-4C9C-88C1-3A5C6A40240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77780-F0EF-4B5F-9EE7-60A58DD1A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60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0E797-E484-44ED-A239-64277FE0E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EF780-7320-4B43-AAED-F0481B300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ADA29-9491-4859-9181-7FF16AB45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494A5-A287-4BC2-9628-CAEB7FA7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AB12C-11BE-4545-8970-4F65D76F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16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AC73-49A8-4235-8E54-344D7AE6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EFA66-1949-4BAC-90F3-260B28EA3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DD6C3-C8F1-44C4-BE29-A7E192EC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68F96-8A2D-4D15-B72A-1BE3C6FB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846B5-195C-4BDB-A0AF-D52035E0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80A0-ED64-48E0-B9C8-569F3482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C18A2-E1D6-46C9-8CCF-84419AC38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29E5A-CABA-487F-AE98-B2464FC9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72CFD-82A6-4E60-9FAC-3680A8275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1E37-CA26-4C91-BC94-19E402DA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7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D90AE-3661-46FF-922D-ABDF43758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7F269-6879-4ADA-9D67-9E61D80B2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A5392-70F7-40A0-9BEE-B9444E872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528DA-CEFD-432F-AA8E-973376EC9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3101E-6DA9-4BB5-9C62-2B1B2744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6AD3F-0FA4-4FCD-8CF4-4BDCE7465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2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B3579-C57E-4CAA-AE08-EB0A27A3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F1D69-90B6-45FB-94AB-78DB03F3A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ABE15-19F6-4503-9F69-560255ABA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814A9-0046-41AA-B0C8-B67727100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253427-75E0-4324-B2A0-9259E9FCCF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802DE-660F-4CF9-9FB9-B17917E99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DEBBB8-E47D-430F-9694-B04E4DF2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CDFF6-B435-4DE5-8E43-DA133CB9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7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C802-82B9-430F-AF07-4FF6DC33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20E669-09D2-43F6-AB7B-3AF5C346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2034F-8122-4D3C-9EE0-617A3CB1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E3B17-ABDA-424E-B102-D92D2E37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4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70F9B-27B6-443F-B7CA-4AA7FA889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37043-2389-4029-A3C5-07CF5B37E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DFBE5-75A1-478E-A662-031990DD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40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4C8C0-3C08-4F40-B4CC-4CAACC3DC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038F9-DD32-4429-9398-92DA6F738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61104-CDD8-4454-9187-784049A2F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27858-962C-47B3-B661-436602064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DB0A0-7EEA-4508-8126-53163955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EBA5E-D2E0-4970-BD47-4AF19F431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85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A0DDF-7003-4C1A-BB44-664272A1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9AFDAF-27B1-41D4-96EE-1D6D1809E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3798E-E3BF-427A-93E2-A4CB842E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8CE11-06D0-4C84-88D7-842A952C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6E090-6FA5-4A71-A070-BD7C0FA4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F01E9-BA6C-4C44-976B-36BBE214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9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BDC4A-48E1-4894-AB0F-ECF189B6A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A79AF-2F79-4289-82BE-ACF7331CB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A497E-6F32-4A3E-9631-9FEF4E3F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CB876-23CE-485F-91A5-93B0D7B5E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C3A67-2B2D-4782-A5FC-1558D362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92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C65FEE-76CC-4626-9E2D-08E2AE5A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FEE0C-F39F-4476-BD95-0A51C0063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ECEB6-F803-4EE6-BD88-E0B64245F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1313F-8991-4909-8B90-68DAAE9B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8196E-9AEE-4266-A151-D305A5D8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1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C6DC07-5C6F-43AF-978F-0F0AF831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8E598-D0A2-47D2-BE89-F4EA0A3D2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1382D-D076-4FF0-AD6E-A6E4C421B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EE21-E937-4C45-8E3F-E4D607BF6CD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9047A-B6F8-4C3E-B8BF-24884C78A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5F2E0-67EC-4657-BD17-E180039DB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http://www.northsouth.edu/newassets/images/nsu-photo/logo-4.png">
            <a:extLst>
              <a:ext uri="{FF2B5EF4-FFF2-40B4-BE49-F238E27FC236}">
                <a16:creationId xmlns:a16="http://schemas.microsoft.com/office/drawing/2014/main" id="{BC78909E-CBD6-46C2-8213-EF399003A3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495300" cy="39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36E5F5-5DCD-4E9C-8D7C-D19E489A294C}"/>
              </a:ext>
            </a:extLst>
          </p:cNvPr>
          <p:cNvCxnSpPr>
            <a:cxnSpLocks/>
          </p:cNvCxnSpPr>
          <p:nvPr userDrawn="1"/>
        </p:nvCxnSpPr>
        <p:spPr>
          <a:xfrm flipV="1">
            <a:off x="792958" y="54768"/>
            <a:ext cx="11001375" cy="460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888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none" spc="0">
          <a:ln w="0"/>
          <a:solidFill>
            <a:srgbClr val="002060"/>
          </a:solidFill>
          <a:effectLst>
            <a:outerShdw blurRad="38100" dist="25400" dir="5400000" algn="ctr" rotWithShape="0">
              <a:srgbClr val="6E747A">
                <a:alpha val="43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70C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C0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00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5810A-8FFF-4688-B886-2760516D3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45809"/>
            <a:ext cx="9144000" cy="1564716"/>
          </a:xfrm>
        </p:spPr>
        <p:txBody>
          <a:bodyPr>
            <a:normAutofit/>
          </a:bodyPr>
          <a:lstStyle/>
          <a:p>
            <a:pPr algn="l"/>
            <a:r>
              <a:rPr lang="en-US" sz="4800" dirty="0"/>
              <a:t>CSE 445</a:t>
            </a:r>
            <a:br>
              <a:rPr lang="en-US" sz="4800" dirty="0"/>
            </a:br>
            <a:r>
              <a:rPr lang="en-US" sz="4800"/>
              <a:t>Lecture 11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02420-0B57-4C8C-9661-7D4661E7B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7050"/>
            <a:ext cx="9144000" cy="572583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Model evaluation &amp; selection</a:t>
            </a: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C66F2F30-5DC0-44A0-BFA6-E12F46ED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920619" cy="2130951"/>
          </a:xfrm>
          <a:custGeom>
            <a:avLst/>
            <a:gdLst>
              <a:gd name="connsiteX0" fmla="*/ 0 w 5920619"/>
              <a:gd name="connsiteY0" fmla="*/ 0 h 2130951"/>
              <a:gd name="connsiteX1" fmla="*/ 3191370 w 5920619"/>
              <a:gd name="connsiteY1" fmla="*/ 0 h 2130951"/>
              <a:gd name="connsiteX2" fmla="*/ 3346315 w 5920619"/>
              <a:gd name="connsiteY2" fmla="*/ 0 h 2130951"/>
              <a:gd name="connsiteX3" fmla="*/ 5920619 w 5920619"/>
              <a:gd name="connsiteY3" fmla="*/ 0 h 2130951"/>
              <a:gd name="connsiteX4" fmla="*/ 4936971 w 5920619"/>
              <a:gd name="connsiteY4" fmla="*/ 2130951 h 2130951"/>
              <a:gd name="connsiteX5" fmla="*/ 0 w 5920619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 21">
            <a:extLst>
              <a:ext uri="{FF2B5EF4-FFF2-40B4-BE49-F238E27FC236}">
                <a16:creationId xmlns:a16="http://schemas.microsoft.com/office/drawing/2014/main" id="{85872F57-7F42-4F97-8391-DDC8D0054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7839" y="0"/>
            <a:ext cx="7094160" cy="2130952"/>
          </a:xfrm>
          <a:custGeom>
            <a:avLst/>
            <a:gdLst>
              <a:gd name="connsiteX0" fmla="*/ 4417853 w 7094160"/>
              <a:gd name="connsiteY0" fmla="*/ 0 h 2130952"/>
              <a:gd name="connsiteX1" fmla="*/ 7094160 w 7094160"/>
              <a:gd name="connsiteY1" fmla="*/ 0 h 2130952"/>
              <a:gd name="connsiteX2" fmla="*/ 7094160 w 7094160"/>
              <a:gd name="connsiteY2" fmla="*/ 2130552 h 2130952"/>
              <a:gd name="connsiteX3" fmla="*/ 5920619 w 7094160"/>
              <a:gd name="connsiteY3" fmla="*/ 2130552 h 2130952"/>
              <a:gd name="connsiteX4" fmla="*/ 5920619 w 7094160"/>
              <a:gd name="connsiteY4" fmla="*/ 2130952 h 2130952"/>
              <a:gd name="connsiteX5" fmla="*/ 2729249 w 7094160"/>
              <a:gd name="connsiteY5" fmla="*/ 2130952 h 2130952"/>
              <a:gd name="connsiteX6" fmla="*/ 2574304 w 7094160"/>
              <a:gd name="connsiteY6" fmla="*/ 2130952 h 2130952"/>
              <a:gd name="connsiteX7" fmla="*/ 0 w 7094160"/>
              <a:gd name="connsiteY7" fmla="*/ 2130952 h 2130952"/>
              <a:gd name="connsiteX8" fmla="*/ 983648 w 7094160"/>
              <a:gd name="connsiteY8" fmla="*/ 1 h 2130952"/>
              <a:gd name="connsiteX9" fmla="*/ 4417853 w 7094160"/>
              <a:gd name="connsiteY9" fmla="*/ 1 h 2130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94160" h="2130952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04DC2037-48A0-4F22-B9D4-8EAEBC78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49721" y="4682920"/>
            <a:ext cx="4522796" cy="2175080"/>
          </a:xfrm>
          <a:custGeom>
            <a:avLst/>
            <a:gdLst>
              <a:gd name="connsiteX0" fmla="*/ 3515449 w 4522796"/>
              <a:gd name="connsiteY0" fmla="*/ 0 h 2175080"/>
              <a:gd name="connsiteX1" fmla="*/ 0 w 4522796"/>
              <a:gd name="connsiteY1" fmla="*/ 0 h 2175080"/>
              <a:gd name="connsiteX2" fmla="*/ 0 w 4522796"/>
              <a:gd name="connsiteY2" fmla="*/ 2175080 h 2175080"/>
              <a:gd name="connsiteX3" fmla="*/ 4522796 w 4522796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2796" h="217508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/>
          </a:p>
        </p:txBody>
      </p:sp>
      <p:sp>
        <p:nvSpPr>
          <p:cNvPr id="14" name="Freeform 22">
            <a:extLst>
              <a:ext uri="{FF2B5EF4-FFF2-40B4-BE49-F238E27FC236}">
                <a16:creationId xmlns:a16="http://schemas.microsoft.com/office/drawing/2014/main" id="{0006CBFD-ADA0-43D1-9332-9C34CA1C7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4682920"/>
            <a:ext cx="5925190" cy="2175080"/>
          </a:xfrm>
          <a:custGeom>
            <a:avLst/>
            <a:gdLst>
              <a:gd name="connsiteX0" fmla="*/ 1007347 w 5925190"/>
              <a:gd name="connsiteY0" fmla="*/ 0 h 2175080"/>
              <a:gd name="connsiteX1" fmla="*/ 5925190 w 5925190"/>
              <a:gd name="connsiteY1" fmla="*/ 0 h 2175080"/>
              <a:gd name="connsiteX2" fmla="*/ 5925190 w 5925190"/>
              <a:gd name="connsiteY2" fmla="*/ 2175080 h 2175080"/>
              <a:gd name="connsiteX3" fmla="*/ 0 w 5925190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217508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2B931666-F28F-45F3-A074-66D2272D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2920"/>
            <a:ext cx="7114535" cy="2175080"/>
          </a:xfrm>
          <a:custGeom>
            <a:avLst/>
            <a:gdLst>
              <a:gd name="connsiteX0" fmla="*/ 0 w 7114535"/>
              <a:gd name="connsiteY0" fmla="*/ 0 h 2175080"/>
              <a:gd name="connsiteX1" fmla="*/ 1189345 w 7114535"/>
              <a:gd name="connsiteY1" fmla="*/ 0 h 2175080"/>
              <a:gd name="connsiteX2" fmla="*/ 7114535 w 7114535"/>
              <a:gd name="connsiteY2" fmla="*/ 0 h 2175080"/>
              <a:gd name="connsiteX3" fmla="*/ 6107188 w 7114535"/>
              <a:gd name="connsiteY3" fmla="*/ 2175080 h 2175080"/>
              <a:gd name="connsiteX4" fmla="*/ 1189345 w 7114535"/>
              <a:gd name="connsiteY4" fmla="*/ 2175080 h 2175080"/>
              <a:gd name="connsiteX5" fmla="*/ 0 w 7114535"/>
              <a:gd name="connsiteY5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4535" h="217508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043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90B28-C9E2-47EA-B3D4-024CAD0EC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Cross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33690-94A4-4FFE-9F96-0F2A64F16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training set error is not indicative of the model error when applied to new data</a:t>
            </a:r>
          </a:p>
          <a:p>
            <a:r>
              <a:rPr lang="en-US" dirty="0"/>
              <a:t>To get a good estimate of what error rate will be for new data, we must use a more sophisticated methodology called </a:t>
            </a:r>
            <a:r>
              <a:rPr lang="en-US" i="1" dirty="0"/>
              <a:t>cross-validation </a:t>
            </a:r>
            <a:r>
              <a:rPr lang="en-US" dirty="0"/>
              <a:t>(often abbreviated </a:t>
            </a:r>
            <a:r>
              <a:rPr lang="en-US" i="1" dirty="0"/>
              <a:t>CV</a:t>
            </a:r>
            <a:r>
              <a:rPr lang="en-US" dirty="0"/>
              <a:t>) that rigorously uses the training set to evaluate what the accuracy will be on new data</a:t>
            </a:r>
          </a:p>
          <a:p>
            <a:r>
              <a:rPr lang="en-US" dirty="0"/>
              <a:t>There are two kinds of cross validation methods</a:t>
            </a:r>
          </a:p>
          <a:p>
            <a:pPr lvl="1"/>
            <a:r>
              <a:rPr lang="en-US" dirty="0"/>
              <a:t>Hold out method</a:t>
            </a:r>
          </a:p>
          <a:p>
            <a:pPr lvl="1"/>
            <a:r>
              <a:rPr lang="en-US" dirty="0"/>
              <a:t>K-fold method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271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34374-C199-450E-853E-9520C864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Hold out cross validation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C5AB56-FB0B-4EDA-A2C0-89F750E91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068" y="1076479"/>
            <a:ext cx="7119151" cy="519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67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2E4B-F50F-4991-855F-9A1E2B92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Hold out cross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ADC9E-5E52-401A-A33F-F744B88BE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Hold out cross validation suffers from bad split</a:t>
            </a:r>
          </a:p>
          <a:p>
            <a:r>
              <a:rPr lang="en-US" dirty="0"/>
              <a:t>The main things stand out</a:t>
            </a:r>
          </a:p>
          <a:p>
            <a:pPr lvl="1"/>
            <a:r>
              <a:rPr lang="en-US" dirty="0"/>
              <a:t>The holdout error estimates are noisy</a:t>
            </a:r>
          </a:p>
          <a:p>
            <a:pPr lvl="1"/>
            <a:r>
              <a:rPr lang="en-US" dirty="0"/>
              <a:t>However, the error estimates computed by the holdout method follows the error to the new-data</a:t>
            </a:r>
          </a:p>
        </p:txBody>
      </p:sp>
    </p:spTree>
    <p:extLst>
      <p:ext uri="{BB962C8B-B14F-4D97-AF65-F5344CB8AC3E}">
        <p14:creationId xmlns:p14="http://schemas.microsoft.com/office/powerpoint/2010/main" val="2417601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CEBDA-F596-4769-BC9A-67DA48C4D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K-fold cross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C7BC7-3318-41DD-87A2-88EB62AB7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better but more computationally intensive approach to cross-validation is </a:t>
            </a:r>
            <a:r>
              <a:rPr lang="en-US" i="1" dirty="0"/>
              <a:t>k-fold cross validation</a:t>
            </a:r>
            <a:endParaRPr lang="en-US" dirty="0"/>
          </a:p>
          <a:p>
            <a:r>
              <a:rPr lang="en-US" dirty="0"/>
              <a:t>Like the holdout method, k-fold cross-validation relies on quarantining subsets of the training data during the learning process </a:t>
            </a:r>
          </a:p>
          <a:p>
            <a:r>
              <a:rPr lang="en-US" dirty="0"/>
              <a:t>The primary difference is that k-fold CV begins by randomly splitting the data into </a:t>
            </a:r>
            <a:r>
              <a:rPr lang="en-US" i="1" dirty="0"/>
              <a:t>k </a:t>
            </a:r>
            <a:r>
              <a:rPr lang="en-US" dirty="0"/>
              <a:t>disjoint subsets, called </a:t>
            </a:r>
            <a:r>
              <a:rPr lang="en-US" i="1" dirty="0"/>
              <a:t>folds </a:t>
            </a:r>
            <a:r>
              <a:rPr lang="en-US" dirty="0"/>
              <a:t>(typical choices for k are 1, 5, 10, or 20) </a:t>
            </a:r>
          </a:p>
          <a:p>
            <a:r>
              <a:rPr lang="en-US" dirty="0"/>
              <a:t>When k is 1, it is called leave one out cross validation</a:t>
            </a:r>
          </a:p>
          <a:p>
            <a:r>
              <a:rPr lang="en-US" dirty="0"/>
              <a:t>For each fold, a model is trained on all the data </a:t>
            </a:r>
            <a:r>
              <a:rPr lang="en-US" i="1" dirty="0"/>
              <a:t>except </a:t>
            </a:r>
            <a:r>
              <a:rPr lang="en-US" dirty="0"/>
              <a:t>the data from that fold and is subsequently used to generate predictions for the data from that fold</a:t>
            </a:r>
          </a:p>
          <a:p>
            <a:r>
              <a:rPr lang="en-US" dirty="0"/>
              <a:t>After all k-folds are cycled through, the predictions for each fold are aggregated</a:t>
            </a:r>
            <a:br>
              <a:rPr lang="en-US" dirty="0"/>
            </a:br>
            <a:r>
              <a:rPr lang="en-US" dirty="0"/>
              <a:t>and compared to the true target variable to assess accuracy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869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D62F-5BDC-47F2-91F3-B452545AF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K-fold cross validation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97849C-087C-4878-B8E2-94CAA1916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208" y="909326"/>
            <a:ext cx="7285736" cy="549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16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A9B47-1E3C-4101-8531-5FFC00108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Accuracy metric – MSE for classification?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51FC6-BED4-45B5-BC9C-D5E2720FD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19188"/>
            <a:ext cx="11320465" cy="199654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simplest performance measure of a classification model is to calculate the</a:t>
            </a:r>
            <a:br>
              <a:rPr lang="en-US" dirty="0"/>
            </a:br>
            <a:r>
              <a:rPr lang="en-US" dirty="0"/>
              <a:t>fraction of </a:t>
            </a:r>
            <a:r>
              <a:rPr lang="en-US" i="1" dirty="0"/>
              <a:t>correct </a:t>
            </a:r>
            <a:r>
              <a:rPr lang="en-US" dirty="0"/>
              <a:t>answers </a:t>
            </a:r>
          </a:p>
          <a:p>
            <a:r>
              <a:rPr lang="en-US" dirty="0"/>
              <a:t>If three out of four rows were correctly predicted, we can say that the </a:t>
            </a:r>
            <a:r>
              <a:rPr lang="en-US" i="1" dirty="0"/>
              <a:t>accuracy </a:t>
            </a:r>
            <a:r>
              <a:rPr lang="en-US" dirty="0"/>
              <a:t>of the model on this particular validation set is 3/4 = 0.75, or 75%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9A8F51-BAD5-42E8-B84C-1CBADE5E3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2" y="3799856"/>
            <a:ext cx="9439124" cy="240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178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predictions should provide more information than simply being correct or not </a:t>
            </a:r>
          </a:p>
          <a:p>
            <a:r>
              <a:rPr lang="en-US" dirty="0"/>
              <a:t>We should be able to analyze the accuracy per class (how many were predicted to survive but actually died or survived)</a:t>
            </a:r>
          </a:p>
          <a:p>
            <a:r>
              <a:rPr lang="en-US" dirty="0"/>
              <a:t>For binary classification, you can be wrong in two ways – predicting 0 when the correct value is 1, or predicting 1 when the correct value is 0 </a:t>
            </a:r>
          </a:p>
          <a:p>
            <a:r>
              <a:rPr lang="en-US" dirty="0"/>
              <a:t>In many classification problems, it’s useful to go beyond the simple counting accuracy and look at this class-wise accuracy, or class confusion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87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D5FB4-DA6B-4790-B551-BD3C5B36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Accuracy – 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BA82E-C1F4-4003-AC3F-0817C9233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19188"/>
            <a:ext cx="11320465" cy="1977193"/>
          </a:xfrm>
        </p:spPr>
        <p:txBody>
          <a:bodyPr>
            <a:normAutofit/>
          </a:bodyPr>
          <a:lstStyle/>
          <a:p>
            <a:r>
              <a:rPr lang="en-US" dirty="0"/>
              <a:t>It turns out to be useful to display these four numbers in a two-by-two diagram called a </a:t>
            </a:r>
            <a:r>
              <a:rPr lang="en-US" i="1" dirty="0"/>
              <a:t>confusion matrix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A9C759-F802-47F9-B452-00AF16B62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794" y="2608730"/>
            <a:ext cx="9162689" cy="340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3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9E8E4-6706-45FD-8D86-AFB770556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B0B61-E733-446A-8DCC-45A0FF019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118" y="814388"/>
            <a:ext cx="11320465" cy="2223935"/>
          </a:xfrm>
        </p:spPr>
        <p:txBody>
          <a:bodyPr>
            <a:normAutofit/>
          </a:bodyPr>
          <a:lstStyle/>
          <a:p>
            <a:r>
              <a:rPr lang="en-US" dirty="0"/>
              <a:t>Each element in the matrix shows the class-wise accuracy or confusion between the positive and the negative class </a:t>
            </a:r>
          </a:p>
          <a:p>
            <a:r>
              <a:rPr lang="en-US" dirty="0"/>
              <a:t>They are related to the general concept of receiver operating characteristics (ROCs)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2357C4-4E43-440B-BB28-62EF0C890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14" y="2858559"/>
            <a:ext cx="5490129" cy="38438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683937-9358-4799-90AA-28E312C92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609" y="3038324"/>
            <a:ext cx="4880090" cy="294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93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200C-662C-46ED-B3AD-A34051992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ROC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DCE15-C317-4481-8194-1BFDC14D5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output of a </a:t>
            </a:r>
            <a:r>
              <a:rPr lang="en-US" i="1" dirty="0"/>
              <a:t>probabilistic classifier </a:t>
            </a:r>
            <a:r>
              <a:rPr lang="en-US" dirty="0"/>
              <a:t>is the </a:t>
            </a:r>
            <a:r>
              <a:rPr lang="en-US" i="1" dirty="0"/>
              <a:t>probability vectors </a:t>
            </a:r>
            <a:r>
              <a:rPr lang="en-US" dirty="0"/>
              <a:t>or </a:t>
            </a:r>
            <a:r>
              <a:rPr lang="en-US" i="1" dirty="0"/>
              <a:t>class probabilities</a:t>
            </a:r>
            <a:endParaRPr lang="en-US" dirty="0"/>
          </a:p>
          <a:p>
            <a:r>
              <a:rPr lang="en-US" dirty="0"/>
              <a:t>For every row in the test set, we get a real-valued number from 0 to 1 for</a:t>
            </a:r>
            <a:br>
              <a:rPr lang="en-US" dirty="0"/>
            </a:br>
            <a:r>
              <a:rPr lang="en-US" dirty="0"/>
              <a:t>every class in the classifier (summing to 1)</a:t>
            </a:r>
          </a:p>
          <a:p>
            <a:r>
              <a:rPr lang="en-US" dirty="0"/>
              <a:t>We can make predictions by considering probabilities above 0.5 to determine the class predictions, from which we can calculate all the performance metrics (for logistic regression)</a:t>
            </a:r>
          </a:p>
          <a:p>
            <a:r>
              <a:rPr lang="en-US" dirty="0"/>
              <a:t>We say that the </a:t>
            </a:r>
            <a:r>
              <a:rPr lang="en-US" i="1" dirty="0"/>
              <a:t>threshold </a:t>
            </a:r>
            <a:r>
              <a:rPr lang="en-US" dirty="0"/>
              <a:t>that determines the class is 0.5 (for logistic regression)</a:t>
            </a:r>
          </a:p>
          <a:p>
            <a:r>
              <a:rPr lang="en-US" dirty="0"/>
              <a:t>It’s clear that we can choose any other threshold and would get different values for all of our metrics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208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560D6-B046-4787-B41B-4817B70AC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ROC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F53FD-67D8-4675-AB3C-BFF13E142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Figure in next slide shows the process of sorting the probability vectors and setting a threshold of 0.7. </a:t>
            </a:r>
          </a:p>
          <a:p>
            <a:r>
              <a:rPr lang="en-US" dirty="0"/>
              <a:t>If we follow this process for all thresholds from 0 to 1, we get the </a:t>
            </a:r>
            <a:r>
              <a:rPr lang="en-US" i="1" dirty="0"/>
              <a:t>ROC curve</a:t>
            </a:r>
            <a:r>
              <a:rPr lang="en-US" dirty="0"/>
              <a:t>, shown in next slide </a:t>
            </a:r>
          </a:p>
          <a:p>
            <a:r>
              <a:rPr lang="en-US" dirty="0"/>
              <a:t>Here we can read out the confusion matrix at all thresholds, making</a:t>
            </a:r>
            <a:br>
              <a:rPr lang="en-US" dirty="0"/>
            </a:br>
            <a:r>
              <a:rPr lang="en-US" dirty="0"/>
              <a:t>the ROC curve a powerful visualization tool when we’re evaluating classifier performance</a:t>
            </a:r>
          </a:p>
        </p:txBody>
      </p:sp>
    </p:spTree>
    <p:extLst>
      <p:ext uri="{BB962C8B-B14F-4D97-AF65-F5344CB8AC3E}">
        <p14:creationId xmlns:p14="http://schemas.microsoft.com/office/powerpoint/2010/main" val="3327918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07C12-263D-4EA3-B1B1-22D86BD5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ROC Curve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2635E-B58A-42B4-B58C-127144279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095" y="904435"/>
            <a:ext cx="8997077" cy="560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69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Definitions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659" y="1438555"/>
            <a:ext cx="8839200" cy="1076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81" y="2815198"/>
            <a:ext cx="9467850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2357C4-4E43-440B-BB28-62EF0C890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15" y="4029916"/>
            <a:ext cx="3817100" cy="267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240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0_VmdsukltMmSfn1iK">
            <a:extLst>
              <a:ext uri="{FF2B5EF4-FFF2-40B4-BE49-F238E27FC236}">
                <a16:creationId xmlns:a16="http://schemas.microsoft.com/office/drawing/2014/main" id="{713501A0-E9A9-6A50-EBF0-BDB0F857D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723" y="4589"/>
            <a:ext cx="9088915" cy="684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844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4F5D8-12D8-4F3A-A044-CDDC6B321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AUC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4CC80-7E78-471D-AA2D-97EF89F26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ROC curve itself also provides a view of the overall performance of the classifier</a:t>
            </a:r>
          </a:p>
          <a:p>
            <a:r>
              <a:rPr lang="en-US" dirty="0"/>
              <a:t>A perfect classifier would have no false positives and no missed detections, so the curve would be pushed to the top-left corner, as illustrated in the next (slide’s) figure </a:t>
            </a:r>
          </a:p>
          <a:p>
            <a:r>
              <a:rPr lang="en-US" dirty="0"/>
              <a:t>This leads us naturally to another evaluation metric: the area under the ROC curve (AUC) </a:t>
            </a:r>
          </a:p>
          <a:p>
            <a:r>
              <a:rPr lang="en-US" dirty="0"/>
              <a:t>The larger this area, the better the classification performance</a:t>
            </a:r>
          </a:p>
          <a:p>
            <a:r>
              <a:rPr lang="en-US" dirty="0"/>
              <a:t>The AUC is a widely used choice for evaluating and comparing</a:t>
            </a:r>
            <a:br>
              <a:rPr lang="en-US" dirty="0"/>
            </a:br>
            <a:r>
              <a:rPr lang="en-US" dirty="0"/>
              <a:t>models, although in most cases it’s important to inspect the full ROC curve 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777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4064C-6447-E349-F7FB-79835F756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Calibri Light"/>
                <a:cs typeface="Calibri Light"/>
              </a:rPr>
              <a:t>AUC</a:t>
            </a:r>
            <a:endParaRPr lang="en-US"/>
          </a:p>
        </p:txBody>
      </p:sp>
      <p:pic>
        <p:nvPicPr>
          <p:cNvPr id="4" name="Picture 3" descr="Receiver Operating Characteristic (ROC) — scikit-learn 1.1.3 documentation">
            <a:extLst>
              <a:ext uri="{FF2B5EF4-FFF2-40B4-BE49-F238E27FC236}">
                <a16:creationId xmlns:a16="http://schemas.microsoft.com/office/drawing/2014/main" id="{A16DC426-58C1-B708-994E-7A13586EE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880" y="830855"/>
            <a:ext cx="7124240" cy="534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50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C98CF-13DB-42CE-961F-DC3D08553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76" y="2964089"/>
            <a:ext cx="10515600" cy="525463"/>
          </a:xfrm>
        </p:spPr>
        <p:txBody>
          <a:bodyPr>
            <a:normAutofit fontScale="90000"/>
          </a:bodyPr>
          <a:lstStyle/>
          <a:p>
            <a:r>
              <a:rPr lang="en-US" dirty="0"/>
              <a:t>Metrics</a:t>
            </a:r>
          </a:p>
        </p:txBody>
      </p:sp>
    </p:spTree>
    <p:extLst>
      <p:ext uri="{BB962C8B-B14F-4D97-AF65-F5344CB8AC3E}">
        <p14:creationId xmlns:p14="http://schemas.microsoft.com/office/powerpoint/2010/main" val="770615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accuracy of the model which have the following confusion matrix?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474" y="1752202"/>
            <a:ext cx="6501632" cy="21926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341" y="4577893"/>
            <a:ext cx="7857424" cy="128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08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dirty="0">
                <a:effectLst/>
              </a:rPr>
              <a:t>Precision and Recall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048" y="1413285"/>
            <a:ext cx="8253413" cy="460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101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dirty="0">
                <a:effectLst/>
              </a:rPr>
              <a:t>Precision and Recall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894" y="1093820"/>
            <a:ext cx="8694860" cy="510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137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</a:t>
            </a:r>
            <a:r>
              <a:rPr lang="en-US" baseline="-25000" dirty="0"/>
              <a:t>1</a:t>
            </a:r>
            <a:r>
              <a:rPr lang="en-US" dirty="0"/>
              <a:t> Score: combining two into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F1 Score is the weighted average of Precision and Recall</a:t>
            </a:r>
          </a:p>
          <a:p>
            <a:r>
              <a:rPr lang="en-US" dirty="0"/>
              <a:t>It takes both false positives and false negatives into account </a:t>
            </a:r>
          </a:p>
          <a:p>
            <a:r>
              <a:rPr lang="en-US" dirty="0"/>
              <a:t>Intuitively it is not as easy to understand as accuracy, but F1 is usually more useful than accuracy, especially if we have an uneven class distribution</a:t>
            </a:r>
          </a:p>
          <a:p>
            <a:r>
              <a:rPr lang="en-US" dirty="0"/>
              <a:t>Accuracy works best if false positives and false negatives have similar cost </a:t>
            </a:r>
          </a:p>
          <a:p>
            <a:r>
              <a:rPr lang="en-US" dirty="0"/>
              <a:t>If the cost of false positives and false negatives are very different, it’s better to look at both Precision and Recall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57" y="4383698"/>
            <a:ext cx="912495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047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5329</TotalTime>
  <Words>886</Words>
  <Application>Microsoft Office PowerPoint</Application>
  <PresentationFormat>Widescreen</PresentationFormat>
  <Paragraphs>64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CSE 445 Lecture 11</vt:lpstr>
      <vt:lpstr>Cross validation</vt:lpstr>
      <vt:lpstr>Hold out cross validation</vt:lpstr>
      <vt:lpstr>Hold out cross validation</vt:lpstr>
      <vt:lpstr>K-fold cross validation</vt:lpstr>
      <vt:lpstr>K-fold cross validation</vt:lpstr>
      <vt:lpstr>Accuracy metric – MSE for classification?</vt:lpstr>
      <vt:lpstr>Class accuracy</vt:lpstr>
      <vt:lpstr>Accuracy – confusion matrix</vt:lpstr>
      <vt:lpstr>Confusion matrix</vt:lpstr>
      <vt:lpstr>ROC Curve</vt:lpstr>
      <vt:lpstr>ROC Curve</vt:lpstr>
      <vt:lpstr>ROC Curve</vt:lpstr>
      <vt:lpstr>Definitions</vt:lpstr>
      <vt:lpstr>PowerPoint Presentation</vt:lpstr>
      <vt:lpstr>AUC Curve</vt:lpstr>
      <vt:lpstr>AUC</vt:lpstr>
      <vt:lpstr>Metrics</vt:lpstr>
      <vt:lpstr>Accuracy</vt:lpstr>
      <vt:lpstr>Precision and Recall</vt:lpstr>
      <vt:lpstr>Precision and Recall</vt:lpstr>
      <vt:lpstr>F1 Score: combining two into 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327 Lecture 8</dc:title>
  <dc:creator>Mohammad Khan</dc:creator>
  <cp:lastModifiedBy>Mohammad Khan</cp:lastModifiedBy>
  <cp:revision>153</cp:revision>
  <dcterms:created xsi:type="dcterms:W3CDTF">2018-11-03T12:07:21Z</dcterms:created>
  <dcterms:modified xsi:type="dcterms:W3CDTF">2026-08-20T03:44:32Z</dcterms:modified>
</cp:coreProperties>
</file>