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93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3F7FB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F3F7FB"/>
                </a:solidFill>
                <a:latin typeface="Calibri"/>
              </a:rPr>
              <a:t>Accuracy by Model &amp; Dataset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3A5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FA7C2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7C2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FA7C2"/>
              </a:solidFill>
            </a:defRPr>
          </a:pPr>
          <a:endParaRPr lang="en-BD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FB175FD9-2FCB-5531-4206-8635899D95B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3411200" cy="55372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12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>
            <a:alpha val="2658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9123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/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445 · MACHINE LEARNING · SECTION 03 · SUMMER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MedFeatureStore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Database-Backed Feature Repository for Multi-Disease</a:t>
            </a:r>
            <a:endParaRPr lang="en-US" sz="17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Classification with Classical ML &amp; Explainable AI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2EE6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Touhid Ara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Himu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 ID 2312187642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5412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Shahriar Rakib Rabbi</a:t>
            </a:r>
            <a:r>
              <a:rPr lang="en-US" sz="13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2321937642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58704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Tasnuva Islam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Ayona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 ID 2233379642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</a:t>
            </a:r>
            <a:r>
              <a:rPr lang="en-US" sz="12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Mohammad Ashrafuzzaman Khan (AzK)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MedFeatureStore?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6720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database-backed feature-engineering and classification system for medical images. Instead of re-computing image features every time a model is trained, MedFeatureStore extracts a 1,803-dimensional handcrafted feature vector once per image and permanently stores it in a normalized SQLite database — the same “feature store” idea used in production MLOps, applied here to raw medical images.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3246120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classical ML model can then query the store, train, and be compared — without ever touching the raw pixels again.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41605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22A4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416552"/>
            <a:ext cx="502920" cy="502920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481328" y="43799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— Pneumonia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47274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2734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vs. PNEUMONIA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paultimothymooney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41605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22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416552"/>
            <a:ext cx="502920" cy="502920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4956048" y="43799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— Tumor Type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6048" y="47274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classification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5212080"/>
            <a:ext cx="2734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· Meningioma · Pituitary · No Tumor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masoudnickparvar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1600200"/>
            <a:ext cx="3986784" cy="4709160"/>
          </a:xfrm>
          <a:prstGeom prst="roundRect">
            <a:avLst>
              <a:gd name="adj" fmla="val 2752"/>
            </a:avLst>
          </a:prstGeom>
          <a:solidFill>
            <a:srgbClr val="0E203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87452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340864"/>
            <a:ext cx="82296" cy="82296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2" name="Text 20"/>
          <p:cNvSpPr/>
          <p:nvPr/>
        </p:nvSpPr>
        <p:spPr>
          <a:xfrm>
            <a:off x="8202168" y="2231136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is the slowest, most repeated step in classical medical-imaging ML  storing it once removes that bottleneck.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364992"/>
            <a:ext cx="82296" cy="82296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4" name="Text 22"/>
          <p:cNvSpPr/>
          <p:nvPr/>
        </p:nvSpPr>
        <p:spPr>
          <a:xfrm>
            <a:off x="8202168" y="3255264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unrelated diseases share one pipeline, proving the store generalizes across imaging modalities.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4389120"/>
            <a:ext cx="82296" cy="82296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6" name="Text 24"/>
          <p:cNvSpPr/>
          <p:nvPr/>
        </p:nvSpPr>
        <p:spPr>
          <a:xfrm>
            <a:off x="8202168" y="427939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+ SHAP keeps every prediction explainable  important for clinical trust.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5413248"/>
            <a:ext cx="82296" cy="82296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8" name="Text 26"/>
          <p:cNvSpPr/>
          <p:nvPr/>
        </p:nvSpPr>
        <p:spPr>
          <a:xfrm>
            <a:off x="8202168" y="5303520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live Streamlit diagnostic dashboard, not just a notebook.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PROJECT TOPIC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What We Achieved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122A4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37944"/>
            <a:ext cx="438912" cy="43891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8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feature 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04825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1,803-dim vectors for 1,594 images in an 8-table normalized SQLite DB.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122A4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752344"/>
            <a:ext cx="438912" cy="43891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52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8" dirty="0"/>
          </a:p>
        </p:txBody>
      </p:sp>
      <p:sp>
        <p:nvSpPr>
          <p:cNvPr id="13" name="Text 11"/>
          <p:cNvSpPr/>
          <p:nvPr/>
        </p:nvSpPr>
        <p:spPr>
          <a:xfrm>
            <a:off x="1417320" y="2651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ML models fairly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96265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algorithms trained per disease with a leak-free, stratified 80/20 split.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122A4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66744"/>
            <a:ext cx="438912" cy="43891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66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8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reuse is actually faster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87705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Feature-store reuse measured 28.7× faster than re-extracting every run.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40740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122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81144"/>
            <a:ext cx="438912" cy="43891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811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8" dirty="0"/>
          </a:p>
        </p:txBody>
      </p:sp>
      <p:sp>
        <p:nvSpPr>
          <p:cNvPr id="23" name="Text 21"/>
          <p:cNvSpPr/>
          <p:nvPr/>
        </p:nvSpPr>
        <p:spPr>
          <a:xfrm>
            <a:off x="1417320" y="44805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 explainable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79145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shows which features drive each prediction.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32180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122A4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495544"/>
            <a:ext cx="438912" cy="43891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955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48" dirty="0"/>
          </a:p>
        </p:txBody>
      </p:sp>
      <p:sp>
        <p:nvSpPr>
          <p:cNvPr id="28" name="Text 26"/>
          <p:cNvSpPr/>
          <p:nvPr/>
        </p:nvSpPr>
        <p:spPr>
          <a:xfrm>
            <a:off x="1417320" y="53949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usable diagnostic tool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570585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upload an image → live class + confidence in seconds.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35240" y="16916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057400"/>
            <a:ext cx="3986784" cy="932688"/>
          </a:xfrm>
          <a:prstGeom prst="roundRect">
            <a:avLst>
              <a:gd name="adj" fmla="val 9804"/>
            </a:avLst>
          </a:prstGeom>
          <a:solidFill>
            <a:srgbClr val="0E2038"/>
          </a:solidFill>
          <a:ln/>
        </p:spPr>
      </p:sp>
      <p:sp>
        <p:nvSpPr>
          <p:cNvPr id="32" name="Text 30"/>
          <p:cNvSpPr/>
          <p:nvPr/>
        </p:nvSpPr>
        <p:spPr>
          <a:xfrm>
            <a:off x="7891272" y="21305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87.6%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509760" y="2148840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chest X-ray accuracy (Random Forest)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35240" y="3118104"/>
            <a:ext cx="3986784" cy="932688"/>
          </a:xfrm>
          <a:prstGeom prst="roundRect">
            <a:avLst>
              <a:gd name="adj" fmla="val 9804"/>
            </a:avLst>
          </a:prstGeom>
          <a:solidFill>
            <a:srgbClr val="0E2038"/>
          </a:solidFill>
          <a:ln/>
        </p:spPr>
      </p:sp>
      <p:sp>
        <p:nvSpPr>
          <p:cNvPr id="35" name="Text 33"/>
          <p:cNvSpPr/>
          <p:nvPr/>
        </p:nvSpPr>
        <p:spPr>
          <a:xfrm>
            <a:off x="7891272" y="31912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509760" y="3209544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brain MRI accuracy (Random Forest)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4178808"/>
            <a:ext cx="3986784" cy="932688"/>
          </a:xfrm>
          <a:prstGeom prst="roundRect">
            <a:avLst>
              <a:gd name="adj" fmla="val 9804"/>
            </a:avLst>
          </a:prstGeom>
          <a:solidFill>
            <a:srgbClr val="0E2038"/>
          </a:solidFill>
          <a:ln/>
        </p:spPr>
      </p:sp>
      <p:sp>
        <p:nvSpPr>
          <p:cNvPr id="38" name="Text 36"/>
          <p:cNvSpPr/>
          <p:nvPr/>
        </p:nvSpPr>
        <p:spPr>
          <a:xfrm>
            <a:off x="7891272" y="4251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28.7×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509760" y="4270248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via feature-store reuse vs. recompute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35240" y="5239512"/>
            <a:ext cx="3986784" cy="932688"/>
          </a:xfrm>
          <a:prstGeom prst="roundRect">
            <a:avLst>
              <a:gd name="adj" fmla="val 9804"/>
            </a:avLst>
          </a:prstGeom>
          <a:solidFill>
            <a:srgbClr val="0E2038"/>
          </a:solidFill>
          <a:ln/>
        </p:spPr>
      </p:sp>
      <p:sp>
        <p:nvSpPr>
          <p:cNvPr id="41" name="Text 39"/>
          <p:cNvSpPr/>
          <p:nvPr/>
        </p:nvSpPr>
        <p:spPr>
          <a:xfrm>
            <a:off x="7891272" y="53126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1,803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509760" y="5330952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 stored per image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OBJECTIVES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How This Project Differs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22A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65376"/>
            <a:ext cx="457200" cy="54864"/>
          </a:xfrm>
          <a:prstGeom prst="rect">
            <a:avLst/>
          </a:prstGeom>
          <a:solidFill>
            <a:srgbClr val="2EE6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751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Handcrafted-Feature + Classical 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medical-imaging studies commonly pair texture descriptors (GLCM, LBP, HOG) with SVM / Random Forest / KNN for pneumonia and brain-tumor classification — the same feature families and model family used 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22A47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865376"/>
            <a:ext cx="457200" cy="54864"/>
          </a:xfrm>
          <a:prstGeom prst="rect">
            <a:avLst/>
          </a:prstGeom>
          <a:solidFill>
            <a:srgbClr val="2EE6B8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9751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/ CNN Approaches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16552" y="25603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literature favors transfer-learning CNNs (ResNet, VGG, EfficientNet) for these same two datasets, trading interpretability and compute cost for typically higher accuracy than classical pipelines.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54112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22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10144" y="1865376"/>
            <a:ext cx="457200" cy="54864"/>
          </a:xfrm>
          <a:prstGeom prst="rect">
            <a:avLst/>
          </a:prstGeom>
          <a:solidFill>
            <a:srgbClr val="2EE6B8"/>
          </a:solidFill>
          <a:ln/>
        </p:spPr>
      </p:sp>
      <p:sp>
        <p:nvSpPr>
          <p:cNvPr id="15" name="Text 13"/>
          <p:cNvSpPr/>
          <p:nvPr/>
        </p:nvSpPr>
        <p:spPr>
          <a:xfrm>
            <a:off x="8010144" y="19751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in MLOps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0144" y="25603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Feature-store platforms  are standard for tabular/structured data pipelines in industry, but are rarely applied to persist raw image-derived feature vectors for reproducible ML research.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2519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0E203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10561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prior work:  </a:t>
            </a:r>
            <a:r>
              <a:rPr lang="en-US" sz="12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handcrafted feature families (statistical, histogram, GLCM, LBP, HOG) and classical classifiers, achieving competitive — if slightly lower than deep-CNN — accuracy.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prior work:  </a:t>
            </a:r>
            <a:r>
              <a:rPr lang="en-US" sz="125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features once in a normalized 8-table SQLite database for versioned reuse across models/experiments (measured 28.7× speed-up), adds SHAP explainability on top of a classical model, and ships as a live two-disease Streamlit diagnostic app  steps most baseline classical-ML papers skip.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RELATED 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FUNNEL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6675120" cy="402336"/>
          </a:xfrm>
          <a:prstGeom prst="roundRect">
            <a:avLst>
              <a:gd name="adj" fmla="val 13636"/>
            </a:avLst>
          </a:prstGeom>
          <a:solidFill>
            <a:srgbClr val="1B8F73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2024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19856" y="19202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5736" y="19202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17336" y="1920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Clean-up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322576"/>
            <a:ext cx="6675120" cy="457200"/>
          </a:xfrm>
          <a:prstGeom prst="rect">
            <a:avLst/>
          </a:prstGeom>
          <a:solidFill>
            <a:srgbClr val="12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3225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(2 classes)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23225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17,568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322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23225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779776"/>
            <a:ext cx="6675120" cy="457200"/>
          </a:xfrm>
          <a:prstGeom prst="rect">
            <a:avLst/>
          </a:prstGeom>
          <a:solidFill>
            <a:srgbClr val="0E2038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7797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(4 classes)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856" y="27797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27797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17336" y="2779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34670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1,594 clean images total — corrupted files and MD5-hash duplicates removed before feature extraction.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8039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05993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128×128  →  RGB + grayscale conversion  →  pixel normalization to [0, 1]  →  81:19 train/test split (stratified, random_state = 42)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68172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NORMALIZED SCHEMA (SQLite)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974336"/>
            <a:ext cx="965606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974336"/>
            <a:ext cx="9656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60550" y="4974336"/>
            <a:ext cx="965606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0550" y="4974336"/>
            <a:ext cx="9656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54173" y="4974336"/>
            <a:ext cx="881482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4173" y="4974336"/>
            <a:ext cx="88148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63670" y="4974336"/>
            <a:ext cx="797357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3670" y="4974336"/>
            <a:ext cx="79735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9043" y="4974336"/>
            <a:ext cx="1806854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9043" y="4974336"/>
            <a:ext cx="18068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feature_extractors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5431536"/>
            <a:ext cx="1806854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5431536"/>
            <a:ext cx="18068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extracted_features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01798" y="5431536"/>
            <a:ext cx="1217981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1798" y="5431536"/>
            <a:ext cx="12179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7795" y="5431536"/>
            <a:ext cx="1386230" cy="347472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7795" y="5431536"/>
            <a:ext cx="13862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model_results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5907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extracted once and joined across tables by ID — enabling reuse without recomputation.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35240" y="1572768"/>
            <a:ext cx="3986784" cy="4709160"/>
          </a:xfrm>
          <a:prstGeom prst="roundRect">
            <a:avLst>
              <a:gd name="adj" fmla="val 2752"/>
            </a:avLst>
          </a:prstGeom>
          <a:solidFill>
            <a:srgbClr val="0E2038"/>
          </a:solidFill>
          <a:ln/>
        </p:spPr>
      </p:sp>
      <p:sp>
        <p:nvSpPr>
          <p:cNvPr id="43" name="Text 41"/>
          <p:cNvSpPr/>
          <p:nvPr/>
        </p:nvSpPr>
        <p:spPr>
          <a:xfrm>
            <a:off x="7909560" y="178308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1,803-DIM FEATURE VECTOR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570464" y="21945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909560" y="2468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var, skew, kurtosis, min/max, median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09560" y="29626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570464" y="29626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909560" y="3236976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16-bin grayscale intensity distribution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3730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570464" y="37307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≈40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909560" y="4005072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correlation, energy, homogeneity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09560" y="4498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570464" y="44988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909560" y="477316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local binary pattern bins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09560" y="52669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570464" y="52669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≈1,728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909560" y="5541264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gradient-orientation shape descriptor (dominant share)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METHODS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&amp; Modeling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10512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10" name="Text 8"/>
          <p:cNvSpPr/>
          <p:nvPr/>
        </p:nvSpPr>
        <p:spPr>
          <a:xfrm>
            <a:off x="2002536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9544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4992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08576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4024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2EE6B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07608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3056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06640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62088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7598664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6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05672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0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25" name="Text 23"/>
          <p:cNvSpPr/>
          <p:nvPr/>
        </p:nvSpPr>
        <p:spPr>
          <a:xfrm>
            <a:off x="8997696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04704" y="1965960"/>
            <a:ext cx="18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360152" y="1965960"/>
            <a:ext cx="1271016" cy="1051560"/>
          </a:xfrm>
          <a:prstGeom prst="roundRect">
            <a:avLst>
              <a:gd name="adj" fmla="val 6957"/>
            </a:avLst>
          </a:prstGeom>
          <a:solidFill>
            <a:srgbClr val="12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10396728" y="1965960"/>
            <a:ext cx="1197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3182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SQLite feature store (highlighted) is the reusable core: every downstream model reads from it instead of recomputing pixels → features.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PER DISEASE (× 2 DATASETS)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4144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144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1596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048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6500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39528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2A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39528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47548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E2038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88289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 </a:t>
            </a: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 only (no leakage) → GridSearchCV hyperparameter tuning  for SVM &amp; Random Forest → evaluated on held-out test set with Accuracy, Precision, Recall, F1, ROC-AUC, and training/prediction time → best model per disease saved with joblib for deployment.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METHODS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76656" y="1381328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17349470"/>
              </p:ext>
            </p:extLst>
          </p:nvPr>
        </p:nvGraphicFramePr>
        <p:xfrm>
          <a:off x="502920" y="164592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45920"/>
            <a:ext cx="3986784" cy="841248"/>
          </a:xfrm>
          <a:prstGeom prst="roundRect">
            <a:avLst>
              <a:gd name="adj" fmla="val 10870"/>
            </a:avLst>
          </a:prstGeom>
          <a:solidFill>
            <a:srgbClr val="122A47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64592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418320" y="171907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best accuracy (Random Forest)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35240" y="2633472"/>
            <a:ext cx="3986784" cy="841248"/>
          </a:xfrm>
          <a:prstGeom prst="roundRect">
            <a:avLst>
              <a:gd name="adj" fmla="val 10870"/>
            </a:avLst>
          </a:prstGeom>
          <a:solidFill>
            <a:srgbClr val="122A47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63347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418320" y="2706624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best accuracy (Random Forest)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3621024"/>
            <a:ext cx="3986784" cy="841248"/>
          </a:xfrm>
          <a:prstGeom prst="roundRect">
            <a:avLst>
              <a:gd name="adj" fmla="val 10870"/>
            </a:avLst>
          </a:prstGeom>
          <a:solidFill>
            <a:srgbClr val="12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362102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28.7×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418320" y="3694176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Feature-store reuse speed-up (3 repeated runs)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4663440"/>
            <a:ext cx="3986784" cy="1600200"/>
          </a:xfrm>
          <a:prstGeom prst="roundRect">
            <a:avLst>
              <a:gd name="adj" fmla="val 5714"/>
            </a:avLst>
          </a:prstGeom>
          <a:solidFill>
            <a:srgbClr val="0E2038"/>
          </a:solidFill>
          <a:ln/>
        </p:spPr>
      </p:sp>
      <p:sp>
        <p:nvSpPr>
          <p:cNvPr id="16" name="Text 13"/>
          <p:cNvSpPr/>
          <p:nvPr/>
        </p:nvSpPr>
        <p:spPr>
          <a:xfrm>
            <a:off x="7891272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91272" y="51206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SVM are consistently the top two models on both tasks. Naive Bayes is weakest, especially on the harder 4-class brain-tumor task (58.9% accuracy) — texture features are not linearly/independently separable enough for its assumptions.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RESULTS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Live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 TreeExplainer was applied to the best Random Forest model, computing per-feature contribution values on held-out test images. This gives both a global view (which of the 1,803 features matter most overall — dominated by HOG edge/shape and GLCM texture features) and a local view (why one specific image was classified a certain way), turning a classical “black box” into an auditable, clinically-defensible decision.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4160520"/>
            <a:ext cx="73152" cy="7315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050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chest X-ray or brain MRI image directly in the browser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6008"/>
            <a:ext cx="73152" cy="7315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526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preprocessed and run through the saved best model in real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5111496"/>
            <a:ext cx="73152" cy="7315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5001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predicted class, model confidence, and full class-probability distribution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586984"/>
            <a:ext cx="73152" cy="73152"/>
          </a:xfrm>
          <a:prstGeom prst="ellipse">
            <a:avLst/>
          </a:prstGeom>
          <a:solidFill>
            <a:srgbClr val="2EE6B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4772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+ database backend serves both disease pipelines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0448" y="1554480"/>
            <a:ext cx="5815584" cy="4855464"/>
          </a:xfrm>
          <a:prstGeom prst="roundRect">
            <a:avLst>
              <a:gd name="adj" fmla="val 1883"/>
            </a:avLst>
          </a:prstGeom>
          <a:solidFill>
            <a:srgbClr val="122A47"/>
          </a:solidFill>
          <a:ln/>
        </p:spPr>
      </p:sp>
      <p:pic>
        <p:nvPicPr>
          <p:cNvPr id="17" name="Image 0" descr="assets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27632"/>
            <a:ext cx="5669280" cy="4709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639165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prediction: meningioma classified at 76.5% confidence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MEDFEATURESTORE · RESULTS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1172</Words>
  <Application>Microsoft Macintosh PowerPoint</Application>
  <PresentationFormat>Widescreen</PresentationFormat>
  <Paragraphs>187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touhidarahimu30@gmail.com</cp:lastModifiedBy>
  <cp:revision>3</cp:revision>
  <dcterms:created xsi:type="dcterms:W3CDTF">2026-08-25T05:35:54Z</dcterms:created>
  <dcterms:modified xsi:type="dcterms:W3CDTF">2026-08-25T07:56:43Z</dcterms:modified>
</cp:coreProperties>
</file>