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256" r:id="rId5"/>
    <p:sldId id="621" r:id="rId6"/>
    <p:sldId id="624" r:id="rId7"/>
    <p:sldId id="625" r:id="rId8"/>
    <p:sldId id="628" r:id="rId9"/>
    <p:sldId id="688" r:id="rId10"/>
    <p:sldId id="289" r:id="rId11"/>
    <p:sldId id="264" r:id="rId12"/>
    <p:sldId id="265" r:id="rId13"/>
    <p:sldId id="290" r:id="rId14"/>
    <p:sldId id="291" r:id="rId15"/>
    <p:sldId id="266" r:id="rId16"/>
    <p:sldId id="267" r:id="rId17"/>
    <p:sldId id="292" r:id="rId18"/>
    <p:sldId id="268" r:id="rId19"/>
    <p:sldId id="272" r:id="rId20"/>
    <p:sldId id="273" r:id="rId21"/>
    <p:sldId id="285" r:id="rId22"/>
    <p:sldId id="286" r:id="rId23"/>
    <p:sldId id="28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357466-73AA-8612-1043-3FFE7DAB3EBC}" v="6" dt="2026-06-03T14:38:30.916"/>
    <p1510:client id="{8B7CC3EA-E1E9-7BE2-782C-4A3D6D33F7D9}" v="9" dt="2026-06-03T11:17:39.798"/>
    <p1510:client id="{CE41572D-358B-4441-BF8F-298DE3DB604A}" v="11" dt="2026-06-03T11:47:01.151"/>
    <p1510:client id="{CE45E3CC-0500-7EFD-CF10-2E36848B6B03}" v="5" dt="2026-06-03T07:32:40.8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E1B55-A0A7-4C9C-88C1-3A5C6A40240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E77780-F0EF-4B5F-9EE7-60A58DD1A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60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0E797-E484-44ED-A239-64277FE0E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AEF780-7320-4B43-AAED-F0481B3001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ADA29-9491-4859-9181-7FF16AB45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494A5-A287-4BC2-9628-CAEB7FA7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AB12C-11BE-4545-8970-4F65D76F7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716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3AC73-49A8-4235-8E54-344D7AE6B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EFA66-1949-4BAC-90F3-260B28EA3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DD6C3-C8F1-44C4-BE29-A7E192ECD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68F96-8A2D-4D15-B72A-1BE3C6FBA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846B5-195C-4BDB-A0AF-D52035E08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7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380A0-ED64-48E0-B9C8-569F34825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C18A2-E1D6-46C9-8CCF-84419AC38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29E5A-CABA-487F-AE98-B2464FC90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72CFD-82A6-4E60-9FAC-3680A8275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1E37-CA26-4C91-BC94-19E402DAE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76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D90AE-3661-46FF-922D-ABDF43758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7F269-6879-4ADA-9D67-9E61D80B23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9A5392-70F7-40A0-9BEE-B9444E872E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6528DA-CEFD-432F-AA8E-973376EC9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3101E-6DA9-4BB5-9C62-2B1B27443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B6AD3F-0FA4-4FCD-8CF4-4BDCE7465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23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B3579-C57E-4CAA-AE08-EB0A27A3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F1D69-90B6-45FB-94AB-78DB03F3A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ABE15-19F6-4503-9F69-560255ABA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1814A9-0046-41AA-B0C8-B677271002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253427-75E0-4324-B2A0-9259E9FCCF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802DE-660F-4CF9-9FB9-B17917E99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DEBBB8-E47D-430F-9694-B04E4DF2B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DCDFF6-B435-4DE5-8E43-DA133CB9B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271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4C802-82B9-430F-AF07-4FF6DC33F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20E669-09D2-43F6-AB7B-3AF5C3460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32034F-8122-4D3C-9EE0-617A3CB14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E3B17-ABDA-424E-B102-D92D2E373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44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070F9B-27B6-443F-B7CA-4AA7FA889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737043-2389-4029-A3C5-07CF5B37E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DFBE5-75A1-478E-A662-031990DD4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640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4C8C0-3C08-4F40-B4CC-4CAACC3DC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038F9-DD32-4429-9398-92DA6F738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061104-CDD8-4454-9187-784049A2F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27858-962C-47B3-B661-436602064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DB0A0-7EEA-4508-8126-531639554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EBA5E-D2E0-4970-BD47-4AF19F431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185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A0DDF-7003-4C1A-BB44-664272A19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9AFDAF-27B1-41D4-96EE-1D6D1809E2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13798E-E3BF-427A-93E2-A4CB842E9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8CE11-06D0-4C84-88D7-842A952C2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26E090-6FA5-4A71-A070-BD7C0FA49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F01E9-BA6C-4C44-976B-36BBE214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497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BDC4A-48E1-4894-AB0F-ECF189B6A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3A79AF-2F79-4289-82BE-ACF7331CB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A497E-6F32-4A3E-9631-9FEF4E3FF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CB876-23CE-485F-91A5-93B0D7B5E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C3A67-2B2D-4782-A5FC-1558D3626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92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C65FEE-76CC-4626-9E2D-08E2AE5AA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0FEE0C-F39F-4476-BD95-0A51C0063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ECEB6-F803-4EE6-BD88-E0B64245F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EE21-E937-4C45-8E3F-E4D607BF6CD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1313F-8991-4909-8B90-68DAAE9B2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8196E-9AEE-4266-A151-D305A5D8C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010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C6DC07-5C6F-43AF-978F-0F0AF8314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8E598-D0A2-47D2-BE89-F4EA0A3D2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119188"/>
            <a:ext cx="11320465" cy="5237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1382D-D076-4FF0-AD6E-A6E4C421BF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FEE21-E937-4C45-8E3F-E4D607BF6CD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9047A-B6F8-4C3E-B8BF-24884C78A6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5F2E0-67EC-4657-BD17-E180039DB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6C32C-9D72-4B82-AE06-40FB0010D583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http://www.northsouth.edu/newassets/images/nsu-photo/logo-4.png">
            <a:extLst>
              <a:ext uri="{FF2B5EF4-FFF2-40B4-BE49-F238E27FC236}">
                <a16:creationId xmlns:a16="http://schemas.microsoft.com/office/drawing/2014/main" id="{BC78909E-CBD6-46C2-8213-EF399003A3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495300" cy="396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36E5F5-5DCD-4E9C-8D7C-D19E489A294C}"/>
              </a:ext>
            </a:extLst>
          </p:cNvPr>
          <p:cNvCxnSpPr>
            <a:cxnSpLocks/>
          </p:cNvCxnSpPr>
          <p:nvPr userDrawn="1"/>
        </p:nvCxnSpPr>
        <p:spPr>
          <a:xfrm flipV="1">
            <a:off x="792958" y="54768"/>
            <a:ext cx="11001375" cy="4603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888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cap="none" spc="0">
          <a:ln w="0"/>
          <a:solidFill>
            <a:srgbClr val="002060"/>
          </a:solidFill>
          <a:effectLst>
            <a:outerShdw blurRad="38100" dist="25400" dir="5400000" algn="ctr" rotWithShape="0">
              <a:srgbClr val="6E747A">
                <a:alpha val="43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70C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7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FC00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0000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dlbook/udlbook/releases/download/v5.0.3/UnderstandingDeepLearning_02_09_26_C.pdf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hyperlink" Target="https://probml.github.io/pml-book/book2.html" TargetMode="External"/><Relationship Id="rId4" Type="http://schemas.openxmlformats.org/officeDocument/2006/relationships/hyperlink" Target="https://probml.github.io/pml-book/book1.html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Triangle 4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F5810A-8FFF-4688-B886-2760516D3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9800"/>
              <a:t>CSE 445</a:t>
            </a:r>
            <a:br>
              <a:rPr lang="en-US" sz="9800"/>
            </a:br>
            <a:r>
              <a:rPr lang="en-US" sz="9800"/>
              <a:t>Lecture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E02420-0B57-4C8C-9661-7D4661E7B6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/>
              <a:t>Machine Learning Intro</a:t>
            </a:r>
          </a:p>
        </p:txBody>
      </p:sp>
    </p:spTree>
    <p:extLst>
      <p:ext uri="{BB962C8B-B14F-4D97-AF65-F5344CB8AC3E}">
        <p14:creationId xmlns:p14="http://schemas.microsoft.com/office/powerpoint/2010/main" val="2006043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4" y="170531"/>
            <a:ext cx="11737560" cy="821286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accent2">
                    <a:lumMod val="75000"/>
                  </a:schemeClr>
                </a:solidFill>
              </a:rPr>
              <a:t>Course Name &amp; Class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B3B81-B223-4378-BF5F-DC75BC9A7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64" y="1131385"/>
            <a:ext cx="11737560" cy="555608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5000000000000000000" pitchFamily="2" charset="2"/>
              <a:buChar char="•"/>
            </a:pPr>
            <a:r>
              <a:rPr lang="en-IN" dirty="0"/>
              <a:t>Course Name: Machine Learning – (CSE445)</a:t>
            </a:r>
            <a:endParaRPr lang="en-US" dirty="0"/>
          </a:p>
          <a:p>
            <a:pPr lvl="1">
              <a:buFont typeface="Arial" panose="05000000000000000000" pitchFamily="2" charset="2"/>
              <a:buChar char="•"/>
            </a:pPr>
            <a:r>
              <a:rPr lang="en-IN" dirty="0"/>
              <a:t>An </a:t>
            </a:r>
            <a:r>
              <a:rPr lang="en-IN" dirty="0">
                <a:solidFill>
                  <a:srgbClr val="C00000"/>
                </a:solidFill>
              </a:rPr>
              <a:t>undergraduate</a:t>
            </a:r>
            <a:r>
              <a:rPr lang="en-IN" dirty="0"/>
              <a:t>-level course – supposed to be more conceptual than theory</a:t>
            </a:r>
            <a:endParaRPr lang="en-IN" dirty="0">
              <a:ea typeface="Calibri" panose="020F0502020204030204"/>
              <a:cs typeface="Calibri" panose="020F0502020204030204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IN" dirty="0"/>
              <a:t>2 lectures every week (3 hours)</a:t>
            </a:r>
            <a:endParaRPr lang="en-IN" dirty="0">
              <a:ea typeface="Calibri"/>
              <a:cs typeface="Calibri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IN" dirty="0">
                <a:ea typeface="Calibri"/>
                <a:cs typeface="Calibri"/>
              </a:rPr>
              <a:t>6-8 hours study in total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80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6087"/>
    </mc:Choice>
    <mc:Fallback xmlns="">
      <p:transition spd="slow" advTm="10608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4" y="170531"/>
            <a:ext cx="11737560" cy="821286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accent2">
                    <a:lumMod val="75000"/>
                  </a:schemeClr>
                </a:solidFill>
              </a:rPr>
              <a:t>Workload and Grading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B3B81-B223-4378-BF5F-DC75BC9A7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584" y="1040791"/>
            <a:ext cx="11737560" cy="555608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Font typeface="Arial" panose="05000000000000000000" pitchFamily="2" charset="2"/>
              <a:buChar char="•"/>
            </a:pPr>
            <a:r>
              <a:rPr lang="en-IN" dirty="0"/>
              <a:t>3 class tests (theory + programming) worth 15%</a:t>
            </a:r>
            <a:endParaRPr lang="en-US"/>
          </a:p>
          <a:p>
            <a:pPr lvl="1">
              <a:buFont typeface="Arial" panose="05000000000000000000" pitchFamily="2" charset="2"/>
              <a:buChar char="•"/>
            </a:pPr>
            <a:r>
              <a:rPr lang="en-IN" dirty="0"/>
              <a:t>Theory part: Why does it work? </a:t>
            </a:r>
            <a:endParaRPr lang="en-GB" dirty="0">
              <a:ea typeface="Calibri" panose="020F0502020204030204"/>
              <a:cs typeface="Calibri" panose="020F0502020204030204"/>
            </a:endParaRPr>
          </a:p>
          <a:p>
            <a:pPr lvl="1">
              <a:buFont typeface="Arial" panose="05000000000000000000" pitchFamily="2" charset="2"/>
              <a:buChar char="•"/>
            </a:pPr>
            <a:r>
              <a:rPr lang="en-GB" dirty="0"/>
              <a:t>Practical part: Usage of ML algos, analysis of results, metrics</a:t>
            </a:r>
            <a:endParaRPr lang="en-GB" dirty="0">
              <a:ea typeface="Calibri" panose="020F0502020204030204"/>
              <a:cs typeface="Calibri"/>
            </a:endParaRPr>
          </a:p>
          <a:p>
            <a:pPr lvl="1">
              <a:buFont typeface="Arial" panose="05000000000000000000" pitchFamily="2" charset="2"/>
              <a:buChar char="•"/>
            </a:pPr>
            <a:r>
              <a:rPr lang="en-IN" dirty="0"/>
              <a:t>Best 1 out of 2</a:t>
            </a:r>
            <a:endParaRPr lang="en-IN" dirty="0">
              <a:ea typeface="Calibri" panose="020F0502020204030204"/>
              <a:cs typeface="Calibri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IN" dirty="0"/>
              <a:t>Project worth 20%</a:t>
            </a:r>
            <a:endParaRPr lang="en-IN" dirty="0">
              <a:ea typeface="Calibri" panose="020F0502020204030204"/>
              <a:cs typeface="Calibri"/>
            </a:endParaRPr>
          </a:p>
          <a:p>
            <a:pPr lvl="1">
              <a:buFont typeface="Arial" panose="05000000000000000000" pitchFamily="2" charset="2"/>
              <a:buChar char="•"/>
            </a:pPr>
            <a:r>
              <a:rPr lang="en-IN" dirty="0"/>
              <a:t>Pick a project based on your works/idea – not from blogs/</a:t>
            </a:r>
            <a:r>
              <a:rPr lang="en-IN" err="1"/>
              <a:t>kaggle</a:t>
            </a:r>
            <a:r>
              <a:rPr lang="en-IN" dirty="0"/>
              <a:t>/etc.</a:t>
            </a:r>
            <a:endParaRPr lang="en-GB" dirty="0">
              <a:ea typeface="Calibri" panose="020F0502020204030204"/>
              <a:cs typeface="Calibri" panose="020F0502020204030204"/>
            </a:endParaRPr>
          </a:p>
          <a:p>
            <a:pPr lvl="1">
              <a:buFont typeface="Arial" panose="05000000000000000000" pitchFamily="2" charset="2"/>
              <a:buChar char="•"/>
            </a:pPr>
            <a:r>
              <a:rPr lang="en-GB" dirty="0"/>
              <a:t>Programming part: Implement/use ML algos, analysis of results</a:t>
            </a:r>
            <a:endParaRPr lang="en-IN" dirty="0">
              <a:ea typeface="Calibri" panose="020F0502020204030204"/>
              <a:cs typeface="Calibri" panose="020F0502020204030204"/>
            </a:endParaRPr>
          </a:p>
          <a:p>
            <a:pPr lvl="1">
              <a:buFont typeface="Arial" panose="05000000000000000000" pitchFamily="2" charset="2"/>
              <a:buChar char="•"/>
            </a:pPr>
            <a:r>
              <a:rPr lang="en-IN" dirty="0"/>
              <a:t>Must submit a power point presentation &amp; a paper format report</a:t>
            </a:r>
            <a:endParaRPr lang="en-IN" dirty="0">
              <a:ea typeface="Calibri"/>
              <a:cs typeface="Calibri"/>
            </a:endParaRPr>
          </a:p>
          <a:p>
            <a:pPr lvl="1">
              <a:buFont typeface="Arial" panose="05000000000000000000" pitchFamily="2" charset="2"/>
              <a:buChar char="•"/>
            </a:pPr>
            <a:r>
              <a:rPr lang="en-IN" dirty="0"/>
              <a:t>Questions will be asked during the presentation </a:t>
            </a:r>
            <a:endParaRPr lang="en-IN" dirty="0">
              <a:ea typeface="Calibri" panose="020F0502020204030204"/>
              <a:cs typeface="Calibri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IN" dirty="0"/>
              <a:t>Mid &amp; Final exams worth 60%</a:t>
            </a:r>
            <a:endParaRPr lang="en-IN" dirty="0">
              <a:ea typeface="Calibri" panose="020F0502020204030204"/>
              <a:cs typeface="Calibri"/>
            </a:endParaRPr>
          </a:p>
          <a:p>
            <a:pPr lvl="1">
              <a:buFont typeface="Arial" panose="05000000000000000000" pitchFamily="2" charset="2"/>
              <a:buChar char="•"/>
            </a:pPr>
            <a:r>
              <a:rPr lang="en-IN" dirty="0"/>
              <a:t>Mid &amp; Final will be worth 30% each (total 60%)</a:t>
            </a:r>
            <a:endParaRPr lang="en-IN" dirty="0">
              <a:ea typeface="Calibri" panose="020F0502020204030204"/>
              <a:cs typeface="Calibri"/>
            </a:endParaRPr>
          </a:p>
          <a:p>
            <a:pPr lvl="1">
              <a:buFont typeface="Arial" panose="05000000000000000000" pitchFamily="2" charset="2"/>
              <a:buChar char="•"/>
            </a:pPr>
            <a:r>
              <a:rPr lang="en-IN" dirty="0"/>
              <a:t>They will have 3/4 questions (no choice – must answer all)</a:t>
            </a:r>
            <a:endParaRPr lang="en-IN" dirty="0">
              <a:ea typeface="Calibri"/>
              <a:cs typeface="Calibri"/>
            </a:endParaRPr>
          </a:p>
          <a:p>
            <a:pPr lvl="1">
              <a:buFont typeface="Arial" panose="05000000000000000000" pitchFamily="2" charset="2"/>
              <a:buChar char="•"/>
            </a:pPr>
            <a:r>
              <a:rPr lang="en-IN" dirty="0"/>
              <a:t>Questions will be part theory part practical concepts </a:t>
            </a:r>
            <a:endParaRPr lang="en-IN" dirty="0">
              <a:ea typeface="Calibri"/>
              <a:cs typeface="Calibri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IN" dirty="0"/>
              <a:t>Attendance – 5%</a:t>
            </a:r>
            <a:endParaRPr lang="en-IN" dirty="0">
              <a:ea typeface="Calibri"/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687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643"/>
    </mc:Choice>
    <mc:Fallback xmlns="">
      <p:transition spd="slow" advTm="12564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4" y="170531"/>
            <a:ext cx="11737560" cy="821286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accent2">
                    <a:lumMod val="75000"/>
                  </a:schemeClr>
                </a:solidFill>
              </a:rPr>
              <a:t>Reference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B3B81-B223-4378-BF5F-DC75BC9A7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64" y="1131385"/>
            <a:ext cx="11737560" cy="555608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5000000000000000000" pitchFamily="2" charset="2"/>
              <a:buChar char="•"/>
            </a:pPr>
            <a:r>
              <a:rPr lang="en-US" dirty="0"/>
              <a:t>Course slides and notebooks will be sourced from previous iterations of this course and relevant slides/materials from me/other researchers/blogs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GB"/>
              <a:t>No fixed textbook</a:t>
            </a:r>
            <a:endParaRPr lang="en-GB">
              <a:ea typeface="Calibri" panose="020F0502020204030204"/>
              <a:cs typeface="Calibri" panose="020F0502020204030204"/>
            </a:endParaRPr>
          </a:p>
          <a:p>
            <a:pPr lvl="1">
              <a:buFont typeface="Arial" panose="05000000000000000000" pitchFamily="2" charset="2"/>
              <a:buChar char="•"/>
            </a:pPr>
            <a:r>
              <a:rPr lang="en-US"/>
              <a:t>But you can read these free books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lvl="2">
              <a:buFont typeface="Arial" panose="05000000000000000000" pitchFamily="2" charset="2"/>
              <a:buChar char="•"/>
            </a:pPr>
            <a:r>
              <a:rPr lang="en-US" dirty="0">
                <a:ea typeface="+mn-lt"/>
                <a:cs typeface="+mn-lt"/>
                <a:hlinkClick r:id="rId3"/>
              </a:rPr>
              <a:t>https://github.com/udlbook/udlbook/releases/download/v5.0.3/UnderstandingDeepLearning_02_09_26_C.pdf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pPr lvl="2">
              <a:buFont typeface="Arial" panose="05000000000000000000" pitchFamily="2" charset="2"/>
              <a:buChar char="•"/>
            </a:pPr>
            <a:r>
              <a:rPr lang="en-US" dirty="0">
                <a:ea typeface="+mn-lt"/>
                <a:cs typeface="+mn-lt"/>
                <a:hlinkClick r:id="rId4"/>
              </a:rPr>
              <a:t>probml.github.io/pml-book/book1.html</a:t>
            </a:r>
            <a:r>
              <a:rPr lang="en-US" dirty="0">
                <a:ea typeface="+mn-lt"/>
                <a:cs typeface="+mn-lt"/>
              </a:rPr>
              <a:t> </a:t>
            </a:r>
            <a:endParaRPr lang="en-US"/>
          </a:p>
          <a:p>
            <a:pPr lvl="2">
              <a:buFont typeface="Arial" panose="05000000000000000000" pitchFamily="2" charset="2"/>
              <a:buChar char="•"/>
            </a:pPr>
            <a:r>
              <a:rPr lang="en-US" dirty="0">
                <a:ea typeface="+mn-lt"/>
                <a:cs typeface="+mn-lt"/>
                <a:hlinkClick r:id="rId5"/>
              </a:rPr>
              <a:t>probml.github.io/pml-book/book2.html</a:t>
            </a:r>
            <a:r>
              <a:rPr lang="en-US" dirty="0">
                <a:ea typeface="+mn-lt"/>
                <a:cs typeface="+mn-lt"/>
              </a:rPr>
              <a:t> 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GB"/>
              <a:t>Different books vary in terms of </a:t>
            </a:r>
            <a:endParaRPr lang="en-GB">
              <a:ea typeface="Calibri" panose="020F0502020204030204"/>
              <a:cs typeface="Calibri" panose="020F0502020204030204"/>
            </a:endParaRPr>
          </a:p>
          <a:p>
            <a:pPr lvl="1">
              <a:buFont typeface="Arial" panose="05000000000000000000" pitchFamily="2" charset="2"/>
              <a:buChar char="•"/>
            </a:pPr>
            <a:r>
              <a:rPr lang="en-GB"/>
              <a:t>Set of topics covered </a:t>
            </a:r>
            <a:endParaRPr lang="en-GB">
              <a:ea typeface="Calibri" panose="020F0502020204030204"/>
              <a:cs typeface="Calibri" panose="020F0502020204030204"/>
            </a:endParaRPr>
          </a:p>
          <a:p>
            <a:pPr lvl="1">
              <a:buFont typeface="Arial" panose="05000000000000000000" pitchFamily="2" charset="2"/>
              <a:buChar char="•"/>
            </a:pPr>
            <a:r>
              <a:rPr lang="en-GB"/>
              <a:t>Flavour</a:t>
            </a:r>
            <a:r>
              <a:rPr lang="en-GB" dirty="0"/>
              <a:t> (e.g., classical statistics, deep learning, probabilistic/Bayesian, theory)</a:t>
            </a:r>
            <a:endParaRPr lang="en-GB" dirty="0">
              <a:ea typeface="Calibri"/>
              <a:cs typeface="Calibri"/>
            </a:endParaRPr>
          </a:p>
          <a:p>
            <a:pPr lvl="1">
              <a:buFont typeface="Arial" panose="05000000000000000000" pitchFamily="2" charset="2"/>
              <a:buChar char="•"/>
            </a:pPr>
            <a:r>
              <a:rPr lang="en-GB"/>
              <a:t>Terminology and notation (beware of this especially)</a:t>
            </a:r>
            <a:endParaRPr lang="en-GB">
              <a:ea typeface="Calibri" panose="020F0502020204030204"/>
              <a:cs typeface="Calibri" panose="020F0502020204030204"/>
            </a:endParaRPr>
          </a:p>
          <a:p>
            <a:pPr lvl="1">
              <a:buFont typeface="Arial" panose="05000000000000000000" pitchFamily="2" charset="2"/>
              <a:buChar char="•"/>
            </a:pPr>
            <a:endParaRPr lang="en-GB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I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1988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133"/>
    </mc:Choice>
    <mc:Fallback xmlns="">
      <p:transition spd="slow" advTm="9613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7946-FC7F-477C-9867-0ED704A8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4" y="170531"/>
            <a:ext cx="11737560" cy="821286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accent2">
                    <a:lumMod val="75000"/>
                  </a:schemeClr>
                </a:solidFill>
              </a:rPr>
              <a:t>Course Goals..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B3B81-B223-4378-BF5F-DC75BC9A7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64" y="1131385"/>
            <a:ext cx="11737560" cy="555608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5000000000000000000" pitchFamily="2" charset="2"/>
              <a:buChar char="•"/>
            </a:pPr>
            <a:r>
              <a:rPr lang="en-IN" dirty="0"/>
              <a:t>Learning the basic principles (computer science + statistics + maths + </a:t>
            </a:r>
            <a:r>
              <a:rPr lang="en-IN"/>
              <a:t>tricks) </a:t>
            </a:r>
            <a:r>
              <a:rPr lang="en-IN" dirty="0"/>
              <a:t>used in Machine Learning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IN">
                <a:cs typeface="Calibri"/>
              </a:rPr>
              <a:t>Make sense of the applied math models used in machine learning</a:t>
            </a:r>
            <a:endParaRPr lang="en-IN">
              <a:ea typeface="Calibri" panose="020F0502020204030204"/>
              <a:cs typeface="Calibri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IN">
                <a:cs typeface="Calibri"/>
              </a:rPr>
              <a:t>Apply ML models using hardware/data constraints</a:t>
            </a:r>
            <a:endParaRPr lang="en-IN">
              <a:ea typeface="Calibri" panose="020F0502020204030204"/>
              <a:cs typeface="Calibri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IN"/>
              <a:t>Focus on developing the ability to </a:t>
            </a:r>
            <a:endParaRPr lang="en-IN">
              <a:ea typeface="Calibri" panose="020F0502020204030204"/>
              <a:cs typeface="Calibri"/>
            </a:endParaRPr>
          </a:p>
          <a:p>
            <a:pPr lvl="1">
              <a:buFont typeface="Arial" panose="05000000000000000000" pitchFamily="2" charset="2"/>
              <a:buChar char="•"/>
            </a:pPr>
            <a:r>
              <a:rPr lang="en-IN"/>
              <a:t>Work on ML projects at jobs/research</a:t>
            </a:r>
            <a:endParaRPr lang="en-IN">
              <a:ea typeface="Calibri"/>
              <a:cs typeface="Calibri"/>
            </a:endParaRPr>
          </a:p>
          <a:p>
            <a:pPr lvl="1">
              <a:buFont typeface="Arial" panose="05000000000000000000" pitchFamily="2" charset="2"/>
              <a:buChar char="•"/>
            </a:pPr>
            <a:r>
              <a:rPr lang="en-IN"/>
              <a:t>Being able to find computational complexities of different ML methods</a:t>
            </a:r>
            <a:endParaRPr lang="en-IN">
              <a:ea typeface="Calibri" panose="020F0502020204030204"/>
              <a:cs typeface="Calibri"/>
            </a:endParaRPr>
          </a:p>
          <a:p>
            <a:pPr lvl="1">
              <a:buFont typeface="Arial" panose="05000000000000000000" pitchFamily="2" charset="2"/>
              <a:buChar char="•"/>
            </a:pPr>
            <a:r>
              <a:rPr lang="en-IN"/>
              <a:t>Evaluate alternate solutions</a:t>
            </a:r>
            <a:endParaRPr lang="en-IN">
              <a:ea typeface="Calibri" panose="020F0502020204030204"/>
              <a:cs typeface="Calibri" panose="020F0502020204030204"/>
            </a:endParaRPr>
          </a:p>
          <a:p>
            <a:pPr lvl="1">
              <a:buFont typeface="Arial" panose="05000000000000000000" pitchFamily="2" charset="2"/>
              <a:buChar char="•"/>
            </a:pPr>
            <a:r>
              <a:rPr lang="en-IN"/>
              <a:t>Being able to understand the training complexities and the tweaks </a:t>
            </a:r>
            <a:endParaRPr lang="en-IN">
              <a:ea typeface="Calibri" panose="020F0502020204030204"/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6090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390"/>
    </mc:Choice>
    <mc:Fallback xmlns="">
      <p:transition spd="slow" advTm="12039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E6AB1-4C97-7619-E4BC-826B3424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06E6A-AD1B-F0A0-FB93-85B3A1284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4" y="170531"/>
            <a:ext cx="11737560" cy="82128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Course </a:t>
            </a:r>
            <a:r>
              <a:rPr lang="en-IN">
                <a:solidFill>
                  <a:schemeClr val="accent2">
                    <a:lumMod val="75000"/>
                  </a:schemeClr>
                </a:solidFill>
              </a:rPr>
              <a:t>Outlines</a:t>
            </a:r>
            <a:endParaRPr lang="en-IN" dirty="0" err="1">
              <a:solidFill>
                <a:schemeClr val="accent2">
                  <a:lumMod val="75000"/>
                </a:schemeClr>
              </a:solidFill>
              <a:ea typeface="Calibri Light"/>
              <a:cs typeface="Calibri Light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78165D6-6807-4721-4674-F2B0E4EAB1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63927"/>
              </p:ext>
            </p:extLst>
          </p:nvPr>
        </p:nvGraphicFramePr>
        <p:xfrm>
          <a:off x="685800" y="1119188"/>
          <a:ext cx="11320459" cy="537310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18905">
                  <a:extLst>
                    <a:ext uri="{9D8B030D-6E8A-4147-A177-3AD203B41FA5}">
                      <a16:colId xmlns:a16="http://schemas.microsoft.com/office/drawing/2014/main" val="2522771380"/>
                    </a:ext>
                  </a:extLst>
                </a:gridCol>
                <a:gridCol w="2723432">
                  <a:extLst>
                    <a:ext uri="{9D8B030D-6E8A-4147-A177-3AD203B41FA5}">
                      <a16:colId xmlns:a16="http://schemas.microsoft.com/office/drawing/2014/main" val="1918674325"/>
                    </a:ext>
                  </a:extLst>
                </a:gridCol>
                <a:gridCol w="6078122">
                  <a:extLst>
                    <a:ext uri="{9D8B030D-6E8A-4147-A177-3AD203B41FA5}">
                      <a16:colId xmlns:a16="http://schemas.microsoft.com/office/drawing/2014/main" val="2271310406"/>
                    </a:ext>
                  </a:extLst>
                </a:gridCol>
              </a:tblGrid>
              <a:tr h="671638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/>
                          <a:cs typeface="Arial"/>
                        </a:rPr>
                        <a:t>Module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40C2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0C2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/>
                          <a:cs typeface="Arial"/>
                        </a:rPr>
                        <a:t>Classes </a:t>
                      </a: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0DC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/>
                          <a:cs typeface="Arial"/>
                        </a:rPr>
                        <a:t>Main Topics </a:t>
                      </a:r>
                    </a:p>
                  </a:txBody>
                  <a:tcPr marL="66675" marR="66675">
                    <a:lnL>
                      <a:noFill/>
                    </a:lnL>
                    <a:lnR w="9525" cap="flat" cmpd="sng" algn="ctr">
                      <a:solidFill>
                        <a:srgbClr val="50DC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DC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915214"/>
                  </a:ext>
                </a:extLst>
              </a:tr>
              <a:tr h="671638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/>
                          <a:cs typeface="Arial"/>
                        </a:rPr>
                        <a:t>Foundations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4/5 Lectures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What is ML, Linear Algebra, data set, loss, evaluation, nearest neighbors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164756"/>
                  </a:ext>
                </a:extLst>
              </a:tr>
              <a:tr h="671638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/>
                          <a:cs typeface="Arial"/>
                        </a:rPr>
                        <a:t>Linear Models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4/5 Lectures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Linear regression, logistic regression, SVM, Perceptron, Neural 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Networks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960517"/>
                  </a:ext>
                </a:extLst>
              </a:tr>
              <a:tr h="671638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/>
                          <a:cs typeface="Arial"/>
                        </a:rPr>
                        <a:t>Statistics &amp; Metrics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>
                          <a:latin typeface="Arial"/>
                          <a:cs typeface="Arial"/>
                        </a:rPr>
                        <a:t>3 Lectures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Bias-variance, Metrics, Model Selection, Regularization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947955"/>
                  </a:ext>
                </a:extLst>
              </a:tr>
              <a:tr h="671638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/>
                          <a:cs typeface="Arial"/>
                        </a:rPr>
                        <a:t>Trees &amp; Ensembles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4/5 Lectures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Decision trees, random forest, gradient boosting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390459"/>
                  </a:ext>
                </a:extLst>
              </a:tr>
              <a:tr h="671638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/>
                          <a:cs typeface="Arial"/>
                        </a:rPr>
                        <a:t>Unsupervised Learning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3/4 Lectures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Clustering, PCA, SVD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627625"/>
                  </a:ext>
                </a:extLst>
              </a:tr>
              <a:tr h="671638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/>
                          <a:cs typeface="Arial"/>
                        </a:rPr>
                        <a:t>Reinforcement Learning &amp; Wrap-up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1 Lecture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RL basics, course synthesis 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122691"/>
                  </a:ext>
                </a:extLst>
              </a:tr>
              <a:tr h="671637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1425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effectLst/>
                          <a:latin typeface="Arial"/>
                          <a:cs typeface="Arial"/>
                        </a:rPr>
                        <a:t>Exams</a:t>
                      </a:r>
                      <a:endParaRPr lang="en-US" sz="1400" b="1" i="0" dirty="0">
                        <a:solidFill>
                          <a:srgbClr val="FFFFFF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66674" marR="66674"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lnSpc>
                          <a:spcPts val="14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2/3 Classes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66674" marR="66674"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1425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</a:rPr>
                        <a:t>Quiz/Mid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66674" marR="66674"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C1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81412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059612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390"/>
    </mc:Choice>
    <mc:Fallback xmlns="">
      <p:transition spd="slow" advTm="12039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8D939-74BB-2B37-B91A-CBB78653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cs typeface="Calibri Light"/>
              </a:rPr>
              <a:t>What is Machine Learning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72C0C-070B-049B-880E-D83EB275F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We are living in an age where data comes in abundance, we want to turn this data into knowledge</a:t>
            </a:r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Machine Learning is a field of computer science/statistics/applied mathematics</a:t>
            </a:r>
            <a:endParaRPr lang="en-US" dirty="0"/>
          </a:p>
          <a:p>
            <a:pPr lvl="1"/>
            <a:r>
              <a:rPr lang="en-US" dirty="0">
                <a:cs typeface="Calibri"/>
              </a:rPr>
              <a:t>It tries to make sense of data</a:t>
            </a:r>
            <a:endParaRPr lang="en-US" dirty="0">
              <a:ea typeface="Calibri" panose="020F0502020204030204"/>
              <a:cs typeface="Calibri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Machine learning is an area of artificial intelligence that fits mathematical models to observed data</a:t>
            </a:r>
          </a:p>
          <a:p>
            <a:r>
              <a:rPr lang="en-US" dirty="0">
                <a:cs typeface="Calibri"/>
              </a:rPr>
              <a:t>It uses tools from mathematical disciplines such as probability, statistics, and optimization theory to extract patterns from data</a:t>
            </a:r>
            <a:endParaRPr lang="en-US" dirty="0"/>
          </a:p>
          <a:p>
            <a:r>
              <a:rPr lang="en-US" dirty="0">
                <a:cs typeface="Calibri"/>
              </a:rPr>
              <a:t>The main idea behind machine learning is learning from examples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We prepare a dataset with examples, and a machine learning system “learns” from this dataset</a:t>
            </a:r>
            <a:endParaRPr lang="en-US" dirty="0">
              <a:ea typeface="Calibri" panose="020F0502020204030204"/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In other words, we give the system the input and the desired output, and the system tries to figure out how to do the conversion automatically, without asking a human</a:t>
            </a:r>
            <a:endParaRPr lang="en-US" dirty="0">
              <a:ea typeface="Calibri" panose="020F0502020204030204"/>
              <a:cs typeface="Calibri"/>
            </a:endParaRPr>
          </a:p>
          <a:p>
            <a:pPr marL="0" indent="0">
              <a:buNone/>
            </a:pPr>
            <a:endParaRPr lang="en-US">
              <a:solidFill>
                <a:srgbClr val="00B050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4378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5545C-7934-4699-988E-F39CE72D8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Types of machine learning systems</a:t>
            </a:r>
          </a:p>
        </p:txBody>
      </p:sp>
      <p:pic>
        <p:nvPicPr>
          <p:cNvPr id="5" name="Picture 4" descr="A diagram of a learning process&#10;&#10;Description automatically generated">
            <a:extLst>
              <a:ext uri="{FF2B5EF4-FFF2-40B4-BE49-F238E27FC236}">
                <a16:creationId xmlns:a16="http://schemas.microsoft.com/office/drawing/2014/main" id="{2B367C68-B580-D8E5-B0FA-31332F4E2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704" y="1011803"/>
            <a:ext cx="7470978" cy="483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03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A3584-F646-4C3F-ABD0-E98110CA3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0E35E-D597-452C-8DB3-3BD1596E4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850879"/>
            <a:ext cx="11320465" cy="227006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In </a:t>
            </a:r>
            <a:r>
              <a:rPr lang="en-US" i="1"/>
              <a:t>supervised learning</a:t>
            </a:r>
            <a:r>
              <a:rPr lang="en-US"/>
              <a:t>, the training data we feed to the algorithm includes the desired solutions, called </a:t>
            </a:r>
            <a:r>
              <a:rPr lang="en-US" i="1"/>
              <a:t>labels</a:t>
            </a:r>
            <a:r>
              <a:rPr lang="en-US"/>
              <a:t> </a:t>
            </a:r>
          </a:p>
          <a:p>
            <a:r>
              <a:rPr lang="en-US"/>
              <a:t>The inputs (columns) are called the features covariates, or predictors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This is often a fixed-dimensional vector of numbers, such as the height and weight of a person, or the pixels in an image</a:t>
            </a:r>
            <a:br>
              <a:rPr lang="en-US"/>
            </a:br>
            <a:endParaRPr lang="en-US">
              <a:ea typeface="Calibri"/>
              <a:cs typeface="Calibri"/>
            </a:endParaRPr>
          </a:p>
        </p:txBody>
      </p:sp>
      <p:pic>
        <p:nvPicPr>
          <p:cNvPr id="5" name="Picture 4" descr="A close-up of a purple flower&#10;&#10;Description automatically generated">
            <a:extLst>
              <a:ext uri="{FF2B5EF4-FFF2-40B4-BE49-F238E27FC236}">
                <a16:creationId xmlns:a16="http://schemas.microsoft.com/office/drawing/2014/main" id="{BBD115BF-3337-7BD2-4957-CD30F0A1D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789" y="4211132"/>
            <a:ext cx="7858260" cy="2267487"/>
          </a:xfrm>
          <a:prstGeom prst="rect">
            <a:avLst/>
          </a:prstGeom>
        </p:spPr>
      </p:pic>
      <p:pic>
        <p:nvPicPr>
          <p:cNvPr id="6" name="Picture 5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FDFEC3CE-ECB1-E8AD-E351-3B7C4B306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403" y="3145464"/>
            <a:ext cx="4114800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326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A3584-F646-4C3F-ABD0-E98110CA3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Supervised learning -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0E35E-D597-452C-8DB3-3BD1596E4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850879"/>
            <a:ext cx="5630045" cy="55392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In classification problems, the output space is a set of C unordered and mutually exclusive labels known as classes, Y = {1, 2, . . . , C}. </a:t>
            </a:r>
          </a:p>
          <a:p>
            <a:r>
              <a:rPr lang="en-US">
                <a:ea typeface="+mn-lt"/>
                <a:cs typeface="+mn-lt"/>
              </a:rPr>
              <a:t>The problem of predicting the class label given an input is also called pattern recognition. (If there are just two classes, often denoted by y ∈ {0, 1} or y ∈ {−1, +1}, it is called binary classification.</a:t>
            </a:r>
            <a:endParaRPr lang="en-US">
              <a:cs typeface="Calibri"/>
            </a:endParaRPr>
          </a:p>
        </p:txBody>
      </p:sp>
      <p:pic>
        <p:nvPicPr>
          <p:cNvPr id="4" name="Picture 3" descr="A cat sitting on a tree branch&#10;&#10;Description automatically generated">
            <a:extLst>
              <a:ext uri="{FF2B5EF4-FFF2-40B4-BE49-F238E27FC236}">
                <a16:creationId xmlns:a16="http://schemas.microsoft.com/office/drawing/2014/main" id="{5FDB25BA-105B-7CB3-AFD4-A2E931425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494" y="1612490"/>
            <a:ext cx="5635728" cy="391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821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69F8D-183B-E59F-3712-B20A7F140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cs typeface="Calibri Light"/>
              </a:rPr>
              <a:t>Supervised Learning – Feature Modeling</a:t>
            </a:r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AB2DB9A-8CEB-C943-9AD2-F8D4880B6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138" y="1576388"/>
            <a:ext cx="7705725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730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760EE-C1A7-457D-A2DE-5E1E92BE3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Supervised learning – Regression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85872F-30C5-5ED0-A91B-A4F913C868A9}"/>
              </a:ext>
            </a:extLst>
          </p:cNvPr>
          <p:cNvSpPr txBox="1"/>
          <p:nvPr/>
        </p:nvSpPr>
        <p:spPr>
          <a:xfrm>
            <a:off x="830510" y="1241571"/>
            <a:ext cx="10167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70C0"/>
                </a:solidFill>
              </a:rPr>
              <a:t>Suppose we want to predict a real-valued quantity y </a:t>
            </a:r>
            <a:r>
              <a:rPr lang="az-Cyrl-AZ">
                <a:solidFill>
                  <a:srgbClr val="0070C0"/>
                </a:solidFill>
              </a:rPr>
              <a:t>Є</a:t>
            </a:r>
            <a:r>
              <a:rPr lang="en-US">
                <a:solidFill>
                  <a:srgbClr val="0070C0"/>
                </a:solidFill>
              </a:rPr>
              <a:t> R instead of a class label y </a:t>
            </a:r>
            <a:r>
              <a:rPr lang="az-Cyrl-AZ">
                <a:solidFill>
                  <a:srgbClr val="0070C0"/>
                </a:solidFill>
              </a:rPr>
              <a:t>Є </a:t>
            </a:r>
            <a:r>
              <a:rPr lang="en-US">
                <a:solidFill>
                  <a:srgbClr val="0070C0"/>
                </a:solidFill>
              </a:rPr>
              <a:t> {1, … … …,C} ; this is known as regression. </a:t>
            </a:r>
          </a:p>
        </p:txBody>
      </p:sp>
      <p:pic>
        <p:nvPicPr>
          <p:cNvPr id="7" name="Picture 6" descr="A comparison of graphs with blue dots and red lines&#10;&#10;Description automatically generated">
            <a:extLst>
              <a:ext uri="{FF2B5EF4-FFF2-40B4-BE49-F238E27FC236}">
                <a16:creationId xmlns:a16="http://schemas.microsoft.com/office/drawing/2014/main" id="{F85069E7-E41C-84F6-8C7F-1058C1D9F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022" y="2482732"/>
            <a:ext cx="10159180" cy="339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07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B3F58-EDAC-40A5-97AF-8AD753840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Supervised learning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01D6D-91B3-4D1C-9725-2D75ECA76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Here are some of the supervised learning algorithms</a:t>
            </a:r>
          </a:p>
          <a:p>
            <a:pPr lvl="1"/>
            <a:r>
              <a:rPr lang="en-US"/>
              <a:t>Linear Regression</a:t>
            </a:r>
          </a:p>
          <a:p>
            <a:pPr lvl="1"/>
            <a:r>
              <a:rPr lang="en-US"/>
              <a:t>Logistic Regression</a:t>
            </a:r>
          </a:p>
          <a:p>
            <a:pPr lvl="1"/>
            <a:r>
              <a:rPr lang="en-US"/>
              <a:t>Support Vector Machines (SVMs)</a:t>
            </a:r>
          </a:p>
          <a:p>
            <a:pPr lvl="1"/>
            <a:r>
              <a:rPr lang="en-US"/>
              <a:t>Decision Trees and Random Forests</a:t>
            </a:r>
          </a:p>
          <a:p>
            <a:pPr lvl="1"/>
            <a:r>
              <a:rPr lang="en-US"/>
              <a:t>Neural networks 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063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80FE4-C65B-F410-ADF3-B53CB6207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cs typeface="Calibri Light"/>
              </a:rPr>
              <a:t>Unsupervised Learning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59330-B5A9-1D63-FFFD-9FB7A0E12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accent5">
                    <a:lumMod val="76000"/>
                  </a:schemeClr>
                </a:solidFill>
                <a:ea typeface="+mn-lt"/>
                <a:cs typeface="+mn-lt"/>
              </a:rPr>
              <a:t>In supervised learning, we assume that each input example x in the training set has an associated set of output targets y</a:t>
            </a:r>
            <a:r>
              <a:rPr lang="en-US" dirty="0">
                <a:ea typeface="+mn-lt"/>
                <a:cs typeface="+mn-lt"/>
              </a:rPr>
              <a:t> </a:t>
            </a:r>
            <a:endParaRPr lang="en-US" dirty="0"/>
          </a:p>
          <a:p>
            <a:pPr lvl="1"/>
            <a:r>
              <a:rPr lang="en-US" dirty="0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Our goal is to learn the input-output mapping. </a:t>
            </a:r>
            <a:endParaRPr lang="en-US">
              <a:solidFill>
                <a:schemeClr val="accent6">
                  <a:lumMod val="76000"/>
                </a:schemeClr>
              </a:solidFill>
              <a:ea typeface="Calibri"/>
              <a:cs typeface="Calibri"/>
            </a:endParaRPr>
          </a:p>
          <a:p>
            <a:r>
              <a:rPr lang="en-US" dirty="0">
                <a:ea typeface="+mn-lt"/>
                <a:cs typeface="+mn-lt"/>
              </a:rPr>
              <a:t>A more interesting task is to try to “make sense of” data</a:t>
            </a:r>
          </a:p>
          <a:p>
            <a:pPr lvl="1"/>
            <a:r>
              <a:rPr lang="en-US" dirty="0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As opposed to just learning a mapping.</a:t>
            </a:r>
            <a:endParaRPr lang="en-US">
              <a:solidFill>
                <a:schemeClr val="accent6">
                  <a:lumMod val="76000"/>
                </a:schemeClr>
              </a:solidFill>
              <a:ea typeface="Calibri"/>
              <a:cs typeface="Calibri"/>
            </a:endParaRPr>
          </a:p>
          <a:p>
            <a:r>
              <a:rPr lang="en-US" dirty="0">
                <a:ea typeface="+mn-lt"/>
                <a:cs typeface="+mn-lt"/>
              </a:rPr>
              <a:t>That is, we just get observed “inputs” D = {</a:t>
            </a:r>
            <a:r>
              <a:rPr lang="en-US" i="1" err="1">
                <a:ea typeface="+mn-lt"/>
                <a:cs typeface="+mn-lt"/>
              </a:rPr>
              <a:t>x</a:t>
            </a:r>
            <a:r>
              <a:rPr lang="en-US" i="1" baseline="-25000" err="1">
                <a:ea typeface="+mn-lt"/>
                <a:cs typeface="+mn-lt"/>
              </a:rPr>
              <a:t>n</a:t>
            </a:r>
            <a:r>
              <a:rPr lang="en-US" dirty="0">
                <a:ea typeface="+mn-lt"/>
                <a:cs typeface="+mn-lt"/>
              </a:rPr>
              <a:t> : n = 1 : N} without any corresponding “outputs” </a:t>
            </a:r>
            <a:r>
              <a:rPr lang="en-US" i="1" err="1">
                <a:ea typeface="+mn-lt"/>
                <a:cs typeface="+mn-lt"/>
              </a:rPr>
              <a:t>y</a:t>
            </a:r>
            <a:r>
              <a:rPr lang="en-US" i="1" baseline="-25000" err="1">
                <a:ea typeface="+mn-lt"/>
                <a:cs typeface="+mn-lt"/>
              </a:rPr>
              <a:t>n</a:t>
            </a:r>
            <a:r>
              <a:rPr lang="en-US" dirty="0">
                <a:ea typeface="+mn-lt"/>
                <a:cs typeface="+mn-lt"/>
              </a:rPr>
              <a:t>. 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0818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97CDC-99C5-416E-A710-3D050CE3B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Unsupervised learning -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B58D5-FE6A-499F-A7C5-64795437F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19188"/>
            <a:ext cx="11320465" cy="113381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ea typeface="+mn-lt"/>
                <a:cs typeface="+mn-lt"/>
              </a:rPr>
              <a:t>A simple example of unsupervised learning is the problem of finding clusters in data. The goal is to partition the input into regions that contain “similar” points.</a:t>
            </a:r>
            <a:endParaRPr lang="en-US"/>
          </a:p>
        </p:txBody>
      </p:sp>
      <p:pic>
        <p:nvPicPr>
          <p:cNvPr id="5" name="Picture 4" descr="A comparison of a graph&#10;&#10;Description automatically generated">
            <a:extLst>
              <a:ext uri="{FF2B5EF4-FFF2-40B4-BE49-F238E27FC236}">
                <a16:creationId xmlns:a16="http://schemas.microsoft.com/office/drawing/2014/main" id="{1E9888DE-459F-60ED-9DEC-A6F14F762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6" y="2124309"/>
            <a:ext cx="7019925" cy="20669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A499C4-8527-EB85-7481-47C88D5F8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925" y="4194533"/>
            <a:ext cx="729615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419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55976-CEFC-4B25-9E3F-43FA86F3E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Semi-supervised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54945-F98B-4C76-8165-80368D004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Some algorithms can deal with partially labeled training data, usually a lot of unlabeled data and a little bit of labeled data</a:t>
            </a:r>
          </a:p>
          <a:p>
            <a:pPr lvl="1"/>
            <a:r>
              <a:rPr lang="en-US" dirty="0">
                <a:solidFill>
                  <a:schemeClr val="accent6">
                    <a:lumMod val="76000"/>
                  </a:schemeClr>
                </a:solidFill>
              </a:rPr>
              <a:t>Enter the realm of </a:t>
            </a:r>
            <a:r>
              <a:rPr lang="en-US" i="1" dirty="0">
                <a:solidFill>
                  <a:schemeClr val="accent6">
                    <a:lumMod val="76000"/>
                  </a:schemeClr>
                </a:solidFill>
              </a:rPr>
              <a:t>semi supervised learning</a:t>
            </a:r>
            <a:endParaRPr lang="en-US" i="1">
              <a:solidFill>
                <a:schemeClr val="accent6">
                  <a:lumMod val="76000"/>
                </a:schemeClr>
              </a:solidFill>
              <a:ea typeface="Calibri"/>
              <a:cs typeface="Calibri"/>
            </a:endParaRPr>
          </a:p>
          <a:p>
            <a:pPr lvl="1"/>
            <a:r>
              <a:rPr lang="en-US" dirty="0"/>
              <a:t>For example, photo sharing service</a:t>
            </a:r>
            <a:endParaRPr lang="en-US">
              <a:ea typeface="Calibri"/>
              <a:cs typeface="Calibri"/>
            </a:endParaRPr>
          </a:p>
          <a:p>
            <a:r>
              <a:rPr lang="en-US" dirty="0"/>
              <a:t>Once we upload our family photos to the service, it automatically recognizes that the same person A shows up in photos 1, 5, and 11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 dirty="0"/>
              <a:t>While another person B shows up in photos 2, 5, and 7: this is the unsupervised part of the algorithm (clustering)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 dirty="0"/>
              <a:t>Now all the system needs is for you to tell it who these people are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 dirty="0"/>
              <a:t>Just one label per person, 4 and it can name everyone in every photo, which is useful for searching photos</a:t>
            </a:r>
            <a:br>
              <a:rPr lang="en-US" dirty="0"/>
            </a:b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36680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6F5FA-A1F2-4E60-9F68-97E1CA68F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Reinforcement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C25B0-42F9-4097-B2A2-DA7FD3B66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868" y="869377"/>
            <a:ext cx="5053015" cy="533542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In addition to supervised and unsupervised learning, there is a third kind of ML known as reinforcement learning (RL). </a:t>
            </a:r>
            <a:endParaRPr lang="en-US" dirty="0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In this class of problems, the </a:t>
            </a:r>
            <a:r>
              <a:rPr lang="en-US" dirty="0">
                <a:ea typeface="+mn-lt"/>
                <a:cs typeface="+mn-lt"/>
              </a:rPr>
              <a:t>system or agent has to learn how to interact with its environment. </a:t>
            </a:r>
            <a:endParaRPr lang="en-US" dirty="0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This can be encoded by means of a policy a = π(x), which specifies which action to take in response to each possible input x (derived from the environment state). </a:t>
            </a:r>
            <a:br>
              <a:rPr lang="en-US" dirty="0"/>
            </a:br>
            <a:endParaRPr lang="en-US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744F6C-8A1C-4F03-9FF2-66AC93764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3433" y="1105027"/>
            <a:ext cx="6016590" cy="430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615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37AA2-C1EE-4292-AD0D-173A257F5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Overfitting the training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20892-843B-42A5-9468-E33940BBF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19188"/>
            <a:ext cx="11320465" cy="616306"/>
          </a:xfrm>
        </p:spPr>
        <p:txBody>
          <a:bodyPr/>
          <a:lstStyle/>
          <a:p>
            <a:r>
              <a:rPr lang="en-US"/>
              <a:t>Generalize – do not find the perfect model for the training set only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0B7EE9-A98D-416A-8B19-AE64731BF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91" y="2059756"/>
            <a:ext cx="11005255" cy="392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491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D005F-9403-41E0-9E3D-2E9268313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Underfitting the training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0326B-625E-4E38-8073-CF0DDA18A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/>
              <a:t>Underfitting </a:t>
            </a:r>
            <a:r>
              <a:rPr lang="en-US"/>
              <a:t>is the opposite of overfitting: it occurs when model is too simple to learn the underlying structure of the data</a:t>
            </a:r>
          </a:p>
          <a:p>
            <a:r>
              <a:rPr lang="en-US"/>
              <a:t>The main options to fix this problem are:</a:t>
            </a:r>
          </a:p>
          <a:p>
            <a:pPr lvl="1"/>
            <a:r>
              <a:rPr lang="en-US"/>
              <a:t>Selecting a more powerful model, with more parameters</a:t>
            </a:r>
          </a:p>
          <a:p>
            <a:pPr lvl="1"/>
            <a:r>
              <a:rPr lang="en-US"/>
              <a:t>Feeding better features to the learning algorithm (feature engineering)</a:t>
            </a:r>
          </a:p>
          <a:p>
            <a:pPr lvl="1"/>
            <a:r>
              <a:rPr lang="en-US"/>
              <a:t>Reducing the constraints on the model (e.g., reducing the regularization hyper‐</a:t>
            </a:r>
            <a:br>
              <a:rPr lang="en-US"/>
            </a:br>
            <a:r>
              <a:rPr lang="en-US"/>
              <a:t> parameter) 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99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0117-BD88-48F5-8F0D-B3A6E7AF0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354" y="155574"/>
            <a:ext cx="11325827" cy="525463"/>
          </a:xfrm>
        </p:spPr>
        <p:txBody>
          <a:bodyPr>
            <a:normAutofit fontScale="90000"/>
          </a:bodyPr>
          <a:lstStyle/>
          <a:p>
            <a:r>
              <a:rPr lang="en-US">
                <a:effectLst/>
              </a:rPr>
              <a:t>Hyperparameter Tuning and Model Selection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1EFED-0B82-4CE2-8A6B-E4DD9B1EF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Evaluating a model is simple enough: just use a test set?</a:t>
            </a:r>
          </a:p>
          <a:p>
            <a:r>
              <a:rPr lang="en-US"/>
              <a:t>How do we choose one of the two models? </a:t>
            </a:r>
          </a:p>
          <a:p>
            <a:pPr lvl="1"/>
            <a:r>
              <a:rPr lang="en-US"/>
              <a:t>Say between a linear model and a polynomial model</a:t>
            </a:r>
          </a:p>
          <a:p>
            <a:r>
              <a:rPr lang="en-US"/>
              <a:t>One option is to train both and compare how well they generalize using</a:t>
            </a:r>
            <a:br>
              <a:rPr lang="en-US"/>
            </a:br>
            <a:r>
              <a:rPr lang="en-US"/>
              <a:t>the test set</a:t>
            </a:r>
          </a:p>
          <a:p>
            <a:r>
              <a:rPr lang="en-US"/>
              <a:t>Now suppose that the linear model generalizes better, but you want to apply some regularization to avoid overfitting </a:t>
            </a:r>
          </a:p>
          <a:p>
            <a:r>
              <a:rPr lang="en-US"/>
              <a:t>The question is: how do you choose the value of the regularization hyperparameter? </a:t>
            </a:r>
          </a:p>
        </p:txBody>
      </p:sp>
    </p:spTree>
    <p:extLst>
      <p:ext uri="{BB962C8B-B14F-4D97-AF65-F5344CB8AC3E}">
        <p14:creationId xmlns:p14="http://schemas.microsoft.com/office/powerpoint/2010/main" val="2718956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7|7.9|6.4|10.4|15.5|13.2|13.1|15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1|10.1|8.2|16.7|14.5|17|13|12.6|10.1|10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|8.1|7|6|3.8|25.1|13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6|10.4|4.1|6|5|42|10.6|2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6|10.4|4.1|6|5|42|10.6|22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8F25371BF2364E9237A48B420CBFE6" ma:contentTypeVersion="14" ma:contentTypeDescription="Create a new document." ma:contentTypeScope="" ma:versionID="2a9e69bc7b9d3c4cf6a41faca233a91e">
  <xsd:schema xmlns:xsd="http://www.w3.org/2001/XMLSchema" xmlns:xs="http://www.w3.org/2001/XMLSchema" xmlns:p="http://schemas.microsoft.com/office/2006/metadata/properties" xmlns:ns3="acd04cee-d56a-427f-9d20-a2ddbaad1b8a" targetNamespace="http://schemas.microsoft.com/office/2006/metadata/properties" ma:root="true" ma:fieldsID="66afc55c35dc6a8b593a412c64b4fad1" ns3:_="">
    <xsd:import namespace="acd04cee-d56a-427f-9d20-a2ddbaad1b8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d04cee-d56a-427f-9d20-a2ddbaad1b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cd04cee-d56a-427f-9d20-a2ddbaad1b8a" xsi:nil="true"/>
  </documentManagement>
</p:properties>
</file>

<file path=customXml/itemProps1.xml><?xml version="1.0" encoding="utf-8"?>
<ds:datastoreItem xmlns:ds="http://schemas.openxmlformats.org/officeDocument/2006/customXml" ds:itemID="{F4BF3019-C07B-458E-9852-C389203841C8}">
  <ds:schemaRefs>
    <ds:schemaRef ds:uri="acd04cee-d56a-427f-9d20-a2ddbaad1b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BCF7324-0DC5-40CF-86C1-D6F83B810D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637D22-F214-4004-ABC3-D2F069AC3953}">
  <ds:schemaRefs>
    <ds:schemaRef ds:uri="acd04cee-d56a-427f-9d20-a2ddbaad1b8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CSE 445 Lecture 1</vt:lpstr>
      <vt:lpstr>Course Name &amp; Class Time</vt:lpstr>
      <vt:lpstr>Workload and Grading Policy</vt:lpstr>
      <vt:lpstr>Reference materials</vt:lpstr>
      <vt:lpstr>Course Goals..</vt:lpstr>
      <vt:lpstr>Course Outlines</vt:lpstr>
      <vt:lpstr>What is Machine Learning</vt:lpstr>
      <vt:lpstr>Types of machine learning systems</vt:lpstr>
      <vt:lpstr>Supervised learning</vt:lpstr>
      <vt:lpstr>Supervised learning - Classification</vt:lpstr>
      <vt:lpstr>Supervised Learning – Feature Modeling</vt:lpstr>
      <vt:lpstr>Supervised learning – Regression</vt:lpstr>
      <vt:lpstr>Supervised learning algorithms</vt:lpstr>
      <vt:lpstr>Unsupervised Learning</vt:lpstr>
      <vt:lpstr>Unsupervised learning - Clustering</vt:lpstr>
      <vt:lpstr>Semi-supervised learning</vt:lpstr>
      <vt:lpstr>Reinforcement learning</vt:lpstr>
      <vt:lpstr>Overfitting the training data</vt:lpstr>
      <vt:lpstr>Underfitting the training data</vt:lpstr>
      <vt:lpstr>Hyperparameter Tuning and Model Selection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327 Lecture 8</dc:title>
  <dc:creator>Mohammad Khan</dc:creator>
  <cp:revision>134</cp:revision>
  <dcterms:created xsi:type="dcterms:W3CDTF">2018-11-03T12:07:21Z</dcterms:created>
  <dcterms:modified xsi:type="dcterms:W3CDTF">2026-06-03T17:35:58Z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0x010100688F25371BF2364E9237A48B420CBFE6</vt:lpwstr>
  </property>
</Properties>
</file>