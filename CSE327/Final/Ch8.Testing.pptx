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3"/>
  </p:notesMasterIdLst>
  <p:handoutMasterIdLst>
    <p:handoutMasterId r:id="rId44"/>
  </p:handoutMasterIdLst>
  <p:sldIdLst>
    <p:sldId id="256" r:id="rId2"/>
    <p:sldId id="273" r:id="rId3"/>
    <p:sldId id="313" r:id="rId4"/>
    <p:sldId id="312" r:id="rId5"/>
    <p:sldId id="281" r:id="rId6"/>
    <p:sldId id="282" r:id="rId7"/>
    <p:sldId id="257" r:id="rId8"/>
    <p:sldId id="315" r:id="rId9"/>
    <p:sldId id="328" r:id="rId10"/>
    <p:sldId id="316" r:id="rId11"/>
    <p:sldId id="283" r:id="rId12"/>
    <p:sldId id="284" r:id="rId13"/>
    <p:sldId id="260" r:id="rId14"/>
    <p:sldId id="285" r:id="rId15"/>
    <p:sldId id="317" r:id="rId16"/>
    <p:sldId id="321" r:id="rId17"/>
    <p:sldId id="287" r:id="rId18"/>
    <p:sldId id="261" r:id="rId19"/>
    <p:sldId id="262" r:id="rId20"/>
    <p:sldId id="288" r:id="rId21"/>
    <p:sldId id="289" r:id="rId22"/>
    <p:sldId id="290" r:id="rId23"/>
    <p:sldId id="268" r:id="rId24"/>
    <p:sldId id="263" r:id="rId25"/>
    <p:sldId id="271" r:id="rId26"/>
    <p:sldId id="272" r:id="rId27"/>
    <p:sldId id="291" r:id="rId28"/>
    <p:sldId id="322" r:id="rId29"/>
    <p:sldId id="325" r:id="rId30"/>
    <p:sldId id="329" r:id="rId31"/>
    <p:sldId id="297" r:id="rId32"/>
    <p:sldId id="265" r:id="rId33"/>
    <p:sldId id="309" r:id="rId34"/>
    <p:sldId id="308" r:id="rId35"/>
    <p:sldId id="310" r:id="rId36"/>
    <p:sldId id="331" r:id="rId37"/>
    <p:sldId id="299" r:id="rId38"/>
    <p:sldId id="311" r:id="rId39"/>
    <p:sldId id="332" r:id="rId40"/>
    <p:sldId id="301" r:id="rId41"/>
    <p:sldId id="302"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1280" y="6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70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B92EF69-4580-D948-9358-37D6C6E355D3}" type="datetimeFigureOut">
              <a:rPr lang="en-US" smtClean="0"/>
              <a:pPr/>
              <a:t>12/14/2025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F3EC278-5BB2-7E49-BE38-1FF54E21785F}" type="slidenum">
              <a:rPr lang="en-US" smtClean="0"/>
              <a:pPr/>
              <a:t>‹#›</a:t>
            </a:fld>
            <a:endParaRPr lang="en-US"/>
          </a:p>
        </p:txBody>
      </p:sp>
    </p:spTree>
    <p:extLst>
      <p:ext uri="{BB962C8B-B14F-4D97-AF65-F5344CB8AC3E}">
        <p14:creationId xmlns:p14="http://schemas.microsoft.com/office/powerpoint/2010/main" val="27576991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AF659B-3BFD-7C4F-8593-16CDDE7417A4}" type="datetimeFigureOut">
              <a:rPr lang="en-US" smtClean="0"/>
              <a:pPr/>
              <a:t>12/14/2025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082A43-FD40-714E-BD60-4E5210E14341}" type="slidenum">
              <a:rPr lang="en-US" smtClean="0"/>
              <a:pPr/>
              <a:t>‹#›</a:t>
            </a:fld>
            <a:endParaRPr lang="en-US"/>
          </a:p>
        </p:txBody>
      </p:sp>
    </p:spTree>
    <p:extLst>
      <p:ext uri="{BB962C8B-B14F-4D97-AF65-F5344CB8AC3E}">
        <p14:creationId xmlns:p14="http://schemas.microsoft.com/office/powerpoint/2010/main" val="316029527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ln w="9525"/>
        </p:spPr>
        <p:txBody>
          <a:bodyPr/>
          <a:lstStyle/>
          <a:p>
            <a:endParaRPr lang="en-US"/>
          </a:p>
        </p:txBody>
      </p:sp>
      <p:sp>
        <p:nvSpPr>
          <p:cNvPr id="46083"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r>
              <a:rPr lang="en-GB"/>
              <a:t>30/10/2014</a:t>
            </a:r>
            <a:endParaRPr lang="en-US"/>
          </a:p>
        </p:txBody>
      </p:sp>
      <p:sp>
        <p:nvSpPr>
          <p:cNvPr id="6" name="Footer Placeholder 4"/>
          <p:cNvSpPr>
            <a:spLocks noGrp="1"/>
          </p:cNvSpPr>
          <p:nvPr>
            <p:ph type="ftr" sz="quarter" idx="11"/>
          </p:nvPr>
        </p:nvSpPr>
        <p:spPr/>
        <p:txBody>
          <a:bodyPr/>
          <a:lstStyle>
            <a:lvl1pPr>
              <a:defRPr/>
            </a:lvl1pPr>
          </a:lstStyle>
          <a:p>
            <a:r>
              <a:rPr lang="en-US"/>
              <a:t>Chapter 8 Software Testing</a:t>
            </a:r>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r>
              <a:rPr lang="en-GB"/>
              <a:t>30/10/2014</a:t>
            </a:r>
            <a:endParaRPr lang="en-US"/>
          </a:p>
        </p:txBody>
      </p:sp>
      <p:sp>
        <p:nvSpPr>
          <p:cNvPr id="8" name="Footer Placeholder 4"/>
          <p:cNvSpPr>
            <a:spLocks noGrp="1"/>
          </p:cNvSpPr>
          <p:nvPr>
            <p:ph type="ftr" sz="quarter" idx="11"/>
          </p:nvPr>
        </p:nvSpPr>
        <p:spPr/>
        <p:txBody>
          <a:bodyPr/>
          <a:lstStyle>
            <a:lvl1pPr>
              <a:defRPr/>
            </a:lvl1pPr>
          </a:lstStyle>
          <a:p>
            <a:r>
              <a:rPr lang="en-US"/>
              <a:t>Chapter 8 Software Testing</a:t>
            </a:r>
          </a:p>
        </p:txBody>
      </p:sp>
      <p:sp>
        <p:nvSpPr>
          <p:cNvPr id="9"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r>
              <a:rPr lang="en-GB"/>
              <a:t>30/10/2014</a:t>
            </a:r>
            <a:endParaRPr lang="en-US"/>
          </a:p>
        </p:txBody>
      </p:sp>
      <p:sp>
        <p:nvSpPr>
          <p:cNvPr id="4" name="Footer Placeholder 4"/>
          <p:cNvSpPr>
            <a:spLocks noGrp="1"/>
          </p:cNvSpPr>
          <p:nvPr>
            <p:ph type="ftr" sz="quarter" idx="11"/>
          </p:nvPr>
        </p:nvSpPr>
        <p:spPr/>
        <p:txBody>
          <a:bodyPr/>
          <a:lstStyle>
            <a:lvl1pPr>
              <a:defRPr/>
            </a:lvl1pPr>
          </a:lstStyle>
          <a:p>
            <a:r>
              <a:rPr lang="en-US"/>
              <a:t>Chapter 8 Software Testing</a:t>
            </a:r>
          </a:p>
        </p:txBody>
      </p:sp>
      <p:sp>
        <p:nvSpPr>
          <p:cNvPr id="5"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r>
              <a:rPr lang="en-GB"/>
              <a:t>30/10/2014</a:t>
            </a:r>
            <a:endParaRPr lang="en-US"/>
          </a:p>
        </p:txBody>
      </p:sp>
      <p:sp>
        <p:nvSpPr>
          <p:cNvPr id="3" name="Footer Placeholder 4"/>
          <p:cNvSpPr>
            <a:spLocks noGrp="1"/>
          </p:cNvSpPr>
          <p:nvPr>
            <p:ph type="ftr" sz="quarter" idx="11"/>
          </p:nvPr>
        </p:nvSpPr>
        <p:spPr/>
        <p:txBody>
          <a:bodyPr/>
          <a:lstStyle>
            <a:lvl1pPr>
              <a:defRPr/>
            </a:lvl1pPr>
          </a:lstStyle>
          <a:p>
            <a:r>
              <a:rPr lang="en-US"/>
              <a:t>Chapter 8 Software Testing</a:t>
            </a:r>
          </a:p>
        </p:txBody>
      </p:sp>
      <p:sp>
        <p:nvSpPr>
          <p:cNvPr id="4"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r>
              <a:rPr lang="en-GB"/>
              <a:t>30/10/2014</a:t>
            </a:r>
            <a:endParaRPr lang="en-US"/>
          </a:p>
        </p:txBody>
      </p:sp>
      <p:sp>
        <p:nvSpPr>
          <p:cNvPr id="6" name="Footer Placeholder 4"/>
          <p:cNvSpPr>
            <a:spLocks noGrp="1"/>
          </p:cNvSpPr>
          <p:nvPr>
            <p:ph type="ftr" sz="quarter" idx="11"/>
          </p:nvPr>
        </p:nvSpPr>
        <p:spPr/>
        <p:txBody>
          <a:bodyPr/>
          <a:lstStyle>
            <a:lvl1pPr>
              <a:defRPr/>
            </a:lvl1pPr>
          </a:lstStyle>
          <a:p>
            <a:r>
              <a:rPr lang="en-US"/>
              <a:t>Chapter 8 Software Testing</a:t>
            </a:r>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r>
              <a:rPr lang="en-GB"/>
              <a:t>30/10/2014</a:t>
            </a:r>
            <a:endParaRPr lang="en-US"/>
          </a:p>
        </p:txBody>
      </p:sp>
      <p:sp>
        <p:nvSpPr>
          <p:cNvPr id="6" name="Footer Placeholder 4"/>
          <p:cNvSpPr>
            <a:spLocks noGrp="1"/>
          </p:cNvSpPr>
          <p:nvPr>
            <p:ph type="ftr" sz="quarter" idx="11"/>
          </p:nvPr>
        </p:nvSpPr>
        <p:spPr/>
        <p:txBody>
          <a:bodyPr/>
          <a:lstStyle>
            <a:lvl1pPr>
              <a:defRPr/>
            </a:lvl1pPr>
          </a:lstStyle>
          <a:p>
            <a:r>
              <a:rPr lang="en-US"/>
              <a:t>Chapter 8 Software Testing</a:t>
            </a:r>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8 Software Testing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CB105B8D-1C36-1C40-961B-CAAB1DD98B28}" type="slidenum">
              <a:rPr lang="en-US" smtClean="0"/>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8 – Software Testing</a:t>
            </a:r>
          </a:p>
        </p:txBody>
      </p:sp>
      <p:sp>
        <p:nvSpPr>
          <p:cNvPr id="3" name="Subtitle 2"/>
          <p:cNvSpPr>
            <a:spLocks noGrp="1"/>
          </p:cNvSpPr>
          <p:nvPr>
            <p:ph type="subTitle"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1</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Development testing</a:t>
            </a:r>
            <a:endParaRPr lang="en-GB" dirty="0"/>
          </a:p>
          <a:p>
            <a:r>
              <a:rPr lang="en-US" dirty="0"/>
              <a:t>Test-driven development</a:t>
            </a:r>
            <a:endParaRPr lang="en-GB" dirty="0"/>
          </a:p>
          <a:p>
            <a:r>
              <a:rPr lang="en-US" dirty="0"/>
              <a:t>Release testing</a:t>
            </a:r>
            <a:endParaRPr lang="en-GB" dirty="0"/>
          </a:p>
          <a:p>
            <a:r>
              <a:rPr lang="en-US" dirty="0"/>
              <a:t>User testing </a:t>
            </a:r>
            <a:endParaRPr lang="en-GB" dirty="0"/>
          </a:p>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2</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testing</a:t>
            </a:r>
          </a:p>
        </p:txBody>
      </p:sp>
      <p:sp>
        <p:nvSpPr>
          <p:cNvPr id="3" name="Content Placeholder 2"/>
          <p:cNvSpPr>
            <a:spLocks noGrp="1"/>
          </p:cNvSpPr>
          <p:nvPr>
            <p:ph idx="1"/>
          </p:nvPr>
        </p:nvSpPr>
        <p:spPr/>
        <p:txBody>
          <a:bodyPr/>
          <a:lstStyle/>
          <a:p>
            <a:r>
              <a:rPr lang="en-US" sz="2200" dirty="0"/>
              <a:t>Testing is intended to show that a program does what it is intended to do and to discover program defects before it is put into use. </a:t>
            </a:r>
          </a:p>
          <a:p>
            <a:r>
              <a:rPr lang="en-US" sz="2200" dirty="0"/>
              <a:t>When you test software, you execute a program using artificial data. </a:t>
            </a:r>
          </a:p>
          <a:p>
            <a:r>
              <a:rPr lang="en-US" sz="2200" dirty="0"/>
              <a:t>You check the results of the test run for errors, anomalies or information about the program’s non-functional attributes. </a:t>
            </a:r>
          </a:p>
          <a:p>
            <a:r>
              <a:rPr lang="en-GB" sz="2200" dirty="0"/>
              <a:t>Can reveal the presence of errors NOT their </a:t>
            </a:r>
            <a:br>
              <a:rPr lang="en-GB" sz="2200" dirty="0"/>
            </a:br>
            <a:r>
              <a:rPr lang="en-GB" sz="2200" dirty="0"/>
              <a:t>absence.</a:t>
            </a:r>
          </a:p>
          <a:p>
            <a:r>
              <a:rPr lang="en-GB" sz="2200" dirty="0"/>
              <a:t>Testing is part of a more general verification and validation process, which also includes static validation techniques.</a:t>
            </a:r>
            <a:endParaRPr lang="en-GB" sz="2200" i="1" dirty="0"/>
          </a:p>
          <a:p>
            <a:endParaRPr lang="en-US" dirty="0"/>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3</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testing goals</a:t>
            </a:r>
          </a:p>
        </p:txBody>
      </p:sp>
      <p:sp>
        <p:nvSpPr>
          <p:cNvPr id="3" name="Content Placeholder 2"/>
          <p:cNvSpPr>
            <a:spLocks noGrp="1"/>
          </p:cNvSpPr>
          <p:nvPr>
            <p:ph idx="1"/>
          </p:nvPr>
        </p:nvSpPr>
        <p:spPr/>
        <p:txBody>
          <a:bodyPr/>
          <a:lstStyle/>
          <a:p>
            <a:r>
              <a:rPr lang="en-US" dirty="0"/>
              <a:t>To demonstrate to the developer and the customer that the software meets its requirements. </a:t>
            </a:r>
          </a:p>
          <a:p>
            <a:pPr lvl="1"/>
            <a:r>
              <a:rPr lang="en-US" dirty="0"/>
              <a:t>For custom software, this means that there should be at least one test for every requirement in the requirements document. For generic software products, it means that there should be tests for all of the system features, plus combinations of these features, that will be incorporated in the product release.  </a:t>
            </a:r>
            <a:endParaRPr lang="en-GB" dirty="0"/>
          </a:p>
          <a:p>
            <a:r>
              <a:rPr lang="en-US" dirty="0"/>
              <a:t>To discover situations in which the behavior of the software is incorrect, undesirable or does not conform to its specification. </a:t>
            </a:r>
          </a:p>
          <a:p>
            <a:pPr lvl="1"/>
            <a:r>
              <a:rPr lang="en-US" dirty="0"/>
              <a:t>Defect testing is concerned with rooting out undesirable system behavior such as system crashes, unwanted interactions with other systems, incorrect computations and data corruption.</a:t>
            </a:r>
            <a:endParaRPr lang="en-GB" dirty="0"/>
          </a:p>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4</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and defect testing</a:t>
            </a:r>
          </a:p>
        </p:txBody>
      </p:sp>
      <p:sp>
        <p:nvSpPr>
          <p:cNvPr id="3" name="Content Placeholder 2"/>
          <p:cNvSpPr>
            <a:spLocks noGrp="1"/>
          </p:cNvSpPr>
          <p:nvPr>
            <p:ph idx="1"/>
          </p:nvPr>
        </p:nvSpPr>
        <p:spPr/>
        <p:txBody>
          <a:bodyPr/>
          <a:lstStyle/>
          <a:p>
            <a:r>
              <a:rPr lang="en-US" dirty="0">
                <a:solidFill>
                  <a:srgbClr val="000000"/>
                </a:solidFill>
              </a:rPr>
              <a:t>The first goal leads to validation testing</a:t>
            </a:r>
          </a:p>
          <a:p>
            <a:pPr lvl="1"/>
            <a:r>
              <a:rPr lang="en-US" dirty="0">
                <a:solidFill>
                  <a:srgbClr val="000000"/>
                </a:solidFill>
              </a:rPr>
              <a:t>You expect the system to perform correctly using a given set of test cases that reflect the system’s expected use. </a:t>
            </a:r>
          </a:p>
          <a:p>
            <a:r>
              <a:rPr lang="en-US" dirty="0">
                <a:solidFill>
                  <a:srgbClr val="000000"/>
                </a:solidFill>
              </a:rPr>
              <a:t>The second goal leads to defect testing</a:t>
            </a:r>
          </a:p>
          <a:p>
            <a:pPr lvl="1"/>
            <a:r>
              <a:rPr lang="en-US" dirty="0">
                <a:solidFill>
                  <a:srgbClr val="000000"/>
                </a:solidFill>
              </a:rPr>
              <a:t>The test cases are designed to expose defects. The test cases in defect testing can be deliberately obscure and need not reflect how the system is normally used. </a:t>
            </a:r>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5</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Testing process goals</a:t>
            </a:r>
          </a:p>
        </p:txBody>
      </p:sp>
      <p:sp>
        <p:nvSpPr>
          <p:cNvPr id="22531" name="Rectangle 3"/>
          <p:cNvSpPr>
            <a:spLocks noGrp="1" noChangeArrowheads="1"/>
          </p:cNvSpPr>
          <p:nvPr>
            <p:ph idx="1"/>
          </p:nvPr>
        </p:nvSpPr>
        <p:spPr/>
        <p:txBody>
          <a:bodyPr/>
          <a:lstStyle/>
          <a:p>
            <a:r>
              <a:rPr lang="en-US" sz="2400" dirty="0">
                <a:solidFill>
                  <a:schemeClr val="tx1"/>
                </a:solidFill>
              </a:rPr>
              <a:t>Validation testing</a:t>
            </a:r>
          </a:p>
          <a:p>
            <a:pPr lvl="1"/>
            <a:r>
              <a:rPr lang="en-US" sz="2000" dirty="0"/>
              <a:t>To demonstrate to the developer and the system customer that the software meets its requirements </a:t>
            </a:r>
          </a:p>
          <a:p>
            <a:pPr lvl="1"/>
            <a:r>
              <a:rPr lang="en-US" sz="2000" dirty="0"/>
              <a:t>A successful test shows that the system operates as intended.</a:t>
            </a:r>
          </a:p>
          <a:p>
            <a:r>
              <a:rPr lang="en-US" sz="2400" dirty="0">
                <a:solidFill>
                  <a:srgbClr val="000000"/>
                </a:solidFill>
              </a:rPr>
              <a:t>Defect testing</a:t>
            </a:r>
          </a:p>
          <a:p>
            <a:pPr lvl="1"/>
            <a:r>
              <a:rPr lang="en-US" sz="2000" dirty="0"/>
              <a:t>To discover faults or defects in the software where its behavior is incorrect or not in conformance with its specification </a:t>
            </a:r>
          </a:p>
          <a:p>
            <a:pPr lvl="1"/>
            <a:r>
              <a:rPr lang="en-US" sz="2000" dirty="0"/>
              <a:t>A successful test is a test that makes the system perform incorrectly and so exposes a defect in the system.</a:t>
            </a:r>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6</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input-output model of program testing</a:t>
            </a:r>
            <a:r>
              <a:rPr lang="en-GB" dirty="0"/>
              <a:t> </a:t>
            </a:r>
            <a:endParaRPr lang="en-US" dirty="0"/>
          </a:p>
        </p:txBody>
      </p:sp>
      <p:pic>
        <p:nvPicPr>
          <p:cNvPr id="4" name="Content Placeholder 3" descr="8.1 IOModelofTesting.eps"/>
          <p:cNvPicPr>
            <a:picLocks noGrp="1" noChangeAspect="1"/>
          </p:cNvPicPr>
          <p:nvPr>
            <p:ph idx="1"/>
          </p:nvPr>
        </p:nvPicPr>
        <p:blipFill>
          <a:blip r:embed="rId2"/>
          <a:srcRect l="-14077" r="-14077"/>
          <a:stretch>
            <a:fillRect/>
          </a:stretch>
        </p:blipFill>
        <p:spPr>
          <a:xfrm>
            <a:off x="1315254" y="1886248"/>
            <a:ext cx="7097521" cy="3903363"/>
          </a:xfrm>
        </p:spPr>
      </p:pic>
      <p:sp>
        <p:nvSpPr>
          <p:cNvPr id="6" name="Footer Placeholder 5"/>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7</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testing</a:t>
            </a:r>
          </a:p>
        </p:txBody>
      </p:sp>
      <p:sp>
        <p:nvSpPr>
          <p:cNvPr id="3" name="Content Placeholder 2"/>
          <p:cNvSpPr>
            <a:spLocks noGrp="1"/>
          </p:cNvSpPr>
          <p:nvPr>
            <p:ph idx="1"/>
          </p:nvPr>
        </p:nvSpPr>
        <p:spPr/>
        <p:txBody>
          <a:bodyPr/>
          <a:lstStyle/>
          <a:p>
            <a:r>
              <a:rPr lang="en-US" dirty="0"/>
              <a:t>Development testing, where the system is tested during development to discover bugs and defects. </a:t>
            </a:r>
          </a:p>
          <a:p>
            <a:r>
              <a:rPr lang="en-US" dirty="0"/>
              <a:t>Release testing, where a separate testing team test a complete version of the system before it is released to users. </a:t>
            </a:r>
          </a:p>
          <a:p>
            <a:r>
              <a:rPr lang="en-US" dirty="0"/>
              <a:t>User testing, where users or potential users of a system test the system in their own environment.</a:t>
            </a:r>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8</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18290"/>
            <a:ext cx="8229600" cy="1143000"/>
          </a:xfrm>
        </p:spPr>
        <p:txBody>
          <a:bodyPr/>
          <a:lstStyle/>
          <a:p>
            <a:pPr algn="ctr"/>
            <a:r>
              <a:rPr lang="en-US" dirty="0"/>
              <a:t>Development testing</a:t>
            </a:r>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9</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1105948617"/>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testing</a:t>
            </a:r>
          </a:p>
        </p:txBody>
      </p:sp>
      <p:sp>
        <p:nvSpPr>
          <p:cNvPr id="3" name="Content Placeholder 2"/>
          <p:cNvSpPr>
            <a:spLocks noGrp="1"/>
          </p:cNvSpPr>
          <p:nvPr>
            <p:ph idx="1"/>
          </p:nvPr>
        </p:nvSpPr>
        <p:spPr/>
        <p:txBody>
          <a:bodyPr/>
          <a:lstStyle/>
          <a:p>
            <a:r>
              <a:rPr lang="en-US" dirty="0"/>
              <a:t>Development testing includes all testing activities that are carried out by the team developing the system. </a:t>
            </a:r>
          </a:p>
          <a:p>
            <a:pPr lvl="1"/>
            <a:r>
              <a:rPr lang="en-US" dirty="0"/>
              <a:t>Unit testing, where individual program units or object classes are tested. Unit testing should focus on testing the functionality of objects or methods.</a:t>
            </a:r>
            <a:endParaRPr lang="en-GB" dirty="0"/>
          </a:p>
          <a:p>
            <a:pPr lvl="1"/>
            <a:r>
              <a:rPr lang="en-US" dirty="0"/>
              <a:t>Component testing, where several individual units are integrated to create composite components. Component testing should focus on testing component interfaces.</a:t>
            </a:r>
            <a:endParaRPr lang="en-GB" dirty="0"/>
          </a:p>
          <a:p>
            <a:pPr lvl="1"/>
            <a:r>
              <a:rPr lang="en-US" dirty="0"/>
              <a:t>System testing, where some or all of the components in a system are integrated and the system is tested as a whole. System testing should focus on testing component interactions.</a:t>
            </a:r>
            <a:endParaRPr lang="en-GB" dirty="0"/>
          </a:p>
          <a:p>
            <a:endParaRPr lang="en-US" dirty="0"/>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10</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dirty="0"/>
              <a:t>Unit testing</a:t>
            </a:r>
          </a:p>
        </p:txBody>
      </p:sp>
      <p:sp>
        <p:nvSpPr>
          <p:cNvPr id="40963" name="Rectangle 3"/>
          <p:cNvSpPr>
            <a:spLocks noGrp="1" noChangeArrowheads="1"/>
          </p:cNvSpPr>
          <p:nvPr>
            <p:ph idx="1"/>
          </p:nvPr>
        </p:nvSpPr>
        <p:spPr/>
        <p:txBody>
          <a:bodyPr/>
          <a:lstStyle/>
          <a:p>
            <a:r>
              <a:rPr lang="en-US" dirty="0"/>
              <a:t>Unit testing is the process of testing individual components in isolation.</a:t>
            </a:r>
          </a:p>
          <a:p>
            <a:r>
              <a:rPr lang="en-US" dirty="0"/>
              <a:t>It is a defect testing process.</a:t>
            </a:r>
          </a:p>
          <a:p>
            <a:r>
              <a:rPr lang="en-US" dirty="0"/>
              <a:t>Units may be:</a:t>
            </a:r>
          </a:p>
          <a:p>
            <a:pPr lvl="1"/>
            <a:r>
              <a:rPr lang="en-US" dirty="0"/>
              <a:t>Individual functions or methods within an object </a:t>
            </a:r>
          </a:p>
          <a:p>
            <a:pPr lvl="1"/>
            <a:r>
              <a:rPr lang="en-US" dirty="0"/>
              <a:t>Object classes with several attributes and methods </a:t>
            </a:r>
          </a:p>
          <a:p>
            <a:pPr lvl="1"/>
            <a:r>
              <a:rPr lang="en-US" dirty="0"/>
              <a:t>Composite components with defined interfaces used to access their functionality.</a:t>
            </a:r>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11</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a:t>Object class testing</a:t>
            </a:r>
          </a:p>
        </p:txBody>
      </p:sp>
      <p:sp>
        <p:nvSpPr>
          <p:cNvPr id="41987" name="Rectangle 3"/>
          <p:cNvSpPr>
            <a:spLocks noGrp="1" noChangeArrowheads="1"/>
          </p:cNvSpPr>
          <p:nvPr>
            <p:ph idx="1"/>
          </p:nvPr>
        </p:nvSpPr>
        <p:spPr/>
        <p:txBody>
          <a:bodyPr/>
          <a:lstStyle/>
          <a:p>
            <a:r>
              <a:rPr lang="en-GB" dirty="0"/>
              <a:t>Complete test coverage of a class involves</a:t>
            </a:r>
          </a:p>
          <a:p>
            <a:pPr lvl="1"/>
            <a:r>
              <a:rPr lang="en-GB" dirty="0"/>
              <a:t>Testing all operations associated with an object</a:t>
            </a:r>
            <a:r>
              <a:rPr lang="en-US" dirty="0"/>
              <a:t> </a:t>
            </a:r>
            <a:endParaRPr lang="en-GB" dirty="0"/>
          </a:p>
          <a:p>
            <a:pPr lvl="1"/>
            <a:r>
              <a:rPr lang="en-GB" dirty="0"/>
              <a:t>Setting and interrogating all object attributes</a:t>
            </a:r>
            <a:r>
              <a:rPr lang="en-US" dirty="0"/>
              <a:t> </a:t>
            </a:r>
            <a:endParaRPr lang="en-GB" dirty="0"/>
          </a:p>
          <a:p>
            <a:pPr lvl="1"/>
            <a:r>
              <a:rPr lang="en-GB" dirty="0"/>
              <a:t>Exercising the object in all possible states.</a:t>
            </a:r>
          </a:p>
          <a:p>
            <a:r>
              <a:rPr lang="en-GB" dirty="0"/>
              <a:t>Inheritance makes it more difficult to design object class tests as the information to be tested is not localised.</a:t>
            </a:r>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12</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weather station object interface</a:t>
            </a:r>
            <a:r>
              <a:rPr lang="en-GB" dirty="0"/>
              <a:t> </a:t>
            </a:r>
            <a:endParaRPr lang="en-US" dirty="0"/>
          </a:p>
        </p:txBody>
      </p:sp>
      <p:pic>
        <p:nvPicPr>
          <p:cNvPr id="4" name="Content Placeholder 3" descr="8.4 WeatherStationIface.eps"/>
          <p:cNvPicPr>
            <a:picLocks noGrp="1" noChangeAspect="1"/>
          </p:cNvPicPr>
          <p:nvPr>
            <p:ph idx="1"/>
          </p:nvPr>
        </p:nvPicPr>
        <p:blipFill>
          <a:blip r:embed="rId2"/>
          <a:srcRect l="-45966" r="-45966"/>
          <a:stretch>
            <a:fillRect/>
          </a:stretch>
        </p:blipFill>
        <p:spPr>
          <a:xfrm>
            <a:off x="1269491" y="1886249"/>
            <a:ext cx="6773339" cy="3725075"/>
          </a:xfrm>
        </p:spPr>
      </p:pic>
      <p:sp>
        <p:nvSpPr>
          <p:cNvPr id="6" name="Footer Placeholder 5"/>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13</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Weather station testing</a:t>
            </a:r>
          </a:p>
        </p:txBody>
      </p:sp>
      <p:sp>
        <p:nvSpPr>
          <p:cNvPr id="44035" name="Rectangle 3"/>
          <p:cNvSpPr>
            <a:spLocks noGrp="1" noChangeArrowheads="1"/>
          </p:cNvSpPr>
          <p:nvPr>
            <p:ph idx="1"/>
          </p:nvPr>
        </p:nvSpPr>
        <p:spPr/>
        <p:txBody>
          <a:bodyPr/>
          <a:lstStyle/>
          <a:p>
            <a:r>
              <a:rPr lang="en-US" dirty="0"/>
              <a:t>Need to define test cases for </a:t>
            </a:r>
            <a:r>
              <a:rPr lang="en-US" dirty="0" err="1"/>
              <a:t>reportWeather</a:t>
            </a:r>
            <a:r>
              <a:rPr lang="en-US" dirty="0"/>
              <a:t>, calibrate, test, startup and shutdown.</a:t>
            </a:r>
          </a:p>
          <a:p>
            <a:r>
              <a:rPr lang="en-US" dirty="0"/>
              <a:t>Using a state model, identify sequences of state transitions to be tested and the event sequences to cause these transitions</a:t>
            </a:r>
          </a:p>
          <a:p>
            <a:r>
              <a:rPr lang="en-US" dirty="0"/>
              <a:t>For example:</a:t>
            </a:r>
          </a:p>
          <a:p>
            <a:pPr lvl="1"/>
            <a:r>
              <a:rPr lang="en-US" dirty="0"/>
              <a:t>Shutdown -&gt; Running-&gt; Shutdown</a:t>
            </a:r>
          </a:p>
          <a:p>
            <a:pPr lvl="1"/>
            <a:r>
              <a:rPr lang="en-US" dirty="0"/>
              <a:t>Configuring-&gt; Running-&gt; Testing -&gt; Transmitting -&gt; Running</a:t>
            </a:r>
          </a:p>
          <a:p>
            <a:pPr lvl="1"/>
            <a:r>
              <a:rPr lang="en-US" dirty="0"/>
              <a:t>Running-&gt; Collecting-&gt; Running-&gt; Summarizing -&gt; Transmitting -&gt; Running</a:t>
            </a:r>
          </a:p>
          <a:p>
            <a:pPr lvl="1"/>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14</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testing</a:t>
            </a:r>
          </a:p>
        </p:txBody>
      </p:sp>
      <p:sp>
        <p:nvSpPr>
          <p:cNvPr id="3" name="Content Placeholder 2"/>
          <p:cNvSpPr>
            <a:spLocks noGrp="1"/>
          </p:cNvSpPr>
          <p:nvPr>
            <p:ph idx="1"/>
          </p:nvPr>
        </p:nvSpPr>
        <p:spPr/>
        <p:txBody>
          <a:bodyPr/>
          <a:lstStyle/>
          <a:p>
            <a:r>
              <a:rPr lang="en-US" dirty="0"/>
              <a:t>Whenever possible, unit testing should be automated so that tests are run and checked without manual intervention.</a:t>
            </a:r>
          </a:p>
          <a:p>
            <a:r>
              <a:rPr lang="en-US" dirty="0"/>
              <a:t>In automated unit testing, you make use of a test automation framework (such as </a:t>
            </a:r>
            <a:r>
              <a:rPr lang="en-US" dirty="0" err="1"/>
              <a:t>JUnit</a:t>
            </a:r>
            <a:r>
              <a:rPr lang="en-US" dirty="0"/>
              <a:t>) to write and run your program tests. </a:t>
            </a:r>
          </a:p>
          <a:p>
            <a:r>
              <a:rPr lang="en-US" dirty="0"/>
              <a:t>Unit testing frameworks provide generic test classes that you extend to create specific test cases. They can then run all of the tests that you have implemented and report, often through some GUI, on the success of otherwise of the tests. </a:t>
            </a:r>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15</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strategies</a:t>
            </a:r>
          </a:p>
        </p:txBody>
      </p:sp>
      <p:sp>
        <p:nvSpPr>
          <p:cNvPr id="3" name="Content Placeholder 2"/>
          <p:cNvSpPr>
            <a:spLocks noGrp="1"/>
          </p:cNvSpPr>
          <p:nvPr>
            <p:ph idx="1"/>
          </p:nvPr>
        </p:nvSpPr>
        <p:spPr/>
        <p:txBody>
          <a:bodyPr/>
          <a:lstStyle/>
          <a:p>
            <a:r>
              <a:rPr lang="en-US" dirty="0"/>
              <a:t>Partition testing, where you identify groups of inputs that have common characteristics and should be processed in the same way. </a:t>
            </a:r>
          </a:p>
          <a:p>
            <a:pPr lvl="1"/>
            <a:r>
              <a:rPr lang="en-US" dirty="0"/>
              <a:t>You should choose tests from within each of these groups.</a:t>
            </a:r>
            <a:endParaRPr lang="en-GB" dirty="0"/>
          </a:p>
          <a:p>
            <a:r>
              <a:rPr lang="en-US" dirty="0"/>
              <a:t>Guideline-based testing, where you use testing guidelines to choose test cases. </a:t>
            </a:r>
          </a:p>
          <a:p>
            <a:pPr lvl="1"/>
            <a:r>
              <a:rPr lang="en-US" dirty="0"/>
              <a:t>These guidelines reflect previous experience of the kinds of errors that programmers often make when developing components.</a:t>
            </a:r>
            <a:endParaRPr lang="en-GB" dirty="0"/>
          </a:p>
          <a:p>
            <a:endParaRPr lang="en-US" dirty="0"/>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16</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Partition testing</a:t>
            </a:r>
          </a:p>
        </p:txBody>
      </p:sp>
      <p:sp>
        <p:nvSpPr>
          <p:cNvPr id="55299" name="Rectangle 3"/>
          <p:cNvSpPr>
            <a:spLocks noGrp="1" noChangeArrowheads="1"/>
          </p:cNvSpPr>
          <p:nvPr>
            <p:ph idx="1"/>
          </p:nvPr>
        </p:nvSpPr>
        <p:spPr/>
        <p:txBody>
          <a:bodyPr/>
          <a:lstStyle/>
          <a:p>
            <a:r>
              <a:rPr lang="en-GB" dirty="0"/>
              <a:t>Input data and output results often fall into different classes where all members of a class are related.</a:t>
            </a:r>
          </a:p>
          <a:p>
            <a:r>
              <a:rPr lang="en-GB" dirty="0"/>
              <a:t>Each of these classes is an </a:t>
            </a:r>
            <a:r>
              <a:rPr lang="en-GB" dirty="0">
                <a:solidFill>
                  <a:srgbClr val="000000"/>
                </a:solidFill>
              </a:rPr>
              <a:t>equivalence partition </a:t>
            </a:r>
            <a:r>
              <a:rPr lang="en-GB" dirty="0"/>
              <a:t>or domain where the program behaves in an equivalent way for each class member.</a:t>
            </a:r>
          </a:p>
          <a:p>
            <a:r>
              <a:rPr lang="en-GB" dirty="0"/>
              <a:t>Test cases should be chosen from each partition.</a:t>
            </a:r>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17</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Equivalence partitioning</a:t>
            </a:r>
            <a:r>
              <a:rPr lang="en-GB" dirty="0"/>
              <a:t> </a:t>
            </a:r>
            <a:endParaRPr lang="en-US" dirty="0"/>
          </a:p>
        </p:txBody>
      </p:sp>
      <p:pic>
        <p:nvPicPr>
          <p:cNvPr id="4" name="Content Placeholder 3" descr="8.5 EquivPartitioning.eps"/>
          <p:cNvPicPr>
            <a:picLocks noGrp="1" noChangeAspect="1"/>
          </p:cNvPicPr>
          <p:nvPr>
            <p:ph idx="1"/>
          </p:nvPr>
        </p:nvPicPr>
        <p:blipFill>
          <a:blip r:embed="rId2"/>
          <a:srcRect l="-13531" r="-13531"/>
          <a:stretch>
            <a:fillRect/>
          </a:stretch>
        </p:blipFill>
        <p:spPr>
          <a:xfrm>
            <a:off x="1166525" y="1794712"/>
            <a:ext cx="7013594" cy="3857207"/>
          </a:xfrm>
        </p:spPr>
      </p:pic>
      <p:sp>
        <p:nvSpPr>
          <p:cNvPr id="6" name="Footer Placeholder 5"/>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18</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Equivalence partitions</a:t>
            </a:r>
            <a:r>
              <a:rPr lang="en-GB" dirty="0"/>
              <a:t> </a:t>
            </a:r>
            <a:endParaRPr lang="en-US" dirty="0"/>
          </a:p>
        </p:txBody>
      </p:sp>
      <p:pic>
        <p:nvPicPr>
          <p:cNvPr id="4" name="Content Placeholder 3" descr="8.6 Partitions.eps"/>
          <p:cNvPicPr>
            <a:picLocks noGrp="1" noChangeAspect="1"/>
          </p:cNvPicPr>
          <p:nvPr>
            <p:ph idx="1"/>
          </p:nvPr>
        </p:nvPicPr>
        <p:blipFill>
          <a:blip r:embed="rId2"/>
          <a:srcRect l="-9407" r="-9407"/>
          <a:stretch>
            <a:fillRect/>
          </a:stretch>
        </p:blipFill>
        <p:spPr>
          <a:xfrm>
            <a:off x="914829" y="1886249"/>
            <a:ext cx="7311053" cy="4020798"/>
          </a:xfrm>
        </p:spPr>
      </p:pic>
      <p:sp>
        <p:nvSpPr>
          <p:cNvPr id="6" name="Footer Placeholder 5"/>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19</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noFill/>
        </p:spPr>
        <p:txBody>
          <a:bodyPr lIns="90840" tIns="44623" rIns="90840" bIns="44623"/>
          <a:lstStyle/>
          <a:p>
            <a:r>
              <a:rPr lang="en-GB"/>
              <a:t>Testing guidelines (sequences)</a:t>
            </a:r>
          </a:p>
        </p:txBody>
      </p:sp>
      <p:sp>
        <p:nvSpPr>
          <p:cNvPr id="63491" name="Rectangle 3"/>
          <p:cNvSpPr>
            <a:spLocks noGrp="1" noChangeArrowheads="1"/>
          </p:cNvSpPr>
          <p:nvPr>
            <p:ph idx="1"/>
          </p:nvPr>
        </p:nvSpPr>
        <p:spPr>
          <a:noFill/>
        </p:spPr>
        <p:txBody>
          <a:bodyPr lIns="90840" tIns="44623" rIns="90840" bIns="44623"/>
          <a:lstStyle/>
          <a:p>
            <a:r>
              <a:rPr lang="en-GB" dirty="0"/>
              <a:t>Test software with sequences which have only a single value.</a:t>
            </a:r>
          </a:p>
          <a:p>
            <a:r>
              <a:rPr lang="en-GB" dirty="0"/>
              <a:t>Use sequences of different sizes in different tests.</a:t>
            </a:r>
          </a:p>
          <a:p>
            <a:r>
              <a:rPr lang="en-GB" dirty="0"/>
              <a:t>Derive tests so that the first, middle and last elements of the sequence are accessed.</a:t>
            </a:r>
          </a:p>
          <a:p>
            <a:r>
              <a:rPr lang="en-GB" dirty="0"/>
              <a:t>Test with sequences of zero length.</a:t>
            </a:r>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20</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testing guidelines</a:t>
            </a:r>
          </a:p>
        </p:txBody>
      </p:sp>
      <p:sp>
        <p:nvSpPr>
          <p:cNvPr id="3" name="Content Placeholder 2"/>
          <p:cNvSpPr>
            <a:spLocks noGrp="1"/>
          </p:cNvSpPr>
          <p:nvPr>
            <p:ph idx="1"/>
          </p:nvPr>
        </p:nvSpPr>
        <p:spPr/>
        <p:txBody>
          <a:bodyPr/>
          <a:lstStyle/>
          <a:p>
            <a:pPr lvl="0"/>
            <a:r>
              <a:rPr lang="en-US" dirty="0"/>
              <a:t>Choose inputs that force the system to generate all error messages </a:t>
            </a:r>
            <a:endParaRPr lang="en-GB" dirty="0"/>
          </a:p>
          <a:p>
            <a:r>
              <a:rPr lang="en-US" dirty="0"/>
              <a:t>Design inputs that cause input buffers to overflow </a:t>
            </a:r>
            <a:endParaRPr lang="en-GB" dirty="0"/>
          </a:p>
          <a:p>
            <a:r>
              <a:rPr lang="en-US" dirty="0"/>
              <a:t>Repeat the same input or series of inputs numerous times </a:t>
            </a:r>
            <a:endParaRPr lang="en-GB" dirty="0"/>
          </a:p>
          <a:p>
            <a:r>
              <a:rPr lang="en-US" dirty="0"/>
              <a:t>Force invalid outputs to be generated </a:t>
            </a:r>
            <a:endParaRPr lang="en-GB" dirty="0"/>
          </a:p>
          <a:p>
            <a:r>
              <a:rPr lang="en-US" dirty="0"/>
              <a:t>Force computation results to be too large or too small.</a:t>
            </a:r>
            <a:endParaRPr lang="en-GB" dirty="0"/>
          </a:p>
          <a:p>
            <a:pPr>
              <a:buNone/>
            </a:pPr>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21</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Component testing</a:t>
            </a:r>
            <a:endParaRPr lang="en-US" dirty="0"/>
          </a:p>
        </p:txBody>
      </p:sp>
      <p:sp>
        <p:nvSpPr>
          <p:cNvPr id="3" name="Content Placeholder 2"/>
          <p:cNvSpPr>
            <a:spLocks noGrp="1"/>
          </p:cNvSpPr>
          <p:nvPr>
            <p:ph idx="1"/>
          </p:nvPr>
        </p:nvSpPr>
        <p:spPr/>
        <p:txBody>
          <a:bodyPr/>
          <a:lstStyle/>
          <a:p>
            <a:r>
              <a:rPr lang="en-US" dirty="0"/>
              <a:t>Software components are often composite components that are made up of several interacting objects. </a:t>
            </a:r>
          </a:p>
          <a:p>
            <a:pPr lvl="1"/>
            <a:r>
              <a:rPr lang="en-US" dirty="0"/>
              <a:t>For example, in the weather station system, the reconfiguration component includes objects that deal with each aspect of the reconfiguration. </a:t>
            </a:r>
          </a:p>
          <a:p>
            <a:r>
              <a:rPr lang="en-US" dirty="0"/>
              <a:t>You access the functionality of these objects through the defined component interface. </a:t>
            </a:r>
          </a:p>
          <a:p>
            <a:r>
              <a:rPr lang="en-US" dirty="0"/>
              <a:t>Testing composite components should therefore focus on showing that the component interface behaves according to its specification. </a:t>
            </a:r>
          </a:p>
          <a:p>
            <a:pPr lvl="1"/>
            <a:r>
              <a:rPr lang="en-US" dirty="0"/>
              <a:t>You can assume that unit tests on the individual objects within the component have been completed.</a:t>
            </a:r>
            <a:r>
              <a:rPr lang="en-GB" dirty="0"/>
              <a:t> </a:t>
            </a:r>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22</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title"/>
          </p:nvPr>
        </p:nvSpPr>
        <p:spPr>
          <a:noFill/>
        </p:spPr>
        <p:txBody>
          <a:bodyPr lIns="90840" tIns="44623" rIns="90840" bIns="44623"/>
          <a:lstStyle/>
          <a:p>
            <a:r>
              <a:rPr lang="en-GB"/>
              <a:t>Interface testing</a:t>
            </a:r>
          </a:p>
        </p:txBody>
      </p:sp>
      <p:sp>
        <p:nvSpPr>
          <p:cNvPr id="45058" name="Rectangle 2"/>
          <p:cNvSpPr>
            <a:spLocks noGrp="1" noChangeArrowheads="1"/>
          </p:cNvSpPr>
          <p:nvPr>
            <p:ph idx="1"/>
          </p:nvPr>
        </p:nvSpPr>
        <p:spPr>
          <a:noFill/>
        </p:spPr>
        <p:txBody>
          <a:bodyPr lIns="90840" tIns="44623" rIns="90840" bIns="44623"/>
          <a:lstStyle/>
          <a:p>
            <a:r>
              <a:rPr lang="en-GB" dirty="0"/>
              <a:t>Objectives are to detect faults due to interface errors or invalid assumptions about interfaces.</a:t>
            </a:r>
          </a:p>
          <a:p>
            <a:r>
              <a:rPr lang="en-GB" dirty="0"/>
              <a:t>Interface types</a:t>
            </a:r>
          </a:p>
          <a:p>
            <a:pPr lvl="1"/>
            <a:r>
              <a:rPr lang="en-GB" dirty="0">
                <a:solidFill>
                  <a:srgbClr val="000000"/>
                </a:solidFill>
              </a:rPr>
              <a:t>Parameter interfaces </a:t>
            </a:r>
            <a:r>
              <a:rPr lang="en-GB" dirty="0"/>
              <a:t>Data passed from one method or procedure to another.</a:t>
            </a:r>
          </a:p>
          <a:p>
            <a:pPr lvl="1"/>
            <a:r>
              <a:rPr lang="en-GB" dirty="0">
                <a:solidFill>
                  <a:srgbClr val="000000"/>
                </a:solidFill>
              </a:rPr>
              <a:t>Shared memory interf</a:t>
            </a:r>
            <a:r>
              <a:rPr lang="en-GB" dirty="0">
                <a:solidFill>
                  <a:schemeClr val="tx1"/>
                </a:solidFill>
              </a:rPr>
              <a:t>aces</a:t>
            </a:r>
            <a:r>
              <a:rPr lang="en-GB" dirty="0">
                <a:solidFill>
                  <a:srgbClr val="FF0000"/>
                </a:solidFill>
              </a:rPr>
              <a:t> </a:t>
            </a:r>
            <a:r>
              <a:rPr lang="en-GB" dirty="0"/>
              <a:t>Block of memory is shared between procedures or functions.</a:t>
            </a:r>
          </a:p>
          <a:p>
            <a:pPr lvl="1"/>
            <a:r>
              <a:rPr lang="en-GB" dirty="0">
                <a:solidFill>
                  <a:srgbClr val="000000"/>
                </a:solidFill>
              </a:rPr>
              <a:t>Procedural interfaces </a:t>
            </a:r>
            <a:r>
              <a:rPr lang="en-GB" dirty="0"/>
              <a:t>Sub-system encapsulates a set of procedures to be called by other sub-systems.</a:t>
            </a:r>
          </a:p>
          <a:p>
            <a:pPr lvl="1"/>
            <a:r>
              <a:rPr lang="en-GB" dirty="0">
                <a:solidFill>
                  <a:srgbClr val="000000"/>
                </a:solidFill>
              </a:rPr>
              <a:t>Message passing interfaces </a:t>
            </a:r>
            <a:r>
              <a:rPr lang="en-GB" dirty="0"/>
              <a:t>Sub-systems request services from other sub-systems</a:t>
            </a:r>
          </a:p>
          <a:p>
            <a:endParaRPr lang="en-GB"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23</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 testing</a:t>
            </a:r>
            <a:r>
              <a:rPr lang="en-GB" dirty="0"/>
              <a:t> </a:t>
            </a:r>
            <a:endParaRPr lang="en-US" dirty="0"/>
          </a:p>
        </p:txBody>
      </p:sp>
      <p:sp>
        <p:nvSpPr>
          <p:cNvPr id="6" name="Footer Placeholder 5"/>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24</a:t>
            </a:fld>
            <a:endParaRPr lang="en-US"/>
          </a:p>
        </p:txBody>
      </p:sp>
      <p:pic>
        <p:nvPicPr>
          <p:cNvPr id="7" name="Picture 6" descr="8.7 Iface 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204" y="1601044"/>
            <a:ext cx="4872975" cy="4576827"/>
          </a:xfrm>
          <a:prstGeom prst="rect">
            <a:avLst/>
          </a:prstGeom>
        </p:spPr>
      </p:pic>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noFill/>
        </p:spPr>
        <p:txBody>
          <a:bodyPr lIns="90840" tIns="44623" rIns="90840" bIns="44623"/>
          <a:lstStyle/>
          <a:p>
            <a:r>
              <a:rPr lang="en-GB"/>
              <a:t>Interface errors</a:t>
            </a:r>
          </a:p>
        </p:txBody>
      </p:sp>
      <p:sp>
        <p:nvSpPr>
          <p:cNvPr id="49155" name="Rectangle 3"/>
          <p:cNvSpPr>
            <a:spLocks noGrp="1" noChangeArrowheads="1"/>
          </p:cNvSpPr>
          <p:nvPr>
            <p:ph idx="1"/>
          </p:nvPr>
        </p:nvSpPr>
        <p:spPr>
          <a:noFill/>
        </p:spPr>
        <p:txBody>
          <a:bodyPr lIns="90840" tIns="44623" rIns="90840" bIns="44623"/>
          <a:lstStyle/>
          <a:p>
            <a:r>
              <a:rPr lang="en-GB" sz="2400" dirty="0"/>
              <a:t>Interface misuse</a:t>
            </a:r>
          </a:p>
          <a:p>
            <a:pPr lvl="1"/>
            <a:r>
              <a:rPr lang="en-GB" sz="2000" dirty="0"/>
              <a:t>A calling component calls another component and makes an error in its use of its interface e.g. parameters in the wrong order.</a:t>
            </a:r>
          </a:p>
          <a:p>
            <a:r>
              <a:rPr lang="en-GB" sz="2400" dirty="0"/>
              <a:t>Interface misunderstanding</a:t>
            </a:r>
          </a:p>
          <a:p>
            <a:pPr lvl="1"/>
            <a:r>
              <a:rPr lang="en-GB" sz="2000" dirty="0"/>
              <a:t>A calling component embeds assumptions about the behaviour of the called component which are incorrect.</a:t>
            </a:r>
          </a:p>
          <a:p>
            <a:r>
              <a:rPr lang="en-GB" sz="2400" dirty="0"/>
              <a:t>Timing errors</a:t>
            </a:r>
          </a:p>
          <a:p>
            <a:pPr lvl="1"/>
            <a:r>
              <a:rPr lang="en-GB" sz="2000" dirty="0"/>
              <a:t>The called and the calling component operate at different speeds and out-of-date information is accessed.</a:t>
            </a:r>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25</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p:spPr>
        <p:txBody>
          <a:bodyPr lIns="90840" tIns="44623" rIns="90840" bIns="44623"/>
          <a:lstStyle/>
          <a:p>
            <a:r>
              <a:rPr lang="en-GB"/>
              <a:t>Interface testing guidelines</a:t>
            </a:r>
          </a:p>
        </p:txBody>
      </p:sp>
      <p:sp>
        <p:nvSpPr>
          <p:cNvPr id="50179" name="Rectangle 3"/>
          <p:cNvSpPr>
            <a:spLocks noGrp="1" noChangeArrowheads="1"/>
          </p:cNvSpPr>
          <p:nvPr>
            <p:ph idx="1"/>
          </p:nvPr>
        </p:nvSpPr>
        <p:spPr>
          <a:noFill/>
        </p:spPr>
        <p:txBody>
          <a:bodyPr lIns="90840" tIns="44623" rIns="90840" bIns="44623"/>
          <a:lstStyle/>
          <a:p>
            <a:r>
              <a:rPr lang="en-GB" sz="2400"/>
              <a:t>Design tests so that parameters to a called procedure are at the extreme ends of their ranges.</a:t>
            </a:r>
          </a:p>
          <a:p>
            <a:r>
              <a:rPr lang="en-GB" sz="2400"/>
              <a:t>Always test pointer parameters with null pointers.</a:t>
            </a:r>
          </a:p>
          <a:p>
            <a:r>
              <a:rPr lang="en-GB" sz="2400"/>
              <a:t>Design tests which cause the component to fail.</a:t>
            </a:r>
          </a:p>
          <a:p>
            <a:r>
              <a:rPr lang="en-GB" sz="2400"/>
              <a:t>Use stress testing in message passing systems.</a:t>
            </a:r>
          </a:p>
          <a:p>
            <a:r>
              <a:rPr lang="en-GB" sz="2400"/>
              <a:t>In shared memory systems, vary the order in which components are activated.</a:t>
            </a:r>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26</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testing</a:t>
            </a:r>
          </a:p>
        </p:txBody>
      </p:sp>
      <p:sp>
        <p:nvSpPr>
          <p:cNvPr id="3" name="Content Placeholder 2"/>
          <p:cNvSpPr>
            <a:spLocks noGrp="1"/>
          </p:cNvSpPr>
          <p:nvPr>
            <p:ph idx="1"/>
          </p:nvPr>
        </p:nvSpPr>
        <p:spPr/>
        <p:txBody>
          <a:bodyPr/>
          <a:lstStyle/>
          <a:p>
            <a:r>
              <a:rPr lang="en-US" dirty="0"/>
              <a:t>System testing during development involves integrating components to create a version of the system and then testing the integrated system.</a:t>
            </a:r>
          </a:p>
          <a:p>
            <a:r>
              <a:rPr lang="en-US" dirty="0"/>
              <a:t>The focus in system testing is testing the interactions between components. </a:t>
            </a:r>
          </a:p>
          <a:p>
            <a:r>
              <a:rPr lang="en-US" dirty="0"/>
              <a:t>System testing checks that components are compatible, interact correctly and transfer the right data at the right time across their interfaces. </a:t>
            </a:r>
          </a:p>
          <a:p>
            <a:r>
              <a:rPr lang="en-US" dirty="0"/>
              <a:t>System testing tests the emergent </a:t>
            </a:r>
            <a:r>
              <a:rPr lang="en-US" dirty="0" err="1"/>
              <a:t>behaviour</a:t>
            </a:r>
            <a:r>
              <a:rPr lang="en-US" dirty="0"/>
              <a:t> of a system. </a:t>
            </a:r>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27</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and component testing</a:t>
            </a:r>
          </a:p>
        </p:txBody>
      </p:sp>
      <p:sp>
        <p:nvSpPr>
          <p:cNvPr id="3" name="Content Placeholder 2"/>
          <p:cNvSpPr>
            <a:spLocks noGrp="1"/>
          </p:cNvSpPr>
          <p:nvPr>
            <p:ph idx="1"/>
          </p:nvPr>
        </p:nvSpPr>
        <p:spPr/>
        <p:txBody>
          <a:bodyPr/>
          <a:lstStyle/>
          <a:p>
            <a:r>
              <a:rPr lang="en-US" dirty="0"/>
              <a:t>During system testing, reusable components that have been separately developed and off-the-shelf systems may be integrated with newly developed components. The complete system is then tested.</a:t>
            </a:r>
            <a:endParaRPr lang="en-GB" dirty="0"/>
          </a:p>
          <a:p>
            <a:r>
              <a:rPr lang="en-US" dirty="0"/>
              <a:t>Components developed by different team members or sub-teams may be integrated at this stage. System testing is a collective rather than an individual process. </a:t>
            </a:r>
          </a:p>
          <a:p>
            <a:pPr lvl="1"/>
            <a:r>
              <a:rPr lang="en-US" dirty="0"/>
              <a:t>In some companies, system testing may involve a separate testing team with no involvement from designers and programmers. </a:t>
            </a:r>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28</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policies</a:t>
            </a:r>
          </a:p>
        </p:txBody>
      </p:sp>
      <p:sp>
        <p:nvSpPr>
          <p:cNvPr id="3" name="Content Placeholder 2"/>
          <p:cNvSpPr>
            <a:spLocks noGrp="1"/>
          </p:cNvSpPr>
          <p:nvPr>
            <p:ph idx="1"/>
          </p:nvPr>
        </p:nvSpPr>
        <p:spPr/>
        <p:txBody>
          <a:bodyPr/>
          <a:lstStyle/>
          <a:p>
            <a:r>
              <a:rPr lang="en-US" dirty="0"/>
              <a:t>Exhaustive system testing is impossible so testing policies which define the required system test coverage may be developed.</a:t>
            </a:r>
          </a:p>
          <a:p>
            <a:r>
              <a:rPr lang="en-US" dirty="0"/>
              <a:t>Examples of testing policies:</a:t>
            </a:r>
          </a:p>
          <a:p>
            <a:pPr lvl="1"/>
            <a:r>
              <a:rPr lang="en-US" dirty="0"/>
              <a:t>All system functions that are accessed through menus should be tested.</a:t>
            </a:r>
            <a:endParaRPr lang="en-GB" dirty="0"/>
          </a:p>
          <a:p>
            <a:pPr lvl="1"/>
            <a:r>
              <a:rPr lang="en-US" dirty="0"/>
              <a:t>Combinations of functions (e.g. text formatting) that are accessed through the same menu must be tested.</a:t>
            </a:r>
            <a:endParaRPr lang="en-GB" dirty="0"/>
          </a:p>
          <a:p>
            <a:pPr lvl="1"/>
            <a:r>
              <a:rPr lang="en-US" dirty="0"/>
              <a:t>Where user input is provided, all functions must be tested with both correct and incorrect input.</a:t>
            </a:r>
            <a:endParaRPr lang="en-GB" dirty="0"/>
          </a:p>
          <a:p>
            <a:endParaRPr lang="en-US" dirty="0"/>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29</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62465"/>
            <a:ext cx="8229600" cy="1143000"/>
          </a:xfrm>
        </p:spPr>
        <p:txBody>
          <a:bodyPr/>
          <a:lstStyle/>
          <a:p>
            <a:pPr algn="ctr"/>
            <a:r>
              <a:rPr lang="en-US" dirty="0"/>
              <a:t>Test-driven development</a:t>
            </a:r>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30</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1304886274"/>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Test-driven development</a:t>
            </a:r>
          </a:p>
        </p:txBody>
      </p:sp>
      <p:sp>
        <p:nvSpPr>
          <p:cNvPr id="3" name="Content Placeholder 2"/>
          <p:cNvSpPr>
            <a:spLocks noGrp="1"/>
          </p:cNvSpPr>
          <p:nvPr>
            <p:ph idx="1"/>
          </p:nvPr>
        </p:nvSpPr>
        <p:spPr/>
        <p:txBody>
          <a:bodyPr/>
          <a:lstStyle/>
          <a:p>
            <a:r>
              <a:rPr lang="en-US" dirty="0"/>
              <a:t>Test-driven development (TDD) is an approach to program development in which you inter-leave testing and code development.</a:t>
            </a:r>
          </a:p>
          <a:p>
            <a:r>
              <a:rPr lang="en-US" dirty="0"/>
              <a:t>Tests are written before code and ‘passing’ the tests is the critical driver of development. </a:t>
            </a:r>
          </a:p>
          <a:p>
            <a:r>
              <a:rPr lang="en-US" dirty="0"/>
              <a:t>You develop code incrementally, along with a test for that increment. You don’t move on to the next increment until the code that you have developed passes its test. </a:t>
            </a:r>
          </a:p>
          <a:p>
            <a:r>
              <a:rPr lang="en-US" dirty="0"/>
              <a:t>TDD was introduced as part of agile methods such as Extreme Programming. However, it can also be used in plan-driven development processes. </a:t>
            </a:r>
            <a:endParaRPr lang="en-GB" dirty="0"/>
          </a:p>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31</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Test-driven development</a:t>
            </a:r>
          </a:p>
        </p:txBody>
      </p:sp>
      <p:sp>
        <p:nvSpPr>
          <p:cNvPr id="6" name="Footer Placeholder 5"/>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32</a:t>
            </a:fld>
            <a:endParaRPr lang="en-US"/>
          </a:p>
        </p:txBody>
      </p:sp>
      <p:pic>
        <p:nvPicPr>
          <p:cNvPr id="7" name="Picture 6" descr="8.9 Test Driven Dev.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160" y="2365791"/>
            <a:ext cx="7971995" cy="2340402"/>
          </a:xfrm>
          <a:prstGeom prst="rect">
            <a:avLst/>
          </a:prstGeom>
        </p:spPr>
      </p:pic>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TDD process activities</a:t>
            </a:r>
          </a:p>
        </p:txBody>
      </p:sp>
      <p:sp>
        <p:nvSpPr>
          <p:cNvPr id="3" name="Content Placeholder 2"/>
          <p:cNvSpPr>
            <a:spLocks noGrp="1"/>
          </p:cNvSpPr>
          <p:nvPr>
            <p:ph idx="1"/>
          </p:nvPr>
        </p:nvSpPr>
        <p:spPr/>
        <p:txBody>
          <a:bodyPr/>
          <a:lstStyle/>
          <a:p>
            <a:r>
              <a:rPr lang="en-US" dirty="0"/>
              <a:t>Start by identifying the increment of functionality that is required. This should normally be small and implementable in a few lines of code.</a:t>
            </a:r>
            <a:endParaRPr lang="en-GB" dirty="0"/>
          </a:p>
          <a:p>
            <a:r>
              <a:rPr lang="en-US" dirty="0"/>
              <a:t>Write a test for this functionality and implement this as an automated test. </a:t>
            </a:r>
            <a:endParaRPr lang="en-GB" dirty="0"/>
          </a:p>
          <a:p>
            <a:r>
              <a:rPr lang="en-US" dirty="0"/>
              <a:t>Run the test, along with all other tests that have been implemented. Initially, you have not implemented the functionality so the new test will fail. </a:t>
            </a:r>
            <a:endParaRPr lang="en-GB" dirty="0"/>
          </a:p>
          <a:p>
            <a:r>
              <a:rPr lang="en-US" dirty="0"/>
              <a:t>Implement the functionality and re-run the test. </a:t>
            </a:r>
            <a:endParaRPr lang="en-GB" dirty="0"/>
          </a:p>
          <a:p>
            <a:r>
              <a:rPr lang="en-US" dirty="0"/>
              <a:t>Once all tests run successfully, you move on to implementing the next chunk of functionality.</a:t>
            </a:r>
            <a:endParaRPr lang="en-GB" dirty="0"/>
          </a:p>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33</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test-driven development</a:t>
            </a:r>
          </a:p>
        </p:txBody>
      </p:sp>
      <p:sp>
        <p:nvSpPr>
          <p:cNvPr id="3" name="Content Placeholder 2"/>
          <p:cNvSpPr>
            <a:spLocks noGrp="1"/>
          </p:cNvSpPr>
          <p:nvPr>
            <p:ph idx="1"/>
          </p:nvPr>
        </p:nvSpPr>
        <p:spPr/>
        <p:txBody>
          <a:bodyPr/>
          <a:lstStyle/>
          <a:p>
            <a:r>
              <a:rPr lang="en-US" dirty="0">
                <a:solidFill>
                  <a:srgbClr val="000000"/>
                </a:solidFill>
              </a:rPr>
              <a:t>Code coverage </a:t>
            </a:r>
          </a:p>
          <a:p>
            <a:pPr lvl="1"/>
            <a:r>
              <a:rPr lang="en-US" dirty="0"/>
              <a:t>Every code segment that you write has at least one associated test so all code written has at least one test.</a:t>
            </a:r>
            <a:endParaRPr lang="en-GB" dirty="0"/>
          </a:p>
          <a:p>
            <a:r>
              <a:rPr lang="en-US" dirty="0">
                <a:solidFill>
                  <a:srgbClr val="000000"/>
                </a:solidFill>
              </a:rPr>
              <a:t>Regression testing </a:t>
            </a:r>
          </a:p>
          <a:p>
            <a:pPr lvl="1"/>
            <a:r>
              <a:rPr lang="en-US" dirty="0"/>
              <a:t>A regression test suite is developed incrementally as a program is developed. </a:t>
            </a:r>
            <a:endParaRPr lang="en-GB" dirty="0"/>
          </a:p>
          <a:p>
            <a:r>
              <a:rPr lang="en-US" dirty="0">
                <a:solidFill>
                  <a:srgbClr val="000000"/>
                </a:solidFill>
              </a:rPr>
              <a:t>Simplified debugging </a:t>
            </a:r>
          </a:p>
          <a:p>
            <a:pPr lvl="1"/>
            <a:r>
              <a:rPr lang="en-US" dirty="0"/>
              <a:t>When a test fails, it should be obvious where the problem lies. The newly written code needs to be checked and modified. </a:t>
            </a:r>
            <a:endParaRPr lang="en-GB" dirty="0"/>
          </a:p>
          <a:p>
            <a:r>
              <a:rPr lang="en-US" dirty="0">
                <a:solidFill>
                  <a:srgbClr val="000000"/>
                </a:solidFill>
              </a:rPr>
              <a:t>System documentation </a:t>
            </a:r>
          </a:p>
          <a:p>
            <a:pPr lvl="1"/>
            <a:r>
              <a:rPr lang="en-US" dirty="0"/>
              <a:t>The tests themselves are a form of documentation that describe what the code should be doing. </a:t>
            </a:r>
            <a:endParaRPr lang="en-GB" dirty="0"/>
          </a:p>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34</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 testing</a:t>
            </a:r>
          </a:p>
        </p:txBody>
      </p:sp>
      <p:sp>
        <p:nvSpPr>
          <p:cNvPr id="3" name="Content Placeholder 2"/>
          <p:cNvSpPr>
            <a:spLocks noGrp="1"/>
          </p:cNvSpPr>
          <p:nvPr>
            <p:ph idx="1"/>
          </p:nvPr>
        </p:nvSpPr>
        <p:spPr/>
        <p:txBody>
          <a:bodyPr/>
          <a:lstStyle/>
          <a:p>
            <a:r>
              <a:rPr lang="en-US" dirty="0"/>
              <a:t>Regression testing is testing the system to check that changes have not ‘broken’ previously working code.</a:t>
            </a:r>
          </a:p>
          <a:p>
            <a:r>
              <a:rPr lang="en-US" dirty="0"/>
              <a:t>In a manual testing process, regression testing is expensive but, with automated testing, it is simple and straightforward. All tests are rerun every time a change is made to the program.</a:t>
            </a:r>
          </a:p>
          <a:p>
            <a:r>
              <a:rPr lang="en-US" dirty="0"/>
              <a:t>Tests must run ‘successfully’ before the change is committed.</a:t>
            </a:r>
          </a:p>
          <a:p>
            <a:pPr>
              <a:buNone/>
            </a:pPr>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35</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a:t>Release testing</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36</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1004290532"/>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Release testing</a:t>
            </a:r>
          </a:p>
        </p:txBody>
      </p:sp>
      <p:sp>
        <p:nvSpPr>
          <p:cNvPr id="3" name="Content Placeholder 2"/>
          <p:cNvSpPr>
            <a:spLocks noGrp="1"/>
          </p:cNvSpPr>
          <p:nvPr>
            <p:ph idx="1"/>
          </p:nvPr>
        </p:nvSpPr>
        <p:spPr>
          <a:xfrm>
            <a:off x="229698" y="1600200"/>
            <a:ext cx="8633936" cy="4525963"/>
          </a:xfrm>
        </p:spPr>
        <p:txBody>
          <a:bodyPr/>
          <a:lstStyle/>
          <a:p>
            <a:r>
              <a:rPr lang="en-US" dirty="0"/>
              <a:t>Release testing is the process of testing a particular release of a system that is intended for use outside of the development team.</a:t>
            </a:r>
            <a:r>
              <a:rPr lang="en-GB" dirty="0"/>
              <a:t> </a:t>
            </a:r>
          </a:p>
          <a:p>
            <a:r>
              <a:rPr lang="en-US" dirty="0"/>
              <a:t>The primary goal of the release testing process is to convince the supplier of the system that it is good enough for use</a:t>
            </a:r>
            <a:r>
              <a:rPr lang="en-GB" dirty="0"/>
              <a:t>.</a:t>
            </a:r>
          </a:p>
          <a:p>
            <a:pPr lvl="1"/>
            <a:r>
              <a:rPr lang="en-US" dirty="0"/>
              <a:t>Release testing, therefore, has to show that the system delivers its specified functionality, performance and dependability, and that it does not fail during normal use.</a:t>
            </a:r>
            <a:r>
              <a:rPr lang="en-GB" dirty="0"/>
              <a:t> </a:t>
            </a:r>
          </a:p>
          <a:p>
            <a:r>
              <a:rPr lang="en-US" dirty="0"/>
              <a:t>Release testing is usually a black-box testing process where tests are only derived from the system specification. </a:t>
            </a:r>
            <a:endParaRPr lang="en-GB" dirty="0"/>
          </a:p>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37</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Release testing and system testing</a:t>
            </a:r>
          </a:p>
        </p:txBody>
      </p:sp>
      <p:sp>
        <p:nvSpPr>
          <p:cNvPr id="3" name="Content Placeholder 2"/>
          <p:cNvSpPr>
            <a:spLocks noGrp="1"/>
          </p:cNvSpPr>
          <p:nvPr>
            <p:ph idx="1"/>
          </p:nvPr>
        </p:nvSpPr>
        <p:spPr/>
        <p:txBody>
          <a:bodyPr/>
          <a:lstStyle/>
          <a:p>
            <a:r>
              <a:rPr lang="en-US" dirty="0"/>
              <a:t>Release testing is a form of system testing.</a:t>
            </a:r>
          </a:p>
          <a:p>
            <a:r>
              <a:rPr lang="en-US" dirty="0"/>
              <a:t>Important differences:</a:t>
            </a:r>
          </a:p>
          <a:p>
            <a:pPr lvl="1"/>
            <a:r>
              <a:rPr lang="en-US" dirty="0"/>
              <a:t>A separate team that has not been involved in the system development, should be responsible for release testing.</a:t>
            </a:r>
            <a:endParaRPr lang="en-GB" dirty="0"/>
          </a:p>
          <a:p>
            <a:pPr lvl="1"/>
            <a:r>
              <a:rPr lang="en-US" dirty="0"/>
              <a:t>System testing by the development team should focus on discovering bugs in the system (defect testing). The objective of release testing is to check that the system meets its requirements and is good enough for external use (validation testing).</a:t>
            </a:r>
            <a:endParaRPr lang="en-GB" dirty="0"/>
          </a:p>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38</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6812"/>
            <a:ext cx="8229600" cy="1143000"/>
          </a:xfrm>
        </p:spPr>
        <p:txBody>
          <a:bodyPr/>
          <a:lstStyle/>
          <a:p>
            <a:pPr algn="ctr"/>
            <a:r>
              <a:rPr lang="en-US" dirty="0"/>
              <a:t>User testing</a:t>
            </a:r>
          </a:p>
        </p:txBody>
      </p:sp>
      <p:sp>
        <p:nvSpPr>
          <p:cNvPr id="4" name="Footer Placeholder 3"/>
          <p:cNvSpPr>
            <a:spLocks noGrp="1"/>
          </p:cNvSpPr>
          <p:nvPr>
            <p:ph type="ftr" sz="quarter" idx="11"/>
          </p:nvPr>
        </p:nvSpPr>
        <p:spPr/>
        <p:txBody>
          <a:bodyPr/>
          <a:lstStyle/>
          <a:p>
            <a:r>
              <a:rPr lang="en-US"/>
              <a:t>Chapter 8 Software Testing</a:t>
            </a:r>
          </a:p>
        </p:txBody>
      </p:sp>
      <p:sp>
        <p:nvSpPr>
          <p:cNvPr id="5" name="Slide Number Placeholder 4"/>
          <p:cNvSpPr>
            <a:spLocks noGrp="1"/>
          </p:cNvSpPr>
          <p:nvPr>
            <p:ph type="sldNum" sz="quarter" idx="12"/>
          </p:nvPr>
        </p:nvSpPr>
        <p:spPr/>
        <p:txBody>
          <a:bodyPr/>
          <a:lstStyle/>
          <a:p>
            <a:fld id="{CB105B8D-1C36-1C40-961B-CAAB1DD98B28}" type="slidenum">
              <a:rPr lang="en-US" smtClean="0"/>
              <a:pPr/>
              <a:t>39</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1427599946"/>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testing</a:t>
            </a:r>
          </a:p>
        </p:txBody>
      </p:sp>
      <p:sp>
        <p:nvSpPr>
          <p:cNvPr id="3" name="Content Placeholder 2"/>
          <p:cNvSpPr>
            <a:spLocks noGrp="1"/>
          </p:cNvSpPr>
          <p:nvPr>
            <p:ph idx="1"/>
          </p:nvPr>
        </p:nvSpPr>
        <p:spPr/>
        <p:txBody>
          <a:bodyPr/>
          <a:lstStyle/>
          <a:p>
            <a:r>
              <a:rPr lang="en-US" dirty="0"/>
              <a:t>User or customer testing is a stage in the testing process in which users or customers provide input and advice on system testing. </a:t>
            </a:r>
          </a:p>
          <a:p>
            <a:r>
              <a:rPr lang="en-US" dirty="0"/>
              <a:t>User testing is essential, even when comprehensive system and release testing have been carried out. </a:t>
            </a:r>
          </a:p>
          <a:p>
            <a:pPr lvl="1"/>
            <a:r>
              <a:rPr lang="en-US" dirty="0"/>
              <a:t>The reason for this is that influences from the user’s working environment have a major effect on the reliability, performance, usability and robustness of a system. These cannot be replicated in a testing environment.</a:t>
            </a:r>
            <a:endParaRPr lang="en-GB" dirty="0"/>
          </a:p>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40</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user testing</a:t>
            </a:r>
          </a:p>
        </p:txBody>
      </p:sp>
      <p:sp>
        <p:nvSpPr>
          <p:cNvPr id="3" name="Content Placeholder 2"/>
          <p:cNvSpPr>
            <a:spLocks noGrp="1"/>
          </p:cNvSpPr>
          <p:nvPr>
            <p:ph idx="1"/>
          </p:nvPr>
        </p:nvSpPr>
        <p:spPr/>
        <p:txBody>
          <a:bodyPr/>
          <a:lstStyle/>
          <a:p>
            <a:r>
              <a:rPr lang="en-US" dirty="0"/>
              <a:t>Alpha testing</a:t>
            </a:r>
          </a:p>
          <a:p>
            <a:pPr lvl="1"/>
            <a:r>
              <a:rPr lang="en-US" dirty="0"/>
              <a:t>Users of the software work with the development team to test the software at the developer’s site.</a:t>
            </a:r>
            <a:endParaRPr lang="en-GB" dirty="0"/>
          </a:p>
          <a:p>
            <a:r>
              <a:rPr lang="en-US" dirty="0"/>
              <a:t>Beta testing</a:t>
            </a:r>
          </a:p>
          <a:p>
            <a:pPr lvl="1"/>
            <a:r>
              <a:rPr lang="en-US" dirty="0"/>
              <a:t>A release of the software is made available to users to allow them to experiment and to raise problems that they discover with the system developers.</a:t>
            </a:r>
            <a:endParaRPr lang="en-GB" dirty="0"/>
          </a:p>
          <a:p>
            <a:r>
              <a:rPr lang="en-US" dirty="0"/>
              <a:t>Acceptance testing</a:t>
            </a:r>
          </a:p>
          <a:p>
            <a:pPr lvl="1"/>
            <a:r>
              <a:rPr lang="en-US" dirty="0"/>
              <a:t>Customers test a system to decide whether or not it is ready to be accepted from the system developers and deployed in the customer environment. Primarily for custom systems.</a:t>
            </a:r>
            <a:endParaRPr lang="en-GB" dirty="0"/>
          </a:p>
          <a:p>
            <a:endParaRPr lang="en-US" dirty="0"/>
          </a:p>
        </p:txBody>
      </p:sp>
      <p:sp>
        <p:nvSpPr>
          <p:cNvPr id="5" name="Footer Placeholder 4"/>
          <p:cNvSpPr>
            <a:spLocks noGrp="1"/>
          </p:cNvSpPr>
          <p:nvPr>
            <p:ph type="ftr" sz="quarter" idx="11"/>
          </p:nvPr>
        </p:nvSpPr>
        <p:spPr/>
        <p:txBody>
          <a:bodyPr/>
          <a:lstStyle/>
          <a:p>
            <a:r>
              <a:rPr lang="en-US"/>
              <a:t>Chapter 8 Software Testing</a:t>
            </a:r>
          </a:p>
        </p:txBody>
      </p:sp>
      <p:sp>
        <p:nvSpPr>
          <p:cNvPr id="4" name="Slide Number Placeholder 3"/>
          <p:cNvSpPr>
            <a:spLocks noGrp="1"/>
          </p:cNvSpPr>
          <p:nvPr>
            <p:ph type="sldNum" sz="quarter" idx="12"/>
          </p:nvPr>
        </p:nvSpPr>
        <p:spPr/>
        <p:txBody>
          <a:bodyPr/>
          <a:lstStyle/>
          <a:p>
            <a:fld id="{CB105B8D-1C36-1C40-961B-CAAB1DD98B28}" type="slidenum">
              <a:rPr lang="en-US" smtClean="0"/>
              <a:pPr/>
              <a:t>41</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1559</TotalTime>
  <Words>2488</Words>
  <Application>Microsoft Office PowerPoint</Application>
  <PresentationFormat>On-screen Show (4:3)</PresentationFormat>
  <Paragraphs>301</Paragraphs>
  <Slides>41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Wingdings</vt:lpstr>
      <vt:lpstr>SE10 slides</vt:lpstr>
      <vt:lpstr>Chapter 8 – Software Testing</vt:lpstr>
      <vt:lpstr>Topics covered</vt:lpstr>
      <vt:lpstr>Program testing</vt:lpstr>
      <vt:lpstr>Program testing goals</vt:lpstr>
      <vt:lpstr>Validation and defect testing</vt:lpstr>
      <vt:lpstr>Testing process goals</vt:lpstr>
      <vt:lpstr>An input-output model of program testing </vt:lpstr>
      <vt:lpstr>Stages of testing</vt:lpstr>
      <vt:lpstr>Development testing</vt:lpstr>
      <vt:lpstr>Development testing</vt:lpstr>
      <vt:lpstr>Unit testing</vt:lpstr>
      <vt:lpstr>Object class testing</vt:lpstr>
      <vt:lpstr>The weather station object interface </vt:lpstr>
      <vt:lpstr>Weather station testing</vt:lpstr>
      <vt:lpstr>Automated testing</vt:lpstr>
      <vt:lpstr>Testing strategies</vt:lpstr>
      <vt:lpstr>Partition testing</vt:lpstr>
      <vt:lpstr>Equivalence partitioning </vt:lpstr>
      <vt:lpstr>Equivalence partitions </vt:lpstr>
      <vt:lpstr>Testing guidelines (sequences)</vt:lpstr>
      <vt:lpstr>General testing guidelines</vt:lpstr>
      <vt:lpstr>Component testing</vt:lpstr>
      <vt:lpstr>Interface testing</vt:lpstr>
      <vt:lpstr>Interface testing </vt:lpstr>
      <vt:lpstr>Interface errors</vt:lpstr>
      <vt:lpstr>Interface testing guidelines</vt:lpstr>
      <vt:lpstr>System testing</vt:lpstr>
      <vt:lpstr>System and component testing</vt:lpstr>
      <vt:lpstr>Testing policies</vt:lpstr>
      <vt:lpstr>Test-driven development</vt:lpstr>
      <vt:lpstr>Test-driven development</vt:lpstr>
      <vt:lpstr>Test-driven development</vt:lpstr>
      <vt:lpstr>TDD process activities</vt:lpstr>
      <vt:lpstr>Benefits of test-driven development</vt:lpstr>
      <vt:lpstr>Regression testing</vt:lpstr>
      <vt:lpstr>Release testing</vt:lpstr>
      <vt:lpstr>Release testing</vt:lpstr>
      <vt:lpstr>Release testing and system testing</vt:lpstr>
      <vt:lpstr>User testing</vt:lpstr>
      <vt:lpstr>User testing</vt:lpstr>
      <vt:lpstr>Types of user testing</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8</dc:title>
  <dc:creator>Ian Sommerville</dc:creator>
  <cp:lastModifiedBy>Arefeen, Adnan (UMKC-Student)</cp:lastModifiedBy>
  <cp:revision>26</cp:revision>
  <dcterms:created xsi:type="dcterms:W3CDTF">2010-01-14T08:17:23Z</dcterms:created>
  <dcterms:modified xsi:type="dcterms:W3CDTF">2025-12-14T03:52:39Z</dcterms:modified>
</cp:coreProperties>
</file>